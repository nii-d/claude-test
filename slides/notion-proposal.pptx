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タイトルに「Notion導入」と書かない。「標準化」と書くことで、聞き手は『ツールの良し悪し』ではなく『組織の話』として聞く体勢に入る。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3番目を冒頭に出しておくと、「で、親会社はOKなの？」という質問を後半まで先送りできる。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本編で最も効く一行。反論の対象がNotionではなく『PMOという意思決定そのもの』になるため、誰も反対できない構図をつくる。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資料全体の骨格。2つの課題を最初に並べて宣言することで、以降のスライドがどちらの話かが明確になる。色分け（A=青／B=緑）は最後まで一貫させる。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部署名・個人名は絶対に出さない。「担当者が見逃した」ではなく「見逃せてしまう仕組みだった」と、主語を必ず仕組みに置くこと。この資料は社内に回覧される。関与者が増えるという事実は、チャットとExcelでの管理が今後さらに苦しくなることの裏づけ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「では人を減らせるのか」と必ず聞かれる。人件費が浮くとは絶対に言わないこと。言えば人員削減の話にすり替わり、現場の協力を失う。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B-1の「書けない会議は開かれなくなる」がこの提案の思想を最もよく表す。ツールが会議を減らすのではなく、アジェンダを書く行為が目的のない会議を淘汰する。口頭で強調する。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順番が重要。先に2つの課題を並べ、それぞれの解決を示した上で、ここで初めて『実は1つの仕組みだった』と繋げる。最初から統合して語ると、聞き手はどちらの課題の話かを見失う。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「M365で済む部分は済ませます」と正直に認めている点がこのスライドの価値。全否定すると売り込みに見える。一部を譲ることで残りの主張の信頼性が上がる。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「一元化したい」だけでは理由にならない（OneNoteに一元化すればタダ、と返される）。『文書ではなくデータになる』の一点に絞ることで、初めて他ツールとの差が説明できる。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「Notionが全部で一番」とは言わない。個別項目では他ツールが勝ることを正直に認めた上で、『2つの課題を1つで解く』という要件で選んでいると説明する。この誠実さが説得力になる。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このスライドの準備の有無が提案の成否を分ける。文字10枚より画面4枚のほうが伝わる。PoC環境で必ず作っておくこと。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狙いは「一番高いプランを買おうとしているわけではない」と示すこと。上位プランの機能を自分から並べ、それを使わない理由まで説明することで、価格交渉ではなく要件で選んでいる姿勢が伝わる。情シスが監査ログや国内保管を必須とした場合は、この表がそのままEnterprise切替の根拠資料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案3は費用面だけ見ると魅力的に映るため、上層部から必ず提案される。「金額ではなく、目的が達成できないため不可」と即答すること。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工数は金額換算して合計に足さない。内製なら現金支出は増えず、足せば投資額が膨らんで求められる効果も大きくなる。一方、書かないと「タダでできる」と誤解されるため人月では必ず明示する。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守りではなく攻め。展望を語ることで『構想がある』と伝わり、同時に『今回はここまで』と自ら線を引くことで、なし崩しに全社システムを乗り換えるのではという警戒を解除できる。上層部が最も嫌う『気づいたら引き返せない』を先回りして潰す1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撤退基準を自分から示すのがこの資料で最も効く技術。「効果がなければやめます」と言える提案者は信頼される。前スライドの展望とセットで、『構想はあるが暴走はしない』という印象をつくる。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9601200" y="-1371600"/>
            <a:ext cx="4206240" cy="4206240"/>
          </a:xfrm>
          <a:prstGeom prst="ellipse">
            <a:avLst/>
          </a:prstGeom>
          <a:solidFill>
            <a:srgbClr val="24365C">
              <a:alpha val="65000"/>
            </a:srgbClr>
          </a:solidFill>
          <a:ln/>
        </p:spPr>
      </p:sp>
      <p:sp>
        <p:nvSpPr>
          <p:cNvPr id="3" name="Shape 1"/>
          <p:cNvSpPr/>
          <p:nvPr/>
        </p:nvSpPr>
        <p:spPr>
          <a:xfrm>
            <a:off x="10881360" y="4663440"/>
            <a:ext cx="2560320" cy="2560320"/>
          </a:xfrm>
          <a:prstGeom prst="ellipse">
            <a:avLst/>
          </a:prstGeom>
          <a:solidFill>
            <a:srgbClr val="2C5F8D">
              <a:alpha val="38000"/>
            </a:srgbClr>
          </a:solidFill>
          <a:ln/>
        </p:spPr>
      </p:sp>
      <p:sp>
        <p:nvSpPr>
          <p:cNvPr id="4" name="Text 2"/>
          <p:cNvSpPr/>
          <p:nvPr/>
        </p:nvSpPr>
        <p:spPr>
          <a:xfrm>
            <a:off x="566928" y="1481328"/>
            <a:ext cx="5486400" cy="292608"/>
          </a:xfrm>
          <a:prstGeom prst="rect">
            <a:avLst/>
          </a:prstGeom>
          <a:noFill/>
          <a:ln/>
        </p:spPr>
        <p:txBody>
          <a:bodyPr wrap="square" lIns="0" tIns="0" rIns="0" bIns="0" rtlCol="0" anchor="ctr"/>
          <a:lstStyle/>
          <a:p>
            <a:pPr indent="0" marL="0">
              <a:buNone/>
            </a:pPr>
            <a:r>
              <a:rPr lang="en-US" sz="1250" b="1" spc="220" kern="0" dirty="0">
                <a:solidFill>
                  <a:srgbClr val="E8A33D"/>
                </a:solidFill>
                <a:latin typeface="Meiryo" pitchFamily="34" charset="0"/>
                <a:ea typeface="Meiryo" pitchFamily="34" charset="-122"/>
                <a:cs typeface="Meiryo" pitchFamily="34" charset="-120"/>
              </a:rPr>
              <a:t>ご提案</a:t>
            </a:r>
            <a:endParaRPr lang="en-US" sz="1250" dirty="0"/>
          </a:p>
        </p:txBody>
      </p:sp>
      <p:sp>
        <p:nvSpPr>
          <p:cNvPr id="5" name="Text 3"/>
          <p:cNvSpPr/>
          <p:nvPr/>
        </p:nvSpPr>
        <p:spPr>
          <a:xfrm>
            <a:off x="566928" y="1883664"/>
            <a:ext cx="8595360" cy="1700784"/>
          </a:xfrm>
          <a:prstGeom prst="rect">
            <a:avLst/>
          </a:prstGeom>
          <a:noFill/>
          <a:ln/>
        </p:spPr>
        <p:txBody>
          <a:bodyPr wrap="square" lIns="0" tIns="0" rIns="0" bIns="0" rtlCol="0" anchor="ctr"/>
          <a:lstStyle/>
          <a:p>
            <a:pPr indent="0" marL="0">
              <a:lnSpc>
                <a:spcPts val="5000"/>
              </a:lnSpc>
              <a:buNone/>
            </a:pPr>
            <a:r>
              <a:rPr lang="en-US" sz="4000" b="1" dirty="0">
                <a:solidFill>
                  <a:srgbClr val="FFFFFF"/>
                </a:solidFill>
                <a:latin typeface="Meiryo" pitchFamily="34" charset="0"/>
                <a:ea typeface="Meiryo" pitchFamily="34" charset="-122"/>
                <a:cs typeface="Meiryo" pitchFamily="34" charset="-120"/>
              </a:rPr>
              <a:t>案件管理と会議運営の</a:t>
            </a:r>
            <a:endParaRPr lang="en-US" sz="4000" dirty="0"/>
          </a:p>
          <a:p>
            <a:pPr indent="0" marL="0">
              <a:lnSpc>
                <a:spcPts val="5000"/>
              </a:lnSpc>
              <a:buNone/>
            </a:pPr>
            <a:r>
              <a:rPr lang="en-US" sz="4000" b="1" dirty="0">
                <a:solidFill>
                  <a:srgbClr val="FFFFFF"/>
                </a:solidFill>
                <a:latin typeface="Meiryo" pitchFamily="34" charset="0"/>
                <a:ea typeface="Meiryo" pitchFamily="34" charset="-122"/>
                <a:cs typeface="Meiryo" pitchFamily="34" charset="-120"/>
              </a:rPr>
              <a:t>標準化</a:t>
            </a:r>
            <a:endParaRPr lang="en-US" sz="4000" dirty="0"/>
          </a:p>
        </p:txBody>
      </p:sp>
      <p:sp>
        <p:nvSpPr>
          <p:cNvPr id="6" name="Text 4"/>
          <p:cNvSpPr/>
          <p:nvPr/>
        </p:nvSpPr>
        <p:spPr>
          <a:xfrm>
            <a:off x="566928" y="3712464"/>
            <a:ext cx="8595360" cy="365760"/>
          </a:xfrm>
          <a:prstGeom prst="rect">
            <a:avLst/>
          </a:prstGeom>
          <a:noFill/>
          <a:ln/>
        </p:spPr>
        <p:txBody>
          <a:bodyPr wrap="square" lIns="0" tIns="0" rIns="0" bIns="0" rtlCol="0" anchor="ctr"/>
          <a:lstStyle/>
          <a:p>
            <a:pPr indent="0" marL="0">
              <a:buNone/>
            </a:pPr>
            <a:r>
              <a:rPr lang="en-US" sz="1600" dirty="0">
                <a:solidFill>
                  <a:srgbClr val="C3CEE0"/>
                </a:solidFill>
                <a:latin typeface="Meiryo" pitchFamily="34" charset="0"/>
                <a:ea typeface="Meiryo" pitchFamily="34" charset="-122"/>
                <a:cs typeface="Meiryo" pitchFamily="34" charset="-120"/>
              </a:rPr>
              <a:t>PMO立ち上げに合わせた全社基盤の整備</a:t>
            </a:r>
            <a:endParaRPr lang="en-US" sz="1600" dirty="0"/>
          </a:p>
        </p:txBody>
      </p:sp>
      <p:sp>
        <p:nvSpPr>
          <p:cNvPr id="7" name="Text 5"/>
          <p:cNvSpPr/>
          <p:nvPr/>
        </p:nvSpPr>
        <p:spPr>
          <a:xfrm>
            <a:off x="566928" y="4133088"/>
            <a:ext cx="8595360" cy="329184"/>
          </a:xfrm>
          <a:prstGeom prst="rect">
            <a:avLst/>
          </a:prstGeom>
          <a:noFill/>
          <a:ln/>
        </p:spPr>
        <p:txBody>
          <a:bodyPr wrap="square" lIns="0" tIns="0" rIns="0" bIns="0" rtlCol="0" anchor="ctr"/>
          <a:lstStyle/>
          <a:p>
            <a:pPr indent="0" marL="0">
              <a:buNone/>
            </a:pPr>
            <a:r>
              <a:rPr lang="en-US" sz="1300" dirty="0">
                <a:solidFill>
                  <a:srgbClr val="8FA0BC"/>
                </a:solidFill>
                <a:latin typeface="Meiryo" pitchFamily="34" charset="0"/>
                <a:ea typeface="Meiryo" pitchFamily="34" charset="-122"/>
                <a:cs typeface="Meiryo" pitchFamily="34" charset="-120"/>
              </a:rPr>
              <a:t>― 実行基盤としての Notion 全社導入について ―</a:t>
            </a:r>
            <a:endParaRPr lang="en-US" sz="1300" dirty="0"/>
          </a:p>
        </p:txBody>
      </p:sp>
      <p:sp>
        <p:nvSpPr>
          <p:cNvPr id="8" name="Text 6"/>
          <p:cNvSpPr/>
          <p:nvPr/>
        </p:nvSpPr>
        <p:spPr>
          <a:xfrm>
            <a:off x="566928" y="5760720"/>
            <a:ext cx="5486400" cy="310896"/>
          </a:xfrm>
          <a:prstGeom prst="rect">
            <a:avLst/>
          </a:prstGeom>
          <a:noFill/>
          <a:ln/>
        </p:spPr>
        <p:txBody>
          <a:bodyPr wrap="square" lIns="0" tIns="0" rIns="0" bIns="0" rtlCol="0" anchor="ctr"/>
          <a:lstStyle/>
          <a:p>
            <a:pPr indent="0" marL="0">
              <a:buNone/>
            </a:pPr>
            <a:r>
              <a:rPr lang="en-US" sz="1200" dirty="0">
                <a:solidFill>
                  <a:srgbClr val="8FA0BC"/>
                </a:solidFill>
                <a:latin typeface="Meiryo" pitchFamily="34" charset="0"/>
                <a:ea typeface="Meiryo" pitchFamily="34" charset="-122"/>
                <a:cs typeface="Meiryo" pitchFamily="34" charset="-120"/>
              </a:rPr>
              <a:t>2026年◯月◯日　人事組織</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本日のお願い</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本日、決めていただきたいこと</a:t>
            </a:r>
            <a:endParaRPr lang="en-US" sz="2700" dirty="0"/>
          </a:p>
        </p:txBody>
      </p:sp>
      <p:sp>
        <p:nvSpPr>
          <p:cNvPr id="4" name="Shape 2"/>
          <p:cNvSpPr/>
          <p:nvPr/>
        </p:nvSpPr>
        <p:spPr>
          <a:xfrm>
            <a:off x="566928" y="1572768"/>
            <a:ext cx="11057839" cy="1207008"/>
          </a:xfrm>
          <a:prstGeom prst="roundRect">
            <a:avLst>
              <a:gd name="adj" fmla="val 4545"/>
            </a:avLst>
          </a:prstGeom>
          <a:solidFill>
            <a:srgbClr val="F1F4F9"/>
          </a:solidFill>
          <a:ln/>
          <a:effectLst>
            <a:outerShdw sx="100000" sy="100000" kx="0" ky="0" algn="bl" rotWithShape="0" blurRad="127000" dist="25400" dir="5400000">
              <a:srgbClr val="8A97AC">
                <a:alpha val="22000"/>
              </a:srgbClr>
            </a:outerShdw>
          </a:effectLst>
        </p:spPr>
      </p:sp>
      <p:sp>
        <p:nvSpPr>
          <p:cNvPr id="5" name="Shape 3"/>
          <p:cNvSpPr/>
          <p:nvPr/>
        </p:nvSpPr>
        <p:spPr>
          <a:xfrm>
            <a:off x="950976" y="1901952"/>
            <a:ext cx="548640" cy="548640"/>
          </a:xfrm>
          <a:prstGeom prst="ellipse">
            <a:avLst/>
          </a:prstGeom>
          <a:solidFill>
            <a:srgbClr val="16233F"/>
          </a:solidFill>
          <a:ln/>
        </p:spPr>
      </p:sp>
      <p:sp>
        <p:nvSpPr>
          <p:cNvPr id="6" name="Text 4"/>
          <p:cNvSpPr/>
          <p:nvPr/>
        </p:nvSpPr>
        <p:spPr>
          <a:xfrm>
            <a:off x="950976" y="190195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1</a:t>
            </a:r>
            <a:endParaRPr lang="en-US" sz="1700" dirty="0"/>
          </a:p>
        </p:txBody>
      </p:sp>
      <p:sp>
        <p:nvSpPr>
          <p:cNvPr id="7" name="Text 5"/>
          <p:cNvSpPr/>
          <p:nvPr/>
        </p:nvSpPr>
        <p:spPr>
          <a:xfrm>
            <a:off x="1737360" y="1810512"/>
            <a:ext cx="7863840" cy="384048"/>
          </a:xfrm>
          <a:prstGeom prst="rect">
            <a:avLst/>
          </a:prstGeom>
          <a:noFill/>
          <a:ln/>
        </p:spPr>
        <p:txBody>
          <a:bodyPr wrap="square" lIns="0" tIns="0" rIns="0" bIns="0" rtlCol="0" anchor="ctr"/>
          <a:lstStyle/>
          <a:p>
            <a:pPr indent="0" marL="0">
              <a:buNone/>
            </a:pPr>
            <a:r>
              <a:rPr lang="en-US" sz="1800" b="1" dirty="0">
                <a:solidFill>
                  <a:srgbClr val="16233F"/>
                </a:solidFill>
                <a:latin typeface="Meiryo" pitchFamily="34" charset="0"/>
                <a:ea typeface="Meiryo" pitchFamily="34" charset="-122"/>
                <a:cs typeface="Meiryo" pitchFamily="34" charset="-120"/>
              </a:rPr>
              <a:t>全社（140名）へのNotion導入</a:t>
            </a:r>
            <a:endParaRPr lang="en-US" sz="1800" dirty="0"/>
          </a:p>
        </p:txBody>
      </p:sp>
      <p:sp>
        <p:nvSpPr>
          <p:cNvPr id="8" name="Text 6"/>
          <p:cNvSpPr/>
          <p:nvPr/>
        </p:nvSpPr>
        <p:spPr>
          <a:xfrm>
            <a:off x="1737360" y="2231136"/>
            <a:ext cx="9326880" cy="329184"/>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案件管理と会議運営の標準化を、PMO発足と同時に開始する</a:t>
            </a:r>
            <a:endParaRPr lang="en-US" sz="1250" dirty="0"/>
          </a:p>
        </p:txBody>
      </p:sp>
      <p:sp>
        <p:nvSpPr>
          <p:cNvPr id="9" name="Shape 7"/>
          <p:cNvSpPr/>
          <p:nvPr/>
        </p:nvSpPr>
        <p:spPr>
          <a:xfrm>
            <a:off x="566928" y="2944368"/>
            <a:ext cx="11057839" cy="1207008"/>
          </a:xfrm>
          <a:prstGeom prst="roundRect">
            <a:avLst>
              <a:gd name="adj" fmla="val 4545"/>
            </a:avLst>
          </a:prstGeom>
          <a:solidFill>
            <a:srgbClr val="F1F4F9"/>
          </a:solidFill>
          <a:ln/>
          <a:effectLst>
            <a:outerShdw sx="100000" sy="100000" kx="0" ky="0" algn="bl" rotWithShape="0" blurRad="127000" dist="25400" dir="5400000">
              <a:srgbClr val="8A97AC">
                <a:alpha val="22000"/>
              </a:srgbClr>
            </a:outerShdw>
          </a:effectLst>
        </p:spPr>
      </p:sp>
      <p:sp>
        <p:nvSpPr>
          <p:cNvPr id="10" name="Shape 8"/>
          <p:cNvSpPr/>
          <p:nvPr/>
        </p:nvSpPr>
        <p:spPr>
          <a:xfrm>
            <a:off x="950976" y="3273552"/>
            <a:ext cx="548640" cy="548640"/>
          </a:xfrm>
          <a:prstGeom prst="ellipse">
            <a:avLst/>
          </a:prstGeom>
          <a:solidFill>
            <a:srgbClr val="16233F"/>
          </a:solidFill>
          <a:ln/>
        </p:spPr>
      </p:sp>
      <p:sp>
        <p:nvSpPr>
          <p:cNvPr id="11" name="Text 9"/>
          <p:cNvSpPr/>
          <p:nvPr/>
        </p:nvSpPr>
        <p:spPr>
          <a:xfrm>
            <a:off x="950976" y="327355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2</a:t>
            </a:r>
            <a:endParaRPr lang="en-US" sz="1700" dirty="0"/>
          </a:p>
        </p:txBody>
      </p:sp>
      <p:sp>
        <p:nvSpPr>
          <p:cNvPr id="12" name="Text 10"/>
          <p:cNvSpPr/>
          <p:nvPr/>
        </p:nvSpPr>
        <p:spPr>
          <a:xfrm>
            <a:off x="1737360" y="3182112"/>
            <a:ext cx="7863840" cy="384048"/>
          </a:xfrm>
          <a:prstGeom prst="rect">
            <a:avLst/>
          </a:prstGeom>
          <a:noFill/>
          <a:ln/>
        </p:spPr>
        <p:txBody>
          <a:bodyPr wrap="square" lIns="0" tIns="0" rIns="0" bIns="0" rtlCol="0" anchor="ctr"/>
          <a:lstStyle/>
          <a:p>
            <a:pPr indent="0" marL="0">
              <a:buNone/>
            </a:pPr>
            <a:r>
              <a:rPr lang="en-US" sz="1800" b="1" dirty="0">
                <a:solidFill>
                  <a:srgbClr val="16233F"/>
                </a:solidFill>
                <a:latin typeface="Meiryo" pitchFamily="34" charset="0"/>
                <a:ea typeface="Meiryo" pitchFamily="34" charset="-122"/>
                <a:cs typeface="Meiryo" pitchFamily="34" charset="-120"/>
              </a:rPr>
              <a:t>年間費用 529.2万円 のご承認</a:t>
            </a:r>
            <a:endParaRPr lang="en-US" sz="1800" dirty="0"/>
          </a:p>
        </p:txBody>
      </p:sp>
      <p:sp>
        <p:nvSpPr>
          <p:cNvPr id="13" name="Text 11"/>
          <p:cNvSpPr/>
          <p:nvPr/>
        </p:nvSpPr>
        <p:spPr>
          <a:xfrm>
            <a:off x="1737360" y="3602736"/>
            <a:ext cx="9326880" cy="329184"/>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Businessプラン・年払い（プラン比較は後半でご説明）</a:t>
            </a:r>
            <a:endParaRPr lang="en-US" sz="1250" dirty="0"/>
          </a:p>
        </p:txBody>
      </p:sp>
      <p:sp>
        <p:nvSpPr>
          <p:cNvPr id="14" name="Shape 12"/>
          <p:cNvSpPr/>
          <p:nvPr/>
        </p:nvSpPr>
        <p:spPr>
          <a:xfrm>
            <a:off x="566928" y="4315968"/>
            <a:ext cx="11057839" cy="1207008"/>
          </a:xfrm>
          <a:prstGeom prst="roundRect">
            <a:avLst>
              <a:gd name="adj" fmla="val 4545"/>
            </a:avLst>
          </a:prstGeom>
          <a:solidFill>
            <a:srgbClr val="F1F4F9"/>
          </a:solidFill>
          <a:ln/>
          <a:effectLst>
            <a:outerShdw sx="100000" sy="100000" kx="0" ky="0" algn="bl" rotWithShape="0" blurRad="127000" dist="25400" dir="5400000">
              <a:srgbClr val="8A97AC">
                <a:alpha val="22000"/>
              </a:srgbClr>
            </a:outerShdw>
          </a:effectLst>
        </p:spPr>
      </p:sp>
      <p:sp>
        <p:nvSpPr>
          <p:cNvPr id="15" name="Shape 13"/>
          <p:cNvSpPr/>
          <p:nvPr/>
        </p:nvSpPr>
        <p:spPr>
          <a:xfrm>
            <a:off x="950976" y="4645152"/>
            <a:ext cx="548640" cy="548640"/>
          </a:xfrm>
          <a:prstGeom prst="ellipse">
            <a:avLst/>
          </a:prstGeom>
          <a:solidFill>
            <a:srgbClr val="16233F"/>
          </a:solidFill>
          <a:ln/>
        </p:spPr>
      </p:sp>
      <p:sp>
        <p:nvSpPr>
          <p:cNvPr id="16" name="Text 14"/>
          <p:cNvSpPr/>
          <p:nvPr/>
        </p:nvSpPr>
        <p:spPr>
          <a:xfrm>
            <a:off x="950976" y="464515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3</a:t>
            </a:r>
            <a:endParaRPr lang="en-US" sz="1700" dirty="0"/>
          </a:p>
        </p:txBody>
      </p:sp>
      <p:sp>
        <p:nvSpPr>
          <p:cNvPr id="17" name="Text 15"/>
          <p:cNvSpPr/>
          <p:nvPr/>
        </p:nvSpPr>
        <p:spPr>
          <a:xfrm>
            <a:off x="1737360" y="4553712"/>
            <a:ext cx="7863840" cy="384048"/>
          </a:xfrm>
          <a:prstGeom prst="rect">
            <a:avLst/>
          </a:prstGeom>
          <a:noFill/>
          <a:ln/>
        </p:spPr>
        <p:txBody>
          <a:bodyPr wrap="square" lIns="0" tIns="0" rIns="0" bIns="0" rtlCol="0" anchor="ctr"/>
          <a:lstStyle/>
          <a:p>
            <a:pPr indent="0" marL="0">
              <a:buNone/>
            </a:pPr>
            <a:r>
              <a:rPr lang="en-US" sz="1800" b="1" dirty="0">
                <a:solidFill>
                  <a:srgbClr val="16233F"/>
                </a:solidFill>
                <a:latin typeface="Meiryo" pitchFamily="34" charset="0"/>
                <a:ea typeface="Meiryo" pitchFamily="34" charset="-122"/>
                <a:cs typeface="Meiryo" pitchFamily="34" charset="-120"/>
              </a:rPr>
              <a:t>ホールディングスへの申請着手</a:t>
            </a:r>
            <a:endParaRPr lang="en-US" sz="1800" dirty="0"/>
          </a:p>
        </p:txBody>
      </p:sp>
      <p:sp>
        <p:nvSpPr>
          <p:cNvPr id="18" name="Text 16"/>
          <p:cNvSpPr/>
          <p:nvPr/>
        </p:nvSpPr>
        <p:spPr>
          <a:xfrm>
            <a:off x="1737360" y="4974336"/>
            <a:ext cx="9326880" cy="329184"/>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セキュリティ審査の事前相談を開始する許可</a:t>
            </a:r>
            <a:endParaRPr lang="en-US" sz="1250" dirty="0"/>
          </a:p>
        </p:txBody>
      </p:sp>
      <p:sp>
        <p:nvSpPr>
          <p:cNvPr id="19" name="Text 17"/>
          <p:cNvSpPr/>
          <p:nvPr/>
        </p:nvSpPr>
        <p:spPr>
          <a:xfrm>
            <a:off x="566928" y="5888736"/>
            <a:ext cx="11057839" cy="310896"/>
          </a:xfrm>
          <a:prstGeom prst="rect">
            <a:avLst/>
          </a:prstGeom>
          <a:noFill/>
          <a:ln/>
        </p:spPr>
        <p:txBody>
          <a:bodyPr wrap="square" lIns="0" tIns="0" rIns="0" bIns="0" rtlCol="0" anchor="ctr"/>
          <a:lstStyle/>
          <a:p>
            <a:pPr indent="0" marL="0">
              <a:buNone/>
            </a:pPr>
            <a:r>
              <a:rPr lang="en-US" sz="1300" b="1" dirty="0">
                <a:solidFill>
                  <a:srgbClr val="E8A33D"/>
                </a:solidFill>
                <a:latin typeface="Meiryo" pitchFamily="34" charset="0"/>
                <a:ea typeface="Meiryo" pitchFamily="34" charset="-122"/>
                <a:cs typeface="Meiryo" pitchFamily="34" charset="-120"/>
              </a:rPr>
              <a:t>稼働目標：PMO発足と同時</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AGENDA</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本日の流れ</a:t>
            </a:r>
            <a:endParaRPr lang="en-US" sz="2700" dirty="0"/>
          </a:p>
        </p:txBody>
      </p:sp>
      <p:sp>
        <p:nvSpPr>
          <p:cNvPr id="4" name="Shape 2"/>
          <p:cNvSpPr/>
          <p:nvPr/>
        </p:nvSpPr>
        <p:spPr>
          <a:xfrm>
            <a:off x="566928" y="1828800"/>
            <a:ext cx="3529584" cy="3346704"/>
          </a:xfrm>
          <a:prstGeom prst="roundRect">
            <a:avLst>
              <a:gd name="adj" fmla="val 1639"/>
            </a:avLst>
          </a:prstGeom>
          <a:solidFill>
            <a:srgbClr val="F1F4F9"/>
          </a:solidFill>
          <a:ln/>
          <a:effectLst>
            <a:outerShdw sx="100000" sy="100000" kx="0" ky="0" algn="bl" rotWithShape="0" blurRad="127000" dist="25400" dir="5400000">
              <a:srgbClr val="8A97AC">
                <a:alpha val="22000"/>
              </a:srgbClr>
            </a:outerShdw>
          </a:effectLst>
        </p:spPr>
      </p:sp>
      <p:sp>
        <p:nvSpPr>
          <p:cNvPr id="5" name="Shape 3"/>
          <p:cNvSpPr/>
          <p:nvPr/>
        </p:nvSpPr>
        <p:spPr>
          <a:xfrm>
            <a:off x="2002536" y="2395728"/>
            <a:ext cx="658368" cy="658368"/>
          </a:xfrm>
          <a:prstGeom prst="ellipse">
            <a:avLst/>
          </a:prstGeom>
          <a:solidFill>
            <a:srgbClr val="2C5F8D"/>
          </a:solidFill>
          <a:ln/>
        </p:spPr>
      </p:sp>
      <p:sp>
        <p:nvSpPr>
          <p:cNvPr id="6" name="Text 4"/>
          <p:cNvSpPr/>
          <p:nvPr/>
        </p:nvSpPr>
        <p:spPr>
          <a:xfrm>
            <a:off x="2002536" y="2395728"/>
            <a:ext cx="658368"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Meiryo" pitchFamily="34" charset="0"/>
                <a:ea typeface="Meiryo" pitchFamily="34" charset="-122"/>
                <a:cs typeface="Meiryo" pitchFamily="34" charset="-120"/>
              </a:rPr>
              <a:t>1</a:t>
            </a:r>
            <a:endParaRPr lang="en-US" sz="2100" dirty="0"/>
          </a:p>
        </p:txBody>
      </p:sp>
      <p:sp>
        <p:nvSpPr>
          <p:cNvPr id="7" name="Text 5"/>
          <p:cNvSpPr/>
          <p:nvPr/>
        </p:nvSpPr>
        <p:spPr>
          <a:xfrm>
            <a:off x="749808" y="3346704"/>
            <a:ext cx="3163824" cy="402336"/>
          </a:xfrm>
          <a:prstGeom prst="rect">
            <a:avLst/>
          </a:prstGeom>
          <a:noFill/>
          <a:ln/>
        </p:spPr>
        <p:txBody>
          <a:bodyPr wrap="square" lIns="0" tIns="0" rIns="0" bIns="0" rtlCol="0" anchor="ctr"/>
          <a:lstStyle/>
          <a:p>
            <a:pPr algn="ctr" indent="0" marL="0">
              <a:buNone/>
            </a:pPr>
            <a:r>
              <a:rPr lang="en-US" sz="1700" b="1" dirty="0">
                <a:solidFill>
                  <a:srgbClr val="16233F"/>
                </a:solidFill>
                <a:latin typeface="Meiryo" pitchFamily="34" charset="0"/>
                <a:ea typeface="Meiryo" pitchFamily="34" charset="-122"/>
                <a:cs typeface="Meiryo" pitchFamily="34" charset="-120"/>
              </a:rPr>
              <a:t>なぜ必要か</a:t>
            </a:r>
            <a:endParaRPr lang="en-US" sz="1700" dirty="0"/>
          </a:p>
        </p:txBody>
      </p:sp>
      <p:sp>
        <p:nvSpPr>
          <p:cNvPr id="8" name="Text 6"/>
          <p:cNvSpPr/>
          <p:nvPr/>
        </p:nvSpPr>
        <p:spPr>
          <a:xfrm>
            <a:off x="786384" y="3895344"/>
            <a:ext cx="3090672" cy="822960"/>
          </a:xfrm>
          <a:prstGeom prst="rect">
            <a:avLst/>
          </a:prstGeom>
          <a:noFill/>
          <a:ln/>
        </p:spPr>
        <p:txBody>
          <a:bodyPr wrap="square" lIns="0" tIns="0" rIns="0" bIns="0" rtlCol="0" anchor="ctr"/>
          <a:lstStyle/>
          <a:p>
            <a:pPr algn="ctr" indent="0" marL="0">
              <a:lnSpc>
                <a:spcPts val="2000"/>
              </a:lnSpc>
              <a:buNone/>
            </a:pPr>
            <a:r>
              <a:rPr lang="en-US" sz="1250" dirty="0">
                <a:solidFill>
                  <a:srgbClr val="5A6472"/>
                </a:solidFill>
                <a:latin typeface="Meiryo" pitchFamily="34" charset="0"/>
                <a:ea typeface="Meiryo" pitchFamily="34" charset="-122"/>
                <a:cs typeface="Meiryo" pitchFamily="34" charset="-120"/>
              </a:rPr>
              <a:t>弊社が抱える2つの課題と、</a:t>
            </a:r>
            <a:endParaRPr lang="en-US" sz="1250" dirty="0"/>
          </a:p>
          <a:p>
            <a:pPr algn="ctr" indent="0" marL="0">
              <a:lnSpc>
                <a:spcPts val="2000"/>
              </a:lnSpc>
              <a:buNone/>
            </a:pPr>
            <a:r>
              <a:rPr lang="en-US" sz="1250" dirty="0">
                <a:solidFill>
                  <a:srgbClr val="5A6472"/>
                </a:solidFill>
                <a:latin typeface="Meiryo" pitchFamily="34" charset="0"/>
                <a:ea typeface="Meiryo" pitchFamily="34" charset="-122"/>
                <a:cs typeface="Meiryo" pitchFamily="34" charset="-120"/>
              </a:rPr>
              <a:t>その解決像</a:t>
            </a:r>
            <a:endParaRPr lang="en-US" sz="1250" dirty="0"/>
          </a:p>
        </p:txBody>
      </p:sp>
      <p:sp>
        <p:nvSpPr>
          <p:cNvPr id="9" name="Shape 7"/>
          <p:cNvSpPr/>
          <p:nvPr/>
        </p:nvSpPr>
        <p:spPr>
          <a:xfrm>
            <a:off x="4439412" y="1828800"/>
            <a:ext cx="3529584" cy="3346704"/>
          </a:xfrm>
          <a:prstGeom prst="roundRect">
            <a:avLst>
              <a:gd name="adj" fmla="val 1639"/>
            </a:avLst>
          </a:prstGeom>
          <a:solidFill>
            <a:srgbClr val="F1F4F9"/>
          </a:solidFill>
          <a:ln/>
          <a:effectLst>
            <a:outerShdw sx="100000" sy="100000" kx="0" ky="0" algn="bl" rotWithShape="0" blurRad="127000" dist="25400" dir="5400000">
              <a:srgbClr val="8A97AC">
                <a:alpha val="22000"/>
              </a:srgbClr>
            </a:outerShdw>
          </a:effectLst>
        </p:spPr>
      </p:sp>
      <p:sp>
        <p:nvSpPr>
          <p:cNvPr id="10" name="Shape 8"/>
          <p:cNvSpPr/>
          <p:nvPr/>
        </p:nvSpPr>
        <p:spPr>
          <a:xfrm>
            <a:off x="5875020" y="2395728"/>
            <a:ext cx="658368" cy="658368"/>
          </a:xfrm>
          <a:prstGeom prst="ellipse">
            <a:avLst/>
          </a:prstGeom>
          <a:solidFill>
            <a:srgbClr val="1F7A6C"/>
          </a:solidFill>
          <a:ln/>
        </p:spPr>
      </p:sp>
      <p:sp>
        <p:nvSpPr>
          <p:cNvPr id="11" name="Text 9"/>
          <p:cNvSpPr/>
          <p:nvPr/>
        </p:nvSpPr>
        <p:spPr>
          <a:xfrm>
            <a:off x="5875020" y="2395728"/>
            <a:ext cx="658368"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Meiryo" pitchFamily="34" charset="0"/>
                <a:ea typeface="Meiryo" pitchFamily="34" charset="-122"/>
                <a:cs typeface="Meiryo" pitchFamily="34" charset="-120"/>
              </a:rPr>
              <a:t>2</a:t>
            </a:r>
            <a:endParaRPr lang="en-US" sz="2100" dirty="0"/>
          </a:p>
        </p:txBody>
      </p:sp>
      <p:sp>
        <p:nvSpPr>
          <p:cNvPr id="12" name="Text 10"/>
          <p:cNvSpPr/>
          <p:nvPr/>
        </p:nvSpPr>
        <p:spPr>
          <a:xfrm>
            <a:off x="4622292" y="3346704"/>
            <a:ext cx="3163824" cy="402336"/>
          </a:xfrm>
          <a:prstGeom prst="rect">
            <a:avLst/>
          </a:prstGeom>
          <a:noFill/>
          <a:ln/>
        </p:spPr>
        <p:txBody>
          <a:bodyPr wrap="square" lIns="0" tIns="0" rIns="0" bIns="0" rtlCol="0" anchor="ctr"/>
          <a:lstStyle/>
          <a:p>
            <a:pPr algn="ctr" indent="0" marL="0">
              <a:buNone/>
            </a:pPr>
            <a:r>
              <a:rPr lang="en-US" sz="1700" b="1" dirty="0">
                <a:solidFill>
                  <a:srgbClr val="16233F"/>
                </a:solidFill>
                <a:latin typeface="Meiryo" pitchFamily="34" charset="0"/>
                <a:ea typeface="Meiryo" pitchFamily="34" charset="-122"/>
                <a:cs typeface="Meiryo" pitchFamily="34" charset="-120"/>
              </a:rPr>
              <a:t>なぜNotionか</a:t>
            </a:r>
            <a:endParaRPr lang="en-US" sz="1700" dirty="0"/>
          </a:p>
        </p:txBody>
      </p:sp>
      <p:sp>
        <p:nvSpPr>
          <p:cNvPr id="13" name="Text 11"/>
          <p:cNvSpPr/>
          <p:nvPr/>
        </p:nvSpPr>
        <p:spPr>
          <a:xfrm>
            <a:off x="4658868" y="3895344"/>
            <a:ext cx="3090672" cy="822960"/>
          </a:xfrm>
          <a:prstGeom prst="rect">
            <a:avLst/>
          </a:prstGeom>
          <a:noFill/>
          <a:ln/>
        </p:spPr>
        <p:txBody>
          <a:bodyPr wrap="square" lIns="0" tIns="0" rIns="0" bIns="0" rtlCol="0" anchor="ctr"/>
          <a:lstStyle/>
          <a:p>
            <a:pPr algn="ctr" indent="0" marL="0">
              <a:lnSpc>
                <a:spcPts val="2000"/>
              </a:lnSpc>
              <a:buNone/>
            </a:pPr>
            <a:r>
              <a:rPr lang="en-US" sz="1250" dirty="0">
                <a:solidFill>
                  <a:srgbClr val="5A6472"/>
                </a:solidFill>
                <a:latin typeface="Meiryo" pitchFamily="34" charset="0"/>
                <a:ea typeface="Meiryo" pitchFamily="34" charset="-122"/>
                <a:cs typeface="Meiryo" pitchFamily="34" charset="-120"/>
              </a:rPr>
              <a:t>既存ツールで代替できない</a:t>
            </a:r>
            <a:endParaRPr lang="en-US" sz="1250" dirty="0"/>
          </a:p>
          <a:p>
            <a:pPr algn="ctr" indent="0" marL="0">
              <a:lnSpc>
                <a:spcPts val="2000"/>
              </a:lnSpc>
              <a:buNone/>
            </a:pPr>
            <a:r>
              <a:rPr lang="en-US" sz="1250" dirty="0">
                <a:solidFill>
                  <a:srgbClr val="5A6472"/>
                </a:solidFill>
                <a:latin typeface="Meiryo" pitchFamily="34" charset="0"/>
                <a:ea typeface="Meiryo" pitchFamily="34" charset="-122"/>
                <a:cs typeface="Meiryo" pitchFamily="34" charset="-120"/>
              </a:rPr>
              <a:t>理由</a:t>
            </a:r>
            <a:endParaRPr lang="en-US" sz="1250" dirty="0"/>
          </a:p>
        </p:txBody>
      </p:sp>
      <p:sp>
        <p:nvSpPr>
          <p:cNvPr id="14" name="Shape 12"/>
          <p:cNvSpPr/>
          <p:nvPr/>
        </p:nvSpPr>
        <p:spPr>
          <a:xfrm>
            <a:off x="8311896" y="1828800"/>
            <a:ext cx="3529584" cy="3346704"/>
          </a:xfrm>
          <a:prstGeom prst="roundRect">
            <a:avLst>
              <a:gd name="adj" fmla="val 1639"/>
            </a:avLst>
          </a:prstGeom>
          <a:solidFill>
            <a:srgbClr val="F1F4F9"/>
          </a:solidFill>
          <a:ln/>
          <a:effectLst>
            <a:outerShdw sx="100000" sy="100000" kx="0" ky="0" algn="bl" rotWithShape="0" blurRad="127000" dist="25400" dir="5400000">
              <a:srgbClr val="8A97AC">
                <a:alpha val="22000"/>
              </a:srgbClr>
            </a:outerShdw>
          </a:effectLst>
        </p:spPr>
      </p:sp>
      <p:sp>
        <p:nvSpPr>
          <p:cNvPr id="15" name="Shape 13"/>
          <p:cNvSpPr/>
          <p:nvPr/>
        </p:nvSpPr>
        <p:spPr>
          <a:xfrm>
            <a:off x="9747504" y="2395728"/>
            <a:ext cx="658368" cy="658368"/>
          </a:xfrm>
          <a:prstGeom prst="ellipse">
            <a:avLst/>
          </a:prstGeom>
          <a:solidFill>
            <a:srgbClr val="16233F"/>
          </a:solidFill>
          <a:ln/>
        </p:spPr>
      </p:sp>
      <p:sp>
        <p:nvSpPr>
          <p:cNvPr id="16" name="Text 14"/>
          <p:cNvSpPr/>
          <p:nvPr/>
        </p:nvSpPr>
        <p:spPr>
          <a:xfrm>
            <a:off x="9747504" y="2395728"/>
            <a:ext cx="658368" cy="658368"/>
          </a:xfrm>
          <a:prstGeom prst="rect">
            <a:avLst/>
          </a:prstGeom>
          <a:noFill/>
          <a:ln/>
        </p:spPr>
        <p:txBody>
          <a:bodyPr wrap="square" lIns="0" tIns="0" rIns="0" bIns="0" rtlCol="0" anchor="ctr"/>
          <a:lstStyle/>
          <a:p>
            <a:pPr algn="ctr" indent="0" marL="0">
              <a:buNone/>
            </a:pPr>
            <a:r>
              <a:rPr lang="en-US" sz="2100" b="1" dirty="0">
                <a:solidFill>
                  <a:srgbClr val="FFFFFF"/>
                </a:solidFill>
                <a:latin typeface="Meiryo" pitchFamily="34" charset="0"/>
                <a:ea typeface="Meiryo" pitchFamily="34" charset="-122"/>
                <a:cs typeface="Meiryo" pitchFamily="34" charset="-120"/>
              </a:rPr>
              <a:t>3</a:t>
            </a:r>
            <a:endParaRPr lang="en-US" sz="2100" dirty="0"/>
          </a:p>
        </p:txBody>
      </p:sp>
      <p:sp>
        <p:nvSpPr>
          <p:cNvPr id="17" name="Text 15"/>
          <p:cNvSpPr/>
          <p:nvPr/>
        </p:nvSpPr>
        <p:spPr>
          <a:xfrm>
            <a:off x="8494776" y="3346704"/>
            <a:ext cx="3163824" cy="402336"/>
          </a:xfrm>
          <a:prstGeom prst="rect">
            <a:avLst/>
          </a:prstGeom>
          <a:noFill/>
          <a:ln/>
        </p:spPr>
        <p:txBody>
          <a:bodyPr wrap="square" lIns="0" tIns="0" rIns="0" bIns="0" rtlCol="0" anchor="ctr"/>
          <a:lstStyle/>
          <a:p>
            <a:pPr algn="ctr" indent="0" marL="0">
              <a:buNone/>
            </a:pPr>
            <a:r>
              <a:rPr lang="en-US" sz="1700" b="1" dirty="0">
                <a:solidFill>
                  <a:srgbClr val="16233F"/>
                </a:solidFill>
                <a:latin typeface="Meiryo" pitchFamily="34" charset="0"/>
                <a:ea typeface="Meiryo" pitchFamily="34" charset="-122"/>
                <a:cs typeface="Meiryo" pitchFamily="34" charset="-120"/>
              </a:rPr>
              <a:t>導入判断の材料</a:t>
            </a:r>
            <a:endParaRPr lang="en-US" sz="1700" dirty="0"/>
          </a:p>
        </p:txBody>
      </p:sp>
      <p:sp>
        <p:nvSpPr>
          <p:cNvPr id="18" name="Text 16"/>
          <p:cNvSpPr/>
          <p:nvPr/>
        </p:nvSpPr>
        <p:spPr>
          <a:xfrm>
            <a:off x="8531352" y="3895344"/>
            <a:ext cx="3090672" cy="822960"/>
          </a:xfrm>
          <a:prstGeom prst="rect">
            <a:avLst/>
          </a:prstGeom>
          <a:noFill/>
          <a:ln/>
        </p:spPr>
        <p:txBody>
          <a:bodyPr wrap="square" lIns="0" tIns="0" rIns="0" bIns="0" rtlCol="0" anchor="ctr"/>
          <a:lstStyle/>
          <a:p>
            <a:pPr algn="ctr" indent="0" marL="0">
              <a:lnSpc>
                <a:spcPts val="2000"/>
              </a:lnSpc>
              <a:buNone/>
            </a:pPr>
            <a:r>
              <a:rPr lang="en-US" sz="1250" dirty="0">
                <a:solidFill>
                  <a:srgbClr val="5A6472"/>
                </a:solidFill>
                <a:latin typeface="Meiryo" pitchFamily="34" charset="0"/>
                <a:ea typeface="Meiryo" pitchFamily="34" charset="-122"/>
                <a:cs typeface="Meiryo" pitchFamily="34" charset="-120"/>
              </a:rPr>
              <a:t>プラン・費用・効果・リスク・</a:t>
            </a:r>
            <a:endParaRPr lang="en-US" sz="1250" dirty="0"/>
          </a:p>
          <a:p>
            <a:pPr algn="ctr" indent="0" marL="0">
              <a:lnSpc>
                <a:spcPts val="2000"/>
              </a:lnSpc>
              <a:buNone/>
            </a:pPr>
            <a:r>
              <a:rPr lang="en-US" sz="1250" dirty="0">
                <a:solidFill>
                  <a:srgbClr val="5A6472"/>
                </a:solidFill>
                <a:latin typeface="Meiryo" pitchFamily="34" charset="0"/>
                <a:ea typeface="Meiryo" pitchFamily="34" charset="-122"/>
                <a:cs typeface="Meiryo" pitchFamily="34" charset="-120"/>
              </a:rPr>
              <a:t>進め方</a:t>
            </a:r>
            <a:endParaRPr lang="en-US" sz="1250" dirty="0"/>
          </a:p>
        </p:txBody>
      </p:sp>
      <p:sp>
        <p:nvSpPr>
          <p:cNvPr id="19" name="Text 17"/>
          <p:cNvSpPr/>
          <p:nvPr/>
        </p:nvSpPr>
        <p:spPr>
          <a:xfrm>
            <a:off x="566928" y="5614416"/>
            <a:ext cx="11057839" cy="329184"/>
          </a:xfrm>
          <a:prstGeom prst="rect">
            <a:avLst/>
          </a:prstGeom>
          <a:noFill/>
          <a:ln/>
        </p:spPr>
        <p:txBody>
          <a:bodyPr wrap="square" lIns="0" tIns="0" rIns="0" bIns="0" rtlCol="0" anchor="ctr"/>
          <a:lstStyle/>
          <a:p>
            <a:pPr indent="0" marL="0">
              <a:buNone/>
            </a:pPr>
            <a:r>
              <a:rPr lang="en-US" sz="1300" dirty="0">
                <a:solidFill>
                  <a:srgbClr val="5A6472"/>
                </a:solidFill>
                <a:latin typeface="Meiryo" pitchFamily="34" charset="0"/>
                <a:ea typeface="Meiryo" pitchFamily="34" charset="-122"/>
                <a:cs typeface="Meiryo" pitchFamily="34" charset="-120"/>
              </a:rPr>
              <a:t>本日は 1 と 3 を中心に、20分でご説明します。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10058400" y="4023360"/>
            <a:ext cx="3291840" cy="3291840"/>
          </a:xfrm>
          <a:prstGeom prst="ellipse">
            <a:avLst/>
          </a:prstGeom>
          <a:solidFill>
            <a:srgbClr val="2C5F8D">
              <a:alpha val="32000"/>
            </a:srgbClr>
          </a:solidFill>
          <a:ln/>
        </p:spPr>
      </p:sp>
      <p:sp>
        <p:nvSpPr>
          <p:cNvPr id="3" name="Shape 1"/>
          <p:cNvSpPr/>
          <p:nvPr/>
        </p:nvSpPr>
        <p:spPr>
          <a:xfrm>
            <a:off x="566928" y="2432304"/>
            <a:ext cx="896112" cy="896112"/>
          </a:xfrm>
          <a:prstGeom prst="ellipse">
            <a:avLst/>
          </a:prstGeom>
          <a:solidFill>
            <a:srgbClr val="2C5F8D"/>
          </a:solidFill>
          <a:ln/>
        </p:spPr>
      </p:sp>
      <p:sp>
        <p:nvSpPr>
          <p:cNvPr id="4" name="Text 2"/>
          <p:cNvSpPr/>
          <p:nvPr/>
        </p:nvSpPr>
        <p:spPr>
          <a:xfrm>
            <a:off x="566928" y="2432304"/>
            <a:ext cx="896112" cy="896112"/>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1</a:t>
            </a:r>
            <a:endParaRPr lang="en-US" sz="3000" dirty="0"/>
          </a:p>
        </p:txBody>
      </p:sp>
      <p:sp>
        <p:nvSpPr>
          <p:cNvPr id="5" name="Text 3"/>
          <p:cNvSpPr/>
          <p:nvPr/>
        </p:nvSpPr>
        <p:spPr>
          <a:xfrm>
            <a:off x="1792224" y="2395728"/>
            <a:ext cx="8412480" cy="658368"/>
          </a:xfrm>
          <a:prstGeom prst="rect">
            <a:avLst/>
          </a:prstGeom>
          <a:noFill/>
          <a:ln/>
        </p:spPr>
        <p:txBody>
          <a:bodyPr wrap="square" lIns="0" tIns="0" rIns="0" bIns="0" rtlCol="0" anchor="ctr"/>
          <a:lstStyle/>
          <a:p>
            <a:pPr indent="0" marL="0">
              <a:buNone/>
            </a:pPr>
            <a:r>
              <a:rPr lang="en-US" sz="3300" b="1" dirty="0">
                <a:solidFill>
                  <a:srgbClr val="FFFFFF"/>
                </a:solidFill>
                <a:latin typeface="Meiryo" pitchFamily="34" charset="0"/>
                <a:ea typeface="Meiryo" pitchFamily="34" charset="-122"/>
                <a:cs typeface="Meiryo" pitchFamily="34" charset="-120"/>
              </a:rPr>
              <a:t>なぜ必要か</a:t>
            </a:r>
            <a:endParaRPr lang="en-US" sz="3300" dirty="0"/>
          </a:p>
        </p:txBody>
      </p:sp>
      <p:sp>
        <p:nvSpPr>
          <p:cNvPr id="6" name="Text 4"/>
          <p:cNvSpPr/>
          <p:nvPr/>
        </p:nvSpPr>
        <p:spPr>
          <a:xfrm>
            <a:off x="1792224" y="3127248"/>
            <a:ext cx="8412480" cy="365760"/>
          </a:xfrm>
          <a:prstGeom prst="rect">
            <a:avLst/>
          </a:prstGeom>
          <a:noFill/>
          <a:ln/>
        </p:spPr>
        <p:txBody>
          <a:bodyPr wrap="square" lIns="0" tIns="0" rIns="0" bIns="0" rtlCol="0" anchor="ctr"/>
          <a:lstStyle/>
          <a:p>
            <a:pPr indent="0" marL="0">
              <a:buNone/>
            </a:pPr>
            <a:r>
              <a:rPr lang="en-US" sz="1400" dirty="0">
                <a:solidFill>
                  <a:srgbClr val="9FB0CC"/>
                </a:solidFill>
                <a:latin typeface="Meiryo" pitchFamily="34" charset="0"/>
                <a:ea typeface="Meiryo" pitchFamily="34" charset="-122"/>
                <a:cs typeface="Meiryo" pitchFamily="34" charset="-120"/>
              </a:rPr>
              <a:t>弊社が抱える2つの課題と、その解決像</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なぜ今なのか</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PMOが立ち上がる今が、仕組みを整えるタイミングです</a:t>
            </a:r>
            <a:endParaRPr lang="en-US" sz="2700" dirty="0"/>
          </a:p>
        </p:txBody>
      </p:sp>
      <p:sp>
        <p:nvSpPr>
          <p:cNvPr id="4" name="Shape 2"/>
          <p:cNvSpPr/>
          <p:nvPr/>
        </p:nvSpPr>
        <p:spPr>
          <a:xfrm>
            <a:off x="566928" y="1627632"/>
            <a:ext cx="5486400" cy="1975104"/>
          </a:xfrm>
          <a:prstGeom prst="roundRect">
            <a:avLst>
              <a:gd name="adj" fmla="val 2778"/>
            </a:avLst>
          </a:prstGeom>
          <a:solidFill>
            <a:srgbClr val="F1F4F9"/>
          </a:solidFill>
          <a:ln/>
          <a:effectLst>
            <a:outerShdw sx="100000" sy="100000" kx="0" ky="0" algn="bl" rotWithShape="0" blurRad="127000" dist="25400" dir="5400000">
              <a:srgbClr val="8A97AC">
                <a:alpha val="22000"/>
              </a:srgbClr>
            </a:outerShdw>
          </a:effectLst>
        </p:spPr>
      </p:sp>
      <p:sp>
        <p:nvSpPr>
          <p:cNvPr id="5" name="Shape 3"/>
          <p:cNvSpPr/>
          <p:nvPr/>
        </p:nvSpPr>
        <p:spPr>
          <a:xfrm>
            <a:off x="932688" y="1938528"/>
            <a:ext cx="493776" cy="493776"/>
          </a:xfrm>
          <a:prstGeom prst="ellipse">
            <a:avLst/>
          </a:prstGeom>
          <a:solidFill>
            <a:srgbClr val="2E7D5B"/>
          </a:solidFill>
          <a:ln/>
        </p:spPr>
      </p:sp>
      <p:sp>
        <p:nvSpPr>
          <p:cNvPr id="6" name="Text 4"/>
          <p:cNvSpPr/>
          <p:nvPr/>
        </p:nvSpPr>
        <p:spPr>
          <a:xfrm>
            <a:off x="932688" y="193852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a:t>
            </a:r>
            <a:endParaRPr lang="en-US" sz="1600" dirty="0"/>
          </a:p>
        </p:txBody>
      </p:sp>
      <p:sp>
        <p:nvSpPr>
          <p:cNvPr id="7" name="Text 5"/>
          <p:cNvSpPr/>
          <p:nvPr/>
        </p:nvSpPr>
        <p:spPr>
          <a:xfrm>
            <a:off x="1572768" y="1920240"/>
            <a:ext cx="4206240" cy="347472"/>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決まっていること</a:t>
            </a:r>
            <a:endParaRPr lang="en-US" sz="1500" dirty="0"/>
          </a:p>
        </p:txBody>
      </p:sp>
      <p:sp>
        <p:nvSpPr>
          <p:cNvPr id="8" name="Text 6"/>
          <p:cNvSpPr/>
          <p:nvPr/>
        </p:nvSpPr>
        <p:spPr>
          <a:xfrm>
            <a:off x="932688" y="2542032"/>
            <a:ext cx="4754880" cy="896112"/>
          </a:xfrm>
          <a:prstGeom prst="rect">
            <a:avLst/>
          </a:prstGeom>
          <a:noFill/>
          <a:ln/>
        </p:spPr>
        <p:txBody>
          <a:bodyPr wrap="square" lIns="0" tIns="0" rIns="0" bIns="0" rtlCol="0" anchor="ctr"/>
          <a:lstStyle/>
          <a:p>
            <a:pPr indent="0" marL="0">
              <a:lnSpc>
                <a:spcPts val="2000"/>
              </a:lnSpc>
              <a:buNone/>
            </a:pPr>
            <a:r>
              <a:rPr lang="en-US" sz="1250" dirty="0">
                <a:solidFill>
                  <a:srgbClr val="5A6472"/>
                </a:solidFill>
                <a:latin typeface="Meiryo" pitchFamily="34" charset="0"/>
                <a:ea typeface="Meiryo" pitchFamily="34" charset="-122"/>
                <a:cs typeface="Meiryo" pitchFamily="34" charset="-120"/>
              </a:rPr>
              <a:t>PMO部署と人事組織が新設される。</a:t>
            </a:r>
            <a:endParaRPr lang="en-US" sz="1250" dirty="0"/>
          </a:p>
          <a:p>
            <a:pPr indent="0" marL="0">
              <a:lnSpc>
                <a:spcPts val="2000"/>
              </a:lnSpc>
              <a:buNone/>
            </a:pPr>
            <a:r>
              <a:rPr lang="en-US" sz="1250" dirty="0">
                <a:solidFill>
                  <a:srgbClr val="5A6472"/>
                </a:solidFill>
                <a:latin typeface="Meiryo" pitchFamily="34" charset="0"/>
                <a:ea typeface="Meiryo" pitchFamily="34" charset="-122"/>
                <a:cs typeface="Meiryo" pitchFamily="34" charset="-120"/>
              </a:rPr>
              <a:t>案件管理と会議運営を、組織として</a:t>
            </a:r>
            <a:endParaRPr lang="en-US" sz="1250" dirty="0"/>
          </a:p>
          <a:p>
            <a:pPr indent="0" marL="0">
              <a:lnSpc>
                <a:spcPts val="2000"/>
              </a:lnSpc>
              <a:buNone/>
            </a:pPr>
            <a:r>
              <a:rPr lang="en-US" sz="1250" dirty="0">
                <a:solidFill>
                  <a:srgbClr val="5A6472"/>
                </a:solidFill>
                <a:latin typeface="Meiryo" pitchFamily="34" charset="0"/>
                <a:ea typeface="Meiryo" pitchFamily="34" charset="-122"/>
                <a:cs typeface="Meiryo" pitchFamily="34" charset="-120"/>
              </a:rPr>
              <a:t>標準化する転機を迎えている。</a:t>
            </a:r>
            <a:endParaRPr lang="en-US" sz="1250" dirty="0"/>
          </a:p>
        </p:txBody>
      </p:sp>
      <p:sp>
        <p:nvSpPr>
          <p:cNvPr id="9" name="Shape 7"/>
          <p:cNvSpPr/>
          <p:nvPr/>
        </p:nvSpPr>
        <p:spPr>
          <a:xfrm>
            <a:off x="6373368" y="1627632"/>
            <a:ext cx="5486400" cy="1975104"/>
          </a:xfrm>
          <a:prstGeom prst="roundRect">
            <a:avLst>
              <a:gd name="adj" fmla="val 2778"/>
            </a:avLst>
          </a:prstGeom>
          <a:solidFill>
            <a:srgbClr val="F1F4F9"/>
          </a:solidFill>
          <a:ln/>
          <a:effectLst>
            <a:outerShdw sx="100000" sy="100000" kx="0" ky="0" algn="bl" rotWithShape="0" blurRad="127000" dist="25400" dir="5400000">
              <a:srgbClr val="8A97AC">
                <a:alpha val="22000"/>
              </a:srgbClr>
            </a:outerShdw>
          </a:effectLst>
        </p:spPr>
      </p:sp>
      <p:sp>
        <p:nvSpPr>
          <p:cNvPr id="10" name="Shape 8"/>
          <p:cNvSpPr/>
          <p:nvPr/>
        </p:nvSpPr>
        <p:spPr>
          <a:xfrm>
            <a:off x="6739128" y="1938528"/>
            <a:ext cx="493776" cy="493776"/>
          </a:xfrm>
          <a:prstGeom prst="ellipse">
            <a:avLst/>
          </a:prstGeom>
          <a:solidFill>
            <a:srgbClr val="B3423A"/>
          </a:solidFill>
          <a:ln/>
        </p:spPr>
      </p:sp>
      <p:sp>
        <p:nvSpPr>
          <p:cNvPr id="11" name="Text 9"/>
          <p:cNvSpPr/>
          <p:nvPr/>
        </p:nvSpPr>
        <p:spPr>
          <a:xfrm>
            <a:off x="6739128" y="193852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a:t>
            </a:r>
            <a:endParaRPr lang="en-US" sz="1600" dirty="0"/>
          </a:p>
        </p:txBody>
      </p:sp>
      <p:sp>
        <p:nvSpPr>
          <p:cNvPr id="12" name="Text 10"/>
          <p:cNvSpPr/>
          <p:nvPr/>
        </p:nvSpPr>
        <p:spPr>
          <a:xfrm>
            <a:off x="7379208" y="1920240"/>
            <a:ext cx="4206240" cy="347472"/>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足りていないこと</a:t>
            </a:r>
            <a:endParaRPr lang="en-US" sz="1500" dirty="0"/>
          </a:p>
        </p:txBody>
      </p:sp>
      <p:sp>
        <p:nvSpPr>
          <p:cNvPr id="13" name="Text 11"/>
          <p:cNvSpPr/>
          <p:nvPr/>
        </p:nvSpPr>
        <p:spPr>
          <a:xfrm>
            <a:off x="6739128" y="2542032"/>
            <a:ext cx="4754880" cy="896112"/>
          </a:xfrm>
          <a:prstGeom prst="rect">
            <a:avLst/>
          </a:prstGeom>
          <a:noFill/>
          <a:ln/>
        </p:spPr>
        <p:txBody>
          <a:bodyPr wrap="square" lIns="0" tIns="0" rIns="0" bIns="0" rtlCol="0" anchor="ctr"/>
          <a:lstStyle/>
          <a:p>
            <a:pPr indent="0" marL="0">
              <a:lnSpc>
                <a:spcPts val="2000"/>
              </a:lnSpc>
              <a:buNone/>
            </a:pPr>
            <a:r>
              <a:rPr lang="en-US" sz="1250" dirty="0">
                <a:solidFill>
                  <a:srgbClr val="5A6472"/>
                </a:solidFill>
                <a:latin typeface="Meiryo" pitchFamily="34" charset="0"/>
                <a:ea typeface="Meiryo" pitchFamily="34" charset="-122"/>
                <a:cs typeface="Meiryo" pitchFamily="34" charset="-120"/>
              </a:rPr>
              <a:t>PMOが使う「管制塔」が存在しない。</a:t>
            </a:r>
            <a:endParaRPr lang="en-US" sz="1250" dirty="0"/>
          </a:p>
          <a:p>
            <a:pPr indent="0" marL="0">
              <a:lnSpc>
                <a:spcPts val="2000"/>
              </a:lnSpc>
              <a:buNone/>
            </a:pPr>
            <a:r>
              <a:rPr lang="en-US" sz="1250" dirty="0">
                <a:solidFill>
                  <a:srgbClr val="5A6472"/>
                </a:solidFill>
                <a:latin typeface="Meiryo" pitchFamily="34" charset="0"/>
                <a:ea typeface="Meiryo" pitchFamily="34" charset="-122"/>
                <a:cs typeface="Meiryo" pitchFamily="34" charset="-120"/>
              </a:rPr>
              <a:t>案件の状況を一望できる場所が、</a:t>
            </a:r>
            <a:endParaRPr lang="en-US" sz="1250" dirty="0"/>
          </a:p>
          <a:p>
            <a:pPr indent="0" marL="0">
              <a:lnSpc>
                <a:spcPts val="2000"/>
              </a:lnSpc>
              <a:buNone/>
            </a:pPr>
            <a:r>
              <a:rPr lang="en-US" sz="1250" dirty="0">
                <a:solidFill>
                  <a:srgbClr val="5A6472"/>
                </a:solidFill>
                <a:latin typeface="Meiryo" pitchFamily="34" charset="0"/>
                <a:ea typeface="Meiryo" pitchFamily="34" charset="-122"/>
                <a:cs typeface="Meiryo" pitchFamily="34" charset="-120"/>
              </a:rPr>
              <a:t>現在どこにもない。</a:t>
            </a:r>
            <a:endParaRPr lang="en-US" sz="1250" dirty="0"/>
          </a:p>
        </p:txBody>
      </p:sp>
      <p:sp>
        <p:nvSpPr>
          <p:cNvPr id="14" name="Shape 12"/>
          <p:cNvSpPr/>
          <p:nvPr/>
        </p:nvSpPr>
        <p:spPr>
          <a:xfrm>
            <a:off x="566928" y="4041648"/>
            <a:ext cx="11057839" cy="1828800"/>
          </a:xfrm>
          <a:prstGeom prst="roundRect">
            <a:avLst>
              <a:gd name="adj" fmla="val 3000"/>
            </a:avLst>
          </a:prstGeom>
          <a:solidFill>
            <a:srgbClr val="16233F"/>
          </a:solidFill>
          <a:ln/>
          <a:effectLst>
            <a:outerShdw sx="100000" sy="100000" kx="0" ky="0" algn="bl" rotWithShape="0" blurRad="127000" dist="25400" dir="5400000">
              <a:srgbClr val="8A97AC">
                <a:alpha val="22000"/>
              </a:srgbClr>
            </a:outerShdw>
          </a:effectLst>
        </p:spPr>
      </p:sp>
      <p:sp>
        <p:nvSpPr>
          <p:cNvPr id="15" name="Text 13"/>
          <p:cNvSpPr/>
          <p:nvPr/>
        </p:nvSpPr>
        <p:spPr>
          <a:xfrm>
            <a:off x="1115568" y="4041648"/>
            <a:ext cx="9960559" cy="1828800"/>
          </a:xfrm>
          <a:prstGeom prst="rect">
            <a:avLst/>
          </a:prstGeom>
          <a:noFill/>
          <a:ln/>
        </p:spPr>
        <p:txBody>
          <a:bodyPr wrap="square" lIns="0" tIns="0" rIns="0" bIns="0" rtlCol="0" anchor="ctr"/>
          <a:lstStyle/>
          <a:p>
            <a:pPr indent="0" marL="0">
              <a:lnSpc>
                <a:spcPts val="3400"/>
              </a:lnSpc>
              <a:buNone/>
            </a:pPr>
            <a:r>
              <a:rPr lang="en-US" sz="2100" b="1" dirty="0">
                <a:solidFill>
                  <a:srgbClr val="FFFFFF"/>
                </a:solidFill>
                <a:latin typeface="Meiryo" pitchFamily="34" charset="0"/>
                <a:ea typeface="Meiryo" pitchFamily="34" charset="-122"/>
                <a:cs typeface="Meiryo" pitchFamily="34" charset="-120"/>
              </a:rPr>
              <a:t>器のないままPMOを作れば、PMOは各部署に</a:t>
            </a:r>
            <a:endParaRPr lang="en-US" sz="2100" dirty="0"/>
          </a:p>
          <a:p>
            <a:pPr indent="0" marL="0">
              <a:lnSpc>
                <a:spcPts val="3400"/>
              </a:lnSpc>
              <a:buNone/>
            </a:pPr>
            <a:r>
              <a:rPr lang="en-US" sz="2100" b="1" dirty="0">
                <a:solidFill>
                  <a:srgbClr val="FFFFFF"/>
                </a:solidFill>
                <a:latin typeface="Meiryo" pitchFamily="34" charset="0"/>
                <a:ea typeface="Meiryo" pitchFamily="34" charset="-122"/>
                <a:cs typeface="Meiryo" pitchFamily="34" charset="-120"/>
              </a:rPr>
              <a:t>チャットと電話で状況を聞いて回る係になります。</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課題の全体像</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弊社の課題は、2つあります</a:t>
            </a:r>
            <a:endParaRPr lang="en-US" sz="2700" dirty="0"/>
          </a:p>
        </p:txBody>
      </p:sp>
      <p:sp>
        <p:nvSpPr>
          <p:cNvPr id="4" name="Shape 2"/>
          <p:cNvSpPr/>
          <p:nvPr/>
        </p:nvSpPr>
        <p:spPr>
          <a:xfrm>
            <a:off x="566928" y="1572768"/>
            <a:ext cx="5486400" cy="4224528"/>
          </a:xfrm>
          <a:prstGeom prst="roundRect">
            <a:avLst>
              <a:gd name="adj" fmla="val 1299"/>
            </a:avLst>
          </a:prstGeom>
          <a:solidFill>
            <a:srgbClr val="F1F4F9"/>
          </a:solidFill>
          <a:ln/>
          <a:effectLst>
            <a:outerShdw sx="100000" sy="100000" kx="0" ky="0" algn="bl" rotWithShape="0" blurRad="127000" dist="25400" dir="5400000">
              <a:srgbClr val="8A97AC">
                <a:alpha val="22000"/>
              </a:srgbClr>
            </a:outerShdw>
          </a:effectLst>
        </p:spPr>
      </p:sp>
      <p:sp>
        <p:nvSpPr>
          <p:cNvPr id="5" name="Shape 3"/>
          <p:cNvSpPr/>
          <p:nvPr/>
        </p:nvSpPr>
        <p:spPr>
          <a:xfrm>
            <a:off x="877824" y="1810512"/>
            <a:ext cx="566928" cy="566928"/>
          </a:xfrm>
          <a:prstGeom prst="ellipse">
            <a:avLst/>
          </a:prstGeom>
          <a:solidFill>
            <a:srgbClr val="2C5F8D"/>
          </a:solidFill>
          <a:ln/>
        </p:spPr>
      </p:sp>
      <p:sp>
        <p:nvSpPr>
          <p:cNvPr id="6" name="Text 4"/>
          <p:cNvSpPr/>
          <p:nvPr/>
        </p:nvSpPr>
        <p:spPr>
          <a:xfrm>
            <a:off x="877824" y="181051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eiryo" pitchFamily="34" charset="0"/>
                <a:ea typeface="Meiryo" pitchFamily="34" charset="-122"/>
                <a:cs typeface="Meiryo" pitchFamily="34" charset="-120"/>
              </a:rPr>
              <a:t>A</a:t>
            </a:r>
            <a:endParaRPr lang="en-US" sz="1900" dirty="0"/>
          </a:p>
        </p:txBody>
      </p:sp>
      <p:sp>
        <p:nvSpPr>
          <p:cNvPr id="7" name="Text 5"/>
          <p:cNvSpPr/>
          <p:nvPr/>
        </p:nvSpPr>
        <p:spPr>
          <a:xfrm>
            <a:off x="1554480" y="1792224"/>
            <a:ext cx="2011680" cy="274320"/>
          </a:xfrm>
          <a:prstGeom prst="rect">
            <a:avLst/>
          </a:prstGeom>
          <a:noFill/>
          <a:ln/>
        </p:spPr>
        <p:txBody>
          <a:bodyPr wrap="square" lIns="0" tIns="0" rIns="0" bIns="0" rtlCol="0" anchor="ctr"/>
          <a:lstStyle/>
          <a:p>
            <a:pPr indent="0" marL="0">
              <a:buNone/>
            </a:pPr>
            <a:r>
              <a:rPr lang="en-US" sz="1100" b="1" spc="100" kern="0" dirty="0">
                <a:solidFill>
                  <a:srgbClr val="2C5F8D"/>
                </a:solidFill>
                <a:latin typeface="Meiryo" pitchFamily="34" charset="0"/>
                <a:ea typeface="Meiryo" pitchFamily="34" charset="-122"/>
                <a:cs typeface="Meiryo" pitchFamily="34" charset="-120"/>
              </a:rPr>
              <a:t>課題A</a:t>
            </a:r>
            <a:endParaRPr lang="en-US" sz="1100" dirty="0"/>
          </a:p>
        </p:txBody>
      </p:sp>
      <p:sp>
        <p:nvSpPr>
          <p:cNvPr id="8" name="Text 6"/>
          <p:cNvSpPr/>
          <p:nvPr/>
        </p:nvSpPr>
        <p:spPr>
          <a:xfrm>
            <a:off x="1554480" y="2048256"/>
            <a:ext cx="4206240" cy="384048"/>
          </a:xfrm>
          <a:prstGeom prst="rect">
            <a:avLst/>
          </a:prstGeom>
          <a:noFill/>
          <a:ln/>
        </p:spPr>
        <p:txBody>
          <a:bodyPr wrap="square" lIns="0" tIns="0" rIns="0" bIns="0" rtlCol="0" anchor="ctr"/>
          <a:lstStyle/>
          <a:p>
            <a:pPr indent="0" marL="0">
              <a:buNone/>
            </a:pPr>
            <a:r>
              <a:rPr lang="en-US" sz="2000" b="1" dirty="0">
                <a:solidFill>
                  <a:srgbClr val="16233F"/>
                </a:solidFill>
                <a:latin typeface="Meiryo" pitchFamily="34" charset="0"/>
                <a:ea typeface="Meiryo" pitchFamily="34" charset="-122"/>
                <a:cs typeface="Meiryo" pitchFamily="34" charset="-120"/>
              </a:rPr>
              <a:t>案件管理</a:t>
            </a:r>
            <a:endParaRPr lang="en-US" sz="2000" dirty="0"/>
          </a:p>
        </p:txBody>
      </p:sp>
      <p:sp>
        <p:nvSpPr>
          <p:cNvPr id="9" name="Text 7"/>
          <p:cNvSpPr/>
          <p:nvPr/>
        </p:nvSpPr>
        <p:spPr>
          <a:xfrm>
            <a:off x="877824" y="2761488"/>
            <a:ext cx="4864608" cy="256032"/>
          </a:xfrm>
          <a:prstGeom prst="rect">
            <a:avLst/>
          </a:prstGeom>
          <a:noFill/>
          <a:ln/>
        </p:spPr>
        <p:txBody>
          <a:bodyPr wrap="square" lIns="0" tIns="0" rIns="0" bIns="0" rtlCol="0" anchor="ctr"/>
          <a:lstStyle/>
          <a:p>
            <a:pPr indent="0" marL="0">
              <a:buNone/>
            </a:pPr>
            <a:r>
              <a:rPr lang="en-US" sz="1050" b="1" dirty="0">
                <a:solidFill>
                  <a:srgbClr val="2C5F8D"/>
                </a:solidFill>
                <a:latin typeface="Meiryo" pitchFamily="34" charset="0"/>
                <a:ea typeface="Meiryo" pitchFamily="34" charset="-122"/>
                <a:cs typeface="Meiryo" pitchFamily="34" charset="-120"/>
              </a:rPr>
              <a:t>何が起きているか</a:t>
            </a:r>
            <a:endParaRPr lang="en-US" sz="1050" dirty="0"/>
          </a:p>
        </p:txBody>
      </p:sp>
      <p:sp>
        <p:nvSpPr>
          <p:cNvPr id="10" name="Text 8"/>
          <p:cNvSpPr/>
          <p:nvPr/>
        </p:nvSpPr>
        <p:spPr>
          <a:xfrm>
            <a:off x="877824" y="3017520"/>
            <a:ext cx="4864608" cy="566928"/>
          </a:xfrm>
          <a:prstGeom prst="rect">
            <a:avLst/>
          </a:prstGeom>
          <a:noFill/>
          <a:ln/>
        </p:spPr>
        <p:txBody>
          <a:bodyPr wrap="square" lIns="0" tIns="0" rIns="0" bIns="0" rtlCol="0" anchor="ctr"/>
          <a:lstStyle/>
          <a:p>
            <a:pPr indent="0" marL="0">
              <a:lnSpc>
                <a:spcPts val="1800"/>
              </a:lnSpc>
              <a:buNone/>
            </a:pPr>
            <a:r>
              <a:rPr lang="en-US" sz="1200" dirty="0">
                <a:solidFill>
                  <a:srgbClr val="1A1F2B"/>
                </a:solidFill>
                <a:latin typeface="Meiryo" pitchFamily="34" charset="0"/>
                <a:ea typeface="Meiryo" pitchFamily="34" charset="-122"/>
                <a:cs typeface="Meiryo" pitchFamily="34" charset="-120"/>
              </a:rPr>
              <a:t>年間700件の研修案件が部門をまたいで進むのに、進捗を一望する場所がない</a:t>
            </a:r>
            <a:endParaRPr lang="en-US" sz="1200" dirty="0"/>
          </a:p>
        </p:txBody>
      </p:sp>
      <p:sp>
        <p:nvSpPr>
          <p:cNvPr id="11" name="Text 9"/>
          <p:cNvSpPr/>
          <p:nvPr/>
        </p:nvSpPr>
        <p:spPr>
          <a:xfrm>
            <a:off x="877824" y="3749040"/>
            <a:ext cx="4864608" cy="256032"/>
          </a:xfrm>
          <a:prstGeom prst="rect">
            <a:avLst/>
          </a:prstGeom>
          <a:noFill/>
          <a:ln/>
        </p:spPr>
        <p:txBody>
          <a:bodyPr wrap="square" lIns="0" tIns="0" rIns="0" bIns="0" rtlCol="0" anchor="ctr"/>
          <a:lstStyle/>
          <a:p>
            <a:pPr indent="0" marL="0">
              <a:buNone/>
            </a:pPr>
            <a:r>
              <a:rPr lang="en-US" sz="1050" b="1" dirty="0">
                <a:solidFill>
                  <a:srgbClr val="2C5F8D"/>
                </a:solidFill>
                <a:latin typeface="Meiryo" pitchFamily="34" charset="0"/>
                <a:ea typeface="Meiryo" pitchFamily="34" charset="-122"/>
                <a:cs typeface="Meiryo" pitchFamily="34" charset="-120"/>
              </a:rPr>
              <a:t>現在の管理方法</a:t>
            </a:r>
            <a:endParaRPr lang="en-US" sz="1050" dirty="0"/>
          </a:p>
        </p:txBody>
      </p:sp>
      <p:sp>
        <p:nvSpPr>
          <p:cNvPr id="12" name="Text 10"/>
          <p:cNvSpPr/>
          <p:nvPr/>
        </p:nvSpPr>
        <p:spPr>
          <a:xfrm>
            <a:off x="877824" y="4005072"/>
            <a:ext cx="4864608" cy="566928"/>
          </a:xfrm>
          <a:prstGeom prst="rect">
            <a:avLst/>
          </a:prstGeom>
          <a:noFill/>
          <a:ln/>
        </p:spPr>
        <p:txBody>
          <a:bodyPr wrap="square" lIns="0" tIns="0" rIns="0" bIns="0" rtlCol="0" anchor="ctr"/>
          <a:lstStyle/>
          <a:p>
            <a:pPr indent="0" marL="0">
              <a:lnSpc>
                <a:spcPts val="1800"/>
              </a:lnSpc>
              <a:buNone/>
            </a:pPr>
            <a:r>
              <a:rPr lang="en-US" sz="1200" dirty="0">
                <a:solidFill>
                  <a:srgbClr val="1A1F2B"/>
                </a:solidFill>
                <a:latin typeface="Meiryo" pitchFamily="34" charset="0"/>
                <a:ea typeface="Meiryo" pitchFamily="34" charset="-122"/>
                <a:cs typeface="Meiryo" pitchFamily="34" charset="-120"/>
              </a:rPr>
              <a:t>Teamsのグループチャット ＋ 各自オリジナルのExcel</a:t>
            </a:r>
            <a:endParaRPr lang="en-US" sz="1200" dirty="0"/>
          </a:p>
        </p:txBody>
      </p:sp>
      <p:sp>
        <p:nvSpPr>
          <p:cNvPr id="13" name="Text 11"/>
          <p:cNvSpPr/>
          <p:nvPr/>
        </p:nvSpPr>
        <p:spPr>
          <a:xfrm>
            <a:off x="877824" y="4736592"/>
            <a:ext cx="4864608" cy="256032"/>
          </a:xfrm>
          <a:prstGeom prst="rect">
            <a:avLst/>
          </a:prstGeom>
          <a:noFill/>
          <a:ln/>
        </p:spPr>
        <p:txBody>
          <a:bodyPr wrap="square" lIns="0" tIns="0" rIns="0" bIns="0" rtlCol="0" anchor="ctr"/>
          <a:lstStyle/>
          <a:p>
            <a:pPr indent="0" marL="0">
              <a:buNone/>
            </a:pPr>
            <a:r>
              <a:rPr lang="en-US" sz="1050" b="1" dirty="0">
                <a:solidFill>
                  <a:srgbClr val="2C5F8D"/>
                </a:solidFill>
                <a:latin typeface="Meiryo" pitchFamily="34" charset="0"/>
                <a:ea typeface="Meiryo" pitchFamily="34" charset="-122"/>
                <a:cs typeface="Meiryo" pitchFamily="34" charset="-120"/>
              </a:rPr>
              <a:t>放置するとどうなるか</a:t>
            </a:r>
            <a:endParaRPr lang="en-US" sz="1050" dirty="0"/>
          </a:p>
        </p:txBody>
      </p:sp>
      <p:sp>
        <p:nvSpPr>
          <p:cNvPr id="14" name="Text 12"/>
          <p:cNvSpPr/>
          <p:nvPr/>
        </p:nvSpPr>
        <p:spPr>
          <a:xfrm>
            <a:off x="877824" y="4992624"/>
            <a:ext cx="4864608" cy="566928"/>
          </a:xfrm>
          <a:prstGeom prst="rect">
            <a:avLst/>
          </a:prstGeom>
          <a:noFill/>
          <a:ln/>
        </p:spPr>
        <p:txBody>
          <a:bodyPr wrap="square" lIns="0" tIns="0" rIns="0" bIns="0" rtlCol="0" anchor="ctr"/>
          <a:lstStyle/>
          <a:p>
            <a:pPr indent="0" marL="0">
              <a:lnSpc>
                <a:spcPts val="1800"/>
              </a:lnSpc>
              <a:buNone/>
            </a:pPr>
            <a:r>
              <a:rPr lang="en-US" sz="1200" dirty="0">
                <a:solidFill>
                  <a:srgbClr val="1A1F2B"/>
                </a:solidFill>
                <a:latin typeface="Meiryo" pitchFamily="34" charset="0"/>
                <a:ea typeface="Meiryo" pitchFamily="34" charset="-122"/>
                <a:cs typeface="Meiryo" pitchFamily="34" charset="-120"/>
              </a:rPr>
              <a:t>納期遅延と手戻りが再発し、顧客の信用を損なう</a:t>
            </a:r>
            <a:endParaRPr lang="en-US" sz="1200" dirty="0"/>
          </a:p>
        </p:txBody>
      </p:sp>
      <p:sp>
        <p:nvSpPr>
          <p:cNvPr id="15" name="Shape 13"/>
          <p:cNvSpPr/>
          <p:nvPr/>
        </p:nvSpPr>
        <p:spPr>
          <a:xfrm>
            <a:off x="6373368" y="1572768"/>
            <a:ext cx="5486400" cy="4224528"/>
          </a:xfrm>
          <a:prstGeom prst="roundRect">
            <a:avLst>
              <a:gd name="adj" fmla="val 1299"/>
            </a:avLst>
          </a:prstGeom>
          <a:solidFill>
            <a:srgbClr val="F1F4F9"/>
          </a:solidFill>
          <a:ln/>
          <a:effectLst>
            <a:outerShdw sx="100000" sy="100000" kx="0" ky="0" algn="bl" rotWithShape="0" blurRad="127000" dist="25400" dir="5400000">
              <a:srgbClr val="8A97AC">
                <a:alpha val="22000"/>
              </a:srgbClr>
            </a:outerShdw>
          </a:effectLst>
        </p:spPr>
      </p:sp>
      <p:sp>
        <p:nvSpPr>
          <p:cNvPr id="16" name="Shape 14"/>
          <p:cNvSpPr/>
          <p:nvPr/>
        </p:nvSpPr>
        <p:spPr>
          <a:xfrm>
            <a:off x="6684264" y="1810512"/>
            <a:ext cx="566928" cy="566928"/>
          </a:xfrm>
          <a:prstGeom prst="ellipse">
            <a:avLst/>
          </a:prstGeom>
          <a:solidFill>
            <a:srgbClr val="1F7A6C"/>
          </a:solidFill>
          <a:ln/>
        </p:spPr>
      </p:sp>
      <p:sp>
        <p:nvSpPr>
          <p:cNvPr id="17" name="Text 15"/>
          <p:cNvSpPr/>
          <p:nvPr/>
        </p:nvSpPr>
        <p:spPr>
          <a:xfrm>
            <a:off x="6684264" y="181051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eiryo" pitchFamily="34" charset="0"/>
                <a:ea typeface="Meiryo" pitchFamily="34" charset="-122"/>
                <a:cs typeface="Meiryo" pitchFamily="34" charset="-120"/>
              </a:rPr>
              <a:t>B</a:t>
            </a:r>
            <a:endParaRPr lang="en-US" sz="1900" dirty="0"/>
          </a:p>
        </p:txBody>
      </p:sp>
      <p:sp>
        <p:nvSpPr>
          <p:cNvPr id="18" name="Text 16"/>
          <p:cNvSpPr/>
          <p:nvPr/>
        </p:nvSpPr>
        <p:spPr>
          <a:xfrm>
            <a:off x="7360920" y="1792224"/>
            <a:ext cx="2011680" cy="274320"/>
          </a:xfrm>
          <a:prstGeom prst="rect">
            <a:avLst/>
          </a:prstGeom>
          <a:noFill/>
          <a:ln/>
        </p:spPr>
        <p:txBody>
          <a:bodyPr wrap="square" lIns="0" tIns="0" rIns="0" bIns="0" rtlCol="0" anchor="ctr"/>
          <a:lstStyle/>
          <a:p>
            <a:pPr indent="0" marL="0">
              <a:buNone/>
            </a:pPr>
            <a:r>
              <a:rPr lang="en-US" sz="1100" b="1" spc="100" kern="0" dirty="0">
                <a:solidFill>
                  <a:srgbClr val="1F7A6C"/>
                </a:solidFill>
                <a:latin typeface="Meiryo" pitchFamily="34" charset="0"/>
                <a:ea typeface="Meiryo" pitchFamily="34" charset="-122"/>
                <a:cs typeface="Meiryo" pitchFamily="34" charset="-120"/>
              </a:rPr>
              <a:t>課題B</a:t>
            </a:r>
            <a:endParaRPr lang="en-US" sz="1100" dirty="0"/>
          </a:p>
        </p:txBody>
      </p:sp>
      <p:sp>
        <p:nvSpPr>
          <p:cNvPr id="19" name="Text 17"/>
          <p:cNvSpPr/>
          <p:nvPr/>
        </p:nvSpPr>
        <p:spPr>
          <a:xfrm>
            <a:off x="7360920" y="2048256"/>
            <a:ext cx="4206240" cy="384048"/>
          </a:xfrm>
          <a:prstGeom prst="rect">
            <a:avLst/>
          </a:prstGeom>
          <a:noFill/>
          <a:ln/>
        </p:spPr>
        <p:txBody>
          <a:bodyPr wrap="square" lIns="0" tIns="0" rIns="0" bIns="0" rtlCol="0" anchor="ctr"/>
          <a:lstStyle/>
          <a:p>
            <a:pPr indent="0" marL="0">
              <a:buNone/>
            </a:pPr>
            <a:r>
              <a:rPr lang="en-US" sz="2000" b="1" dirty="0">
                <a:solidFill>
                  <a:srgbClr val="16233F"/>
                </a:solidFill>
                <a:latin typeface="Meiryo" pitchFamily="34" charset="0"/>
                <a:ea typeface="Meiryo" pitchFamily="34" charset="-122"/>
                <a:cs typeface="Meiryo" pitchFamily="34" charset="-120"/>
              </a:rPr>
              <a:t>会議と議事録</a:t>
            </a:r>
            <a:endParaRPr lang="en-US" sz="2000" dirty="0"/>
          </a:p>
        </p:txBody>
      </p:sp>
      <p:sp>
        <p:nvSpPr>
          <p:cNvPr id="20" name="Text 18"/>
          <p:cNvSpPr/>
          <p:nvPr/>
        </p:nvSpPr>
        <p:spPr>
          <a:xfrm>
            <a:off x="6684264" y="2761488"/>
            <a:ext cx="4864608" cy="256032"/>
          </a:xfrm>
          <a:prstGeom prst="rect">
            <a:avLst/>
          </a:prstGeom>
          <a:noFill/>
          <a:ln/>
        </p:spPr>
        <p:txBody>
          <a:bodyPr wrap="square" lIns="0" tIns="0" rIns="0" bIns="0" rtlCol="0" anchor="ctr"/>
          <a:lstStyle/>
          <a:p>
            <a:pPr indent="0" marL="0">
              <a:buNone/>
            </a:pPr>
            <a:r>
              <a:rPr lang="en-US" sz="1050" b="1" dirty="0">
                <a:solidFill>
                  <a:srgbClr val="1F7A6C"/>
                </a:solidFill>
                <a:latin typeface="Meiryo" pitchFamily="34" charset="0"/>
                <a:ea typeface="Meiryo" pitchFamily="34" charset="-122"/>
                <a:cs typeface="Meiryo" pitchFamily="34" charset="-120"/>
              </a:rPr>
              <a:t>何が起きているか</a:t>
            </a:r>
            <a:endParaRPr lang="en-US" sz="1050" dirty="0"/>
          </a:p>
        </p:txBody>
      </p:sp>
      <p:sp>
        <p:nvSpPr>
          <p:cNvPr id="21" name="Text 19"/>
          <p:cNvSpPr/>
          <p:nvPr/>
        </p:nvSpPr>
        <p:spPr>
          <a:xfrm>
            <a:off x="6684264" y="3017520"/>
            <a:ext cx="4864608" cy="566928"/>
          </a:xfrm>
          <a:prstGeom prst="rect">
            <a:avLst/>
          </a:prstGeom>
          <a:noFill/>
          <a:ln/>
        </p:spPr>
        <p:txBody>
          <a:bodyPr wrap="square" lIns="0" tIns="0" rIns="0" bIns="0" rtlCol="0" anchor="ctr"/>
          <a:lstStyle/>
          <a:p>
            <a:pPr indent="0" marL="0">
              <a:lnSpc>
                <a:spcPts val="1800"/>
              </a:lnSpc>
              <a:buNone/>
            </a:pPr>
            <a:r>
              <a:rPr lang="en-US" sz="1200" dirty="0">
                <a:solidFill>
                  <a:srgbClr val="1A1F2B"/>
                </a:solidFill>
                <a:latin typeface="Meiryo" pitchFamily="34" charset="0"/>
                <a:ea typeface="Meiryo" pitchFamily="34" charset="-122"/>
                <a:cs typeface="Meiryo" pitchFamily="34" charset="-120"/>
              </a:rPr>
              <a:t>会議が多く、目的が曖昧なまま設定され、決定事項が後から追えない</a:t>
            </a:r>
            <a:endParaRPr lang="en-US" sz="1200" dirty="0"/>
          </a:p>
        </p:txBody>
      </p:sp>
      <p:sp>
        <p:nvSpPr>
          <p:cNvPr id="22" name="Text 20"/>
          <p:cNvSpPr/>
          <p:nvPr/>
        </p:nvSpPr>
        <p:spPr>
          <a:xfrm>
            <a:off x="6684264" y="3749040"/>
            <a:ext cx="4864608" cy="256032"/>
          </a:xfrm>
          <a:prstGeom prst="rect">
            <a:avLst/>
          </a:prstGeom>
          <a:noFill/>
          <a:ln/>
        </p:spPr>
        <p:txBody>
          <a:bodyPr wrap="square" lIns="0" tIns="0" rIns="0" bIns="0" rtlCol="0" anchor="ctr"/>
          <a:lstStyle/>
          <a:p>
            <a:pPr indent="0" marL="0">
              <a:buNone/>
            </a:pPr>
            <a:r>
              <a:rPr lang="en-US" sz="1050" b="1" dirty="0">
                <a:solidFill>
                  <a:srgbClr val="1F7A6C"/>
                </a:solidFill>
                <a:latin typeface="Meiryo" pitchFamily="34" charset="0"/>
                <a:ea typeface="Meiryo" pitchFamily="34" charset="-122"/>
                <a:cs typeface="Meiryo" pitchFamily="34" charset="-120"/>
              </a:rPr>
              <a:t>現在の管理方法</a:t>
            </a:r>
            <a:endParaRPr lang="en-US" sz="1050" dirty="0"/>
          </a:p>
        </p:txBody>
      </p:sp>
      <p:sp>
        <p:nvSpPr>
          <p:cNvPr id="23" name="Text 21"/>
          <p:cNvSpPr/>
          <p:nvPr/>
        </p:nvSpPr>
        <p:spPr>
          <a:xfrm>
            <a:off x="6684264" y="4005072"/>
            <a:ext cx="4864608" cy="566928"/>
          </a:xfrm>
          <a:prstGeom prst="rect">
            <a:avLst/>
          </a:prstGeom>
          <a:noFill/>
          <a:ln/>
        </p:spPr>
        <p:txBody>
          <a:bodyPr wrap="square" lIns="0" tIns="0" rIns="0" bIns="0" rtlCol="0" anchor="ctr"/>
          <a:lstStyle/>
          <a:p>
            <a:pPr indent="0" marL="0">
              <a:lnSpc>
                <a:spcPts val="1800"/>
              </a:lnSpc>
              <a:buNone/>
            </a:pPr>
            <a:r>
              <a:rPr lang="en-US" sz="1200" dirty="0">
                <a:solidFill>
                  <a:srgbClr val="1A1F2B"/>
                </a:solidFill>
                <a:latin typeface="Meiryo" pitchFamily="34" charset="0"/>
                <a:ea typeface="Meiryo" pitchFamily="34" charset="-122"/>
                <a:cs typeface="Meiryo" pitchFamily="34" charset="-120"/>
              </a:rPr>
              <a:t>AI議事録をWord・OneNoteに保存し、リンクをチャットで共有</a:t>
            </a:r>
            <a:endParaRPr lang="en-US" sz="1200" dirty="0"/>
          </a:p>
        </p:txBody>
      </p:sp>
      <p:sp>
        <p:nvSpPr>
          <p:cNvPr id="24" name="Text 22"/>
          <p:cNvSpPr/>
          <p:nvPr/>
        </p:nvSpPr>
        <p:spPr>
          <a:xfrm>
            <a:off x="6684264" y="4736592"/>
            <a:ext cx="4864608" cy="256032"/>
          </a:xfrm>
          <a:prstGeom prst="rect">
            <a:avLst/>
          </a:prstGeom>
          <a:noFill/>
          <a:ln/>
        </p:spPr>
        <p:txBody>
          <a:bodyPr wrap="square" lIns="0" tIns="0" rIns="0" bIns="0" rtlCol="0" anchor="ctr"/>
          <a:lstStyle/>
          <a:p>
            <a:pPr indent="0" marL="0">
              <a:buNone/>
            </a:pPr>
            <a:r>
              <a:rPr lang="en-US" sz="1050" b="1" dirty="0">
                <a:solidFill>
                  <a:srgbClr val="1F7A6C"/>
                </a:solidFill>
                <a:latin typeface="Meiryo" pitchFamily="34" charset="0"/>
                <a:ea typeface="Meiryo" pitchFamily="34" charset="-122"/>
                <a:cs typeface="Meiryo" pitchFamily="34" charset="-120"/>
              </a:rPr>
              <a:t>放置するとどうなるか</a:t>
            </a:r>
            <a:endParaRPr lang="en-US" sz="1050" dirty="0"/>
          </a:p>
        </p:txBody>
      </p:sp>
      <p:sp>
        <p:nvSpPr>
          <p:cNvPr id="25" name="Text 23"/>
          <p:cNvSpPr/>
          <p:nvPr/>
        </p:nvSpPr>
        <p:spPr>
          <a:xfrm>
            <a:off x="6684264" y="4992624"/>
            <a:ext cx="4864608" cy="566928"/>
          </a:xfrm>
          <a:prstGeom prst="rect">
            <a:avLst/>
          </a:prstGeom>
          <a:noFill/>
          <a:ln/>
        </p:spPr>
        <p:txBody>
          <a:bodyPr wrap="square" lIns="0" tIns="0" rIns="0" bIns="0" rtlCol="0" anchor="ctr"/>
          <a:lstStyle/>
          <a:p>
            <a:pPr indent="0" marL="0">
              <a:lnSpc>
                <a:spcPts val="1800"/>
              </a:lnSpc>
              <a:buNone/>
            </a:pPr>
            <a:r>
              <a:rPr lang="en-US" sz="1200" dirty="0">
                <a:solidFill>
                  <a:srgbClr val="1A1F2B"/>
                </a:solidFill>
                <a:latin typeface="Meiryo" pitchFamily="34" charset="0"/>
                <a:ea typeface="Meiryo" pitchFamily="34" charset="-122"/>
                <a:cs typeface="Meiryo" pitchFamily="34" charset="-120"/>
              </a:rPr>
              <a:t>意思決定が遅れ、同じ議論が繰り返される</a:t>
            </a:r>
            <a:endParaRPr lang="en-US" sz="1200" dirty="0"/>
          </a:p>
        </p:txBody>
      </p:sp>
      <p:sp>
        <p:nvSpPr>
          <p:cNvPr id="26" name="Text 24"/>
          <p:cNvSpPr/>
          <p:nvPr/>
        </p:nvSpPr>
        <p:spPr>
          <a:xfrm>
            <a:off x="566928" y="5998464"/>
            <a:ext cx="11057839" cy="365760"/>
          </a:xfrm>
          <a:prstGeom prst="rect">
            <a:avLst/>
          </a:prstGeom>
          <a:noFill/>
          <a:ln/>
        </p:spPr>
        <p:txBody>
          <a:bodyPr wrap="square" lIns="0" tIns="0" rIns="0" bIns="0" rtlCol="0" anchor="ctr"/>
          <a:lstStyle/>
          <a:p>
            <a:pPr indent="0" marL="0">
              <a:buNone/>
            </a:pPr>
            <a:r>
              <a:rPr lang="en-US" sz="1350" b="1" dirty="0">
                <a:solidFill>
                  <a:srgbClr val="E8A33D"/>
                </a:solidFill>
                <a:latin typeface="Meiryo" pitchFamily="34" charset="0"/>
                <a:ea typeface="Meiryo" pitchFamily="34" charset="-122"/>
                <a:cs typeface="Meiryo" pitchFamily="34" charset="-120"/>
              </a:rPr>
              <a:t>この2つは、1つの仕組みで解決できます（後半でご説明します）</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課題A：案件管理</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案件に関わる人は、これからさらに増えます</a:t>
            </a:r>
            <a:endParaRPr lang="en-US" sz="2700" dirty="0"/>
          </a:p>
        </p:txBody>
      </p:sp>
      <p:sp>
        <p:nvSpPr>
          <p:cNvPr id="4" name="Shape 2"/>
          <p:cNvSpPr/>
          <p:nvPr/>
        </p:nvSpPr>
        <p:spPr>
          <a:xfrm>
            <a:off x="11064240" y="475488"/>
            <a:ext cx="512064" cy="512064"/>
          </a:xfrm>
          <a:prstGeom prst="ellipse">
            <a:avLst/>
          </a:prstGeom>
          <a:solidFill>
            <a:srgbClr val="2C5F8D"/>
          </a:solidFill>
          <a:ln/>
        </p:spPr>
      </p:sp>
      <p:sp>
        <p:nvSpPr>
          <p:cNvPr id="5" name="Text 3"/>
          <p:cNvSpPr/>
          <p:nvPr/>
        </p:nvSpPr>
        <p:spPr>
          <a:xfrm>
            <a:off x="11064240" y="4754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A</a:t>
            </a:r>
            <a:endParaRPr lang="en-US" sz="1700" dirty="0"/>
          </a:p>
        </p:txBody>
      </p:sp>
      <p:sp>
        <p:nvSpPr>
          <p:cNvPr id="6" name="Shape 4"/>
          <p:cNvSpPr/>
          <p:nvPr/>
        </p:nvSpPr>
        <p:spPr>
          <a:xfrm>
            <a:off x="566928" y="1572768"/>
            <a:ext cx="5029200" cy="4114800"/>
          </a:xfrm>
          <a:prstGeom prst="roundRect">
            <a:avLst>
              <a:gd name="adj" fmla="val 1333"/>
            </a:avLst>
          </a:prstGeom>
          <a:solidFill>
            <a:srgbClr val="F1F4F9"/>
          </a:solidFill>
          <a:ln/>
          <a:effectLst>
            <a:outerShdw sx="100000" sy="100000" kx="0" ky="0" algn="bl" rotWithShape="0" blurRad="127000" dist="25400" dir="5400000">
              <a:srgbClr val="8A97AC">
                <a:alpha val="22000"/>
              </a:srgbClr>
            </a:outerShdw>
          </a:effectLst>
        </p:spPr>
      </p:sp>
      <p:sp>
        <p:nvSpPr>
          <p:cNvPr id="7" name="Text 5"/>
          <p:cNvSpPr/>
          <p:nvPr/>
        </p:nvSpPr>
        <p:spPr>
          <a:xfrm>
            <a:off x="841248" y="1737360"/>
            <a:ext cx="4480560" cy="292608"/>
          </a:xfrm>
          <a:prstGeom prst="rect">
            <a:avLst/>
          </a:prstGeom>
          <a:noFill/>
          <a:ln/>
        </p:spPr>
        <p:txBody>
          <a:bodyPr wrap="square" lIns="0" tIns="0" rIns="0" bIns="0" rtlCol="0" anchor="ctr"/>
          <a:lstStyle/>
          <a:p>
            <a:pPr indent="0" marL="0">
              <a:buNone/>
            </a:pPr>
            <a:r>
              <a:rPr lang="en-US" sz="1350" b="1" dirty="0">
                <a:solidFill>
                  <a:srgbClr val="16233F"/>
                </a:solidFill>
                <a:latin typeface="Meiryo" pitchFamily="34" charset="0"/>
                <a:ea typeface="Meiryo" pitchFamily="34" charset="-122"/>
                <a:cs typeface="Meiryo" pitchFamily="34" charset="-120"/>
              </a:rPr>
              <a:t>1案件に関わる人</a:t>
            </a:r>
            <a:endParaRPr lang="en-US" sz="1350" dirty="0"/>
          </a:p>
        </p:txBody>
      </p:sp>
      <p:sp>
        <p:nvSpPr>
          <p:cNvPr id="8" name="Text 6"/>
          <p:cNvSpPr/>
          <p:nvPr/>
        </p:nvSpPr>
        <p:spPr>
          <a:xfrm>
            <a:off x="841248" y="2121408"/>
            <a:ext cx="2194560" cy="274320"/>
          </a:xfrm>
          <a:prstGeom prst="rect">
            <a:avLst/>
          </a:prstGeom>
          <a:noFill/>
          <a:ln/>
        </p:spPr>
        <p:txBody>
          <a:bodyPr wrap="square" lIns="0" tIns="0" rIns="0" bIns="0" rtlCol="0" anchor="ctr"/>
          <a:lstStyle/>
          <a:p>
            <a:pPr indent="0" marL="0">
              <a:buNone/>
            </a:pPr>
            <a:r>
              <a:rPr lang="en-US" sz="1150" b="1" dirty="0">
                <a:solidFill>
                  <a:srgbClr val="5A6472"/>
                </a:solidFill>
                <a:latin typeface="Meiryo" pitchFamily="34" charset="0"/>
                <a:ea typeface="Meiryo" pitchFamily="34" charset="-122"/>
                <a:cs typeface="Meiryo" pitchFamily="34" charset="-120"/>
              </a:rPr>
              <a:t>これまで</a:t>
            </a:r>
            <a:endParaRPr lang="en-US" sz="1150" dirty="0"/>
          </a:p>
        </p:txBody>
      </p:sp>
      <p:sp>
        <p:nvSpPr>
          <p:cNvPr id="9" name="Shape 7"/>
          <p:cNvSpPr/>
          <p:nvPr/>
        </p:nvSpPr>
        <p:spPr>
          <a:xfrm>
            <a:off x="877824" y="2551176"/>
            <a:ext cx="109728" cy="109728"/>
          </a:xfrm>
          <a:prstGeom prst="ellipse">
            <a:avLst/>
          </a:prstGeom>
          <a:solidFill>
            <a:srgbClr val="5A6472"/>
          </a:solidFill>
          <a:ln/>
        </p:spPr>
      </p:sp>
      <p:sp>
        <p:nvSpPr>
          <p:cNvPr id="10" name="Text 8"/>
          <p:cNvSpPr/>
          <p:nvPr/>
        </p:nvSpPr>
        <p:spPr>
          <a:xfrm>
            <a:off x="1078992" y="2468880"/>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営業  1〜2名</a:t>
            </a:r>
            <a:endParaRPr lang="en-US" sz="1050" dirty="0"/>
          </a:p>
        </p:txBody>
      </p:sp>
      <p:sp>
        <p:nvSpPr>
          <p:cNvPr id="11" name="Shape 9"/>
          <p:cNvSpPr/>
          <p:nvPr/>
        </p:nvSpPr>
        <p:spPr>
          <a:xfrm>
            <a:off x="877824" y="2862072"/>
            <a:ext cx="109728" cy="109728"/>
          </a:xfrm>
          <a:prstGeom prst="ellipse">
            <a:avLst/>
          </a:prstGeom>
          <a:solidFill>
            <a:srgbClr val="5A6472"/>
          </a:solidFill>
          <a:ln/>
        </p:spPr>
      </p:sp>
      <p:sp>
        <p:nvSpPr>
          <p:cNvPr id="12" name="Text 10"/>
          <p:cNvSpPr/>
          <p:nvPr/>
        </p:nvSpPr>
        <p:spPr>
          <a:xfrm>
            <a:off x="1078992" y="2779776"/>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運営  1〜2名</a:t>
            </a:r>
            <a:endParaRPr lang="en-US" sz="1050" dirty="0"/>
          </a:p>
        </p:txBody>
      </p:sp>
      <p:sp>
        <p:nvSpPr>
          <p:cNvPr id="13" name="Shape 11"/>
          <p:cNvSpPr/>
          <p:nvPr/>
        </p:nvSpPr>
        <p:spPr>
          <a:xfrm>
            <a:off x="877824" y="3172968"/>
            <a:ext cx="109728" cy="109728"/>
          </a:xfrm>
          <a:prstGeom prst="ellipse">
            <a:avLst/>
          </a:prstGeom>
          <a:solidFill>
            <a:srgbClr val="5A6472"/>
          </a:solidFill>
          <a:ln/>
        </p:spPr>
      </p:sp>
      <p:sp>
        <p:nvSpPr>
          <p:cNvPr id="14" name="Text 12"/>
          <p:cNvSpPr/>
          <p:nvPr/>
        </p:nvSpPr>
        <p:spPr>
          <a:xfrm>
            <a:off x="1078992" y="3090672"/>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講師管理  1名</a:t>
            </a:r>
            <a:endParaRPr lang="en-US" sz="1050" dirty="0"/>
          </a:p>
        </p:txBody>
      </p:sp>
      <p:sp>
        <p:nvSpPr>
          <p:cNvPr id="15" name="Shape 13"/>
          <p:cNvSpPr/>
          <p:nvPr/>
        </p:nvSpPr>
        <p:spPr>
          <a:xfrm>
            <a:off x="877824" y="3483864"/>
            <a:ext cx="109728" cy="109728"/>
          </a:xfrm>
          <a:prstGeom prst="ellipse">
            <a:avLst/>
          </a:prstGeom>
          <a:solidFill>
            <a:srgbClr val="5A6472"/>
          </a:solidFill>
          <a:ln/>
        </p:spPr>
      </p:sp>
      <p:sp>
        <p:nvSpPr>
          <p:cNvPr id="16" name="Text 14"/>
          <p:cNvSpPr/>
          <p:nvPr/>
        </p:nvSpPr>
        <p:spPr>
          <a:xfrm>
            <a:off x="1078992" y="3401568"/>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講師  1〜2名</a:t>
            </a:r>
            <a:endParaRPr lang="en-US" sz="1050" dirty="0"/>
          </a:p>
        </p:txBody>
      </p:sp>
      <p:sp>
        <p:nvSpPr>
          <p:cNvPr id="17" name="Text 15"/>
          <p:cNvSpPr/>
          <p:nvPr/>
        </p:nvSpPr>
        <p:spPr>
          <a:xfrm>
            <a:off x="841248" y="3712464"/>
            <a:ext cx="2194560" cy="274320"/>
          </a:xfrm>
          <a:prstGeom prst="rect">
            <a:avLst/>
          </a:prstGeom>
          <a:noFill/>
          <a:ln/>
        </p:spPr>
        <p:txBody>
          <a:bodyPr wrap="square" lIns="0" tIns="0" rIns="0" bIns="0" rtlCol="0" anchor="ctr"/>
          <a:lstStyle/>
          <a:p>
            <a:pPr indent="0" marL="0">
              <a:buNone/>
            </a:pPr>
            <a:r>
              <a:rPr lang="en-US" sz="950" dirty="0">
                <a:solidFill>
                  <a:srgbClr val="9AA5B4"/>
                </a:solidFill>
                <a:latin typeface="Meiryo" pitchFamily="34" charset="0"/>
                <a:ea typeface="Meiryo" pitchFamily="34" charset="-122"/>
                <a:cs typeface="Meiryo" pitchFamily="34" charset="-120"/>
              </a:rPr>
              <a:t>＋ 教材担当部門と連携</a:t>
            </a:r>
            <a:endParaRPr lang="en-US" sz="950" dirty="0"/>
          </a:p>
        </p:txBody>
      </p:sp>
      <p:sp>
        <p:nvSpPr>
          <p:cNvPr id="18" name="Text 16"/>
          <p:cNvSpPr/>
          <p:nvPr/>
        </p:nvSpPr>
        <p:spPr>
          <a:xfrm>
            <a:off x="841248" y="4023360"/>
            <a:ext cx="2194560" cy="274320"/>
          </a:xfrm>
          <a:prstGeom prst="rect">
            <a:avLst/>
          </a:prstGeom>
          <a:noFill/>
          <a:ln/>
        </p:spPr>
        <p:txBody>
          <a:bodyPr wrap="square" lIns="0" tIns="0" rIns="0" bIns="0" rtlCol="0" anchor="ctr"/>
          <a:lstStyle/>
          <a:p>
            <a:pPr indent="0" marL="0">
              <a:buNone/>
            </a:pPr>
            <a:r>
              <a:rPr lang="en-US" sz="950" dirty="0">
                <a:solidFill>
                  <a:srgbClr val="9AA5B4"/>
                </a:solidFill>
                <a:latin typeface="Meiryo" pitchFamily="34" charset="0"/>
                <a:ea typeface="Meiryo" pitchFamily="34" charset="-122"/>
                <a:cs typeface="Meiryo" pitchFamily="34" charset="-120"/>
              </a:rPr>
              <a:t>＋ コンテンツ作成部門と連携</a:t>
            </a:r>
            <a:endParaRPr lang="en-US" sz="950" dirty="0"/>
          </a:p>
        </p:txBody>
      </p:sp>
      <p:sp>
        <p:nvSpPr>
          <p:cNvPr id="19" name="Text 17"/>
          <p:cNvSpPr/>
          <p:nvPr/>
        </p:nvSpPr>
        <p:spPr>
          <a:xfrm>
            <a:off x="841248" y="4901184"/>
            <a:ext cx="2194560" cy="384048"/>
          </a:xfrm>
          <a:prstGeom prst="rect">
            <a:avLst/>
          </a:prstGeom>
          <a:noFill/>
          <a:ln/>
        </p:spPr>
        <p:txBody>
          <a:bodyPr wrap="square" lIns="0" tIns="0" rIns="0" bIns="0" rtlCol="0" anchor="ctr"/>
          <a:lstStyle/>
          <a:p>
            <a:pPr indent="0" marL="0">
              <a:buNone/>
            </a:pPr>
            <a:r>
              <a:rPr lang="en-US" sz="1600" b="1" dirty="0">
                <a:solidFill>
                  <a:srgbClr val="5A6472"/>
                </a:solidFill>
                <a:latin typeface="Meiryo" pitchFamily="34" charset="0"/>
                <a:ea typeface="Meiryo" pitchFamily="34" charset="-122"/>
                <a:cs typeface="Meiryo" pitchFamily="34" charset="-120"/>
              </a:rPr>
              <a:t>のべ 4〜7名</a:t>
            </a:r>
            <a:endParaRPr lang="en-US" sz="1600" dirty="0"/>
          </a:p>
        </p:txBody>
      </p:sp>
      <p:sp>
        <p:nvSpPr>
          <p:cNvPr id="20" name="Text 18"/>
          <p:cNvSpPr/>
          <p:nvPr/>
        </p:nvSpPr>
        <p:spPr>
          <a:xfrm>
            <a:off x="3264408" y="2121408"/>
            <a:ext cx="2194560" cy="274320"/>
          </a:xfrm>
          <a:prstGeom prst="rect">
            <a:avLst/>
          </a:prstGeom>
          <a:noFill/>
          <a:ln/>
        </p:spPr>
        <p:txBody>
          <a:bodyPr wrap="square" lIns="0" tIns="0" rIns="0" bIns="0" rtlCol="0" anchor="ctr"/>
          <a:lstStyle/>
          <a:p>
            <a:pPr indent="0" marL="0">
              <a:buNone/>
            </a:pPr>
            <a:r>
              <a:rPr lang="en-US" sz="1150" b="1" dirty="0">
                <a:solidFill>
                  <a:srgbClr val="2C5F8D"/>
                </a:solidFill>
                <a:latin typeface="Meiryo" pitchFamily="34" charset="0"/>
                <a:ea typeface="Meiryo" pitchFamily="34" charset="-122"/>
                <a:cs typeface="Meiryo" pitchFamily="34" charset="-120"/>
              </a:rPr>
              <a:t>今後</a:t>
            </a:r>
            <a:endParaRPr lang="en-US" sz="1150" dirty="0"/>
          </a:p>
        </p:txBody>
      </p:sp>
      <p:sp>
        <p:nvSpPr>
          <p:cNvPr id="21" name="Shape 19"/>
          <p:cNvSpPr/>
          <p:nvPr/>
        </p:nvSpPr>
        <p:spPr>
          <a:xfrm>
            <a:off x="3300984" y="2551176"/>
            <a:ext cx="109728" cy="109728"/>
          </a:xfrm>
          <a:prstGeom prst="ellipse">
            <a:avLst/>
          </a:prstGeom>
          <a:solidFill>
            <a:srgbClr val="2C5F8D"/>
          </a:solidFill>
          <a:ln/>
        </p:spPr>
      </p:sp>
      <p:sp>
        <p:nvSpPr>
          <p:cNvPr id="22" name="Text 20"/>
          <p:cNvSpPr/>
          <p:nvPr/>
        </p:nvSpPr>
        <p:spPr>
          <a:xfrm>
            <a:off x="3502152" y="2468880"/>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営業  1〜2名</a:t>
            </a:r>
            <a:endParaRPr lang="en-US" sz="1050" dirty="0"/>
          </a:p>
        </p:txBody>
      </p:sp>
      <p:sp>
        <p:nvSpPr>
          <p:cNvPr id="23" name="Shape 21"/>
          <p:cNvSpPr/>
          <p:nvPr/>
        </p:nvSpPr>
        <p:spPr>
          <a:xfrm>
            <a:off x="3300984" y="2862072"/>
            <a:ext cx="109728" cy="109728"/>
          </a:xfrm>
          <a:prstGeom prst="ellipse">
            <a:avLst/>
          </a:prstGeom>
          <a:solidFill>
            <a:srgbClr val="2C5F8D"/>
          </a:solidFill>
          <a:ln/>
        </p:spPr>
      </p:sp>
      <p:sp>
        <p:nvSpPr>
          <p:cNvPr id="24" name="Text 22"/>
          <p:cNvSpPr/>
          <p:nvPr/>
        </p:nvSpPr>
        <p:spPr>
          <a:xfrm>
            <a:off x="3502152" y="2779776"/>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運営  1〜2名</a:t>
            </a:r>
            <a:endParaRPr lang="en-US" sz="1050" dirty="0"/>
          </a:p>
        </p:txBody>
      </p:sp>
      <p:sp>
        <p:nvSpPr>
          <p:cNvPr id="25" name="Shape 23"/>
          <p:cNvSpPr/>
          <p:nvPr/>
        </p:nvSpPr>
        <p:spPr>
          <a:xfrm>
            <a:off x="3300984" y="3172968"/>
            <a:ext cx="109728" cy="109728"/>
          </a:xfrm>
          <a:prstGeom prst="ellipse">
            <a:avLst/>
          </a:prstGeom>
          <a:solidFill>
            <a:srgbClr val="2C5F8D"/>
          </a:solidFill>
          <a:ln/>
        </p:spPr>
      </p:sp>
      <p:sp>
        <p:nvSpPr>
          <p:cNvPr id="26" name="Text 24"/>
          <p:cNvSpPr/>
          <p:nvPr/>
        </p:nvSpPr>
        <p:spPr>
          <a:xfrm>
            <a:off x="3502152" y="3090672"/>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講師管理  1名</a:t>
            </a:r>
            <a:endParaRPr lang="en-US" sz="1050" dirty="0"/>
          </a:p>
        </p:txBody>
      </p:sp>
      <p:sp>
        <p:nvSpPr>
          <p:cNvPr id="27" name="Shape 25"/>
          <p:cNvSpPr/>
          <p:nvPr/>
        </p:nvSpPr>
        <p:spPr>
          <a:xfrm>
            <a:off x="3300984" y="3483864"/>
            <a:ext cx="109728" cy="109728"/>
          </a:xfrm>
          <a:prstGeom prst="ellipse">
            <a:avLst/>
          </a:prstGeom>
          <a:solidFill>
            <a:srgbClr val="2C5F8D"/>
          </a:solidFill>
          <a:ln/>
        </p:spPr>
      </p:sp>
      <p:sp>
        <p:nvSpPr>
          <p:cNvPr id="28" name="Text 26"/>
          <p:cNvSpPr/>
          <p:nvPr/>
        </p:nvSpPr>
        <p:spPr>
          <a:xfrm>
            <a:off x="3502152" y="3401568"/>
            <a:ext cx="1956816"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講師  1〜2名</a:t>
            </a:r>
            <a:endParaRPr lang="en-US" sz="1050" dirty="0"/>
          </a:p>
        </p:txBody>
      </p:sp>
      <p:sp>
        <p:nvSpPr>
          <p:cNvPr id="29" name="Shape 27"/>
          <p:cNvSpPr/>
          <p:nvPr/>
        </p:nvSpPr>
        <p:spPr>
          <a:xfrm>
            <a:off x="3300984" y="3794760"/>
            <a:ext cx="109728" cy="109728"/>
          </a:xfrm>
          <a:prstGeom prst="ellipse">
            <a:avLst/>
          </a:prstGeom>
          <a:solidFill>
            <a:srgbClr val="E8A33D"/>
          </a:solidFill>
          <a:ln/>
        </p:spPr>
      </p:sp>
      <p:sp>
        <p:nvSpPr>
          <p:cNvPr id="30" name="Text 28"/>
          <p:cNvSpPr/>
          <p:nvPr/>
        </p:nvSpPr>
        <p:spPr>
          <a:xfrm>
            <a:off x="3502152" y="3712464"/>
            <a:ext cx="1956816" cy="274320"/>
          </a:xfrm>
          <a:prstGeom prst="rect">
            <a:avLst/>
          </a:prstGeom>
          <a:noFill/>
          <a:ln/>
        </p:spPr>
        <p:txBody>
          <a:bodyPr wrap="square" lIns="0" tIns="0" rIns="0" bIns="0" rtlCol="0" anchor="ctr"/>
          <a:lstStyle/>
          <a:p>
            <a:pPr indent="0" marL="0">
              <a:buNone/>
            </a:pPr>
            <a:r>
              <a:rPr lang="en-US" sz="1050" b="1" dirty="0">
                <a:solidFill>
                  <a:srgbClr val="16233F"/>
                </a:solidFill>
                <a:latin typeface="Meiryo" pitchFamily="34" charset="0"/>
                <a:ea typeface="Meiryo" pitchFamily="34" charset="-122"/>
                <a:cs typeface="Meiryo" pitchFamily="34" charset="-120"/>
              </a:rPr>
              <a:t>PMO  1名</a:t>
            </a:r>
            <a:endParaRPr lang="en-US" sz="1050" dirty="0"/>
          </a:p>
        </p:txBody>
      </p:sp>
      <p:sp>
        <p:nvSpPr>
          <p:cNvPr id="31" name="Shape 29"/>
          <p:cNvSpPr/>
          <p:nvPr/>
        </p:nvSpPr>
        <p:spPr>
          <a:xfrm>
            <a:off x="3300984" y="4105656"/>
            <a:ext cx="109728" cy="109728"/>
          </a:xfrm>
          <a:prstGeom prst="ellipse">
            <a:avLst/>
          </a:prstGeom>
          <a:solidFill>
            <a:srgbClr val="E8A33D"/>
          </a:solidFill>
          <a:ln/>
        </p:spPr>
      </p:sp>
      <p:sp>
        <p:nvSpPr>
          <p:cNvPr id="32" name="Text 30"/>
          <p:cNvSpPr/>
          <p:nvPr/>
        </p:nvSpPr>
        <p:spPr>
          <a:xfrm>
            <a:off x="3502152" y="4023360"/>
            <a:ext cx="1956816" cy="274320"/>
          </a:xfrm>
          <a:prstGeom prst="rect">
            <a:avLst/>
          </a:prstGeom>
          <a:noFill/>
          <a:ln/>
        </p:spPr>
        <p:txBody>
          <a:bodyPr wrap="square" lIns="0" tIns="0" rIns="0" bIns="0" rtlCol="0" anchor="ctr"/>
          <a:lstStyle/>
          <a:p>
            <a:pPr indent="0" marL="0">
              <a:buNone/>
            </a:pPr>
            <a:r>
              <a:rPr lang="en-US" sz="1050" b="1" dirty="0">
                <a:solidFill>
                  <a:srgbClr val="16233F"/>
                </a:solidFill>
                <a:latin typeface="Meiryo" pitchFamily="34" charset="0"/>
                <a:ea typeface="Meiryo" pitchFamily="34" charset="-122"/>
                <a:cs typeface="Meiryo" pitchFamily="34" charset="-120"/>
              </a:rPr>
              <a:t>コンテンツ制作担当  1〜2名</a:t>
            </a:r>
            <a:endParaRPr lang="en-US" sz="1050" dirty="0"/>
          </a:p>
        </p:txBody>
      </p:sp>
      <p:sp>
        <p:nvSpPr>
          <p:cNvPr id="33" name="Shape 31"/>
          <p:cNvSpPr/>
          <p:nvPr/>
        </p:nvSpPr>
        <p:spPr>
          <a:xfrm>
            <a:off x="3300984" y="4416552"/>
            <a:ext cx="109728" cy="109728"/>
          </a:xfrm>
          <a:prstGeom prst="ellipse">
            <a:avLst/>
          </a:prstGeom>
          <a:solidFill>
            <a:srgbClr val="E8A33D"/>
          </a:solidFill>
          <a:ln/>
        </p:spPr>
      </p:sp>
      <p:sp>
        <p:nvSpPr>
          <p:cNvPr id="34" name="Text 32"/>
          <p:cNvSpPr/>
          <p:nvPr/>
        </p:nvSpPr>
        <p:spPr>
          <a:xfrm>
            <a:off x="3502152" y="4334256"/>
            <a:ext cx="1956816" cy="274320"/>
          </a:xfrm>
          <a:prstGeom prst="rect">
            <a:avLst/>
          </a:prstGeom>
          <a:noFill/>
          <a:ln/>
        </p:spPr>
        <p:txBody>
          <a:bodyPr wrap="square" lIns="0" tIns="0" rIns="0" bIns="0" rtlCol="0" anchor="ctr"/>
          <a:lstStyle/>
          <a:p>
            <a:pPr indent="0" marL="0">
              <a:buNone/>
            </a:pPr>
            <a:r>
              <a:rPr lang="en-US" sz="1050" b="1" dirty="0">
                <a:solidFill>
                  <a:srgbClr val="16233F"/>
                </a:solidFill>
                <a:latin typeface="Meiryo" pitchFamily="34" charset="0"/>
                <a:ea typeface="Meiryo" pitchFamily="34" charset="-122"/>
                <a:cs typeface="Meiryo" pitchFamily="34" charset="-120"/>
              </a:rPr>
              <a:t>システム担当  1名</a:t>
            </a:r>
            <a:endParaRPr lang="en-US" sz="1050" dirty="0"/>
          </a:p>
        </p:txBody>
      </p:sp>
      <p:sp>
        <p:nvSpPr>
          <p:cNvPr id="35" name="Text 33"/>
          <p:cNvSpPr/>
          <p:nvPr/>
        </p:nvSpPr>
        <p:spPr>
          <a:xfrm>
            <a:off x="3264408" y="4901184"/>
            <a:ext cx="2194560" cy="384048"/>
          </a:xfrm>
          <a:prstGeom prst="rect">
            <a:avLst/>
          </a:prstGeom>
          <a:noFill/>
          <a:ln/>
        </p:spPr>
        <p:txBody>
          <a:bodyPr wrap="square" lIns="0" tIns="0" rIns="0" bIns="0" rtlCol="0" anchor="ctr"/>
          <a:lstStyle/>
          <a:p>
            <a:pPr indent="0" marL="0">
              <a:buNone/>
            </a:pPr>
            <a:r>
              <a:rPr lang="en-US" sz="1600" b="1" dirty="0">
                <a:solidFill>
                  <a:srgbClr val="2C5F8D"/>
                </a:solidFill>
                <a:latin typeface="Meiryo" pitchFamily="34" charset="0"/>
                <a:ea typeface="Meiryo" pitchFamily="34" charset="-122"/>
                <a:cs typeface="Meiryo" pitchFamily="34" charset="-120"/>
              </a:rPr>
              <a:t>のべ 7〜11名</a:t>
            </a:r>
            <a:endParaRPr lang="en-US" sz="1600" dirty="0"/>
          </a:p>
        </p:txBody>
      </p:sp>
      <p:sp>
        <p:nvSpPr>
          <p:cNvPr id="36" name="Shape 34"/>
          <p:cNvSpPr/>
          <p:nvPr/>
        </p:nvSpPr>
        <p:spPr>
          <a:xfrm>
            <a:off x="2944368" y="2157984"/>
            <a:ext cx="219456" cy="201168"/>
          </a:xfrm>
          <a:prstGeom prst="rightArrow">
            <a:avLst/>
          </a:prstGeom>
          <a:solidFill>
            <a:srgbClr val="D5DCE6"/>
          </a:solidFill>
          <a:ln/>
        </p:spPr>
      </p:sp>
      <p:sp>
        <p:nvSpPr>
          <p:cNvPr id="37" name="Text 35"/>
          <p:cNvSpPr/>
          <p:nvPr/>
        </p:nvSpPr>
        <p:spPr>
          <a:xfrm>
            <a:off x="841248" y="5321808"/>
            <a:ext cx="4480560" cy="292608"/>
          </a:xfrm>
          <a:prstGeom prst="rect">
            <a:avLst/>
          </a:prstGeom>
          <a:noFill/>
          <a:ln/>
        </p:spPr>
        <p:txBody>
          <a:bodyPr wrap="square" lIns="0" tIns="0" rIns="0" bIns="0" rtlCol="0" anchor="ctr"/>
          <a:lstStyle/>
          <a:p>
            <a:pPr indent="0" marL="0">
              <a:buNone/>
            </a:pPr>
            <a:r>
              <a:rPr lang="en-US" sz="1050" b="1" dirty="0">
                <a:solidFill>
                  <a:srgbClr val="E8A33D"/>
                </a:solidFill>
                <a:latin typeface="Meiryo" pitchFamily="34" charset="0"/>
                <a:ea typeface="Meiryo" pitchFamily="34" charset="-122"/>
                <a:cs typeface="Meiryo" pitchFamily="34" charset="-120"/>
              </a:rPr>
              <a:t>PMO・コンテンツ制作・システム担当が加わり、関係者はさらに増える</a:t>
            </a:r>
            <a:endParaRPr lang="en-US" sz="1050" dirty="0"/>
          </a:p>
        </p:txBody>
      </p:sp>
      <p:sp>
        <p:nvSpPr>
          <p:cNvPr id="38" name="Text 36"/>
          <p:cNvSpPr/>
          <p:nvPr/>
        </p:nvSpPr>
        <p:spPr>
          <a:xfrm>
            <a:off x="5961888" y="1572768"/>
            <a:ext cx="1920240" cy="841248"/>
          </a:xfrm>
          <a:prstGeom prst="rect">
            <a:avLst/>
          </a:prstGeom>
          <a:noFill/>
          <a:ln/>
        </p:spPr>
        <p:txBody>
          <a:bodyPr wrap="square" lIns="0" tIns="0" rIns="0" bIns="0" rtlCol="0" anchor="ctr"/>
          <a:lstStyle/>
          <a:p>
            <a:pPr indent="0" marL="0">
              <a:buNone/>
            </a:pPr>
            <a:r>
              <a:rPr lang="en-US" sz="5400" b="1" dirty="0">
                <a:solidFill>
                  <a:srgbClr val="2C5F8D"/>
                </a:solidFill>
                <a:latin typeface="Meiryo" pitchFamily="34" charset="0"/>
                <a:ea typeface="Meiryo" pitchFamily="34" charset="-122"/>
                <a:cs typeface="Meiryo" pitchFamily="34" charset="-120"/>
              </a:rPr>
              <a:t>700</a:t>
            </a:r>
            <a:endParaRPr lang="en-US" sz="5400" dirty="0"/>
          </a:p>
        </p:txBody>
      </p:sp>
      <p:sp>
        <p:nvSpPr>
          <p:cNvPr id="39" name="Text 37"/>
          <p:cNvSpPr/>
          <p:nvPr/>
        </p:nvSpPr>
        <p:spPr>
          <a:xfrm>
            <a:off x="7653528" y="1956816"/>
            <a:ext cx="1463040" cy="365760"/>
          </a:xfrm>
          <a:prstGeom prst="rect">
            <a:avLst/>
          </a:prstGeom>
          <a:noFill/>
          <a:ln/>
        </p:spPr>
        <p:txBody>
          <a:bodyPr wrap="square" lIns="0" tIns="0" rIns="0" bIns="0" rtlCol="0" anchor="ctr"/>
          <a:lstStyle/>
          <a:p>
            <a:pPr indent="0" marL="0">
              <a:buNone/>
            </a:pPr>
            <a:r>
              <a:rPr lang="en-US" sz="1500" b="1" dirty="0">
                <a:solidFill>
                  <a:srgbClr val="5A6472"/>
                </a:solidFill>
                <a:latin typeface="Meiryo" pitchFamily="34" charset="0"/>
                <a:ea typeface="Meiryo" pitchFamily="34" charset="-122"/>
                <a:cs typeface="Meiryo" pitchFamily="34" charset="-120"/>
              </a:rPr>
              <a:t>件 ／ 年</a:t>
            </a:r>
            <a:endParaRPr lang="en-US" sz="1500" dirty="0"/>
          </a:p>
        </p:txBody>
      </p:sp>
      <p:sp>
        <p:nvSpPr>
          <p:cNvPr id="40" name="Text 38"/>
          <p:cNvSpPr/>
          <p:nvPr/>
        </p:nvSpPr>
        <p:spPr>
          <a:xfrm>
            <a:off x="5961888" y="2615184"/>
            <a:ext cx="5669280" cy="292608"/>
          </a:xfrm>
          <a:prstGeom prst="rect">
            <a:avLst/>
          </a:prstGeom>
          <a:noFill/>
          <a:ln/>
        </p:spPr>
        <p:txBody>
          <a:bodyPr wrap="square" lIns="0" tIns="0" rIns="0" bIns="0" rtlCol="0" anchor="ctr"/>
          <a:lstStyle/>
          <a:p>
            <a:pPr indent="0" marL="0">
              <a:buNone/>
            </a:pPr>
            <a:r>
              <a:rPr lang="en-US" sz="1400" b="1" dirty="0">
                <a:solidFill>
                  <a:srgbClr val="16233F"/>
                </a:solidFill>
                <a:latin typeface="Meiryo" pitchFamily="34" charset="0"/>
                <a:ea typeface="Meiryo" pitchFamily="34" charset="-122"/>
                <a:cs typeface="Meiryo" pitchFamily="34" charset="-120"/>
              </a:rPr>
              <a:t>現に起きたこと</a:t>
            </a:r>
            <a:endParaRPr lang="en-US" sz="1400" dirty="0"/>
          </a:p>
        </p:txBody>
      </p:sp>
      <p:sp>
        <p:nvSpPr>
          <p:cNvPr id="41" name="Shape 39"/>
          <p:cNvSpPr/>
          <p:nvPr/>
        </p:nvSpPr>
        <p:spPr>
          <a:xfrm>
            <a:off x="5961888" y="3054096"/>
            <a:ext cx="5669280" cy="731520"/>
          </a:xfrm>
          <a:prstGeom prst="roundRect">
            <a:avLst>
              <a:gd name="adj" fmla="val 6250"/>
            </a:avLst>
          </a:prstGeom>
          <a:solidFill>
            <a:srgbClr val="FFFFFF"/>
          </a:solidFill>
          <a:ln w="12700">
            <a:solidFill>
              <a:srgbClr val="D5DCE6"/>
            </a:solidFill>
            <a:prstDash val="solid"/>
          </a:ln>
        </p:spPr>
      </p:sp>
      <p:sp>
        <p:nvSpPr>
          <p:cNvPr id="42" name="Text 40"/>
          <p:cNvSpPr/>
          <p:nvPr/>
        </p:nvSpPr>
        <p:spPr>
          <a:xfrm>
            <a:off x="6181344" y="3127248"/>
            <a:ext cx="5212080" cy="310896"/>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チャットでの依頼を見逃し、期日が守られなかった</a:t>
            </a:r>
            <a:endParaRPr lang="en-US" sz="1200" dirty="0"/>
          </a:p>
        </p:txBody>
      </p:sp>
      <p:sp>
        <p:nvSpPr>
          <p:cNvPr id="43" name="Text 41"/>
          <p:cNvSpPr/>
          <p:nvPr/>
        </p:nvSpPr>
        <p:spPr>
          <a:xfrm>
            <a:off x="6181344" y="3438144"/>
            <a:ext cx="5212080" cy="256032"/>
          </a:xfrm>
          <a:prstGeom prst="rect">
            <a:avLst/>
          </a:prstGeom>
          <a:noFill/>
          <a:ln/>
        </p:spPr>
        <p:txBody>
          <a:bodyPr wrap="square" lIns="0" tIns="0" rIns="0" bIns="0" rtlCol="0" anchor="ctr"/>
          <a:lstStyle/>
          <a:p>
            <a:pPr indent="0" marL="0">
              <a:buNone/>
            </a:pPr>
            <a:r>
              <a:rPr lang="en-US" sz="1050" dirty="0">
                <a:solidFill>
                  <a:srgbClr val="B3423A"/>
                </a:solidFill>
                <a:latin typeface="Meiryo" pitchFamily="34" charset="0"/>
                <a:ea typeface="Meiryo" pitchFamily="34" charset="-122"/>
                <a:cs typeface="Meiryo" pitchFamily="34" charset="-120"/>
              </a:rPr>
              <a:t>失われたもの： 納期</a:t>
            </a:r>
            <a:endParaRPr lang="en-US" sz="1050" dirty="0"/>
          </a:p>
        </p:txBody>
      </p:sp>
      <p:sp>
        <p:nvSpPr>
          <p:cNvPr id="44" name="Shape 42"/>
          <p:cNvSpPr/>
          <p:nvPr/>
        </p:nvSpPr>
        <p:spPr>
          <a:xfrm>
            <a:off x="5961888" y="3931920"/>
            <a:ext cx="5669280" cy="731520"/>
          </a:xfrm>
          <a:prstGeom prst="roundRect">
            <a:avLst>
              <a:gd name="adj" fmla="val 6250"/>
            </a:avLst>
          </a:prstGeom>
          <a:solidFill>
            <a:srgbClr val="FFFFFF"/>
          </a:solidFill>
          <a:ln w="12700">
            <a:solidFill>
              <a:srgbClr val="D5DCE6"/>
            </a:solidFill>
            <a:prstDash val="solid"/>
          </a:ln>
        </p:spPr>
      </p:sp>
      <p:sp>
        <p:nvSpPr>
          <p:cNvPr id="45" name="Text 43"/>
          <p:cNvSpPr/>
          <p:nvPr/>
        </p:nvSpPr>
        <p:spPr>
          <a:xfrm>
            <a:off x="6181344" y="4005072"/>
            <a:ext cx="5212080" cy="310896"/>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教材開発の成果物が、期日になっても出てこない</a:t>
            </a:r>
            <a:endParaRPr lang="en-US" sz="1200" dirty="0"/>
          </a:p>
        </p:txBody>
      </p:sp>
      <p:sp>
        <p:nvSpPr>
          <p:cNvPr id="46" name="Text 44"/>
          <p:cNvSpPr/>
          <p:nvPr/>
        </p:nvSpPr>
        <p:spPr>
          <a:xfrm>
            <a:off x="6181344" y="4315968"/>
            <a:ext cx="5212080" cy="256032"/>
          </a:xfrm>
          <a:prstGeom prst="rect">
            <a:avLst/>
          </a:prstGeom>
          <a:noFill/>
          <a:ln/>
        </p:spPr>
        <p:txBody>
          <a:bodyPr wrap="square" lIns="0" tIns="0" rIns="0" bIns="0" rtlCol="0" anchor="ctr"/>
          <a:lstStyle/>
          <a:p>
            <a:pPr indent="0" marL="0">
              <a:buNone/>
            </a:pPr>
            <a:r>
              <a:rPr lang="en-US" sz="1050" dirty="0">
                <a:solidFill>
                  <a:srgbClr val="B3423A"/>
                </a:solidFill>
                <a:latin typeface="Meiryo" pitchFamily="34" charset="0"/>
                <a:ea typeface="Meiryo" pitchFamily="34" charset="-122"/>
                <a:cs typeface="Meiryo" pitchFamily="34" charset="-120"/>
              </a:rPr>
              <a:t>失われたもの： 納期・部門間の信頼</a:t>
            </a:r>
            <a:endParaRPr lang="en-US" sz="1050" dirty="0"/>
          </a:p>
        </p:txBody>
      </p:sp>
      <p:sp>
        <p:nvSpPr>
          <p:cNvPr id="47" name="Shape 45"/>
          <p:cNvSpPr/>
          <p:nvPr/>
        </p:nvSpPr>
        <p:spPr>
          <a:xfrm>
            <a:off x="5961888" y="4809744"/>
            <a:ext cx="5669280" cy="731520"/>
          </a:xfrm>
          <a:prstGeom prst="roundRect">
            <a:avLst>
              <a:gd name="adj" fmla="val 6250"/>
            </a:avLst>
          </a:prstGeom>
          <a:solidFill>
            <a:srgbClr val="FFFFFF"/>
          </a:solidFill>
          <a:ln w="12700">
            <a:solidFill>
              <a:srgbClr val="D5DCE6"/>
            </a:solidFill>
            <a:prstDash val="solid"/>
          </a:ln>
        </p:spPr>
      </p:sp>
      <p:sp>
        <p:nvSpPr>
          <p:cNvPr id="48" name="Text 46"/>
          <p:cNvSpPr/>
          <p:nvPr/>
        </p:nvSpPr>
        <p:spPr>
          <a:xfrm>
            <a:off x="6181344" y="4882896"/>
            <a:ext cx="5212080" cy="310896"/>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講師選定が遅れ、機材準備が間に合わなかった</a:t>
            </a:r>
            <a:endParaRPr lang="en-US" sz="1200" dirty="0"/>
          </a:p>
        </p:txBody>
      </p:sp>
      <p:sp>
        <p:nvSpPr>
          <p:cNvPr id="49" name="Text 47"/>
          <p:cNvSpPr/>
          <p:nvPr/>
        </p:nvSpPr>
        <p:spPr>
          <a:xfrm>
            <a:off x="6181344" y="5193792"/>
            <a:ext cx="5212080" cy="256032"/>
          </a:xfrm>
          <a:prstGeom prst="rect">
            <a:avLst/>
          </a:prstGeom>
          <a:noFill/>
          <a:ln/>
        </p:spPr>
        <p:txBody>
          <a:bodyPr wrap="square" lIns="0" tIns="0" rIns="0" bIns="0" rtlCol="0" anchor="ctr"/>
          <a:lstStyle/>
          <a:p>
            <a:pPr indent="0" marL="0">
              <a:buNone/>
            </a:pPr>
            <a:r>
              <a:rPr lang="en-US" sz="1050" dirty="0">
                <a:solidFill>
                  <a:srgbClr val="B3423A"/>
                </a:solidFill>
                <a:latin typeface="Meiryo" pitchFamily="34" charset="0"/>
                <a:ea typeface="Meiryo" pitchFamily="34" charset="-122"/>
                <a:cs typeface="Meiryo" pitchFamily="34" charset="-120"/>
              </a:rPr>
              <a:t>失われたもの： 実施品質・顧客信用</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課題A：なぜ起きるのか</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原因は能力ではなく、3つの構造にあります</a:t>
            </a:r>
            <a:endParaRPr lang="en-US" sz="2700" dirty="0"/>
          </a:p>
        </p:txBody>
      </p:sp>
      <p:sp>
        <p:nvSpPr>
          <p:cNvPr id="4" name="Shape 2"/>
          <p:cNvSpPr/>
          <p:nvPr/>
        </p:nvSpPr>
        <p:spPr>
          <a:xfrm>
            <a:off x="11064240" y="475488"/>
            <a:ext cx="512064" cy="512064"/>
          </a:xfrm>
          <a:prstGeom prst="ellipse">
            <a:avLst/>
          </a:prstGeom>
          <a:solidFill>
            <a:srgbClr val="2C5F8D"/>
          </a:solidFill>
          <a:ln/>
        </p:spPr>
      </p:sp>
      <p:sp>
        <p:nvSpPr>
          <p:cNvPr id="5" name="Text 3"/>
          <p:cNvSpPr/>
          <p:nvPr/>
        </p:nvSpPr>
        <p:spPr>
          <a:xfrm>
            <a:off x="11064240" y="4754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A</a:t>
            </a:r>
            <a:endParaRPr lang="en-US" sz="1700" dirty="0"/>
          </a:p>
        </p:txBody>
      </p:sp>
      <p:sp>
        <p:nvSpPr>
          <p:cNvPr id="6" name="Shape 4"/>
          <p:cNvSpPr/>
          <p:nvPr/>
        </p:nvSpPr>
        <p:spPr>
          <a:xfrm>
            <a:off x="566928" y="1700784"/>
            <a:ext cx="3529584" cy="3602736"/>
          </a:xfrm>
          <a:prstGeom prst="roundRect">
            <a:avLst>
              <a:gd name="adj" fmla="val 1554"/>
            </a:avLst>
          </a:prstGeom>
          <a:solidFill>
            <a:srgbClr val="F1F4F9"/>
          </a:solidFill>
          <a:ln/>
          <a:effectLst>
            <a:outerShdw sx="100000" sy="100000" kx="0" ky="0" algn="bl" rotWithShape="0" blurRad="127000" dist="25400" dir="5400000">
              <a:srgbClr val="8A97AC">
                <a:alpha val="22000"/>
              </a:srgbClr>
            </a:outerShdw>
          </a:effectLst>
        </p:spPr>
      </p:sp>
      <p:sp>
        <p:nvSpPr>
          <p:cNvPr id="7" name="Text 5"/>
          <p:cNvSpPr/>
          <p:nvPr/>
        </p:nvSpPr>
        <p:spPr>
          <a:xfrm>
            <a:off x="859536" y="2103120"/>
            <a:ext cx="1828800" cy="292608"/>
          </a:xfrm>
          <a:prstGeom prst="rect">
            <a:avLst/>
          </a:prstGeom>
          <a:noFill/>
          <a:ln/>
        </p:spPr>
        <p:txBody>
          <a:bodyPr wrap="square" lIns="0" tIns="0" rIns="0" bIns="0" rtlCol="0" anchor="ctr"/>
          <a:lstStyle/>
          <a:p>
            <a:pPr indent="0" marL="0">
              <a:buNone/>
            </a:pPr>
            <a:r>
              <a:rPr lang="en-US" sz="1200" b="1" spc="100" kern="0" dirty="0">
                <a:solidFill>
                  <a:srgbClr val="2C5F8D"/>
                </a:solidFill>
                <a:latin typeface="Meiryo" pitchFamily="34" charset="0"/>
                <a:ea typeface="Meiryo" pitchFamily="34" charset="-122"/>
                <a:cs typeface="Meiryo" pitchFamily="34" charset="-120"/>
              </a:rPr>
              <a:t>A-1</a:t>
            </a:r>
            <a:endParaRPr lang="en-US" sz="1200" dirty="0"/>
          </a:p>
        </p:txBody>
      </p:sp>
      <p:sp>
        <p:nvSpPr>
          <p:cNvPr id="8" name="Text 6"/>
          <p:cNvSpPr/>
          <p:nvPr/>
        </p:nvSpPr>
        <p:spPr>
          <a:xfrm>
            <a:off x="859536" y="2523744"/>
            <a:ext cx="2944368" cy="731520"/>
          </a:xfrm>
          <a:prstGeom prst="rect">
            <a:avLst/>
          </a:prstGeom>
          <a:noFill/>
          <a:ln/>
        </p:spPr>
        <p:txBody>
          <a:bodyPr wrap="square" lIns="0" tIns="0" rIns="0" bIns="0" rtlCol="0" anchor="ctr"/>
          <a:lstStyle/>
          <a:p>
            <a:pPr indent="0" marL="0">
              <a:lnSpc>
                <a:spcPts val="2400"/>
              </a:lnSpc>
              <a:buNone/>
            </a:pPr>
            <a:r>
              <a:rPr lang="en-US" sz="1700" b="1" dirty="0">
                <a:solidFill>
                  <a:srgbClr val="16233F"/>
                </a:solidFill>
                <a:latin typeface="Meiryo" pitchFamily="34" charset="0"/>
                <a:ea typeface="Meiryo" pitchFamily="34" charset="-122"/>
                <a:cs typeface="Meiryo" pitchFamily="34" charset="-120"/>
              </a:rPr>
              <a:t>可視性がない</a:t>
            </a:r>
            <a:endParaRPr lang="en-US" sz="1700" dirty="0"/>
          </a:p>
        </p:txBody>
      </p:sp>
      <p:sp>
        <p:nvSpPr>
          <p:cNvPr id="9" name="Text 7"/>
          <p:cNvSpPr/>
          <p:nvPr/>
        </p:nvSpPr>
        <p:spPr>
          <a:xfrm>
            <a:off x="859536" y="3419856"/>
            <a:ext cx="2944368" cy="1371600"/>
          </a:xfrm>
          <a:prstGeom prst="rect">
            <a:avLst/>
          </a:prstGeom>
          <a:noFill/>
          <a:ln/>
        </p:spPr>
        <p:txBody>
          <a:bodyPr wrap="square" lIns="0" tIns="0" rIns="0" bIns="0" rtlCol="0" anchor="ctr"/>
          <a:lstStyle/>
          <a:p>
            <a:pPr indent="0" marL="0">
              <a:lnSpc>
                <a:spcPts val="2000"/>
              </a:lnSpc>
              <a:buNone/>
            </a:pPr>
            <a:r>
              <a:rPr lang="en-US" sz="1200" dirty="0">
                <a:solidFill>
                  <a:srgbClr val="5A6472"/>
                </a:solidFill>
                <a:latin typeface="Meiryo" pitchFamily="34" charset="0"/>
                <a:ea typeface="Meiryo" pitchFamily="34" charset="-122"/>
                <a:cs typeface="Meiryo" pitchFamily="34" charset="-120"/>
              </a:rPr>
              <a:t>グループチャットは招待された人しか見られない。招待漏れは、そのまま情報からの遮断を意味する</a:t>
            </a:r>
            <a:endParaRPr lang="en-US" sz="1200" dirty="0"/>
          </a:p>
        </p:txBody>
      </p:sp>
      <p:sp>
        <p:nvSpPr>
          <p:cNvPr id="10" name="Shape 8"/>
          <p:cNvSpPr/>
          <p:nvPr/>
        </p:nvSpPr>
        <p:spPr>
          <a:xfrm>
            <a:off x="4439412" y="1700784"/>
            <a:ext cx="3529584" cy="3602736"/>
          </a:xfrm>
          <a:prstGeom prst="roundRect">
            <a:avLst>
              <a:gd name="adj" fmla="val 1554"/>
            </a:avLst>
          </a:prstGeom>
          <a:solidFill>
            <a:srgbClr val="F1F4F9"/>
          </a:solidFill>
          <a:ln/>
          <a:effectLst>
            <a:outerShdw sx="100000" sy="100000" kx="0" ky="0" algn="bl" rotWithShape="0" blurRad="127000" dist="25400" dir="5400000">
              <a:srgbClr val="8A97AC">
                <a:alpha val="22000"/>
              </a:srgbClr>
            </a:outerShdw>
          </a:effectLst>
        </p:spPr>
      </p:sp>
      <p:sp>
        <p:nvSpPr>
          <p:cNvPr id="11" name="Text 9"/>
          <p:cNvSpPr/>
          <p:nvPr/>
        </p:nvSpPr>
        <p:spPr>
          <a:xfrm>
            <a:off x="4732020" y="2103120"/>
            <a:ext cx="1828800" cy="292608"/>
          </a:xfrm>
          <a:prstGeom prst="rect">
            <a:avLst/>
          </a:prstGeom>
          <a:noFill/>
          <a:ln/>
        </p:spPr>
        <p:txBody>
          <a:bodyPr wrap="square" lIns="0" tIns="0" rIns="0" bIns="0" rtlCol="0" anchor="ctr"/>
          <a:lstStyle/>
          <a:p>
            <a:pPr indent="0" marL="0">
              <a:buNone/>
            </a:pPr>
            <a:r>
              <a:rPr lang="en-US" sz="1200" b="1" spc="100" kern="0" dirty="0">
                <a:solidFill>
                  <a:srgbClr val="2C5F8D"/>
                </a:solidFill>
                <a:latin typeface="Meiryo" pitchFamily="34" charset="0"/>
                <a:ea typeface="Meiryo" pitchFamily="34" charset="-122"/>
                <a:cs typeface="Meiryo" pitchFamily="34" charset="-120"/>
              </a:rPr>
              <a:t>A-2</a:t>
            </a:r>
            <a:endParaRPr lang="en-US" sz="1200" dirty="0"/>
          </a:p>
        </p:txBody>
      </p:sp>
      <p:sp>
        <p:nvSpPr>
          <p:cNvPr id="12" name="Text 10"/>
          <p:cNvSpPr/>
          <p:nvPr/>
        </p:nvSpPr>
        <p:spPr>
          <a:xfrm>
            <a:off x="4732020" y="2523744"/>
            <a:ext cx="2944368" cy="731520"/>
          </a:xfrm>
          <a:prstGeom prst="rect">
            <a:avLst/>
          </a:prstGeom>
          <a:noFill/>
          <a:ln/>
        </p:spPr>
        <p:txBody>
          <a:bodyPr wrap="square" lIns="0" tIns="0" rIns="0" bIns="0" rtlCol="0" anchor="ctr"/>
          <a:lstStyle/>
          <a:p>
            <a:pPr indent="0" marL="0">
              <a:lnSpc>
                <a:spcPts val="2400"/>
              </a:lnSpc>
              <a:buNone/>
            </a:pPr>
            <a:r>
              <a:rPr lang="en-US" sz="1700" b="1" dirty="0">
                <a:solidFill>
                  <a:srgbClr val="16233F"/>
                </a:solidFill>
                <a:latin typeface="Meiryo" pitchFamily="34" charset="0"/>
                <a:ea typeface="Meiryo" pitchFamily="34" charset="-122"/>
                <a:cs typeface="Meiryo" pitchFamily="34" charset="-120"/>
              </a:rPr>
              <a:t>横断して見えない</a:t>
            </a:r>
            <a:endParaRPr lang="en-US" sz="1700" dirty="0"/>
          </a:p>
        </p:txBody>
      </p:sp>
      <p:sp>
        <p:nvSpPr>
          <p:cNvPr id="13" name="Text 11"/>
          <p:cNvSpPr/>
          <p:nvPr/>
        </p:nvSpPr>
        <p:spPr>
          <a:xfrm>
            <a:off x="4732020" y="3419856"/>
            <a:ext cx="2944368" cy="1371600"/>
          </a:xfrm>
          <a:prstGeom prst="rect">
            <a:avLst/>
          </a:prstGeom>
          <a:noFill/>
          <a:ln/>
        </p:spPr>
        <p:txBody>
          <a:bodyPr wrap="square" lIns="0" tIns="0" rIns="0" bIns="0" rtlCol="0" anchor="ctr"/>
          <a:lstStyle/>
          <a:p>
            <a:pPr indent="0" marL="0">
              <a:lnSpc>
                <a:spcPts val="2000"/>
              </a:lnSpc>
              <a:buNone/>
            </a:pPr>
            <a:r>
              <a:rPr lang="en-US" sz="1200" dirty="0">
                <a:solidFill>
                  <a:srgbClr val="5A6472"/>
                </a:solidFill>
                <a:latin typeface="Meiryo" pitchFamily="34" charset="0"/>
                <a:ea typeface="Meiryo" pitchFamily="34" charset="-122"/>
                <a:cs typeface="Meiryo" pitchFamily="34" charset="-120"/>
              </a:rPr>
              <a:t>Excelが各自バラバラの形式。案件間の比較も、全体の集計も物理的に不可能</a:t>
            </a:r>
            <a:endParaRPr lang="en-US" sz="1200" dirty="0"/>
          </a:p>
        </p:txBody>
      </p:sp>
      <p:sp>
        <p:nvSpPr>
          <p:cNvPr id="14" name="Shape 12"/>
          <p:cNvSpPr/>
          <p:nvPr/>
        </p:nvSpPr>
        <p:spPr>
          <a:xfrm>
            <a:off x="8311896" y="1700784"/>
            <a:ext cx="3529584" cy="3602736"/>
          </a:xfrm>
          <a:prstGeom prst="roundRect">
            <a:avLst>
              <a:gd name="adj" fmla="val 1554"/>
            </a:avLst>
          </a:prstGeom>
          <a:solidFill>
            <a:srgbClr val="F1F4F9"/>
          </a:solidFill>
          <a:ln/>
          <a:effectLst>
            <a:outerShdw sx="100000" sy="100000" kx="0" ky="0" algn="bl" rotWithShape="0" blurRad="127000" dist="25400" dir="5400000">
              <a:srgbClr val="8A97AC">
                <a:alpha val="22000"/>
              </a:srgbClr>
            </a:outerShdw>
          </a:effectLst>
        </p:spPr>
      </p:sp>
      <p:sp>
        <p:nvSpPr>
          <p:cNvPr id="15" name="Text 13"/>
          <p:cNvSpPr/>
          <p:nvPr/>
        </p:nvSpPr>
        <p:spPr>
          <a:xfrm>
            <a:off x="8604504" y="2103120"/>
            <a:ext cx="1828800" cy="292608"/>
          </a:xfrm>
          <a:prstGeom prst="rect">
            <a:avLst/>
          </a:prstGeom>
          <a:noFill/>
          <a:ln/>
        </p:spPr>
        <p:txBody>
          <a:bodyPr wrap="square" lIns="0" tIns="0" rIns="0" bIns="0" rtlCol="0" anchor="ctr"/>
          <a:lstStyle/>
          <a:p>
            <a:pPr indent="0" marL="0">
              <a:buNone/>
            </a:pPr>
            <a:r>
              <a:rPr lang="en-US" sz="1200" b="1" spc="100" kern="0" dirty="0">
                <a:solidFill>
                  <a:srgbClr val="2C5F8D"/>
                </a:solidFill>
                <a:latin typeface="Meiryo" pitchFamily="34" charset="0"/>
                <a:ea typeface="Meiryo" pitchFamily="34" charset="-122"/>
                <a:cs typeface="Meiryo" pitchFamily="34" charset="-120"/>
              </a:rPr>
              <a:t>A-3</a:t>
            </a:r>
            <a:endParaRPr lang="en-US" sz="1200" dirty="0"/>
          </a:p>
        </p:txBody>
      </p:sp>
      <p:sp>
        <p:nvSpPr>
          <p:cNvPr id="16" name="Text 14"/>
          <p:cNvSpPr/>
          <p:nvPr/>
        </p:nvSpPr>
        <p:spPr>
          <a:xfrm>
            <a:off x="8604504" y="2523744"/>
            <a:ext cx="2944368" cy="731520"/>
          </a:xfrm>
          <a:prstGeom prst="rect">
            <a:avLst/>
          </a:prstGeom>
          <a:noFill/>
          <a:ln/>
        </p:spPr>
        <p:txBody>
          <a:bodyPr wrap="square" lIns="0" tIns="0" rIns="0" bIns="0" rtlCol="0" anchor="ctr"/>
          <a:lstStyle/>
          <a:p>
            <a:pPr indent="0" marL="0">
              <a:lnSpc>
                <a:spcPts val="2400"/>
              </a:lnSpc>
              <a:buNone/>
            </a:pPr>
            <a:r>
              <a:rPr lang="en-US" sz="1700" b="1" dirty="0">
                <a:solidFill>
                  <a:srgbClr val="16233F"/>
                </a:solidFill>
                <a:latin typeface="Meiryo" pitchFamily="34" charset="0"/>
                <a:ea typeface="Meiryo" pitchFamily="34" charset="-122"/>
                <a:cs typeface="Meiryo" pitchFamily="34" charset="-120"/>
              </a:rPr>
              <a:t>管理手法がない</a:t>
            </a:r>
            <a:endParaRPr lang="en-US" sz="1700" dirty="0"/>
          </a:p>
        </p:txBody>
      </p:sp>
      <p:sp>
        <p:nvSpPr>
          <p:cNvPr id="17" name="Text 15"/>
          <p:cNvSpPr/>
          <p:nvPr/>
        </p:nvSpPr>
        <p:spPr>
          <a:xfrm>
            <a:off x="8604504" y="3419856"/>
            <a:ext cx="2944368" cy="1371600"/>
          </a:xfrm>
          <a:prstGeom prst="rect">
            <a:avLst/>
          </a:prstGeom>
          <a:noFill/>
          <a:ln/>
        </p:spPr>
        <p:txBody>
          <a:bodyPr wrap="square" lIns="0" tIns="0" rIns="0" bIns="0" rtlCol="0" anchor="ctr"/>
          <a:lstStyle/>
          <a:p>
            <a:pPr indent="0" marL="0">
              <a:lnSpc>
                <a:spcPts val="2000"/>
              </a:lnSpc>
              <a:buNone/>
            </a:pPr>
            <a:r>
              <a:rPr lang="en-US" sz="1200" dirty="0">
                <a:solidFill>
                  <a:srgbClr val="5A6472"/>
                </a:solidFill>
                <a:latin typeface="Meiryo" pitchFamily="34" charset="0"/>
                <a:ea typeface="Meiryo" pitchFamily="34" charset="-122"/>
                <a:cs typeface="Meiryo" pitchFamily="34" charset="-120"/>
              </a:rPr>
              <a:t>WBS・ガントが標準装備されておらず、進捗と作業の依存関係を追えない</a:t>
            </a:r>
            <a:endParaRPr lang="en-US" sz="1200" dirty="0"/>
          </a:p>
        </p:txBody>
      </p:sp>
      <p:sp>
        <p:nvSpPr>
          <p:cNvPr id="18" name="Text 16"/>
          <p:cNvSpPr/>
          <p:nvPr/>
        </p:nvSpPr>
        <p:spPr>
          <a:xfrm>
            <a:off x="566928" y="5614416"/>
            <a:ext cx="11057839" cy="347472"/>
          </a:xfrm>
          <a:prstGeom prst="rect">
            <a:avLst/>
          </a:prstGeom>
          <a:noFill/>
          <a:ln/>
        </p:spPr>
        <p:txBody>
          <a:bodyPr wrap="square" lIns="0" tIns="0" rIns="0" bIns="0" rtlCol="0" anchor="ctr"/>
          <a:lstStyle/>
          <a:p>
            <a:pPr indent="0" marL="0">
              <a:buNone/>
            </a:pPr>
            <a:r>
              <a:rPr lang="en-US" sz="1350" b="1" dirty="0">
                <a:solidFill>
                  <a:srgbClr val="16233F"/>
                </a:solidFill>
                <a:latin typeface="Meiryo" pitchFamily="34" charset="0"/>
                <a:ea typeface="Meiryo" pitchFamily="34" charset="-122"/>
                <a:cs typeface="Meiryo" pitchFamily="34" charset="-120"/>
              </a:rPr>
              <a:t>いずれも「誰が・いつまでに・何を」が一箇所にまとまっていないことから生じています。</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課題B：会議のコスト</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目的が曖昧な会議に、年間約6,600万円を投じています</a:t>
            </a:r>
            <a:endParaRPr lang="en-US" sz="2700" dirty="0"/>
          </a:p>
        </p:txBody>
      </p:sp>
      <p:sp>
        <p:nvSpPr>
          <p:cNvPr id="4" name="Shape 2"/>
          <p:cNvSpPr/>
          <p:nvPr/>
        </p:nvSpPr>
        <p:spPr>
          <a:xfrm>
            <a:off x="11064240" y="475488"/>
            <a:ext cx="512064" cy="512064"/>
          </a:xfrm>
          <a:prstGeom prst="ellipse">
            <a:avLst/>
          </a:prstGeom>
          <a:solidFill>
            <a:srgbClr val="1F7A6C"/>
          </a:solidFill>
          <a:ln/>
        </p:spPr>
      </p:sp>
      <p:sp>
        <p:nvSpPr>
          <p:cNvPr id="5" name="Text 3"/>
          <p:cNvSpPr/>
          <p:nvPr/>
        </p:nvSpPr>
        <p:spPr>
          <a:xfrm>
            <a:off x="11064240" y="4754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B</a:t>
            </a:r>
            <a:endParaRPr lang="en-US" sz="1700" dirty="0"/>
          </a:p>
        </p:txBody>
      </p:sp>
      <p:sp>
        <p:nvSpPr>
          <p:cNvPr id="6" name="Shape 4"/>
          <p:cNvSpPr/>
          <p:nvPr/>
        </p:nvSpPr>
        <p:spPr>
          <a:xfrm>
            <a:off x="566928" y="1591056"/>
            <a:ext cx="5029200" cy="2139696"/>
          </a:xfrm>
          <a:prstGeom prst="roundRect">
            <a:avLst>
              <a:gd name="adj" fmla="val 2564"/>
            </a:avLst>
          </a:prstGeom>
          <a:solidFill>
            <a:srgbClr val="16233F"/>
          </a:solidFill>
          <a:ln/>
          <a:effectLst>
            <a:outerShdw sx="100000" sy="100000" kx="0" ky="0" algn="bl" rotWithShape="0" blurRad="127000" dist="25400" dir="5400000">
              <a:srgbClr val="8A97AC">
                <a:alpha val="22000"/>
              </a:srgbClr>
            </a:outerShdw>
          </a:effectLst>
        </p:spPr>
      </p:sp>
      <p:sp>
        <p:nvSpPr>
          <p:cNvPr id="7" name="Text 5"/>
          <p:cNvSpPr/>
          <p:nvPr/>
        </p:nvSpPr>
        <p:spPr>
          <a:xfrm>
            <a:off x="950976" y="1792224"/>
            <a:ext cx="4297680" cy="274320"/>
          </a:xfrm>
          <a:prstGeom prst="rect">
            <a:avLst/>
          </a:prstGeom>
          <a:noFill/>
          <a:ln/>
        </p:spPr>
        <p:txBody>
          <a:bodyPr wrap="square" lIns="0" tIns="0" rIns="0" bIns="0" rtlCol="0" anchor="ctr"/>
          <a:lstStyle/>
          <a:p>
            <a:pPr indent="0" marL="0">
              <a:buNone/>
            </a:pPr>
            <a:r>
              <a:rPr lang="en-US" sz="1200" dirty="0">
                <a:solidFill>
                  <a:srgbClr val="9FB0CC"/>
                </a:solidFill>
                <a:latin typeface="Meiryo" pitchFamily="34" charset="0"/>
                <a:ea typeface="Meiryo" pitchFamily="34" charset="-122"/>
                <a:cs typeface="Meiryo" pitchFamily="34" charset="-120"/>
              </a:rPr>
              <a:t>年間の会議コスト（全社140名）</a:t>
            </a:r>
            <a:endParaRPr lang="en-US" sz="1200" dirty="0"/>
          </a:p>
        </p:txBody>
      </p:sp>
      <p:sp>
        <p:nvSpPr>
          <p:cNvPr id="8" name="Text 6"/>
          <p:cNvSpPr/>
          <p:nvPr/>
        </p:nvSpPr>
        <p:spPr>
          <a:xfrm>
            <a:off x="950976" y="2103120"/>
            <a:ext cx="4480560" cy="640080"/>
          </a:xfrm>
          <a:prstGeom prst="rect">
            <a:avLst/>
          </a:prstGeom>
          <a:noFill/>
          <a:ln/>
        </p:spPr>
        <p:txBody>
          <a:bodyPr wrap="square" lIns="0" tIns="0" rIns="0" bIns="0" rtlCol="0" anchor="ctr"/>
          <a:lstStyle/>
          <a:p>
            <a:pPr indent="0" marL="0">
              <a:buNone/>
            </a:pPr>
            <a:r>
              <a:rPr lang="en-US" sz="3100" b="1" dirty="0">
                <a:solidFill>
                  <a:srgbClr val="FFFFFF"/>
                </a:solidFill>
                <a:latin typeface="Meiryo" pitchFamily="34" charset="0"/>
                <a:ea typeface="Meiryo" pitchFamily="34" charset="-122"/>
                <a:cs typeface="Meiryo" pitchFamily="34" charset="-120"/>
              </a:rPr>
              <a:t>約1億8,900万円</a:t>
            </a:r>
            <a:endParaRPr lang="en-US" sz="3100" dirty="0"/>
          </a:p>
        </p:txBody>
      </p:sp>
      <p:sp>
        <p:nvSpPr>
          <p:cNvPr id="9" name="Text 7"/>
          <p:cNvSpPr/>
          <p:nvPr/>
        </p:nvSpPr>
        <p:spPr>
          <a:xfrm>
            <a:off x="950976" y="2798064"/>
            <a:ext cx="4297680" cy="274320"/>
          </a:xfrm>
          <a:prstGeom prst="rect">
            <a:avLst/>
          </a:prstGeom>
          <a:noFill/>
          <a:ln/>
        </p:spPr>
        <p:txBody>
          <a:bodyPr wrap="square" lIns="0" tIns="0" rIns="0" bIns="0" rtlCol="0" anchor="ctr"/>
          <a:lstStyle/>
          <a:p>
            <a:pPr indent="0" marL="0">
              <a:buNone/>
            </a:pPr>
            <a:r>
              <a:rPr lang="en-US" sz="1200" dirty="0">
                <a:solidFill>
                  <a:srgbClr val="9FB0CC"/>
                </a:solidFill>
                <a:latin typeface="Meiryo" pitchFamily="34" charset="0"/>
                <a:ea typeface="Meiryo" pitchFamily="34" charset="-122"/>
                <a:cs typeface="Meiryo" pitchFamily="34" charset="-120"/>
              </a:rPr>
              <a:t>うち目的が曖昧なもの（35%）</a:t>
            </a:r>
            <a:endParaRPr lang="en-US" sz="1200" dirty="0"/>
          </a:p>
        </p:txBody>
      </p:sp>
      <p:sp>
        <p:nvSpPr>
          <p:cNvPr id="10" name="Text 8"/>
          <p:cNvSpPr/>
          <p:nvPr/>
        </p:nvSpPr>
        <p:spPr>
          <a:xfrm>
            <a:off x="950976" y="3072384"/>
            <a:ext cx="4480560" cy="512064"/>
          </a:xfrm>
          <a:prstGeom prst="rect">
            <a:avLst/>
          </a:prstGeom>
          <a:noFill/>
          <a:ln/>
        </p:spPr>
        <p:txBody>
          <a:bodyPr wrap="square" lIns="0" tIns="0" rIns="0" bIns="0" rtlCol="0" anchor="ctr"/>
          <a:lstStyle/>
          <a:p>
            <a:pPr indent="0" marL="0">
              <a:buNone/>
            </a:pPr>
            <a:r>
              <a:rPr lang="en-US" sz="2700" b="1" dirty="0">
                <a:solidFill>
                  <a:srgbClr val="E8A33D"/>
                </a:solidFill>
                <a:latin typeface="Meiryo" pitchFamily="34" charset="0"/>
                <a:ea typeface="Meiryo" pitchFamily="34" charset="-122"/>
                <a:cs typeface="Meiryo" pitchFamily="34" charset="-120"/>
              </a:rPr>
              <a:t>約6,600万円</a:t>
            </a:r>
            <a:endParaRPr lang="en-US" sz="2700" dirty="0"/>
          </a:p>
        </p:txBody>
      </p:sp>
      <p:sp>
        <p:nvSpPr>
          <p:cNvPr id="11" name="Text 9"/>
          <p:cNvSpPr/>
          <p:nvPr/>
        </p:nvSpPr>
        <p:spPr>
          <a:xfrm>
            <a:off x="5961888" y="1627632"/>
            <a:ext cx="5669280" cy="274320"/>
          </a:xfrm>
          <a:prstGeom prst="rect">
            <a:avLst/>
          </a:prstGeom>
          <a:noFill/>
          <a:ln/>
        </p:spPr>
        <p:txBody>
          <a:bodyPr wrap="square" lIns="0" tIns="0" rIns="0" bIns="0" rtlCol="0" anchor="ctr"/>
          <a:lstStyle/>
          <a:p>
            <a:pPr indent="0" marL="0">
              <a:buNone/>
            </a:pPr>
            <a:r>
              <a:rPr lang="en-US" sz="1300" b="1" dirty="0">
                <a:solidFill>
                  <a:srgbClr val="16233F"/>
                </a:solidFill>
                <a:latin typeface="Meiryo" pitchFamily="34" charset="0"/>
                <a:ea typeface="Meiryo" pitchFamily="34" charset="-122"/>
                <a:cs typeface="Meiryo" pitchFamily="34" charset="-120"/>
              </a:rPr>
              <a:t>階層別の内訳</a:t>
            </a:r>
            <a:endParaRPr lang="en-US" sz="1300" dirty="0"/>
          </a:p>
        </p:txBody>
      </p:sp>
      <p:sp>
        <p:nvSpPr>
          <p:cNvPr id="12" name="Shape 10"/>
          <p:cNvSpPr/>
          <p:nvPr/>
        </p:nvSpPr>
        <p:spPr>
          <a:xfrm>
            <a:off x="5961888" y="1993392"/>
            <a:ext cx="5669280" cy="530352"/>
          </a:xfrm>
          <a:prstGeom prst="roundRect">
            <a:avLst>
              <a:gd name="adj" fmla="val 8621"/>
            </a:avLst>
          </a:prstGeom>
          <a:solidFill>
            <a:srgbClr val="F1F4F9"/>
          </a:solidFill>
          <a:ln/>
        </p:spPr>
      </p:sp>
      <p:sp>
        <p:nvSpPr>
          <p:cNvPr id="13" name="Text 11"/>
          <p:cNvSpPr/>
          <p:nvPr/>
        </p:nvSpPr>
        <p:spPr>
          <a:xfrm>
            <a:off x="6144768" y="1993392"/>
            <a:ext cx="1371600" cy="530352"/>
          </a:xfrm>
          <a:prstGeom prst="rect">
            <a:avLst/>
          </a:prstGeom>
          <a:noFill/>
          <a:ln/>
        </p:spPr>
        <p:txBody>
          <a:bodyPr wrap="square" lIns="0" tIns="0" rIns="0" bIns="0" rtlCol="0" anchor="ctr"/>
          <a:lstStyle/>
          <a:p>
            <a:pPr indent="0" marL="0">
              <a:buNone/>
            </a:pPr>
            <a:r>
              <a:rPr lang="en-US" sz="1250" b="1" dirty="0">
                <a:solidFill>
                  <a:srgbClr val="16233F"/>
                </a:solidFill>
                <a:latin typeface="Meiryo" pitchFamily="34" charset="0"/>
                <a:ea typeface="Meiryo" pitchFamily="34" charset="-122"/>
                <a:cs typeface="Meiryo" pitchFamily="34" charset="-120"/>
              </a:rPr>
              <a:t>MG以上</a:t>
            </a:r>
            <a:endParaRPr lang="en-US" sz="1250" dirty="0"/>
          </a:p>
        </p:txBody>
      </p:sp>
      <p:sp>
        <p:nvSpPr>
          <p:cNvPr id="14" name="Text 12"/>
          <p:cNvSpPr/>
          <p:nvPr/>
        </p:nvSpPr>
        <p:spPr>
          <a:xfrm>
            <a:off x="7424928" y="1993392"/>
            <a:ext cx="914400" cy="530352"/>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20名</a:t>
            </a:r>
            <a:endParaRPr lang="en-US" sz="1200" dirty="0"/>
          </a:p>
        </p:txBody>
      </p:sp>
      <p:sp>
        <p:nvSpPr>
          <p:cNvPr id="15" name="Text 13"/>
          <p:cNvSpPr/>
          <p:nvPr/>
        </p:nvSpPr>
        <p:spPr>
          <a:xfrm>
            <a:off x="8339328" y="1993392"/>
            <a:ext cx="1554480" cy="530352"/>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週20時間</a:t>
            </a:r>
            <a:endParaRPr lang="en-US" sz="1200" dirty="0"/>
          </a:p>
        </p:txBody>
      </p:sp>
      <p:sp>
        <p:nvSpPr>
          <p:cNvPr id="16" name="Text 14"/>
          <p:cNvSpPr/>
          <p:nvPr/>
        </p:nvSpPr>
        <p:spPr>
          <a:xfrm>
            <a:off x="9802368" y="1993392"/>
            <a:ext cx="1691640" cy="530352"/>
          </a:xfrm>
          <a:prstGeom prst="rect">
            <a:avLst/>
          </a:prstGeom>
          <a:noFill/>
          <a:ln/>
        </p:spPr>
        <p:txBody>
          <a:bodyPr wrap="square" lIns="0" tIns="0" rIns="0" bIns="0" rtlCol="0" anchor="ctr"/>
          <a:lstStyle/>
          <a:p>
            <a:pPr algn="r" indent="0" marL="0">
              <a:buNone/>
            </a:pPr>
            <a:r>
              <a:rPr lang="en-US" sz="1250" b="1" dirty="0">
                <a:solidFill>
                  <a:srgbClr val="1F7A6C"/>
                </a:solidFill>
                <a:latin typeface="Meiryo" pitchFamily="34" charset="0"/>
                <a:ea typeface="Meiryo" pitchFamily="34" charset="-122"/>
                <a:cs typeface="Meiryo" pitchFamily="34" charset="-120"/>
              </a:rPr>
              <a:t>5,400万円</a:t>
            </a:r>
            <a:endParaRPr lang="en-US" sz="1250" dirty="0"/>
          </a:p>
        </p:txBody>
      </p:sp>
      <p:sp>
        <p:nvSpPr>
          <p:cNvPr id="17" name="Shape 15"/>
          <p:cNvSpPr/>
          <p:nvPr/>
        </p:nvSpPr>
        <p:spPr>
          <a:xfrm>
            <a:off x="5961888" y="2596896"/>
            <a:ext cx="5669280" cy="530352"/>
          </a:xfrm>
          <a:prstGeom prst="roundRect">
            <a:avLst>
              <a:gd name="adj" fmla="val 8621"/>
            </a:avLst>
          </a:prstGeom>
          <a:solidFill>
            <a:srgbClr val="E4EFEC"/>
          </a:solidFill>
          <a:ln/>
        </p:spPr>
      </p:sp>
      <p:sp>
        <p:nvSpPr>
          <p:cNvPr id="18" name="Text 16"/>
          <p:cNvSpPr/>
          <p:nvPr/>
        </p:nvSpPr>
        <p:spPr>
          <a:xfrm>
            <a:off x="6144768" y="2596896"/>
            <a:ext cx="1371600" cy="530352"/>
          </a:xfrm>
          <a:prstGeom prst="rect">
            <a:avLst/>
          </a:prstGeom>
          <a:noFill/>
          <a:ln/>
        </p:spPr>
        <p:txBody>
          <a:bodyPr wrap="square" lIns="0" tIns="0" rIns="0" bIns="0" rtlCol="0" anchor="ctr"/>
          <a:lstStyle/>
          <a:p>
            <a:pPr indent="0" marL="0">
              <a:buNone/>
            </a:pPr>
            <a:r>
              <a:rPr lang="en-US" sz="1250" b="1" dirty="0">
                <a:solidFill>
                  <a:srgbClr val="16233F"/>
                </a:solidFill>
                <a:latin typeface="Meiryo" pitchFamily="34" charset="0"/>
                <a:ea typeface="Meiryo" pitchFamily="34" charset="-122"/>
                <a:cs typeface="Meiryo" pitchFamily="34" charset="-120"/>
              </a:rPr>
              <a:t>リーダー</a:t>
            </a:r>
            <a:endParaRPr lang="en-US" sz="1250" dirty="0"/>
          </a:p>
        </p:txBody>
      </p:sp>
      <p:sp>
        <p:nvSpPr>
          <p:cNvPr id="19" name="Text 17"/>
          <p:cNvSpPr/>
          <p:nvPr/>
        </p:nvSpPr>
        <p:spPr>
          <a:xfrm>
            <a:off x="7424928" y="2596896"/>
            <a:ext cx="914400" cy="530352"/>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40名</a:t>
            </a:r>
            <a:endParaRPr lang="en-US" sz="1200" dirty="0"/>
          </a:p>
        </p:txBody>
      </p:sp>
      <p:sp>
        <p:nvSpPr>
          <p:cNvPr id="20" name="Text 18"/>
          <p:cNvSpPr/>
          <p:nvPr/>
        </p:nvSpPr>
        <p:spPr>
          <a:xfrm>
            <a:off x="8339328" y="2596896"/>
            <a:ext cx="1554480" cy="530352"/>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週15時間</a:t>
            </a:r>
            <a:endParaRPr lang="en-US" sz="1200" dirty="0"/>
          </a:p>
        </p:txBody>
      </p:sp>
      <p:sp>
        <p:nvSpPr>
          <p:cNvPr id="21" name="Text 19"/>
          <p:cNvSpPr/>
          <p:nvPr/>
        </p:nvSpPr>
        <p:spPr>
          <a:xfrm>
            <a:off x="9802368" y="2596896"/>
            <a:ext cx="1691640" cy="530352"/>
          </a:xfrm>
          <a:prstGeom prst="rect">
            <a:avLst/>
          </a:prstGeom>
          <a:noFill/>
          <a:ln/>
        </p:spPr>
        <p:txBody>
          <a:bodyPr wrap="square" lIns="0" tIns="0" rIns="0" bIns="0" rtlCol="0" anchor="ctr"/>
          <a:lstStyle/>
          <a:p>
            <a:pPr algn="r" indent="0" marL="0">
              <a:buNone/>
            </a:pPr>
            <a:r>
              <a:rPr lang="en-US" sz="1250" b="1" dirty="0">
                <a:solidFill>
                  <a:srgbClr val="1F7A6C"/>
                </a:solidFill>
                <a:latin typeface="Meiryo" pitchFamily="34" charset="0"/>
                <a:ea typeface="Meiryo" pitchFamily="34" charset="-122"/>
                <a:cs typeface="Meiryo" pitchFamily="34" charset="-120"/>
              </a:rPr>
              <a:t>8,100万円</a:t>
            </a:r>
            <a:endParaRPr lang="en-US" sz="1250" dirty="0"/>
          </a:p>
        </p:txBody>
      </p:sp>
      <p:sp>
        <p:nvSpPr>
          <p:cNvPr id="22" name="Shape 20"/>
          <p:cNvSpPr/>
          <p:nvPr/>
        </p:nvSpPr>
        <p:spPr>
          <a:xfrm>
            <a:off x="5961888" y="3200400"/>
            <a:ext cx="5669280" cy="530352"/>
          </a:xfrm>
          <a:prstGeom prst="roundRect">
            <a:avLst>
              <a:gd name="adj" fmla="val 8621"/>
            </a:avLst>
          </a:prstGeom>
          <a:solidFill>
            <a:srgbClr val="F1F4F9"/>
          </a:solidFill>
          <a:ln/>
        </p:spPr>
      </p:sp>
      <p:sp>
        <p:nvSpPr>
          <p:cNvPr id="23" name="Text 21"/>
          <p:cNvSpPr/>
          <p:nvPr/>
        </p:nvSpPr>
        <p:spPr>
          <a:xfrm>
            <a:off x="6144768" y="3200400"/>
            <a:ext cx="1371600" cy="530352"/>
          </a:xfrm>
          <a:prstGeom prst="rect">
            <a:avLst/>
          </a:prstGeom>
          <a:noFill/>
          <a:ln/>
        </p:spPr>
        <p:txBody>
          <a:bodyPr wrap="square" lIns="0" tIns="0" rIns="0" bIns="0" rtlCol="0" anchor="ctr"/>
          <a:lstStyle/>
          <a:p>
            <a:pPr indent="0" marL="0">
              <a:buNone/>
            </a:pPr>
            <a:r>
              <a:rPr lang="en-US" sz="1250" b="1" dirty="0">
                <a:solidFill>
                  <a:srgbClr val="16233F"/>
                </a:solidFill>
                <a:latin typeface="Meiryo" pitchFamily="34" charset="0"/>
                <a:ea typeface="Meiryo" pitchFamily="34" charset="-122"/>
                <a:cs typeface="Meiryo" pitchFamily="34" charset="-120"/>
              </a:rPr>
              <a:t>一般社員</a:t>
            </a:r>
            <a:endParaRPr lang="en-US" sz="1250" dirty="0"/>
          </a:p>
        </p:txBody>
      </p:sp>
      <p:sp>
        <p:nvSpPr>
          <p:cNvPr id="24" name="Text 22"/>
          <p:cNvSpPr/>
          <p:nvPr/>
        </p:nvSpPr>
        <p:spPr>
          <a:xfrm>
            <a:off x="7424928" y="3200400"/>
            <a:ext cx="914400" cy="530352"/>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80名</a:t>
            </a:r>
            <a:endParaRPr lang="en-US" sz="1200" dirty="0"/>
          </a:p>
        </p:txBody>
      </p:sp>
      <p:sp>
        <p:nvSpPr>
          <p:cNvPr id="25" name="Text 23"/>
          <p:cNvSpPr/>
          <p:nvPr/>
        </p:nvSpPr>
        <p:spPr>
          <a:xfrm>
            <a:off x="8339328" y="3200400"/>
            <a:ext cx="1554480" cy="530352"/>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週5時間</a:t>
            </a:r>
            <a:endParaRPr lang="en-US" sz="1200" dirty="0"/>
          </a:p>
        </p:txBody>
      </p:sp>
      <p:sp>
        <p:nvSpPr>
          <p:cNvPr id="26" name="Text 24"/>
          <p:cNvSpPr/>
          <p:nvPr/>
        </p:nvSpPr>
        <p:spPr>
          <a:xfrm>
            <a:off x="9802368" y="3200400"/>
            <a:ext cx="1691640" cy="530352"/>
          </a:xfrm>
          <a:prstGeom prst="rect">
            <a:avLst/>
          </a:prstGeom>
          <a:noFill/>
          <a:ln/>
        </p:spPr>
        <p:txBody>
          <a:bodyPr wrap="square" lIns="0" tIns="0" rIns="0" bIns="0" rtlCol="0" anchor="ctr"/>
          <a:lstStyle/>
          <a:p>
            <a:pPr algn="r" indent="0" marL="0">
              <a:buNone/>
            </a:pPr>
            <a:r>
              <a:rPr lang="en-US" sz="1250" b="1" dirty="0">
                <a:solidFill>
                  <a:srgbClr val="1F7A6C"/>
                </a:solidFill>
                <a:latin typeface="Meiryo" pitchFamily="34" charset="0"/>
                <a:ea typeface="Meiryo" pitchFamily="34" charset="-122"/>
                <a:cs typeface="Meiryo" pitchFamily="34" charset="-120"/>
              </a:rPr>
              <a:t>5,400万円</a:t>
            </a:r>
            <a:endParaRPr lang="en-US" sz="1250" dirty="0"/>
          </a:p>
        </p:txBody>
      </p:sp>
      <p:sp>
        <p:nvSpPr>
          <p:cNvPr id="27" name="Text 25"/>
          <p:cNvSpPr/>
          <p:nvPr/>
        </p:nvSpPr>
        <p:spPr>
          <a:xfrm>
            <a:off x="5961888" y="3877056"/>
            <a:ext cx="5669280" cy="603504"/>
          </a:xfrm>
          <a:prstGeom prst="rect">
            <a:avLst/>
          </a:prstGeom>
          <a:noFill/>
          <a:ln/>
        </p:spPr>
        <p:txBody>
          <a:bodyPr wrap="square" lIns="0" tIns="0" rIns="0" bIns="0" rtlCol="0" anchor="ctr"/>
          <a:lstStyle/>
          <a:p>
            <a:pPr indent="0" marL="0">
              <a:lnSpc>
                <a:spcPts val="1600"/>
              </a:lnSpc>
              <a:buNone/>
            </a:pPr>
            <a:r>
              <a:rPr lang="en-US" sz="1050" dirty="0">
                <a:solidFill>
                  <a:srgbClr val="5A6472"/>
                </a:solidFill>
                <a:latin typeface="Meiryo" pitchFamily="34" charset="0"/>
                <a:ea typeface="Meiryo" pitchFamily="34" charset="-122"/>
                <a:cs typeface="Meiryo" pitchFamily="34" charset="-120"/>
              </a:rPr>
              <a:t>計算式：人数 × 週の会議時間 × 45週 × 時間単価3,000円</a:t>
            </a:r>
            <a:endParaRPr lang="en-US" sz="1050" dirty="0"/>
          </a:p>
          <a:p>
            <a:pPr indent="0" marL="0">
              <a:lnSpc>
                <a:spcPts val="1600"/>
              </a:lnSpc>
              <a:buNone/>
            </a:pPr>
            <a:r>
              <a:rPr lang="en-US" sz="1050" dirty="0">
                <a:solidFill>
                  <a:srgbClr val="5A6472"/>
                </a:solidFill>
                <a:latin typeface="Meiryo" pitchFamily="34" charset="0"/>
                <a:ea typeface="Meiryo" pitchFamily="34" charset="-122"/>
                <a:cs typeface="Meiryo" pitchFamily="34" charset="-120"/>
              </a:rPr>
              <a:t>時間単価＝平均年収450万円 × 1.25 ÷ 1,900時間</a:t>
            </a:r>
            <a:endParaRPr lang="en-US" sz="1050" dirty="0"/>
          </a:p>
        </p:txBody>
      </p:sp>
      <p:sp>
        <p:nvSpPr>
          <p:cNvPr id="28" name="Text 26"/>
          <p:cNvSpPr/>
          <p:nvPr/>
        </p:nvSpPr>
        <p:spPr>
          <a:xfrm>
            <a:off x="566928" y="3950208"/>
            <a:ext cx="5029200" cy="548640"/>
          </a:xfrm>
          <a:prstGeom prst="rect">
            <a:avLst/>
          </a:prstGeom>
          <a:noFill/>
          <a:ln/>
        </p:spPr>
        <p:txBody>
          <a:bodyPr wrap="square" lIns="0" tIns="0" rIns="0" bIns="0" rtlCol="0" anchor="ctr"/>
          <a:lstStyle/>
          <a:p>
            <a:pPr indent="0" marL="0">
              <a:lnSpc>
                <a:spcPts val="1500"/>
              </a:lnSpc>
              <a:buNone/>
            </a:pPr>
            <a:r>
              <a:rPr lang="en-US" sz="1000" dirty="0">
                <a:solidFill>
                  <a:srgbClr val="5A6472"/>
                </a:solidFill>
                <a:latin typeface="Meiryo" pitchFamily="34" charset="0"/>
                <a:ea typeface="Meiryo" pitchFamily="34" charset="-122"/>
                <a:cs typeface="Meiryo" pitchFamily="34" charset="-120"/>
              </a:rPr>
              <a:t>※ リーダー層の週15時間は実測にもとづく値。MG以上・一般社員は仮置きのため、実測値で更新が必要</a:t>
            </a:r>
            <a:endParaRPr lang="en-US" sz="1000" dirty="0"/>
          </a:p>
        </p:txBody>
      </p:sp>
      <p:sp>
        <p:nvSpPr>
          <p:cNvPr id="29" name="Shape 27"/>
          <p:cNvSpPr/>
          <p:nvPr/>
        </p:nvSpPr>
        <p:spPr>
          <a:xfrm>
            <a:off x="566928" y="4700016"/>
            <a:ext cx="11057839" cy="841248"/>
          </a:xfrm>
          <a:prstGeom prst="roundRect">
            <a:avLst>
              <a:gd name="adj" fmla="val 6522"/>
            </a:avLst>
          </a:prstGeom>
          <a:solidFill>
            <a:srgbClr val="FBF3E4"/>
          </a:solidFill>
          <a:ln/>
          <a:effectLst>
            <a:outerShdw sx="100000" sy="100000" kx="0" ky="0" algn="bl" rotWithShape="0" blurRad="127000" dist="25400" dir="5400000">
              <a:srgbClr val="8A97AC">
                <a:alpha val="22000"/>
              </a:srgbClr>
            </a:outerShdw>
          </a:effectLst>
        </p:spPr>
      </p:sp>
      <p:sp>
        <p:nvSpPr>
          <p:cNvPr id="30" name="Text 28"/>
          <p:cNvSpPr/>
          <p:nvPr/>
        </p:nvSpPr>
        <p:spPr>
          <a:xfrm>
            <a:off x="950976" y="4700016"/>
            <a:ext cx="10289743" cy="841248"/>
          </a:xfrm>
          <a:prstGeom prst="rect">
            <a:avLst/>
          </a:prstGeom>
          <a:noFill/>
          <a:ln/>
        </p:spPr>
        <p:txBody>
          <a:bodyPr wrap="square" lIns="0" tIns="0" rIns="0" bIns="0" rtlCol="0" anchor="ctr"/>
          <a:lstStyle/>
          <a:p>
            <a:pPr indent="0" marL="0">
              <a:buNone/>
            </a:pPr>
            <a:r>
              <a:rPr lang="en-US" sz="1300" b="1" dirty="0">
                <a:solidFill>
                  <a:srgbClr val="7A5410"/>
                </a:solidFill>
                <a:latin typeface="Meiryo" pitchFamily="34" charset="0"/>
                <a:ea typeface="Meiryo" pitchFamily="34" charset="-122"/>
                <a:cs typeface="Meiryo" pitchFamily="34" charset="-120"/>
              </a:rPr>
              <a:t>削減した時間は、案件対応と提案活動に充てます。人件費の削減を目的とするものではありません。</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課題B：議事録の現状</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議事録は残っているのに、決定事項が追えません</a:t>
            </a:r>
            <a:endParaRPr lang="en-US" sz="2700" dirty="0"/>
          </a:p>
        </p:txBody>
      </p:sp>
      <p:sp>
        <p:nvSpPr>
          <p:cNvPr id="4" name="Shape 2"/>
          <p:cNvSpPr/>
          <p:nvPr/>
        </p:nvSpPr>
        <p:spPr>
          <a:xfrm>
            <a:off x="11064240" y="475488"/>
            <a:ext cx="512064" cy="512064"/>
          </a:xfrm>
          <a:prstGeom prst="ellipse">
            <a:avLst/>
          </a:prstGeom>
          <a:solidFill>
            <a:srgbClr val="1F7A6C"/>
          </a:solidFill>
          <a:ln/>
        </p:spPr>
      </p:sp>
      <p:sp>
        <p:nvSpPr>
          <p:cNvPr id="5" name="Text 3"/>
          <p:cNvSpPr/>
          <p:nvPr/>
        </p:nvSpPr>
        <p:spPr>
          <a:xfrm>
            <a:off x="11064240" y="4754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B</a:t>
            </a:r>
            <a:endParaRPr lang="en-US" sz="1700" dirty="0"/>
          </a:p>
        </p:txBody>
      </p:sp>
      <p:sp>
        <p:nvSpPr>
          <p:cNvPr id="6" name="Text 4"/>
          <p:cNvSpPr/>
          <p:nvPr/>
        </p:nvSpPr>
        <p:spPr>
          <a:xfrm>
            <a:off x="566928" y="1572768"/>
            <a:ext cx="11057839" cy="292608"/>
          </a:xfrm>
          <a:prstGeom prst="rect">
            <a:avLst/>
          </a:prstGeom>
          <a:noFill/>
          <a:ln/>
        </p:spPr>
        <p:txBody>
          <a:bodyPr wrap="square" lIns="0" tIns="0" rIns="0" bIns="0" rtlCol="0" anchor="ctr"/>
          <a:lstStyle/>
          <a:p>
            <a:pPr indent="0" marL="0">
              <a:buNone/>
            </a:pPr>
            <a:r>
              <a:rPr lang="en-US" sz="1300" b="1" dirty="0">
                <a:solidFill>
                  <a:srgbClr val="16233F"/>
                </a:solidFill>
                <a:latin typeface="Meiryo" pitchFamily="34" charset="0"/>
                <a:ea typeface="Meiryo" pitchFamily="34" charset="-122"/>
                <a:cs typeface="Meiryo" pitchFamily="34" charset="-120"/>
              </a:rPr>
              <a:t>いまの流れ ― 情報が5か所を経由している</a:t>
            </a:r>
            <a:endParaRPr lang="en-US" sz="1300" dirty="0"/>
          </a:p>
        </p:txBody>
      </p:sp>
      <p:sp>
        <p:nvSpPr>
          <p:cNvPr id="7" name="Shape 5"/>
          <p:cNvSpPr/>
          <p:nvPr/>
        </p:nvSpPr>
        <p:spPr>
          <a:xfrm>
            <a:off x="566928" y="1956816"/>
            <a:ext cx="2048256" cy="749808"/>
          </a:xfrm>
          <a:prstGeom prst="roundRect">
            <a:avLst>
              <a:gd name="adj" fmla="val 7317"/>
            </a:avLst>
          </a:prstGeom>
          <a:solidFill>
            <a:srgbClr val="F1F4F9"/>
          </a:solidFill>
          <a:ln/>
        </p:spPr>
      </p:sp>
      <p:sp>
        <p:nvSpPr>
          <p:cNvPr id="8" name="Text 6"/>
          <p:cNvSpPr/>
          <p:nvPr/>
        </p:nvSpPr>
        <p:spPr>
          <a:xfrm>
            <a:off x="640080" y="1956816"/>
            <a:ext cx="1901952" cy="749808"/>
          </a:xfrm>
          <a:prstGeom prst="rect">
            <a:avLst/>
          </a:prstGeom>
          <a:noFill/>
          <a:ln/>
        </p:spPr>
        <p:txBody>
          <a:bodyPr wrap="square" lIns="0" tIns="0" rIns="0" bIns="0" rtlCol="0" anchor="ctr"/>
          <a:lstStyle/>
          <a:p>
            <a:pPr algn="ctr" indent="0" marL="0">
              <a:buNone/>
            </a:pPr>
            <a:r>
              <a:rPr lang="en-US" sz="1150" b="1" dirty="0">
                <a:solidFill>
                  <a:srgbClr val="16233F"/>
                </a:solidFill>
                <a:latin typeface="Meiryo" pitchFamily="34" charset="0"/>
                <a:ea typeface="Meiryo" pitchFamily="34" charset="-122"/>
                <a:cs typeface="Meiryo" pitchFamily="34" charset="-120"/>
              </a:rPr>
              <a:t>Teams会議</a:t>
            </a:r>
            <a:endParaRPr lang="en-US" sz="1150" dirty="0"/>
          </a:p>
        </p:txBody>
      </p:sp>
      <p:sp>
        <p:nvSpPr>
          <p:cNvPr id="9" name="Shape 7"/>
          <p:cNvSpPr/>
          <p:nvPr/>
        </p:nvSpPr>
        <p:spPr>
          <a:xfrm>
            <a:off x="2642616" y="2231136"/>
            <a:ext cx="137160" cy="201168"/>
          </a:xfrm>
          <a:prstGeom prst="rightArrow">
            <a:avLst/>
          </a:prstGeom>
          <a:solidFill>
            <a:srgbClr val="D5DCE6"/>
          </a:solidFill>
          <a:ln/>
        </p:spPr>
      </p:sp>
      <p:sp>
        <p:nvSpPr>
          <p:cNvPr id="10" name="Shape 8"/>
          <p:cNvSpPr/>
          <p:nvPr/>
        </p:nvSpPr>
        <p:spPr>
          <a:xfrm>
            <a:off x="2798064" y="1956816"/>
            <a:ext cx="2048256" cy="749808"/>
          </a:xfrm>
          <a:prstGeom prst="roundRect">
            <a:avLst>
              <a:gd name="adj" fmla="val 7317"/>
            </a:avLst>
          </a:prstGeom>
          <a:solidFill>
            <a:srgbClr val="F1F4F9"/>
          </a:solidFill>
          <a:ln/>
        </p:spPr>
      </p:sp>
      <p:sp>
        <p:nvSpPr>
          <p:cNvPr id="11" name="Text 9"/>
          <p:cNvSpPr/>
          <p:nvPr/>
        </p:nvSpPr>
        <p:spPr>
          <a:xfrm>
            <a:off x="2871216" y="1956816"/>
            <a:ext cx="1901952" cy="749808"/>
          </a:xfrm>
          <a:prstGeom prst="rect">
            <a:avLst/>
          </a:prstGeom>
          <a:noFill/>
          <a:ln/>
        </p:spPr>
        <p:txBody>
          <a:bodyPr wrap="square" lIns="0" tIns="0" rIns="0" bIns="0" rtlCol="0" anchor="ctr"/>
          <a:lstStyle/>
          <a:p>
            <a:pPr algn="ctr" indent="0" marL="0">
              <a:buNone/>
            </a:pPr>
            <a:r>
              <a:rPr lang="en-US" sz="1150" b="1" dirty="0">
                <a:solidFill>
                  <a:srgbClr val="16233F"/>
                </a:solidFill>
                <a:latin typeface="Meiryo" pitchFamily="34" charset="0"/>
                <a:ea typeface="Meiryo" pitchFamily="34" charset="-122"/>
                <a:cs typeface="Meiryo" pitchFamily="34" charset="-120"/>
              </a:rPr>
              <a:t>文字起こし</a:t>
            </a:r>
            <a:endParaRPr lang="en-US" sz="1150" dirty="0"/>
          </a:p>
        </p:txBody>
      </p:sp>
      <p:sp>
        <p:nvSpPr>
          <p:cNvPr id="12" name="Shape 10"/>
          <p:cNvSpPr/>
          <p:nvPr/>
        </p:nvSpPr>
        <p:spPr>
          <a:xfrm>
            <a:off x="4873752" y="2231136"/>
            <a:ext cx="137160" cy="201168"/>
          </a:xfrm>
          <a:prstGeom prst="rightArrow">
            <a:avLst/>
          </a:prstGeom>
          <a:solidFill>
            <a:srgbClr val="D5DCE6"/>
          </a:solidFill>
          <a:ln/>
        </p:spPr>
      </p:sp>
      <p:sp>
        <p:nvSpPr>
          <p:cNvPr id="13" name="Shape 11"/>
          <p:cNvSpPr/>
          <p:nvPr/>
        </p:nvSpPr>
        <p:spPr>
          <a:xfrm>
            <a:off x="5029200" y="1956816"/>
            <a:ext cx="2048256" cy="749808"/>
          </a:xfrm>
          <a:prstGeom prst="roundRect">
            <a:avLst>
              <a:gd name="adj" fmla="val 7317"/>
            </a:avLst>
          </a:prstGeom>
          <a:solidFill>
            <a:srgbClr val="F1F4F9"/>
          </a:solidFill>
          <a:ln/>
        </p:spPr>
      </p:sp>
      <p:sp>
        <p:nvSpPr>
          <p:cNvPr id="14" name="Text 12"/>
          <p:cNvSpPr/>
          <p:nvPr/>
        </p:nvSpPr>
        <p:spPr>
          <a:xfrm>
            <a:off x="5102352" y="1956816"/>
            <a:ext cx="1901952" cy="749808"/>
          </a:xfrm>
          <a:prstGeom prst="rect">
            <a:avLst/>
          </a:prstGeom>
          <a:noFill/>
          <a:ln/>
        </p:spPr>
        <p:txBody>
          <a:bodyPr wrap="square" lIns="0" tIns="0" rIns="0" bIns="0" rtlCol="0" anchor="ctr"/>
          <a:lstStyle/>
          <a:p>
            <a:pPr algn="ctr" indent="0" marL="0">
              <a:buNone/>
            </a:pPr>
            <a:r>
              <a:rPr lang="en-US" sz="1150" b="1" dirty="0">
                <a:solidFill>
                  <a:srgbClr val="16233F"/>
                </a:solidFill>
                <a:latin typeface="Meiryo" pitchFamily="34" charset="0"/>
                <a:ea typeface="Meiryo" pitchFamily="34" charset="-122"/>
                <a:cs typeface="Meiryo" pitchFamily="34" charset="-120"/>
              </a:rPr>
              <a:t>AIで議事録生成</a:t>
            </a:r>
            <a:endParaRPr lang="en-US" sz="1150" dirty="0"/>
          </a:p>
        </p:txBody>
      </p:sp>
      <p:sp>
        <p:nvSpPr>
          <p:cNvPr id="15" name="Shape 13"/>
          <p:cNvSpPr/>
          <p:nvPr/>
        </p:nvSpPr>
        <p:spPr>
          <a:xfrm>
            <a:off x="7104888" y="2231136"/>
            <a:ext cx="137160" cy="201168"/>
          </a:xfrm>
          <a:prstGeom prst="rightArrow">
            <a:avLst/>
          </a:prstGeom>
          <a:solidFill>
            <a:srgbClr val="D5DCE6"/>
          </a:solidFill>
          <a:ln/>
        </p:spPr>
      </p:sp>
      <p:sp>
        <p:nvSpPr>
          <p:cNvPr id="16" name="Shape 14"/>
          <p:cNvSpPr/>
          <p:nvPr/>
        </p:nvSpPr>
        <p:spPr>
          <a:xfrm>
            <a:off x="7260336" y="1956816"/>
            <a:ext cx="2048256" cy="749808"/>
          </a:xfrm>
          <a:prstGeom prst="roundRect">
            <a:avLst>
              <a:gd name="adj" fmla="val 7317"/>
            </a:avLst>
          </a:prstGeom>
          <a:solidFill>
            <a:srgbClr val="F1F4F9"/>
          </a:solidFill>
          <a:ln/>
        </p:spPr>
      </p:sp>
      <p:sp>
        <p:nvSpPr>
          <p:cNvPr id="17" name="Text 15"/>
          <p:cNvSpPr/>
          <p:nvPr/>
        </p:nvSpPr>
        <p:spPr>
          <a:xfrm>
            <a:off x="7333488" y="1956816"/>
            <a:ext cx="1901952" cy="749808"/>
          </a:xfrm>
          <a:prstGeom prst="rect">
            <a:avLst/>
          </a:prstGeom>
          <a:noFill/>
          <a:ln/>
        </p:spPr>
        <p:txBody>
          <a:bodyPr wrap="square" lIns="0" tIns="0" rIns="0" bIns="0" rtlCol="0" anchor="ctr"/>
          <a:lstStyle/>
          <a:p>
            <a:pPr algn="ctr" indent="0" marL="0">
              <a:buNone/>
            </a:pPr>
            <a:r>
              <a:rPr lang="en-US" sz="1150" b="1" dirty="0">
                <a:solidFill>
                  <a:srgbClr val="16233F"/>
                </a:solidFill>
                <a:latin typeface="Meiryo" pitchFamily="34" charset="0"/>
                <a:ea typeface="Meiryo" pitchFamily="34" charset="-122"/>
                <a:cs typeface="Meiryo" pitchFamily="34" charset="-120"/>
              </a:rPr>
              <a:t>Teams上のWord</a:t>
            </a:r>
            <a:endParaRPr lang="en-US" sz="1150" dirty="0"/>
          </a:p>
          <a:p>
            <a:pPr algn="ctr" indent="0" marL="0">
              <a:buNone/>
            </a:pPr>
            <a:r>
              <a:rPr lang="en-US" sz="1150" b="1" dirty="0">
                <a:solidFill>
                  <a:srgbClr val="16233F"/>
                </a:solidFill>
                <a:latin typeface="Meiryo" pitchFamily="34" charset="0"/>
                <a:ea typeface="Meiryo" pitchFamily="34" charset="-122"/>
                <a:cs typeface="Meiryo" pitchFamily="34" charset="-120"/>
              </a:rPr>
              <a:t>または OneNote</a:t>
            </a:r>
            <a:endParaRPr lang="en-US" sz="1150" dirty="0"/>
          </a:p>
        </p:txBody>
      </p:sp>
      <p:sp>
        <p:nvSpPr>
          <p:cNvPr id="18" name="Shape 16"/>
          <p:cNvSpPr/>
          <p:nvPr/>
        </p:nvSpPr>
        <p:spPr>
          <a:xfrm>
            <a:off x="9336024" y="2231136"/>
            <a:ext cx="137160" cy="201168"/>
          </a:xfrm>
          <a:prstGeom prst="rightArrow">
            <a:avLst/>
          </a:prstGeom>
          <a:solidFill>
            <a:srgbClr val="D5DCE6"/>
          </a:solidFill>
          <a:ln/>
        </p:spPr>
      </p:sp>
      <p:sp>
        <p:nvSpPr>
          <p:cNvPr id="19" name="Shape 17"/>
          <p:cNvSpPr/>
          <p:nvPr/>
        </p:nvSpPr>
        <p:spPr>
          <a:xfrm>
            <a:off x="9491472" y="1956816"/>
            <a:ext cx="2048256" cy="749808"/>
          </a:xfrm>
          <a:prstGeom prst="roundRect">
            <a:avLst>
              <a:gd name="adj" fmla="val 7317"/>
            </a:avLst>
          </a:prstGeom>
          <a:solidFill>
            <a:srgbClr val="F7E9E7"/>
          </a:solidFill>
          <a:ln/>
        </p:spPr>
      </p:sp>
      <p:sp>
        <p:nvSpPr>
          <p:cNvPr id="20" name="Text 18"/>
          <p:cNvSpPr/>
          <p:nvPr/>
        </p:nvSpPr>
        <p:spPr>
          <a:xfrm>
            <a:off x="9564624" y="1956816"/>
            <a:ext cx="1901952" cy="749808"/>
          </a:xfrm>
          <a:prstGeom prst="rect">
            <a:avLst/>
          </a:prstGeom>
          <a:noFill/>
          <a:ln/>
        </p:spPr>
        <p:txBody>
          <a:bodyPr wrap="square" lIns="0" tIns="0" rIns="0" bIns="0" rtlCol="0" anchor="ctr"/>
          <a:lstStyle/>
          <a:p>
            <a:pPr algn="ctr" indent="0" marL="0">
              <a:buNone/>
            </a:pPr>
            <a:r>
              <a:rPr lang="en-US" sz="1150" b="1" dirty="0">
                <a:solidFill>
                  <a:srgbClr val="B3423A"/>
                </a:solidFill>
                <a:latin typeface="Meiryo" pitchFamily="34" charset="0"/>
                <a:ea typeface="Meiryo" pitchFamily="34" charset="-122"/>
                <a:cs typeface="Meiryo" pitchFamily="34" charset="-120"/>
              </a:rPr>
              <a:t>リンクをチャットで共有</a:t>
            </a:r>
            <a:endParaRPr lang="en-US" sz="1150" dirty="0"/>
          </a:p>
        </p:txBody>
      </p:sp>
      <p:sp>
        <p:nvSpPr>
          <p:cNvPr id="21" name="Text 19"/>
          <p:cNvSpPr/>
          <p:nvPr/>
        </p:nvSpPr>
        <p:spPr>
          <a:xfrm>
            <a:off x="566928" y="2798064"/>
            <a:ext cx="11057839" cy="292608"/>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議事録は Teams上のWord と OneNote に分散。研修資料は Teams と SharePoint に分散している。</a:t>
            </a:r>
            <a:endParaRPr lang="en-US" sz="1200" dirty="0"/>
          </a:p>
        </p:txBody>
      </p:sp>
      <p:sp>
        <p:nvSpPr>
          <p:cNvPr id="22" name="Shape 20"/>
          <p:cNvSpPr/>
          <p:nvPr/>
        </p:nvSpPr>
        <p:spPr>
          <a:xfrm>
            <a:off x="566928" y="3310128"/>
            <a:ext cx="3529584" cy="2615184"/>
          </a:xfrm>
          <a:prstGeom prst="roundRect">
            <a:avLst>
              <a:gd name="adj" fmla="val 2098"/>
            </a:avLst>
          </a:prstGeom>
          <a:solidFill>
            <a:srgbClr val="F1F4F9"/>
          </a:solidFill>
          <a:ln/>
          <a:effectLst>
            <a:outerShdw sx="100000" sy="100000" kx="0" ky="0" algn="bl" rotWithShape="0" blurRad="127000" dist="25400" dir="5400000">
              <a:srgbClr val="8A97AC">
                <a:alpha val="22000"/>
              </a:srgbClr>
            </a:outerShdw>
          </a:effectLst>
        </p:spPr>
      </p:sp>
      <p:sp>
        <p:nvSpPr>
          <p:cNvPr id="23" name="Text 21"/>
          <p:cNvSpPr/>
          <p:nvPr/>
        </p:nvSpPr>
        <p:spPr>
          <a:xfrm>
            <a:off x="841248" y="3566160"/>
            <a:ext cx="1828800" cy="274320"/>
          </a:xfrm>
          <a:prstGeom prst="rect">
            <a:avLst/>
          </a:prstGeom>
          <a:noFill/>
          <a:ln/>
        </p:spPr>
        <p:txBody>
          <a:bodyPr wrap="square" lIns="0" tIns="0" rIns="0" bIns="0" rtlCol="0" anchor="ctr"/>
          <a:lstStyle/>
          <a:p>
            <a:pPr indent="0" marL="0">
              <a:buNone/>
            </a:pPr>
            <a:r>
              <a:rPr lang="en-US" sz="1200" b="1" spc="100" kern="0" dirty="0">
                <a:solidFill>
                  <a:srgbClr val="1F7A6C"/>
                </a:solidFill>
                <a:latin typeface="Meiryo" pitchFamily="34" charset="0"/>
                <a:ea typeface="Meiryo" pitchFamily="34" charset="-122"/>
                <a:cs typeface="Meiryo" pitchFamily="34" charset="-120"/>
              </a:rPr>
              <a:t>B-1</a:t>
            </a:r>
            <a:endParaRPr lang="en-US" sz="1200" dirty="0"/>
          </a:p>
        </p:txBody>
      </p:sp>
      <p:sp>
        <p:nvSpPr>
          <p:cNvPr id="24" name="Text 22"/>
          <p:cNvSpPr/>
          <p:nvPr/>
        </p:nvSpPr>
        <p:spPr>
          <a:xfrm>
            <a:off x="841248" y="3877056"/>
            <a:ext cx="2980944" cy="402336"/>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目的が事前に定義されない</a:t>
            </a:r>
            <a:endParaRPr lang="en-US" sz="1500" dirty="0"/>
          </a:p>
        </p:txBody>
      </p:sp>
      <p:sp>
        <p:nvSpPr>
          <p:cNvPr id="25" name="Text 23"/>
          <p:cNvSpPr/>
          <p:nvPr/>
        </p:nvSpPr>
        <p:spPr>
          <a:xfrm>
            <a:off x="841248" y="4443984"/>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5A6472"/>
                </a:solidFill>
                <a:latin typeface="Meiryo" pitchFamily="34" charset="0"/>
                <a:ea typeface="Meiryo" pitchFamily="34" charset="-122"/>
                <a:cs typeface="Meiryo" pitchFamily="34" charset="-120"/>
              </a:rPr>
              <a:t>アジェンダを作る型がないため、「とりあえず集まる」定例が生き残る</a:t>
            </a:r>
            <a:endParaRPr lang="en-US" sz="1150" dirty="0"/>
          </a:p>
        </p:txBody>
      </p:sp>
      <p:sp>
        <p:nvSpPr>
          <p:cNvPr id="26" name="Shape 24"/>
          <p:cNvSpPr/>
          <p:nvPr/>
        </p:nvSpPr>
        <p:spPr>
          <a:xfrm>
            <a:off x="4439412" y="3310128"/>
            <a:ext cx="3529584" cy="2615184"/>
          </a:xfrm>
          <a:prstGeom prst="roundRect">
            <a:avLst>
              <a:gd name="adj" fmla="val 2098"/>
            </a:avLst>
          </a:prstGeom>
          <a:solidFill>
            <a:srgbClr val="F1F4F9"/>
          </a:solidFill>
          <a:ln/>
          <a:effectLst>
            <a:outerShdw sx="100000" sy="100000" kx="0" ky="0" algn="bl" rotWithShape="0" blurRad="127000" dist="25400" dir="5400000">
              <a:srgbClr val="8A97AC">
                <a:alpha val="22000"/>
              </a:srgbClr>
            </a:outerShdw>
          </a:effectLst>
        </p:spPr>
      </p:sp>
      <p:sp>
        <p:nvSpPr>
          <p:cNvPr id="27" name="Text 25"/>
          <p:cNvSpPr/>
          <p:nvPr/>
        </p:nvSpPr>
        <p:spPr>
          <a:xfrm>
            <a:off x="4713732" y="3566160"/>
            <a:ext cx="1828800" cy="274320"/>
          </a:xfrm>
          <a:prstGeom prst="rect">
            <a:avLst/>
          </a:prstGeom>
          <a:noFill/>
          <a:ln/>
        </p:spPr>
        <p:txBody>
          <a:bodyPr wrap="square" lIns="0" tIns="0" rIns="0" bIns="0" rtlCol="0" anchor="ctr"/>
          <a:lstStyle/>
          <a:p>
            <a:pPr indent="0" marL="0">
              <a:buNone/>
            </a:pPr>
            <a:r>
              <a:rPr lang="en-US" sz="1200" b="1" spc="100" kern="0" dirty="0">
                <a:solidFill>
                  <a:srgbClr val="1F7A6C"/>
                </a:solidFill>
                <a:latin typeface="Meiryo" pitchFamily="34" charset="0"/>
                <a:ea typeface="Meiryo" pitchFamily="34" charset="-122"/>
                <a:cs typeface="Meiryo" pitchFamily="34" charset="-120"/>
              </a:rPr>
              <a:t>B-2</a:t>
            </a:r>
            <a:endParaRPr lang="en-US" sz="1200" dirty="0"/>
          </a:p>
        </p:txBody>
      </p:sp>
      <p:sp>
        <p:nvSpPr>
          <p:cNvPr id="28" name="Text 26"/>
          <p:cNvSpPr/>
          <p:nvPr/>
        </p:nvSpPr>
        <p:spPr>
          <a:xfrm>
            <a:off x="4713732" y="3877056"/>
            <a:ext cx="2980944" cy="402336"/>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決定が構造化されない</a:t>
            </a:r>
            <a:endParaRPr lang="en-US" sz="1500" dirty="0"/>
          </a:p>
        </p:txBody>
      </p:sp>
      <p:sp>
        <p:nvSpPr>
          <p:cNvPr id="29" name="Text 27"/>
          <p:cNvSpPr/>
          <p:nvPr/>
        </p:nvSpPr>
        <p:spPr>
          <a:xfrm>
            <a:off x="4713732" y="4443984"/>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5A6472"/>
                </a:solidFill>
                <a:latin typeface="Meiryo" pitchFamily="34" charset="0"/>
                <a:ea typeface="Meiryo" pitchFamily="34" charset="-122"/>
                <a:cs typeface="Meiryo" pitchFamily="34" charset="-120"/>
              </a:rPr>
              <a:t>決定事項・担当・期日が文章の中に埋もれ、検索も集計もできない</a:t>
            </a:r>
            <a:endParaRPr lang="en-US" sz="1150" dirty="0"/>
          </a:p>
        </p:txBody>
      </p:sp>
      <p:sp>
        <p:nvSpPr>
          <p:cNvPr id="30" name="Shape 28"/>
          <p:cNvSpPr/>
          <p:nvPr/>
        </p:nvSpPr>
        <p:spPr>
          <a:xfrm>
            <a:off x="8311896" y="3310128"/>
            <a:ext cx="3529584" cy="2615184"/>
          </a:xfrm>
          <a:prstGeom prst="roundRect">
            <a:avLst>
              <a:gd name="adj" fmla="val 2098"/>
            </a:avLst>
          </a:prstGeom>
          <a:solidFill>
            <a:srgbClr val="F1F4F9"/>
          </a:solidFill>
          <a:ln/>
          <a:effectLst>
            <a:outerShdw sx="100000" sy="100000" kx="0" ky="0" algn="bl" rotWithShape="0" blurRad="127000" dist="25400" dir="5400000">
              <a:srgbClr val="8A97AC">
                <a:alpha val="22000"/>
              </a:srgbClr>
            </a:outerShdw>
          </a:effectLst>
        </p:spPr>
      </p:sp>
      <p:sp>
        <p:nvSpPr>
          <p:cNvPr id="31" name="Text 29"/>
          <p:cNvSpPr/>
          <p:nvPr/>
        </p:nvSpPr>
        <p:spPr>
          <a:xfrm>
            <a:off x="8586216" y="3566160"/>
            <a:ext cx="1828800" cy="274320"/>
          </a:xfrm>
          <a:prstGeom prst="rect">
            <a:avLst/>
          </a:prstGeom>
          <a:noFill/>
          <a:ln/>
        </p:spPr>
        <p:txBody>
          <a:bodyPr wrap="square" lIns="0" tIns="0" rIns="0" bIns="0" rtlCol="0" anchor="ctr"/>
          <a:lstStyle/>
          <a:p>
            <a:pPr indent="0" marL="0">
              <a:buNone/>
            </a:pPr>
            <a:r>
              <a:rPr lang="en-US" sz="1200" b="1" spc="100" kern="0" dirty="0">
                <a:solidFill>
                  <a:srgbClr val="1F7A6C"/>
                </a:solidFill>
                <a:latin typeface="Meiryo" pitchFamily="34" charset="0"/>
                <a:ea typeface="Meiryo" pitchFamily="34" charset="-122"/>
                <a:cs typeface="Meiryo" pitchFamily="34" charset="-120"/>
              </a:rPr>
              <a:t>B-3</a:t>
            </a:r>
            <a:endParaRPr lang="en-US" sz="1200" dirty="0"/>
          </a:p>
        </p:txBody>
      </p:sp>
      <p:sp>
        <p:nvSpPr>
          <p:cNvPr id="32" name="Text 30"/>
          <p:cNvSpPr/>
          <p:nvPr/>
        </p:nvSpPr>
        <p:spPr>
          <a:xfrm>
            <a:off x="8586216" y="3877056"/>
            <a:ext cx="2980944" cy="402336"/>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置き場所が分散する</a:t>
            </a:r>
            <a:endParaRPr lang="en-US" sz="1500" dirty="0"/>
          </a:p>
        </p:txBody>
      </p:sp>
      <p:sp>
        <p:nvSpPr>
          <p:cNvPr id="33" name="Text 31"/>
          <p:cNvSpPr/>
          <p:nvPr/>
        </p:nvSpPr>
        <p:spPr>
          <a:xfrm>
            <a:off x="8586216" y="4443984"/>
            <a:ext cx="2980944" cy="1097280"/>
          </a:xfrm>
          <a:prstGeom prst="rect">
            <a:avLst/>
          </a:prstGeom>
          <a:noFill/>
          <a:ln/>
        </p:spPr>
        <p:txBody>
          <a:bodyPr wrap="square" lIns="0" tIns="0" rIns="0" bIns="0" rtlCol="0" anchor="ctr"/>
          <a:lstStyle/>
          <a:p>
            <a:pPr indent="0" marL="0">
              <a:lnSpc>
                <a:spcPts val="1800"/>
              </a:lnSpc>
              <a:buNone/>
            </a:pPr>
            <a:r>
              <a:rPr lang="en-US" sz="1150" dirty="0">
                <a:solidFill>
                  <a:srgbClr val="5A6472"/>
                </a:solidFill>
                <a:latin typeface="Meiryo" pitchFamily="34" charset="0"/>
                <a:ea typeface="Meiryo" pitchFamily="34" charset="-122"/>
                <a:cs typeface="Meiryo" pitchFamily="34" charset="-120"/>
              </a:rPr>
              <a:t>議事録はTeams上のWordとOneNoteに、研修資料はTeamsとSharePointに分かれている</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解決像</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Notionによる解決</a:t>
            </a:r>
            <a:endParaRPr lang="en-US" sz="2700" dirty="0"/>
          </a:p>
        </p:txBody>
      </p:sp>
      <p:sp>
        <p:nvSpPr>
          <p:cNvPr id="4" name="Shape 2"/>
          <p:cNvSpPr/>
          <p:nvPr/>
        </p:nvSpPr>
        <p:spPr>
          <a:xfrm>
            <a:off x="566928" y="1481328"/>
            <a:ext cx="457200" cy="457200"/>
          </a:xfrm>
          <a:prstGeom prst="ellipse">
            <a:avLst/>
          </a:prstGeom>
          <a:solidFill>
            <a:srgbClr val="2C5F8D"/>
          </a:solidFill>
          <a:ln/>
        </p:spPr>
      </p:sp>
      <p:sp>
        <p:nvSpPr>
          <p:cNvPr id="5" name="Text 3"/>
          <p:cNvSpPr/>
          <p:nvPr/>
        </p:nvSpPr>
        <p:spPr>
          <a:xfrm>
            <a:off x="566928" y="1481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a:t>
            </a:r>
            <a:endParaRPr lang="en-US" sz="1500" dirty="0"/>
          </a:p>
        </p:txBody>
      </p:sp>
      <p:sp>
        <p:nvSpPr>
          <p:cNvPr id="6" name="Text 4"/>
          <p:cNvSpPr/>
          <p:nvPr/>
        </p:nvSpPr>
        <p:spPr>
          <a:xfrm>
            <a:off x="1170432" y="1463040"/>
            <a:ext cx="4754880" cy="402336"/>
          </a:xfrm>
          <a:prstGeom prst="rect">
            <a:avLst/>
          </a:prstGeom>
          <a:noFill/>
          <a:ln/>
        </p:spPr>
        <p:txBody>
          <a:bodyPr wrap="square" lIns="0" tIns="0" rIns="0" bIns="0" rtlCol="0" anchor="ctr"/>
          <a:lstStyle/>
          <a:p>
            <a:pPr indent="0" marL="0">
              <a:buNone/>
            </a:pPr>
            <a:r>
              <a:rPr lang="en-US" sz="1700" b="1" dirty="0">
                <a:solidFill>
                  <a:srgbClr val="16233F"/>
                </a:solidFill>
                <a:latin typeface="Meiryo" pitchFamily="34" charset="0"/>
                <a:ea typeface="Meiryo" pitchFamily="34" charset="-122"/>
                <a:cs typeface="Meiryo" pitchFamily="34" charset="-120"/>
              </a:rPr>
              <a:t>課題A：案件管理</a:t>
            </a:r>
            <a:endParaRPr lang="en-US" sz="1700" dirty="0"/>
          </a:p>
        </p:txBody>
      </p:sp>
      <p:sp>
        <p:nvSpPr>
          <p:cNvPr id="7" name="Text 5"/>
          <p:cNvSpPr/>
          <p:nvPr/>
        </p:nvSpPr>
        <p:spPr>
          <a:xfrm>
            <a:off x="585216" y="2084832"/>
            <a:ext cx="5486400" cy="256032"/>
          </a:xfrm>
          <a:prstGeom prst="rect">
            <a:avLst/>
          </a:prstGeom>
          <a:noFill/>
          <a:ln/>
        </p:spPr>
        <p:txBody>
          <a:bodyPr wrap="square" lIns="0" tIns="0" rIns="0" bIns="0" rtlCol="0" anchor="ctr"/>
          <a:lstStyle/>
          <a:p>
            <a:pPr indent="0" marL="0">
              <a:buNone/>
            </a:pPr>
            <a:r>
              <a:rPr lang="en-US" sz="1050" b="1" dirty="0">
                <a:solidFill>
                  <a:srgbClr val="2C5F8D"/>
                </a:solidFill>
                <a:latin typeface="Meiryo" pitchFamily="34" charset="0"/>
                <a:ea typeface="Meiryo" pitchFamily="34" charset="-122"/>
                <a:cs typeface="Meiryo" pitchFamily="34" charset="-120"/>
              </a:rPr>
              <a:t>A-1 可視性</a:t>
            </a:r>
            <a:endParaRPr lang="en-US" sz="1050" dirty="0"/>
          </a:p>
        </p:txBody>
      </p:sp>
      <p:sp>
        <p:nvSpPr>
          <p:cNvPr id="8" name="Shape 6"/>
          <p:cNvSpPr/>
          <p:nvPr/>
        </p:nvSpPr>
        <p:spPr>
          <a:xfrm>
            <a:off x="566928" y="2359152"/>
            <a:ext cx="2395728" cy="658368"/>
          </a:xfrm>
          <a:prstGeom prst="roundRect">
            <a:avLst>
              <a:gd name="adj" fmla="val 6944"/>
            </a:avLst>
          </a:prstGeom>
          <a:solidFill>
            <a:srgbClr val="F4F5F7"/>
          </a:solidFill>
          <a:ln/>
        </p:spPr>
      </p:sp>
      <p:sp>
        <p:nvSpPr>
          <p:cNvPr id="9" name="Text 7"/>
          <p:cNvSpPr/>
          <p:nvPr/>
        </p:nvSpPr>
        <p:spPr>
          <a:xfrm>
            <a:off x="694944" y="2359152"/>
            <a:ext cx="2139696" cy="658368"/>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招待された人しか見えない</a:t>
            </a:r>
            <a:endParaRPr lang="en-US" sz="1050" dirty="0"/>
          </a:p>
        </p:txBody>
      </p:sp>
      <p:sp>
        <p:nvSpPr>
          <p:cNvPr id="10" name="Shape 8"/>
          <p:cNvSpPr/>
          <p:nvPr/>
        </p:nvSpPr>
        <p:spPr>
          <a:xfrm>
            <a:off x="3054096" y="2615184"/>
            <a:ext cx="164592" cy="164592"/>
          </a:xfrm>
          <a:prstGeom prst="rightArrow">
            <a:avLst/>
          </a:prstGeom>
          <a:solidFill>
            <a:srgbClr val="2C5F8D"/>
          </a:solidFill>
          <a:ln/>
        </p:spPr>
      </p:sp>
      <p:sp>
        <p:nvSpPr>
          <p:cNvPr id="11" name="Shape 9"/>
          <p:cNvSpPr/>
          <p:nvPr/>
        </p:nvSpPr>
        <p:spPr>
          <a:xfrm>
            <a:off x="3310128" y="2359152"/>
            <a:ext cx="2743200" cy="658368"/>
          </a:xfrm>
          <a:prstGeom prst="roundRect">
            <a:avLst>
              <a:gd name="adj" fmla="val 6944"/>
            </a:avLst>
          </a:prstGeom>
          <a:solidFill>
            <a:srgbClr val="2C5F8D"/>
          </a:solidFill>
          <a:ln/>
        </p:spPr>
      </p:sp>
      <p:sp>
        <p:nvSpPr>
          <p:cNvPr id="12" name="Text 10"/>
          <p:cNvSpPr/>
          <p:nvPr/>
        </p:nvSpPr>
        <p:spPr>
          <a:xfrm>
            <a:off x="3438144" y="2359152"/>
            <a:ext cx="2487168" cy="658368"/>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全案件が誰からも見える</a:t>
            </a:r>
            <a:endParaRPr lang="en-US" sz="1050" dirty="0"/>
          </a:p>
        </p:txBody>
      </p:sp>
      <p:sp>
        <p:nvSpPr>
          <p:cNvPr id="13" name="Text 11"/>
          <p:cNvSpPr/>
          <p:nvPr/>
        </p:nvSpPr>
        <p:spPr>
          <a:xfrm>
            <a:off x="585216" y="3145536"/>
            <a:ext cx="5486400" cy="256032"/>
          </a:xfrm>
          <a:prstGeom prst="rect">
            <a:avLst/>
          </a:prstGeom>
          <a:noFill/>
          <a:ln/>
        </p:spPr>
        <p:txBody>
          <a:bodyPr wrap="square" lIns="0" tIns="0" rIns="0" bIns="0" rtlCol="0" anchor="ctr"/>
          <a:lstStyle/>
          <a:p>
            <a:pPr indent="0" marL="0">
              <a:buNone/>
            </a:pPr>
            <a:r>
              <a:rPr lang="en-US" sz="1050" b="1" dirty="0">
                <a:solidFill>
                  <a:srgbClr val="2C5F8D"/>
                </a:solidFill>
                <a:latin typeface="Meiryo" pitchFamily="34" charset="0"/>
                <a:ea typeface="Meiryo" pitchFamily="34" charset="-122"/>
                <a:cs typeface="Meiryo" pitchFamily="34" charset="-120"/>
              </a:rPr>
              <a:t>A-2 横断性</a:t>
            </a:r>
            <a:endParaRPr lang="en-US" sz="1050" dirty="0"/>
          </a:p>
        </p:txBody>
      </p:sp>
      <p:sp>
        <p:nvSpPr>
          <p:cNvPr id="14" name="Shape 12"/>
          <p:cNvSpPr/>
          <p:nvPr/>
        </p:nvSpPr>
        <p:spPr>
          <a:xfrm>
            <a:off x="566928" y="3419856"/>
            <a:ext cx="2395728" cy="658368"/>
          </a:xfrm>
          <a:prstGeom prst="roundRect">
            <a:avLst>
              <a:gd name="adj" fmla="val 6944"/>
            </a:avLst>
          </a:prstGeom>
          <a:solidFill>
            <a:srgbClr val="F4F5F7"/>
          </a:solidFill>
          <a:ln/>
        </p:spPr>
      </p:sp>
      <p:sp>
        <p:nvSpPr>
          <p:cNvPr id="15" name="Text 13"/>
          <p:cNvSpPr/>
          <p:nvPr/>
        </p:nvSpPr>
        <p:spPr>
          <a:xfrm>
            <a:off x="694944" y="3419856"/>
            <a:ext cx="2139696" cy="658368"/>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Excelがバラバラで集計不能</a:t>
            </a:r>
            <a:endParaRPr lang="en-US" sz="1050" dirty="0"/>
          </a:p>
        </p:txBody>
      </p:sp>
      <p:sp>
        <p:nvSpPr>
          <p:cNvPr id="16" name="Shape 14"/>
          <p:cNvSpPr/>
          <p:nvPr/>
        </p:nvSpPr>
        <p:spPr>
          <a:xfrm>
            <a:off x="3054096" y="3675888"/>
            <a:ext cx="164592" cy="164592"/>
          </a:xfrm>
          <a:prstGeom prst="rightArrow">
            <a:avLst/>
          </a:prstGeom>
          <a:solidFill>
            <a:srgbClr val="2C5F8D"/>
          </a:solidFill>
          <a:ln/>
        </p:spPr>
      </p:sp>
      <p:sp>
        <p:nvSpPr>
          <p:cNvPr id="17" name="Shape 15"/>
          <p:cNvSpPr/>
          <p:nvPr/>
        </p:nvSpPr>
        <p:spPr>
          <a:xfrm>
            <a:off x="3310128" y="3419856"/>
            <a:ext cx="2743200" cy="658368"/>
          </a:xfrm>
          <a:prstGeom prst="roundRect">
            <a:avLst>
              <a:gd name="adj" fmla="val 6944"/>
            </a:avLst>
          </a:prstGeom>
          <a:solidFill>
            <a:srgbClr val="2C5F8D"/>
          </a:solidFill>
          <a:ln/>
        </p:spPr>
      </p:sp>
      <p:sp>
        <p:nvSpPr>
          <p:cNvPr id="18" name="Text 16"/>
          <p:cNvSpPr/>
          <p:nvPr/>
        </p:nvSpPr>
        <p:spPr>
          <a:xfrm>
            <a:off x="3438144" y="3419856"/>
            <a:ext cx="2487168" cy="658368"/>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PMOが1画面で700件を俯瞰</a:t>
            </a:r>
            <a:endParaRPr lang="en-US" sz="1050" dirty="0"/>
          </a:p>
        </p:txBody>
      </p:sp>
      <p:sp>
        <p:nvSpPr>
          <p:cNvPr id="19" name="Text 17"/>
          <p:cNvSpPr/>
          <p:nvPr/>
        </p:nvSpPr>
        <p:spPr>
          <a:xfrm>
            <a:off x="585216" y="4206240"/>
            <a:ext cx="5486400" cy="256032"/>
          </a:xfrm>
          <a:prstGeom prst="rect">
            <a:avLst/>
          </a:prstGeom>
          <a:noFill/>
          <a:ln/>
        </p:spPr>
        <p:txBody>
          <a:bodyPr wrap="square" lIns="0" tIns="0" rIns="0" bIns="0" rtlCol="0" anchor="ctr"/>
          <a:lstStyle/>
          <a:p>
            <a:pPr indent="0" marL="0">
              <a:buNone/>
            </a:pPr>
            <a:r>
              <a:rPr lang="en-US" sz="1050" b="1" dirty="0">
                <a:solidFill>
                  <a:srgbClr val="2C5F8D"/>
                </a:solidFill>
                <a:latin typeface="Meiryo" pitchFamily="34" charset="0"/>
                <a:ea typeface="Meiryo" pitchFamily="34" charset="-122"/>
                <a:cs typeface="Meiryo" pitchFamily="34" charset="-120"/>
              </a:rPr>
              <a:t>A-3 管理手法</a:t>
            </a:r>
            <a:endParaRPr lang="en-US" sz="1050" dirty="0"/>
          </a:p>
        </p:txBody>
      </p:sp>
      <p:sp>
        <p:nvSpPr>
          <p:cNvPr id="20" name="Shape 18"/>
          <p:cNvSpPr/>
          <p:nvPr/>
        </p:nvSpPr>
        <p:spPr>
          <a:xfrm>
            <a:off x="566928" y="4480560"/>
            <a:ext cx="2395728" cy="658368"/>
          </a:xfrm>
          <a:prstGeom prst="roundRect">
            <a:avLst>
              <a:gd name="adj" fmla="val 6944"/>
            </a:avLst>
          </a:prstGeom>
          <a:solidFill>
            <a:srgbClr val="F4F5F7"/>
          </a:solidFill>
          <a:ln/>
        </p:spPr>
      </p:sp>
      <p:sp>
        <p:nvSpPr>
          <p:cNvPr id="21" name="Text 19"/>
          <p:cNvSpPr/>
          <p:nvPr/>
        </p:nvSpPr>
        <p:spPr>
          <a:xfrm>
            <a:off x="694944" y="4480560"/>
            <a:ext cx="2139696" cy="658368"/>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進捗と依存関係が追えない</a:t>
            </a:r>
            <a:endParaRPr lang="en-US" sz="1050" dirty="0"/>
          </a:p>
        </p:txBody>
      </p:sp>
      <p:sp>
        <p:nvSpPr>
          <p:cNvPr id="22" name="Shape 20"/>
          <p:cNvSpPr/>
          <p:nvPr/>
        </p:nvSpPr>
        <p:spPr>
          <a:xfrm>
            <a:off x="3054096" y="4736592"/>
            <a:ext cx="164592" cy="164592"/>
          </a:xfrm>
          <a:prstGeom prst="rightArrow">
            <a:avLst/>
          </a:prstGeom>
          <a:solidFill>
            <a:srgbClr val="2C5F8D"/>
          </a:solidFill>
          <a:ln/>
        </p:spPr>
      </p:sp>
      <p:sp>
        <p:nvSpPr>
          <p:cNvPr id="23" name="Shape 21"/>
          <p:cNvSpPr/>
          <p:nvPr/>
        </p:nvSpPr>
        <p:spPr>
          <a:xfrm>
            <a:off x="3310128" y="4480560"/>
            <a:ext cx="2743200" cy="658368"/>
          </a:xfrm>
          <a:prstGeom prst="roundRect">
            <a:avLst>
              <a:gd name="adj" fmla="val 6944"/>
            </a:avLst>
          </a:prstGeom>
          <a:solidFill>
            <a:srgbClr val="2C5F8D"/>
          </a:solidFill>
          <a:ln/>
        </p:spPr>
      </p:sp>
      <p:sp>
        <p:nvSpPr>
          <p:cNvPr id="24" name="Text 22"/>
          <p:cNvSpPr/>
          <p:nvPr/>
        </p:nvSpPr>
        <p:spPr>
          <a:xfrm>
            <a:off x="3438144" y="4480560"/>
            <a:ext cx="2487168" cy="658368"/>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遅延案件が自動で浮かび上がる</a:t>
            </a:r>
            <a:endParaRPr lang="en-US" sz="1050" dirty="0"/>
          </a:p>
        </p:txBody>
      </p:sp>
      <p:sp>
        <p:nvSpPr>
          <p:cNvPr id="25" name="Shape 23"/>
          <p:cNvSpPr/>
          <p:nvPr/>
        </p:nvSpPr>
        <p:spPr>
          <a:xfrm>
            <a:off x="6373368" y="1481328"/>
            <a:ext cx="457200" cy="457200"/>
          </a:xfrm>
          <a:prstGeom prst="ellipse">
            <a:avLst/>
          </a:prstGeom>
          <a:solidFill>
            <a:srgbClr val="1F7A6C"/>
          </a:solidFill>
          <a:ln/>
        </p:spPr>
      </p:sp>
      <p:sp>
        <p:nvSpPr>
          <p:cNvPr id="26" name="Text 24"/>
          <p:cNvSpPr/>
          <p:nvPr/>
        </p:nvSpPr>
        <p:spPr>
          <a:xfrm>
            <a:off x="6373368" y="1481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B</a:t>
            </a:r>
            <a:endParaRPr lang="en-US" sz="1500" dirty="0"/>
          </a:p>
        </p:txBody>
      </p:sp>
      <p:sp>
        <p:nvSpPr>
          <p:cNvPr id="27" name="Text 25"/>
          <p:cNvSpPr/>
          <p:nvPr/>
        </p:nvSpPr>
        <p:spPr>
          <a:xfrm>
            <a:off x="6976872" y="1463040"/>
            <a:ext cx="4754880" cy="402336"/>
          </a:xfrm>
          <a:prstGeom prst="rect">
            <a:avLst/>
          </a:prstGeom>
          <a:noFill/>
          <a:ln/>
        </p:spPr>
        <p:txBody>
          <a:bodyPr wrap="square" lIns="0" tIns="0" rIns="0" bIns="0" rtlCol="0" anchor="ctr"/>
          <a:lstStyle/>
          <a:p>
            <a:pPr indent="0" marL="0">
              <a:buNone/>
            </a:pPr>
            <a:r>
              <a:rPr lang="en-US" sz="1700" b="1" dirty="0">
                <a:solidFill>
                  <a:srgbClr val="16233F"/>
                </a:solidFill>
                <a:latin typeface="Meiryo" pitchFamily="34" charset="0"/>
                <a:ea typeface="Meiryo" pitchFamily="34" charset="-122"/>
                <a:cs typeface="Meiryo" pitchFamily="34" charset="-120"/>
              </a:rPr>
              <a:t>課題B：会議と議事録</a:t>
            </a:r>
            <a:endParaRPr lang="en-US" sz="1700" dirty="0"/>
          </a:p>
        </p:txBody>
      </p:sp>
      <p:sp>
        <p:nvSpPr>
          <p:cNvPr id="28" name="Text 26"/>
          <p:cNvSpPr/>
          <p:nvPr/>
        </p:nvSpPr>
        <p:spPr>
          <a:xfrm>
            <a:off x="6391656" y="2084832"/>
            <a:ext cx="5486400" cy="256032"/>
          </a:xfrm>
          <a:prstGeom prst="rect">
            <a:avLst/>
          </a:prstGeom>
          <a:noFill/>
          <a:ln/>
        </p:spPr>
        <p:txBody>
          <a:bodyPr wrap="square" lIns="0" tIns="0" rIns="0" bIns="0" rtlCol="0" anchor="ctr"/>
          <a:lstStyle/>
          <a:p>
            <a:pPr indent="0" marL="0">
              <a:buNone/>
            </a:pPr>
            <a:r>
              <a:rPr lang="en-US" sz="1050" b="1" dirty="0">
                <a:solidFill>
                  <a:srgbClr val="1F7A6C"/>
                </a:solidFill>
                <a:latin typeface="Meiryo" pitchFamily="34" charset="0"/>
                <a:ea typeface="Meiryo" pitchFamily="34" charset="-122"/>
                <a:cs typeface="Meiryo" pitchFamily="34" charset="-120"/>
              </a:rPr>
              <a:t>B-1 目的</a:t>
            </a:r>
            <a:endParaRPr lang="en-US" sz="1050" dirty="0"/>
          </a:p>
        </p:txBody>
      </p:sp>
      <p:sp>
        <p:nvSpPr>
          <p:cNvPr id="29" name="Shape 27"/>
          <p:cNvSpPr/>
          <p:nvPr/>
        </p:nvSpPr>
        <p:spPr>
          <a:xfrm>
            <a:off x="6373368" y="2359152"/>
            <a:ext cx="2395728" cy="658368"/>
          </a:xfrm>
          <a:prstGeom prst="roundRect">
            <a:avLst>
              <a:gd name="adj" fmla="val 6944"/>
            </a:avLst>
          </a:prstGeom>
          <a:solidFill>
            <a:srgbClr val="F4F5F7"/>
          </a:solidFill>
          <a:ln/>
        </p:spPr>
      </p:sp>
      <p:sp>
        <p:nvSpPr>
          <p:cNvPr id="30" name="Text 28"/>
          <p:cNvSpPr/>
          <p:nvPr/>
        </p:nvSpPr>
        <p:spPr>
          <a:xfrm>
            <a:off x="6501384" y="2359152"/>
            <a:ext cx="2139696" cy="658368"/>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とりあえず集まる定例が残る</a:t>
            </a:r>
            <a:endParaRPr lang="en-US" sz="1050" dirty="0"/>
          </a:p>
        </p:txBody>
      </p:sp>
      <p:sp>
        <p:nvSpPr>
          <p:cNvPr id="31" name="Shape 29"/>
          <p:cNvSpPr/>
          <p:nvPr/>
        </p:nvSpPr>
        <p:spPr>
          <a:xfrm>
            <a:off x="8860536" y="2615184"/>
            <a:ext cx="164592" cy="164592"/>
          </a:xfrm>
          <a:prstGeom prst="rightArrow">
            <a:avLst/>
          </a:prstGeom>
          <a:solidFill>
            <a:srgbClr val="1F7A6C"/>
          </a:solidFill>
          <a:ln/>
        </p:spPr>
      </p:sp>
      <p:sp>
        <p:nvSpPr>
          <p:cNvPr id="32" name="Shape 30"/>
          <p:cNvSpPr/>
          <p:nvPr/>
        </p:nvSpPr>
        <p:spPr>
          <a:xfrm>
            <a:off x="9116568" y="2359152"/>
            <a:ext cx="2743200" cy="658368"/>
          </a:xfrm>
          <a:prstGeom prst="roundRect">
            <a:avLst>
              <a:gd name="adj" fmla="val 6944"/>
            </a:avLst>
          </a:prstGeom>
          <a:solidFill>
            <a:srgbClr val="1F7A6C"/>
          </a:solidFill>
          <a:ln/>
        </p:spPr>
      </p:sp>
      <p:sp>
        <p:nvSpPr>
          <p:cNvPr id="33" name="Text 31"/>
          <p:cNvSpPr/>
          <p:nvPr/>
        </p:nvSpPr>
        <p:spPr>
          <a:xfrm>
            <a:off x="9244584" y="2359152"/>
            <a:ext cx="2487168" cy="658368"/>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アジェンダを事前に書くことが型になる</a:t>
            </a:r>
            <a:endParaRPr lang="en-US" sz="1050" dirty="0"/>
          </a:p>
        </p:txBody>
      </p:sp>
      <p:sp>
        <p:nvSpPr>
          <p:cNvPr id="34" name="Text 32"/>
          <p:cNvSpPr/>
          <p:nvPr/>
        </p:nvSpPr>
        <p:spPr>
          <a:xfrm>
            <a:off x="6391656" y="3145536"/>
            <a:ext cx="5486400" cy="256032"/>
          </a:xfrm>
          <a:prstGeom prst="rect">
            <a:avLst/>
          </a:prstGeom>
          <a:noFill/>
          <a:ln/>
        </p:spPr>
        <p:txBody>
          <a:bodyPr wrap="square" lIns="0" tIns="0" rIns="0" bIns="0" rtlCol="0" anchor="ctr"/>
          <a:lstStyle/>
          <a:p>
            <a:pPr indent="0" marL="0">
              <a:buNone/>
            </a:pPr>
            <a:r>
              <a:rPr lang="en-US" sz="1050" b="1" dirty="0">
                <a:solidFill>
                  <a:srgbClr val="1F7A6C"/>
                </a:solidFill>
                <a:latin typeface="Meiryo" pitchFamily="34" charset="0"/>
                <a:ea typeface="Meiryo" pitchFamily="34" charset="-122"/>
                <a:cs typeface="Meiryo" pitchFamily="34" charset="-120"/>
              </a:rPr>
              <a:t>B-2 決定</a:t>
            </a:r>
            <a:endParaRPr lang="en-US" sz="1050" dirty="0"/>
          </a:p>
        </p:txBody>
      </p:sp>
      <p:sp>
        <p:nvSpPr>
          <p:cNvPr id="35" name="Shape 33"/>
          <p:cNvSpPr/>
          <p:nvPr/>
        </p:nvSpPr>
        <p:spPr>
          <a:xfrm>
            <a:off x="6373368" y="3419856"/>
            <a:ext cx="2395728" cy="658368"/>
          </a:xfrm>
          <a:prstGeom prst="roundRect">
            <a:avLst>
              <a:gd name="adj" fmla="val 6944"/>
            </a:avLst>
          </a:prstGeom>
          <a:solidFill>
            <a:srgbClr val="F4F5F7"/>
          </a:solidFill>
          <a:ln/>
        </p:spPr>
      </p:sp>
      <p:sp>
        <p:nvSpPr>
          <p:cNvPr id="36" name="Text 34"/>
          <p:cNvSpPr/>
          <p:nvPr/>
        </p:nvSpPr>
        <p:spPr>
          <a:xfrm>
            <a:off x="6501384" y="3419856"/>
            <a:ext cx="2139696" cy="658368"/>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文章に埋もれて追えない</a:t>
            </a:r>
            <a:endParaRPr lang="en-US" sz="1050" dirty="0"/>
          </a:p>
        </p:txBody>
      </p:sp>
      <p:sp>
        <p:nvSpPr>
          <p:cNvPr id="37" name="Shape 35"/>
          <p:cNvSpPr/>
          <p:nvPr/>
        </p:nvSpPr>
        <p:spPr>
          <a:xfrm>
            <a:off x="8860536" y="3675888"/>
            <a:ext cx="164592" cy="164592"/>
          </a:xfrm>
          <a:prstGeom prst="rightArrow">
            <a:avLst/>
          </a:prstGeom>
          <a:solidFill>
            <a:srgbClr val="1F7A6C"/>
          </a:solidFill>
          <a:ln/>
        </p:spPr>
      </p:sp>
      <p:sp>
        <p:nvSpPr>
          <p:cNvPr id="38" name="Shape 36"/>
          <p:cNvSpPr/>
          <p:nvPr/>
        </p:nvSpPr>
        <p:spPr>
          <a:xfrm>
            <a:off x="9116568" y="3419856"/>
            <a:ext cx="2743200" cy="658368"/>
          </a:xfrm>
          <a:prstGeom prst="roundRect">
            <a:avLst>
              <a:gd name="adj" fmla="val 6944"/>
            </a:avLst>
          </a:prstGeom>
          <a:solidFill>
            <a:srgbClr val="1F7A6C"/>
          </a:solidFill>
          <a:ln/>
        </p:spPr>
      </p:sp>
      <p:sp>
        <p:nvSpPr>
          <p:cNvPr id="39" name="Text 37"/>
          <p:cNvSpPr/>
          <p:nvPr/>
        </p:nvSpPr>
        <p:spPr>
          <a:xfrm>
            <a:off x="9244584" y="3419856"/>
            <a:ext cx="2487168" cy="658368"/>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決定・担当・期日が項目として残る</a:t>
            </a:r>
            <a:endParaRPr lang="en-US" sz="1050" dirty="0"/>
          </a:p>
        </p:txBody>
      </p:sp>
      <p:sp>
        <p:nvSpPr>
          <p:cNvPr id="40" name="Text 38"/>
          <p:cNvSpPr/>
          <p:nvPr/>
        </p:nvSpPr>
        <p:spPr>
          <a:xfrm>
            <a:off x="6391656" y="4206240"/>
            <a:ext cx="5486400" cy="256032"/>
          </a:xfrm>
          <a:prstGeom prst="rect">
            <a:avLst/>
          </a:prstGeom>
          <a:noFill/>
          <a:ln/>
        </p:spPr>
        <p:txBody>
          <a:bodyPr wrap="square" lIns="0" tIns="0" rIns="0" bIns="0" rtlCol="0" anchor="ctr"/>
          <a:lstStyle/>
          <a:p>
            <a:pPr indent="0" marL="0">
              <a:buNone/>
            </a:pPr>
            <a:r>
              <a:rPr lang="en-US" sz="1050" b="1" dirty="0">
                <a:solidFill>
                  <a:srgbClr val="1F7A6C"/>
                </a:solidFill>
                <a:latin typeface="Meiryo" pitchFamily="34" charset="0"/>
                <a:ea typeface="Meiryo" pitchFamily="34" charset="-122"/>
                <a:cs typeface="Meiryo" pitchFamily="34" charset="-120"/>
              </a:rPr>
              <a:t>B-3 置き場所</a:t>
            </a:r>
            <a:endParaRPr lang="en-US" sz="1050" dirty="0"/>
          </a:p>
        </p:txBody>
      </p:sp>
      <p:sp>
        <p:nvSpPr>
          <p:cNvPr id="41" name="Shape 39"/>
          <p:cNvSpPr/>
          <p:nvPr/>
        </p:nvSpPr>
        <p:spPr>
          <a:xfrm>
            <a:off x="6373368" y="4480560"/>
            <a:ext cx="2395728" cy="658368"/>
          </a:xfrm>
          <a:prstGeom prst="roundRect">
            <a:avLst>
              <a:gd name="adj" fmla="val 6944"/>
            </a:avLst>
          </a:prstGeom>
          <a:solidFill>
            <a:srgbClr val="F4F5F7"/>
          </a:solidFill>
          <a:ln/>
        </p:spPr>
      </p:sp>
      <p:sp>
        <p:nvSpPr>
          <p:cNvPr id="42" name="Text 40"/>
          <p:cNvSpPr/>
          <p:nvPr/>
        </p:nvSpPr>
        <p:spPr>
          <a:xfrm>
            <a:off x="6501384" y="4480560"/>
            <a:ext cx="2139696" cy="658368"/>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4つのアプリに分散</a:t>
            </a:r>
            <a:endParaRPr lang="en-US" sz="1050" dirty="0"/>
          </a:p>
        </p:txBody>
      </p:sp>
      <p:sp>
        <p:nvSpPr>
          <p:cNvPr id="43" name="Shape 41"/>
          <p:cNvSpPr/>
          <p:nvPr/>
        </p:nvSpPr>
        <p:spPr>
          <a:xfrm>
            <a:off x="8860536" y="4736592"/>
            <a:ext cx="164592" cy="164592"/>
          </a:xfrm>
          <a:prstGeom prst="rightArrow">
            <a:avLst/>
          </a:prstGeom>
          <a:solidFill>
            <a:srgbClr val="1F7A6C"/>
          </a:solidFill>
          <a:ln/>
        </p:spPr>
      </p:sp>
      <p:sp>
        <p:nvSpPr>
          <p:cNvPr id="44" name="Shape 42"/>
          <p:cNvSpPr/>
          <p:nvPr/>
        </p:nvSpPr>
        <p:spPr>
          <a:xfrm>
            <a:off x="9116568" y="4480560"/>
            <a:ext cx="2743200" cy="658368"/>
          </a:xfrm>
          <a:prstGeom prst="roundRect">
            <a:avLst>
              <a:gd name="adj" fmla="val 6944"/>
            </a:avLst>
          </a:prstGeom>
          <a:solidFill>
            <a:srgbClr val="1F7A6C"/>
          </a:solidFill>
          <a:ln/>
        </p:spPr>
      </p:sp>
      <p:sp>
        <p:nvSpPr>
          <p:cNvPr id="45" name="Text 43"/>
          <p:cNvSpPr/>
          <p:nvPr/>
        </p:nvSpPr>
        <p:spPr>
          <a:xfrm>
            <a:off x="9244584" y="4480560"/>
            <a:ext cx="2487168" cy="658368"/>
          </a:xfrm>
          <a:prstGeom prst="rect">
            <a:avLst/>
          </a:prstGeom>
          <a:noFill/>
          <a:ln/>
        </p:spPr>
        <p:txBody>
          <a:bodyPr wrap="square" lIns="0" tIns="0" rIns="0" bIns="0" rtlCol="0" anchor="ctr"/>
          <a:lstStyle/>
          <a:p>
            <a:pPr indent="0" marL="0">
              <a:buNone/>
            </a:pPr>
            <a:r>
              <a:rPr lang="en-US" sz="1050" b="1" dirty="0">
                <a:solidFill>
                  <a:srgbClr val="FFFFFF"/>
                </a:solidFill>
                <a:latin typeface="Meiryo" pitchFamily="34" charset="0"/>
                <a:ea typeface="Meiryo" pitchFamily="34" charset="-122"/>
                <a:cs typeface="Meiryo" pitchFamily="34" charset="-120"/>
              </a:rPr>
              <a:t>すべてNotionの1か所に集まる</a:t>
            </a:r>
            <a:endParaRPr lang="en-US" sz="1050" dirty="0"/>
          </a:p>
        </p:txBody>
      </p:sp>
      <p:sp>
        <p:nvSpPr>
          <p:cNvPr id="46" name="Text 44"/>
          <p:cNvSpPr/>
          <p:nvPr/>
        </p:nvSpPr>
        <p:spPr>
          <a:xfrm>
            <a:off x="566928" y="5413248"/>
            <a:ext cx="11057839" cy="402336"/>
          </a:xfrm>
          <a:prstGeom prst="rect">
            <a:avLst/>
          </a:prstGeom>
          <a:noFill/>
          <a:ln/>
        </p:spPr>
        <p:txBody>
          <a:bodyPr wrap="square" lIns="0" tIns="0" rIns="0" bIns="0" rtlCol="0" anchor="ctr"/>
          <a:lstStyle/>
          <a:p>
            <a:pPr indent="0" marL="0">
              <a:buNone/>
            </a:pPr>
            <a:r>
              <a:rPr lang="en-US" sz="1400" b="1" i="1" dirty="0">
                <a:solidFill>
                  <a:srgbClr val="1F7A6C"/>
                </a:solidFill>
                <a:latin typeface="Meiryo" pitchFamily="34" charset="0"/>
                <a:ea typeface="Meiryo" pitchFamily="34" charset="-122"/>
                <a:cs typeface="Meiryo" pitchFamily="34" charset="-120"/>
              </a:rPr>
              <a:t>「アジェンダが書けない会議は、開かれなくなる」 ― 目的のない会議は自然に淘汰されます</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2つの課題が繋がる</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議事録を書くことが、そのまま案件管理になります</a:t>
            </a:r>
            <a:endParaRPr lang="en-US" sz="2700" dirty="0"/>
          </a:p>
        </p:txBody>
      </p:sp>
      <p:sp>
        <p:nvSpPr>
          <p:cNvPr id="4" name="Text 2"/>
          <p:cNvSpPr/>
          <p:nvPr/>
        </p:nvSpPr>
        <p:spPr>
          <a:xfrm>
            <a:off x="566928" y="1627632"/>
            <a:ext cx="3108960" cy="274320"/>
          </a:xfrm>
          <a:prstGeom prst="rect">
            <a:avLst/>
          </a:prstGeom>
          <a:noFill/>
          <a:ln/>
        </p:spPr>
        <p:txBody>
          <a:bodyPr wrap="square" lIns="0" tIns="0" rIns="0" bIns="0" rtlCol="0" anchor="ctr"/>
          <a:lstStyle/>
          <a:p>
            <a:pPr indent="0" marL="0">
              <a:buNone/>
            </a:pPr>
            <a:r>
              <a:rPr lang="en-US" sz="1100" b="1" dirty="0">
                <a:solidFill>
                  <a:srgbClr val="5A6472"/>
                </a:solidFill>
                <a:latin typeface="Meiryo" pitchFamily="34" charset="0"/>
                <a:ea typeface="Meiryo" pitchFamily="34" charset="-122"/>
                <a:cs typeface="Meiryo" pitchFamily="34" charset="-120"/>
              </a:rPr>
              <a:t>会議前</a:t>
            </a:r>
            <a:endParaRPr lang="en-US" sz="1100" dirty="0"/>
          </a:p>
        </p:txBody>
      </p:sp>
      <p:sp>
        <p:nvSpPr>
          <p:cNvPr id="5" name="Shape 3"/>
          <p:cNvSpPr/>
          <p:nvPr/>
        </p:nvSpPr>
        <p:spPr>
          <a:xfrm>
            <a:off x="566928" y="1938528"/>
            <a:ext cx="3108960" cy="1737360"/>
          </a:xfrm>
          <a:prstGeom prst="roundRect">
            <a:avLst>
              <a:gd name="adj" fmla="val 3158"/>
            </a:avLst>
          </a:prstGeom>
          <a:solidFill>
            <a:srgbClr val="F1F4F9"/>
          </a:solidFill>
          <a:ln/>
          <a:effectLst>
            <a:outerShdw sx="100000" sy="100000" kx="0" ky="0" algn="bl" rotWithShape="0" blurRad="127000" dist="25400" dir="5400000">
              <a:srgbClr val="8A97AC">
                <a:alpha val="22000"/>
              </a:srgbClr>
            </a:outerShdw>
          </a:effectLst>
        </p:spPr>
      </p:sp>
      <p:sp>
        <p:nvSpPr>
          <p:cNvPr id="6" name="Text 4"/>
          <p:cNvSpPr/>
          <p:nvPr/>
        </p:nvSpPr>
        <p:spPr>
          <a:xfrm>
            <a:off x="749808" y="2084832"/>
            <a:ext cx="2743200" cy="1097280"/>
          </a:xfrm>
          <a:prstGeom prst="rect">
            <a:avLst/>
          </a:prstGeom>
          <a:noFill/>
          <a:ln/>
        </p:spPr>
        <p:txBody>
          <a:bodyPr wrap="square" lIns="0" tIns="0" rIns="0" bIns="0" rtlCol="0" anchor="ctr"/>
          <a:lstStyle/>
          <a:p>
            <a:pPr algn="ctr" indent="0" marL="0">
              <a:lnSpc>
                <a:spcPts val="2400"/>
              </a:lnSpc>
              <a:buNone/>
            </a:pPr>
            <a:r>
              <a:rPr lang="en-US" sz="1500" b="1" dirty="0">
                <a:solidFill>
                  <a:srgbClr val="16233F"/>
                </a:solidFill>
                <a:latin typeface="Meiryo" pitchFamily="34" charset="0"/>
                <a:ea typeface="Meiryo" pitchFamily="34" charset="-122"/>
                <a:cs typeface="Meiryo" pitchFamily="34" charset="-120"/>
              </a:rPr>
              <a:t>アジェンダを</a:t>
            </a:r>
            <a:endParaRPr lang="en-US" sz="1500" dirty="0"/>
          </a:p>
          <a:p>
            <a:pPr algn="ctr" indent="0" marL="0">
              <a:lnSpc>
                <a:spcPts val="2400"/>
              </a:lnSpc>
              <a:buNone/>
            </a:pPr>
            <a:r>
              <a:rPr lang="en-US" sz="1500" b="1" dirty="0">
                <a:solidFill>
                  <a:srgbClr val="16233F"/>
                </a:solidFill>
                <a:latin typeface="Meiryo" pitchFamily="34" charset="0"/>
                <a:ea typeface="Meiryo" pitchFamily="34" charset="-122"/>
                <a:cs typeface="Meiryo" pitchFamily="34" charset="-120"/>
              </a:rPr>
              <a:t>事前に作る</a:t>
            </a:r>
            <a:endParaRPr lang="en-US" sz="1500" dirty="0"/>
          </a:p>
        </p:txBody>
      </p:sp>
      <p:sp>
        <p:nvSpPr>
          <p:cNvPr id="7" name="Text 5"/>
          <p:cNvSpPr/>
          <p:nvPr/>
        </p:nvSpPr>
        <p:spPr>
          <a:xfrm>
            <a:off x="749808" y="3255264"/>
            <a:ext cx="2743200" cy="274320"/>
          </a:xfrm>
          <a:prstGeom prst="rect">
            <a:avLst/>
          </a:prstGeom>
          <a:noFill/>
          <a:ln/>
        </p:spPr>
        <p:txBody>
          <a:bodyPr wrap="square" lIns="0" tIns="0" rIns="0" bIns="0" rtlCol="0" anchor="ctr"/>
          <a:lstStyle/>
          <a:p>
            <a:pPr algn="ctr" indent="0" marL="0">
              <a:buNone/>
            </a:pPr>
            <a:r>
              <a:rPr lang="en-US" sz="1050" b="1" dirty="0">
                <a:solidFill>
                  <a:srgbClr val="1F7A6C"/>
                </a:solidFill>
                <a:latin typeface="Meiryo" pitchFamily="34" charset="0"/>
                <a:ea typeface="Meiryo" pitchFamily="34" charset="-122"/>
                <a:cs typeface="Meiryo" pitchFamily="34" charset="-120"/>
              </a:rPr>
              <a:t>課題B の解決</a:t>
            </a:r>
            <a:endParaRPr lang="en-US" sz="1050" dirty="0"/>
          </a:p>
        </p:txBody>
      </p:sp>
      <p:sp>
        <p:nvSpPr>
          <p:cNvPr id="8" name="Text 6"/>
          <p:cNvSpPr/>
          <p:nvPr/>
        </p:nvSpPr>
        <p:spPr>
          <a:xfrm>
            <a:off x="4224528" y="1627632"/>
            <a:ext cx="3108960" cy="274320"/>
          </a:xfrm>
          <a:prstGeom prst="rect">
            <a:avLst/>
          </a:prstGeom>
          <a:noFill/>
          <a:ln/>
        </p:spPr>
        <p:txBody>
          <a:bodyPr wrap="square" lIns="0" tIns="0" rIns="0" bIns="0" rtlCol="0" anchor="ctr"/>
          <a:lstStyle/>
          <a:p>
            <a:pPr indent="0" marL="0">
              <a:buNone/>
            </a:pPr>
            <a:r>
              <a:rPr lang="en-US" sz="1100" b="1" dirty="0">
                <a:solidFill>
                  <a:srgbClr val="5A6472"/>
                </a:solidFill>
                <a:latin typeface="Meiryo" pitchFamily="34" charset="0"/>
                <a:ea typeface="Meiryo" pitchFamily="34" charset="-122"/>
                <a:cs typeface="Meiryo" pitchFamily="34" charset="-120"/>
              </a:rPr>
              <a:t>会議中・会議後</a:t>
            </a:r>
            <a:endParaRPr lang="en-US" sz="1100" dirty="0"/>
          </a:p>
        </p:txBody>
      </p:sp>
      <p:sp>
        <p:nvSpPr>
          <p:cNvPr id="9" name="Shape 7"/>
          <p:cNvSpPr/>
          <p:nvPr/>
        </p:nvSpPr>
        <p:spPr>
          <a:xfrm>
            <a:off x="4224528" y="1938528"/>
            <a:ext cx="3108960" cy="1737360"/>
          </a:xfrm>
          <a:prstGeom prst="roundRect">
            <a:avLst>
              <a:gd name="adj" fmla="val 3158"/>
            </a:avLst>
          </a:prstGeom>
          <a:solidFill>
            <a:srgbClr val="F1F4F9"/>
          </a:solidFill>
          <a:ln/>
          <a:effectLst>
            <a:outerShdw sx="100000" sy="100000" kx="0" ky="0" algn="bl" rotWithShape="0" blurRad="127000" dist="25400" dir="5400000">
              <a:srgbClr val="8A97AC">
                <a:alpha val="22000"/>
              </a:srgbClr>
            </a:outerShdw>
          </a:effectLst>
        </p:spPr>
      </p:sp>
      <p:sp>
        <p:nvSpPr>
          <p:cNvPr id="10" name="Text 8"/>
          <p:cNvSpPr/>
          <p:nvPr/>
        </p:nvSpPr>
        <p:spPr>
          <a:xfrm>
            <a:off x="4407408" y="2084832"/>
            <a:ext cx="2743200" cy="1097280"/>
          </a:xfrm>
          <a:prstGeom prst="rect">
            <a:avLst/>
          </a:prstGeom>
          <a:noFill/>
          <a:ln/>
        </p:spPr>
        <p:txBody>
          <a:bodyPr wrap="square" lIns="0" tIns="0" rIns="0" bIns="0" rtlCol="0" anchor="ctr"/>
          <a:lstStyle/>
          <a:p>
            <a:pPr algn="ctr" indent="0" marL="0">
              <a:lnSpc>
                <a:spcPts val="2400"/>
              </a:lnSpc>
              <a:buNone/>
            </a:pPr>
            <a:r>
              <a:rPr lang="en-US" sz="1500" b="1" dirty="0">
                <a:solidFill>
                  <a:srgbClr val="16233F"/>
                </a:solidFill>
                <a:latin typeface="Meiryo" pitchFamily="34" charset="0"/>
                <a:ea typeface="Meiryo" pitchFamily="34" charset="-122"/>
                <a:cs typeface="Meiryo" pitchFamily="34" charset="-120"/>
              </a:rPr>
              <a:t>議事録を書き</a:t>
            </a:r>
            <a:endParaRPr lang="en-US" sz="1500" dirty="0"/>
          </a:p>
          <a:p>
            <a:pPr algn="ctr" indent="0" marL="0">
              <a:lnSpc>
                <a:spcPts val="2400"/>
              </a:lnSpc>
              <a:buNone/>
            </a:pPr>
            <a:r>
              <a:rPr lang="en-US" sz="1500" b="1" dirty="0">
                <a:solidFill>
                  <a:srgbClr val="16233F"/>
                </a:solidFill>
                <a:latin typeface="Meiryo" pitchFamily="34" charset="0"/>
                <a:ea typeface="Meiryo" pitchFamily="34" charset="-122"/>
                <a:cs typeface="Meiryo" pitchFamily="34" charset="-120"/>
              </a:rPr>
              <a:t>決定事項・ToDoを</a:t>
            </a:r>
            <a:endParaRPr lang="en-US" sz="1500" dirty="0"/>
          </a:p>
          <a:p>
            <a:pPr algn="ctr" indent="0" marL="0">
              <a:lnSpc>
                <a:spcPts val="2400"/>
              </a:lnSpc>
              <a:buNone/>
            </a:pPr>
            <a:r>
              <a:rPr lang="en-US" sz="1500" b="1" dirty="0">
                <a:solidFill>
                  <a:srgbClr val="16233F"/>
                </a:solidFill>
                <a:latin typeface="Meiryo" pitchFamily="34" charset="0"/>
                <a:ea typeface="Meiryo" pitchFamily="34" charset="-122"/>
                <a:cs typeface="Meiryo" pitchFamily="34" charset="-120"/>
              </a:rPr>
              <a:t>項目として登録</a:t>
            </a:r>
            <a:endParaRPr lang="en-US" sz="1500" dirty="0"/>
          </a:p>
        </p:txBody>
      </p:sp>
      <p:sp>
        <p:nvSpPr>
          <p:cNvPr id="11" name="Text 9"/>
          <p:cNvSpPr/>
          <p:nvPr/>
        </p:nvSpPr>
        <p:spPr>
          <a:xfrm>
            <a:off x="4407408" y="3255264"/>
            <a:ext cx="2743200" cy="274320"/>
          </a:xfrm>
          <a:prstGeom prst="rect">
            <a:avLst/>
          </a:prstGeom>
          <a:noFill/>
          <a:ln/>
        </p:spPr>
        <p:txBody>
          <a:bodyPr wrap="square" lIns="0" tIns="0" rIns="0" bIns="0" rtlCol="0" anchor="ctr"/>
          <a:lstStyle/>
          <a:p>
            <a:pPr algn="ctr" indent="0" marL="0">
              <a:buNone/>
            </a:pPr>
            <a:r>
              <a:rPr lang="en-US" sz="1050" b="1" dirty="0">
                <a:solidFill>
                  <a:srgbClr val="1F7A6C"/>
                </a:solidFill>
                <a:latin typeface="Meiryo" pitchFamily="34" charset="0"/>
                <a:ea typeface="Meiryo" pitchFamily="34" charset="-122"/>
                <a:cs typeface="Meiryo" pitchFamily="34" charset="-120"/>
              </a:rPr>
              <a:t>課題B の解決</a:t>
            </a:r>
            <a:endParaRPr lang="en-US" sz="1050" dirty="0"/>
          </a:p>
        </p:txBody>
      </p:sp>
      <p:sp>
        <p:nvSpPr>
          <p:cNvPr id="12" name="Shape 10"/>
          <p:cNvSpPr/>
          <p:nvPr/>
        </p:nvSpPr>
        <p:spPr>
          <a:xfrm>
            <a:off x="3785616" y="2670048"/>
            <a:ext cx="329184" cy="274320"/>
          </a:xfrm>
          <a:prstGeom prst="rightArrow">
            <a:avLst/>
          </a:prstGeom>
          <a:solidFill>
            <a:srgbClr val="D5DCE6"/>
          </a:solidFill>
          <a:ln/>
        </p:spPr>
      </p:sp>
      <p:sp>
        <p:nvSpPr>
          <p:cNvPr id="13" name="Shape 11"/>
          <p:cNvSpPr/>
          <p:nvPr/>
        </p:nvSpPr>
        <p:spPr>
          <a:xfrm>
            <a:off x="7443216" y="2670048"/>
            <a:ext cx="329184" cy="274320"/>
          </a:xfrm>
          <a:prstGeom prst="rightArrow">
            <a:avLst/>
          </a:prstGeom>
          <a:solidFill>
            <a:srgbClr val="D5DCE6"/>
          </a:solidFill>
          <a:ln/>
        </p:spPr>
      </p:sp>
      <p:sp>
        <p:nvSpPr>
          <p:cNvPr id="14" name="Text 12"/>
          <p:cNvSpPr/>
          <p:nvPr/>
        </p:nvSpPr>
        <p:spPr>
          <a:xfrm>
            <a:off x="7882128" y="1627632"/>
            <a:ext cx="3749040" cy="274320"/>
          </a:xfrm>
          <a:prstGeom prst="rect">
            <a:avLst/>
          </a:prstGeom>
          <a:noFill/>
          <a:ln/>
        </p:spPr>
        <p:txBody>
          <a:bodyPr wrap="square" lIns="0" tIns="0" rIns="0" bIns="0" rtlCol="0" anchor="ctr"/>
          <a:lstStyle/>
          <a:p>
            <a:pPr indent="0" marL="0">
              <a:buNone/>
            </a:pPr>
            <a:r>
              <a:rPr lang="en-US" sz="1100" b="1" dirty="0">
                <a:solidFill>
                  <a:srgbClr val="5A6472"/>
                </a:solidFill>
                <a:latin typeface="Meiryo" pitchFamily="34" charset="0"/>
                <a:ea typeface="Meiryo" pitchFamily="34" charset="-122"/>
                <a:cs typeface="Meiryo" pitchFamily="34" charset="-120"/>
              </a:rPr>
              <a:t>自動的に現れる場所</a:t>
            </a:r>
            <a:endParaRPr lang="en-US" sz="1100" dirty="0"/>
          </a:p>
        </p:txBody>
      </p:sp>
      <p:sp>
        <p:nvSpPr>
          <p:cNvPr id="15" name="Shape 13"/>
          <p:cNvSpPr/>
          <p:nvPr/>
        </p:nvSpPr>
        <p:spPr>
          <a:xfrm>
            <a:off x="7882128" y="1938528"/>
            <a:ext cx="3749040" cy="512064"/>
          </a:xfrm>
          <a:prstGeom prst="roundRect">
            <a:avLst>
              <a:gd name="adj" fmla="val 8929"/>
            </a:avLst>
          </a:prstGeom>
          <a:solidFill>
            <a:srgbClr val="2C5F8D"/>
          </a:solidFill>
          <a:ln/>
        </p:spPr>
      </p:sp>
      <p:sp>
        <p:nvSpPr>
          <p:cNvPr id="16" name="Text 14"/>
          <p:cNvSpPr/>
          <p:nvPr/>
        </p:nvSpPr>
        <p:spPr>
          <a:xfrm>
            <a:off x="8065008" y="1938528"/>
            <a:ext cx="3383280" cy="512064"/>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① 案件ページ</a:t>
            </a:r>
            <a:endParaRPr lang="en-US" sz="1250" dirty="0"/>
          </a:p>
        </p:txBody>
      </p:sp>
      <p:sp>
        <p:nvSpPr>
          <p:cNvPr id="17" name="Shape 15"/>
          <p:cNvSpPr/>
          <p:nvPr/>
        </p:nvSpPr>
        <p:spPr>
          <a:xfrm>
            <a:off x="7882128" y="2551176"/>
            <a:ext cx="3749040" cy="512064"/>
          </a:xfrm>
          <a:prstGeom prst="roundRect">
            <a:avLst>
              <a:gd name="adj" fmla="val 8929"/>
            </a:avLst>
          </a:prstGeom>
          <a:solidFill>
            <a:srgbClr val="2C5F8D"/>
          </a:solidFill>
          <a:ln/>
        </p:spPr>
      </p:sp>
      <p:sp>
        <p:nvSpPr>
          <p:cNvPr id="18" name="Text 16"/>
          <p:cNvSpPr/>
          <p:nvPr/>
        </p:nvSpPr>
        <p:spPr>
          <a:xfrm>
            <a:off x="8065008" y="2551176"/>
            <a:ext cx="3383280" cy="512064"/>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② 担当者のToDo一覧</a:t>
            </a:r>
            <a:endParaRPr lang="en-US" sz="1250" dirty="0"/>
          </a:p>
        </p:txBody>
      </p:sp>
      <p:sp>
        <p:nvSpPr>
          <p:cNvPr id="19" name="Shape 17"/>
          <p:cNvSpPr/>
          <p:nvPr/>
        </p:nvSpPr>
        <p:spPr>
          <a:xfrm>
            <a:off x="7882128" y="3163824"/>
            <a:ext cx="3749040" cy="512064"/>
          </a:xfrm>
          <a:prstGeom prst="roundRect">
            <a:avLst>
              <a:gd name="adj" fmla="val 8929"/>
            </a:avLst>
          </a:prstGeom>
          <a:solidFill>
            <a:srgbClr val="2C5F8D"/>
          </a:solidFill>
          <a:ln/>
        </p:spPr>
      </p:sp>
      <p:sp>
        <p:nvSpPr>
          <p:cNvPr id="20" name="Text 18"/>
          <p:cNvSpPr/>
          <p:nvPr/>
        </p:nvSpPr>
        <p:spPr>
          <a:xfrm>
            <a:off x="8065008" y="3163824"/>
            <a:ext cx="3383280" cy="512064"/>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③ PMOの全案件ビュー</a:t>
            </a:r>
            <a:endParaRPr lang="en-US" sz="1250" dirty="0"/>
          </a:p>
        </p:txBody>
      </p:sp>
      <p:sp>
        <p:nvSpPr>
          <p:cNvPr id="21" name="Text 19"/>
          <p:cNvSpPr/>
          <p:nvPr/>
        </p:nvSpPr>
        <p:spPr>
          <a:xfrm>
            <a:off x="7882128" y="3785616"/>
            <a:ext cx="3749040" cy="274320"/>
          </a:xfrm>
          <a:prstGeom prst="rect">
            <a:avLst/>
          </a:prstGeom>
          <a:noFill/>
          <a:ln/>
        </p:spPr>
        <p:txBody>
          <a:bodyPr wrap="square" lIns="0" tIns="0" rIns="0" bIns="0" rtlCol="0" anchor="ctr"/>
          <a:lstStyle/>
          <a:p>
            <a:pPr algn="ctr" indent="0" marL="0">
              <a:buNone/>
            </a:pPr>
            <a:r>
              <a:rPr lang="en-US" sz="1050" b="1" dirty="0">
                <a:solidFill>
                  <a:srgbClr val="2C5F8D"/>
                </a:solidFill>
                <a:latin typeface="Meiryo" pitchFamily="34" charset="0"/>
                <a:ea typeface="Meiryo" pitchFamily="34" charset="-122"/>
                <a:cs typeface="Meiryo" pitchFamily="34" charset="-120"/>
              </a:rPr>
              <a:t>課題A の解決</a:t>
            </a:r>
            <a:endParaRPr lang="en-US" sz="1050" dirty="0"/>
          </a:p>
        </p:txBody>
      </p:sp>
      <p:sp>
        <p:nvSpPr>
          <p:cNvPr id="22" name="Shape 20"/>
          <p:cNvSpPr/>
          <p:nvPr/>
        </p:nvSpPr>
        <p:spPr>
          <a:xfrm>
            <a:off x="566928" y="4498848"/>
            <a:ext cx="11057839" cy="1463040"/>
          </a:xfrm>
          <a:prstGeom prst="roundRect">
            <a:avLst>
              <a:gd name="adj" fmla="val 3750"/>
            </a:avLst>
          </a:prstGeom>
          <a:solidFill>
            <a:srgbClr val="16233F"/>
          </a:solidFill>
          <a:ln/>
          <a:effectLst>
            <a:outerShdw sx="100000" sy="100000" kx="0" ky="0" algn="bl" rotWithShape="0" blurRad="127000" dist="25400" dir="5400000">
              <a:srgbClr val="8A97AC">
                <a:alpha val="22000"/>
              </a:srgbClr>
            </a:outerShdw>
          </a:effectLst>
        </p:spPr>
      </p:sp>
      <p:sp>
        <p:nvSpPr>
          <p:cNvPr id="23" name="Text 21"/>
          <p:cNvSpPr/>
          <p:nvPr/>
        </p:nvSpPr>
        <p:spPr>
          <a:xfrm>
            <a:off x="1024128" y="4498848"/>
            <a:ext cx="10143439" cy="146304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会議で決まったToDoは、転記せずにそのまま案件のタスクになります。二重入力は発生しません。</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10058400" y="4023360"/>
            <a:ext cx="3291840" cy="3291840"/>
          </a:xfrm>
          <a:prstGeom prst="ellipse">
            <a:avLst/>
          </a:prstGeom>
          <a:solidFill>
            <a:srgbClr val="1F7A6C">
              <a:alpha val="32000"/>
            </a:srgbClr>
          </a:solidFill>
          <a:ln/>
        </p:spPr>
      </p:sp>
      <p:sp>
        <p:nvSpPr>
          <p:cNvPr id="3" name="Shape 1"/>
          <p:cNvSpPr/>
          <p:nvPr/>
        </p:nvSpPr>
        <p:spPr>
          <a:xfrm>
            <a:off x="566928" y="2432304"/>
            <a:ext cx="896112" cy="896112"/>
          </a:xfrm>
          <a:prstGeom prst="ellipse">
            <a:avLst/>
          </a:prstGeom>
          <a:solidFill>
            <a:srgbClr val="1F7A6C"/>
          </a:solidFill>
          <a:ln/>
        </p:spPr>
      </p:sp>
      <p:sp>
        <p:nvSpPr>
          <p:cNvPr id="4" name="Text 2"/>
          <p:cNvSpPr/>
          <p:nvPr/>
        </p:nvSpPr>
        <p:spPr>
          <a:xfrm>
            <a:off x="566928" y="2432304"/>
            <a:ext cx="896112" cy="896112"/>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2</a:t>
            </a:r>
            <a:endParaRPr lang="en-US" sz="3000" dirty="0"/>
          </a:p>
        </p:txBody>
      </p:sp>
      <p:sp>
        <p:nvSpPr>
          <p:cNvPr id="5" name="Text 3"/>
          <p:cNvSpPr/>
          <p:nvPr/>
        </p:nvSpPr>
        <p:spPr>
          <a:xfrm>
            <a:off x="1792224" y="2395728"/>
            <a:ext cx="8412480" cy="658368"/>
          </a:xfrm>
          <a:prstGeom prst="rect">
            <a:avLst/>
          </a:prstGeom>
          <a:noFill/>
          <a:ln/>
        </p:spPr>
        <p:txBody>
          <a:bodyPr wrap="square" lIns="0" tIns="0" rIns="0" bIns="0" rtlCol="0" anchor="ctr"/>
          <a:lstStyle/>
          <a:p>
            <a:pPr indent="0" marL="0">
              <a:buNone/>
            </a:pPr>
            <a:r>
              <a:rPr lang="en-US" sz="3300" b="1" dirty="0">
                <a:solidFill>
                  <a:srgbClr val="FFFFFF"/>
                </a:solidFill>
                <a:latin typeface="Meiryo" pitchFamily="34" charset="0"/>
                <a:ea typeface="Meiryo" pitchFamily="34" charset="-122"/>
                <a:cs typeface="Meiryo" pitchFamily="34" charset="-120"/>
              </a:rPr>
              <a:t>なぜNotionなのか</a:t>
            </a:r>
            <a:endParaRPr lang="en-US" sz="3300" dirty="0"/>
          </a:p>
        </p:txBody>
      </p:sp>
      <p:sp>
        <p:nvSpPr>
          <p:cNvPr id="6" name="Text 4"/>
          <p:cNvSpPr/>
          <p:nvPr/>
        </p:nvSpPr>
        <p:spPr>
          <a:xfrm>
            <a:off x="1792224" y="3127248"/>
            <a:ext cx="8412480" cy="365760"/>
          </a:xfrm>
          <a:prstGeom prst="rect">
            <a:avLst/>
          </a:prstGeom>
          <a:noFill/>
          <a:ln/>
        </p:spPr>
        <p:txBody>
          <a:bodyPr wrap="square" lIns="0" tIns="0" rIns="0" bIns="0" rtlCol="0" anchor="ctr"/>
          <a:lstStyle/>
          <a:p>
            <a:pPr indent="0" marL="0">
              <a:buNone/>
            </a:pPr>
            <a:r>
              <a:rPr lang="en-US" sz="1400" dirty="0">
                <a:solidFill>
                  <a:srgbClr val="9FB0CC"/>
                </a:solidFill>
                <a:latin typeface="Meiryo" pitchFamily="34" charset="0"/>
                <a:ea typeface="Meiryo" pitchFamily="34" charset="-122"/>
                <a:cs typeface="Meiryo" pitchFamily="34" charset="-120"/>
              </a:rPr>
              <a:t>既存ツールで代替できない理由</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検討の経緯</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一部はMicrosoft 365で対応します。残りが本日のご相談です</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11057839" cy="914400"/>
        </p:xfrm>
        <a:graphic>
          <a:graphicData uri="http://schemas.openxmlformats.org/drawingml/2006/table">
            <a:tbl>
              <a:tblPr/>
              <a:tblGrid>
                <a:gridCol w="3200400"/>
                <a:gridCol w="3566160"/>
                <a:gridCol w="4306824"/>
              </a:tblGrid>
              <a:tr h="457200">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やりたいこと</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Microsoft 365 での解</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判断</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チャットの可視化</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Teamsのパブリックチーム／チャネル</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b="1" dirty="0">
                          <a:solidFill>
                            <a:srgbClr val="2E7D5B"/>
                          </a:solidFill>
                          <a:latin typeface="Meiryo" pitchFamily="34" charset="0"/>
                          <a:ea typeface="Meiryo" pitchFamily="34" charset="-122"/>
                          <a:cs typeface="Meiryo" pitchFamily="34" charset="-120"/>
                        </a:rPr>
                        <a:t>Notionは不要。この方針で実施します</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タスク・WBS・ガント（課題A）</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Planner（上位機能は追加ライセンス）</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案件情報・議事録と別の場所に持つことになる</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ストック情報・議事録（課題B）</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Loop / SharePoint / OneNote</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文書であってデータではない。集計・横断が困難</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案件の一覧・台帳（課題A）</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Lists</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議事録・ドキュメントと連動しない</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334256"/>
            <a:ext cx="11057839" cy="1133856"/>
          </a:xfrm>
          <a:prstGeom prst="roundRect">
            <a:avLst>
              <a:gd name="adj" fmla="val 4839"/>
            </a:avLst>
          </a:prstGeom>
          <a:solidFill>
            <a:srgbClr val="F7E9E7"/>
          </a:solidFill>
          <a:ln/>
          <a:effectLst>
            <a:outerShdw sx="100000" sy="100000" kx="0" ky="0" algn="bl" rotWithShape="0" blurRad="127000" dist="25400" dir="5400000">
              <a:srgbClr val="8A97AC">
                <a:alpha val="22000"/>
              </a:srgbClr>
            </a:outerShdw>
          </a:effectLst>
        </p:spPr>
      </p:sp>
      <p:sp>
        <p:nvSpPr>
          <p:cNvPr id="6" name="Text 3"/>
          <p:cNvSpPr/>
          <p:nvPr/>
        </p:nvSpPr>
        <p:spPr>
          <a:xfrm>
            <a:off x="969264" y="4443984"/>
            <a:ext cx="10253167" cy="365760"/>
          </a:xfrm>
          <a:prstGeom prst="rect">
            <a:avLst/>
          </a:prstGeom>
          <a:noFill/>
          <a:ln/>
        </p:spPr>
        <p:txBody>
          <a:bodyPr wrap="square" lIns="0" tIns="0" rIns="0" bIns="0" rtlCol="0" anchor="ctr"/>
          <a:lstStyle/>
          <a:p>
            <a:pPr indent="0" marL="0">
              <a:buNone/>
            </a:pPr>
            <a:r>
              <a:rPr lang="en-US" sz="1400" b="1" dirty="0">
                <a:solidFill>
                  <a:srgbClr val="B3423A"/>
                </a:solidFill>
                <a:latin typeface="Meiryo" pitchFamily="34" charset="0"/>
                <a:ea typeface="Meiryo" pitchFamily="34" charset="-122"/>
                <a:cs typeface="Meiryo" pitchFamily="34" charset="-120"/>
              </a:rPr>
              <a:t>すべてを満たそうとすると Planner ＋ Lists ＋ Loop ＋ SharePoint の併用になります。</a:t>
            </a:r>
            <a:endParaRPr lang="en-US" sz="1400" dirty="0"/>
          </a:p>
        </p:txBody>
      </p:sp>
      <p:sp>
        <p:nvSpPr>
          <p:cNvPr id="7" name="Text 4"/>
          <p:cNvSpPr/>
          <p:nvPr/>
        </p:nvSpPr>
        <p:spPr>
          <a:xfrm>
            <a:off x="969264" y="4828032"/>
            <a:ext cx="10253167" cy="512064"/>
          </a:xfrm>
          <a:prstGeom prst="rect">
            <a:avLst/>
          </a:prstGeom>
          <a:noFill/>
          <a:ln/>
        </p:spPr>
        <p:txBody>
          <a:bodyPr wrap="square" lIns="0" tIns="0" rIns="0" bIns="0" rtlCol="0" anchor="ctr"/>
          <a:lstStyle/>
          <a:p>
            <a:pPr indent="0" marL="0">
              <a:lnSpc>
                <a:spcPts val="1800"/>
              </a:lnSpc>
              <a:buNone/>
            </a:pPr>
            <a:r>
              <a:rPr lang="en-US" sz="1200" dirty="0">
                <a:solidFill>
                  <a:srgbClr val="7A3A34"/>
                </a:solidFill>
                <a:latin typeface="Meiryo" pitchFamily="34" charset="0"/>
                <a:ea typeface="Meiryo" pitchFamily="34" charset="-122"/>
                <a:cs typeface="Meiryo" pitchFamily="34" charset="-120"/>
              </a:rPr>
              <a:t>同じ情報を複数箇所に入力する二重管理が生まれ、どれが最新か分からなくなる。いま解決したい「分散」を、別の形で作り直すことになります。</a:t>
            </a:r>
            <a:endParaRPr lang="en-US" sz="1200" dirty="0"/>
          </a:p>
        </p:txBody>
      </p:sp>
      <p:sp>
        <p:nvSpPr>
          <p:cNvPr id="8" name="Shape 5"/>
          <p:cNvSpPr/>
          <p:nvPr/>
        </p:nvSpPr>
        <p:spPr>
          <a:xfrm>
            <a:off x="566928" y="5632704"/>
            <a:ext cx="11057839" cy="822960"/>
          </a:xfrm>
          <a:prstGeom prst="roundRect">
            <a:avLst>
              <a:gd name="adj" fmla="val 6667"/>
            </a:avLst>
          </a:prstGeom>
          <a:solidFill>
            <a:srgbClr val="16233F"/>
          </a:solidFill>
          <a:ln/>
          <a:effectLst>
            <a:outerShdw sx="100000" sy="100000" kx="0" ky="0" algn="bl" rotWithShape="0" blurRad="127000" dist="25400" dir="5400000">
              <a:srgbClr val="8A97AC">
                <a:alpha val="22000"/>
              </a:srgbClr>
            </a:outerShdw>
          </a:effectLst>
        </p:spPr>
      </p:sp>
      <p:sp>
        <p:nvSpPr>
          <p:cNvPr id="9" name="Text 6"/>
          <p:cNvSpPr/>
          <p:nvPr/>
        </p:nvSpPr>
        <p:spPr>
          <a:xfrm>
            <a:off x="969264" y="5632704"/>
            <a:ext cx="10253167" cy="8229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Microsoft 365 ＝ 保管・伝達　／　Notion ＝ 構造化された実行管理　― M365は継続利用し、置き換えません</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選定理由</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違いは一点。議事録が「文書」ではなく「データ」であること</a:t>
            </a:r>
            <a:endParaRPr lang="en-US" sz="2700" dirty="0"/>
          </a:p>
        </p:txBody>
      </p:sp>
      <p:sp>
        <p:nvSpPr>
          <p:cNvPr id="4" name="Shape 2"/>
          <p:cNvSpPr/>
          <p:nvPr/>
        </p:nvSpPr>
        <p:spPr>
          <a:xfrm>
            <a:off x="566928" y="1554480"/>
            <a:ext cx="5486400" cy="3529584"/>
          </a:xfrm>
          <a:prstGeom prst="roundRect">
            <a:avLst>
              <a:gd name="adj" fmla="val 1554"/>
            </a:avLst>
          </a:prstGeom>
          <a:solidFill>
            <a:srgbClr val="F4F5F7"/>
          </a:solidFill>
          <a:ln/>
          <a:effectLst>
            <a:outerShdw sx="100000" sy="100000" kx="0" ky="0" algn="bl" rotWithShape="0" blurRad="127000" dist="25400" dir="5400000">
              <a:srgbClr val="8A97AC">
                <a:alpha val="22000"/>
              </a:srgbClr>
            </a:outerShdw>
          </a:effectLst>
        </p:spPr>
      </p:sp>
      <p:sp>
        <p:nvSpPr>
          <p:cNvPr id="5" name="Text 3"/>
          <p:cNvSpPr/>
          <p:nvPr/>
        </p:nvSpPr>
        <p:spPr>
          <a:xfrm>
            <a:off x="896112" y="1773936"/>
            <a:ext cx="4828032" cy="402336"/>
          </a:xfrm>
          <a:prstGeom prst="rect">
            <a:avLst/>
          </a:prstGeom>
          <a:noFill/>
          <a:ln/>
        </p:spPr>
        <p:txBody>
          <a:bodyPr wrap="square" lIns="0" tIns="0" rIns="0" bIns="0" rtlCol="0" anchor="ctr"/>
          <a:lstStyle/>
          <a:p>
            <a:pPr indent="0" marL="0">
              <a:buNone/>
            </a:pPr>
            <a:r>
              <a:rPr lang="en-US" sz="1900" b="1" dirty="0">
                <a:solidFill>
                  <a:srgbClr val="1A1F2B"/>
                </a:solidFill>
                <a:latin typeface="Meiryo" pitchFamily="34" charset="0"/>
                <a:ea typeface="Meiryo" pitchFamily="34" charset="-122"/>
                <a:cs typeface="Meiryo" pitchFamily="34" charset="-120"/>
              </a:rPr>
              <a:t>Word / OneNote / Loop</a:t>
            </a:r>
            <a:endParaRPr lang="en-US" sz="1900" dirty="0"/>
          </a:p>
        </p:txBody>
      </p:sp>
      <p:sp>
        <p:nvSpPr>
          <p:cNvPr id="6" name="Text 4"/>
          <p:cNvSpPr/>
          <p:nvPr/>
        </p:nvSpPr>
        <p:spPr>
          <a:xfrm>
            <a:off x="896112" y="2212848"/>
            <a:ext cx="4828032" cy="274320"/>
          </a:xfrm>
          <a:prstGeom prst="rect">
            <a:avLst/>
          </a:prstGeom>
          <a:noFill/>
          <a:ln/>
        </p:spPr>
        <p:txBody>
          <a:bodyPr wrap="square" lIns="0" tIns="0" rIns="0" bIns="0" rtlCol="0" anchor="ctr"/>
          <a:lstStyle/>
          <a:p>
            <a:pPr indent="0" marL="0">
              <a:buNone/>
            </a:pPr>
            <a:r>
              <a:rPr lang="en-US" sz="1150" b="1" dirty="0">
                <a:solidFill>
                  <a:srgbClr val="5A6472"/>
                </a:solidFill>
                <a:latin typeface="Meiryo" pitchFamily="34" charset="0"/>
                <a:ea typeface="Meiryo" pitchFamily="34" charset="-122"/>
                <a:cs typeface="Meiryo" pitchFamily="34" charset="-120"/>
              </a:rPr>
              <a:t>議事録の正体：文書</a:t>
            </a:r>
            <a:endParaRPr lang="en-US" sz="1150" dirty="0"/>
          </a:p>
        </p:txBody>
      </p:sp>
      <p:sp>
        <p:nvSpPr>
          <p:cNvPr id="7" name="Text 5"/>
          <p:cNvSpPr/>
          <p:nvPr/>
        </p:nvSpPr>
        <p:spPr>
          <a:xfrm>
            <a:off x="896112" y="2615184"/>
            <a:ext cx="4828032" cy="548640"/>
          </a:xfrm>
          <a:prstGeom prst="rect">
            <a:avLst/>
          </a:prstGeom>
          <a:noFill/>
          <a:ln/>
        </p:spPr>
        <p:txBody>
          <a:bodyPr wrap="square" lIns="0" tIns="0" rIns="0" bIns="0" rtlCol="0" anchor="ctr"/>
          <a:lstStyle/>
          <a:p>
            <a:pPr indent="0" marL="0">
              <a:lnSpc>
                <a:spcPts val="2000"/>
              </a:lnSpc>
              <a:buNone/>
            </a:pPr>
            <a:r>
              <a:rPr lang="en-US" sz="1250" dirty="0">
                <a:solidFill>
                  <a:srgbClr val="5A6472"/>
                </a:solidFill>
                <a:latin typeface="Meiryo" pitchFamily="34" charset="0"/>
                <a:ea typeface="Meiryo" pitchFamily="34" charset="-122"/>
                <a:cs typeface="Meiryo" pitchFamily="34" charset="-120"/>
              </a:rPr>
              <a:t>決定事項もToDoも、文中に埋まった「文字」でしかない。</a:t>
            </a:r>
            <a:endParaRPr lang="en-US" sz="1250" dirty="0"/>
          </a:p>
        </p:txBody>
      </p:sp>
      <p:sp>
        <p:nvSpPr>
          <p:cNvPr id="8" name="Text 6"/>
          <p:cNvSpPr/>
          <p:nvPr/>
        </p:nvSpPr>
        <p:spPr>
          <a:xfrm>
            <a:off x="896112" y="3602736"/>
            <a:ext cx="4828032" cy="1097280"/>
          </a:xfrm>
          <a:prstGeom prst="rect">
            <a:avLst/>
          </a:prstGeom>
          <a:noFill/>
          <a:ln/>
        </p:spPr>
        <p:txBody>
          <a:bodyPr wrap="square" lIns="0" tIns="0" rIns="0" bIns="0" rtlCol="0" anchor="ctr"/>
          <a:lstStyle/>
          <a:p>
            <a:pPr indent="0" marL="0">
              <a:lnSpc>
                <a:spcPts val="2600"/>
              </a:lnSpc>
              <a:buNone/>
            </a:pPr>
            <a:r>
              <a:rPr lang="en-US" sz="1500" b="1" dirty="0">
                <a:solidFill>
                  <a:srgbClr val="1A1F2B"/>
                </a:solidFill>
                <a:latin typeface="Meiryo" pitchFamily="34" charset="0"/>
                <a:ea typeface="Meiryo" pitchFamily="34" charset="-122"/>
                <a:cs typeface="Meiryo" pitchFamily="34" charset="-120"/>
              </a:rPr>
              <a:t>転記しなければ管理に使えない。</a:t>
            </a:r>
            <a:endParaRPr lang="en-US" sz="1500" dirty="0"/>
          </a:p>
          <a:p>
            <a:pPr indent="0" marL="0">
              <a:lnSpc>
                <a:spcPts val="2600"/>
              </a:lnSpc>
              <a:buNone/>
            </a:pPr>
            <a:r>
              <a:rPr lang="en-US" sz="1500" b="1" dirty="0">
                <a:solidFill>
                  <a:srgbClr val="1A1F2B"/>
                </a:solidFill>
                <a:latin typeface="Meiryo" pitchFamily="34" charset="0"/>
                <a:ea typeface="Meiryo" pitchFamily="34" charset="-122"/>
                <a:cs typeface="Meiryo" pitchFamily="34" charset="-120"/>
              </a:rPr>
              <a:t>転記されなければ、消える。</a:t>
            </a:r>
            <a:endParaRPr lang="en-US" sz="1500" dirty="0"/>
          </a:p>
        </p:txBody>
      </p:sp>
      <p:sp>
        <p:nvSpPr>
          <p:cNvPr id="9" name="Shape 7"/>
          <p:cNvSpPr/>
          <p:nvPr/>
        </p:nvSpPr>
        <p:spPr>
          <a:xfrm>
            <a:off x="6373368" y="1554480"/>
            <a:ext cx="5486400" cy="3529584"/>
          </a:xfrm>
          <a:prstGeom prst="roundRect">
            <a:avLst>
              <a:gd name="adj" fmla="val 1554"/>
            </a:avLst>
          </a:prstGeom>
          <a:solidFill>
            <a:srgbClr val="16233F"/>
          </a:solidFill>
          <a:ln/>
          <a:effectLst>
            <a:outerShdw sx="100000" sy="100000" kx="0" ky="0" algn="bl" rotWithShape="0" blurRad="127000" dist="25400" dir="5400000">
              <a:srgbClr val="8A97AC">
                <a:alpha val="22000"/>
              </a:srgbClr>
            </a:outerShdw>
          </a:effectLst>
        </p:spPr>
      </p:sp>
      <p:sp>
        <p:nvSpPr>
          <p:cNvPr id="10" name="Text 8"/>
          <p:cNvSpPr/>
          <p:nvPr/>
        </p:nvSpPr>
        <p:spPr>
          <a:xfrm>
            <a:off x="6702552" y="1773936"/>
            <a:ext cx="4828032" cy="402336"/>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Notion</a:t>
            </a:r>
            <a:endParaRPr lang="en-US" sz="1900" dirty="0"/>
          </a:p>
        </p:txBody>
      </p:sp>
      <p:sp>
        <p:nvSpPr>
          <p:cNvPr id="11" name="Text 9"/>
          <p:cNvSpPr/>
          <p:nvPr/>
        </p:nvSpPr>
        <p:spPr>
          <a:xfrm>
            <a:off x="6702552" y="2212848"/>
            <a:ext cx="4828032" cy="274320"/>
          </a:xfrm>
          <a:prstGeom prst="rect">
            <a:avLst/>
          </a:prstGeom>
          <a:noFill/>
          <a:ln/>
        </p:spPr>
        <p:txBody>
          <a:bodyPr wrap="square" lIns="0" tIns="0" rIns="0" bIns="0" rtlCol="0" anchor="ctr"/>
          <a:lstStyle/>
          <a:p>
            <a:pPr indent="0" marL="0">
              <a:buNone/>
            </a:pPr>
            <a:r>
              <a:rPr lang="en-US" sz="1150" b="1" dirty="0">
                <a:solidFill>
                  <a:srgbClr val="E8A33D"/>
                </a:solidFill>
                <a:latin typeface="Meiryo" pitchFamily="34" charset="0"/>
                <a:ea typeface="Meiryo" pitchFamily="34" charset="-122"/>
                <a:cs typeface="Meiryo" pitchFamily="34" charset="-120"/>
              </a:rPr>
              <a:t>議事録の正体：データベースのレコード</a:t>
            </a:r>
            <a:endParaRPr lang="en-US" sz="1150" dirty="0"/>
          </a:p>
        </p:txBody>
      </p:sp>
      <p:sp>
        <p:nvSpPr>
          <p:cNvPr id="12" name="Text 10"/>
          <p:cNvSpPr/>
          <p:nvPr/>
        </p:nvSpPr>
        <p:spPr>
          <a:xfrm>
            <a:off x="6702552" y="2615184"/>
            <a:ext cx="4828032" cy="548640"/>
          </a:xfrm>
          <a:prstGeom prst="rect">
            <a:avLst/>
          </a:prstGeom>
          <a:noFill/>
          <a:ln/>
        </p:spPr>
        <p:txBody>
          <a:bodyPr wrap="square" lIns="0" tIns="0" rIns="0" bIns="0" rtlCol="0" anchor="ctr"/>
          <a:lstStyle/>
          <a:p>
            <a:pPr indent="0" marL="0">
              <a:lnSpc>
                <a:spcPts val="2000"/>
              </a:lnSpc>
              <a:buNone/>
            </a:pPr>
            <a:r>
              <a:rPr lang="en-US" sz="1250" dirty="0">
                <a:solidFill>
                  <a:srgbClr val="C3CEE0"/>
                </a:solidFill>
                <a:latin typeface="Meiryo" pitchFamily="34" charset="0"/>
                <a:ea typeface="Meiryo" pitchFamily="34" charset="-122"/>
                <a:cs typeface="Meiryo" pitchFamily="34" charset="-120"/>
              </a:rPr>
              <a:t>ToDoは、案件に紐づいたタスクそのもの。</a:t>
            </a:r>
            <a:endParaRPr lang="en-US" sz="1250" dirty="0"/>
          </a:p>
        </p:txBody>
      </p:sp>
      <p:sp>
        <p:nvSpPr>
          <p:cNvPr id="13" name="Text 11"/>
          <p:cNvSpPr/>
          <p:nvPr/>
        </p:nvSpPr>
        <p:spPr>
          <a:xfrm>
            <a:off x="6702552" y="3602736"/>
            <a:ext cx="4828032" cy="1097280"/>
          </a:xfrm>
          <a:prstGeom prst="rect">
            <a:avLst/>
          </a:prstGeom>
          <a:noFill/>
          <a:ln/>
        </p:spPr>
        <p:txBody>
          <a:bodyPr wrap="square" lIns="0" tIns="0" rIns="0" bIns="0" rtlCol="0" anchor="ctr"/>
          <a:lstStyle/>
          <a:p>
            <a:pPr indent="0" marL="0">
              <a:lnSpc>
                <a:spcPts val="2600"/>
              </a:lnSpc>
              <a:buNone/>
            </a:pPr>
            <a:r>
              <a:rPr lang="en-US" sz="1500" b="1" dirty="0">
                <a:solidFill>
                  <a:srgbClr val="FFFFFF"/>
                </a:solidFill>
                <a:latin typeface="Meiryo" pitchFamily="34" charset="0"/>
                <a:ea typeface="Meiryo" pitchFamily="34" charset="-122"/>
                <a:cs typeface="Meiryo" pitchFamily="34" charset="-120"/>
              </a:rPr>
              <a:t>議事録を書いた時点で、</a:t>
            </a:r>
            <a:endParaRPr lang="en-US" sz="1500" dirty="0"/>
          </a:p>
          <a:p>
            <a:pPr indent="0" marL="0">
              <a:lnSpc>
                <a:spcPts val="2600"/>
              </a:lnSpc>
              <a:buNone/>
            </a:pPr>
            <a:r>
              <a:rPr lang="en-US" sz="1500" b="1" dirty="0">
                <a:solidFill>
                  <a:srgbClr val="FFFFFF"/>
                </a:solidFill>
                <a:latin typeface="Meiryo" pitchFamily="34" charset="0"/>
                <a:ea typeface="Meiryo" pitchFamily="34" charset="-122"/>
                <a:cs typeface="Meiryo" pitchFamily="34" charset="-120"/>
              </a:rPr>
              <a:t>管理の入力が完了している。</a:t>
            </a:r>
            <a:endParaRPr lang="en-US" sz="1500" dirty="0"/>
          </a:p>
        </p:txBody>
      </p:sp>
      <p:sp>
        <p:nvSpPr>
          <p:cNvPr id="14" name="Text 12"/>
          <p:cNvSpPr/>
          <p:nvPr/>
        </p:nvSpPr>
        <p:spPr>
          <a:xfrm>
            <a:off x="566928" y="5321808"/>
            <a:ext cx="11057839" cy="329184"/>
          </a:xfrm>
          <a:prstGeom prst="rect">
            <a:avLst/>
          </a:prstGeom>
          <a:noFill/>
          <a:ln/>
        </p:spPr>
        <p:txBody>
          <a:bodyPr wrap="square" lIns="0" tIns="0" rIns="0" bIns="0" rtlCol="0" anchor="ctr"/>
          <a:lstStyle/>
          <a:p>
            <a:pPr indent="0" marL="0">
              <a:buNone/>
            </a:pPr>
            <a:r>
              <a:rPr lang="en-US" sz="1400" b="1" dirty="0">
                <a:solidFill>
                  <a:srgbClr val="16233F"/>
                </a:solidFill>
                <a:latin typeface="Meiryo" pitchFamily="34" charset="0"/>
                <a:ea typeface="Meiryo" pitchFamily="34" charset="-122"/>
                <a:cs typeface="Meiryo" pitchFamily="34" charset="-120"/>
              </a:rPr>
              <a:t>「ドキュメントを書く機能」と「データベース機能」が同じ製品の中で繋がっていること。</a:t>
            </a:r>
            <a:endParaRPr lang="en-US" sz="1400" dirty="0"/>
          </a:p>
        </p:txBody>
      </p:sp>
      <p:sp>
        <p:nvSpPr>
          <p:cNvPr id="15" name="Text 13"/>
          <p:cNvSpPr/>
          <p:nvPr/>
        </p:nvSpPr>
        <p:spPr>
          <a:xfrm>
            <a:off x="566928" y="5687568"/>
            <a:ext cx="11057839" cy="329184"/>
          </a:xfrm>
          <a:prstGeom prst="rect">
            <a:avLst/>
          </a:prstGeom>
          <a:noFill/>
          <a:ln/>
        </p:spPr>
        <p:txBody>
          <a:bodyPr wrap="square" lIns="0" tIns="0" rIns="0" bIns="0" rtlCol="0" anchor="ctr"/>
          <a:lstStyle/>
          <a:p>
            <a:pPr indent="0" marL="0">
              <a:buNone/>
            </a:pPr>
            <a:r>
              <a:rPr lang="en-US" sz="1250" dirty="0">
                <a:solidFill>
                  <a:srgbClr val="5A6472"/>
                </a:solidFill>
                <a:latin typeface="Meiryo" pitchFamily="34" charset="0"/>
                <a:ea typeface="Meiryo" pitchFamily="34" charset="-122"/>
                <a:cs typeface="Meiryo" pitchFamily="34" charset="-120"/>
              </a:rPr>
              <a:t>案件 ⇔ 議事録 ⇔ タスクのリレーションと、立場別のビュー（営業／運営／講師管理／PMO）が、1つの実体の上に成立します。</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他ツールとの比較</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専用ツールも検討しましたが、今回の要件には合いません</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11057839" cy="914400"/>
        </p:xfrm>
        <a:graphic>
          <a:graphicData uri="http://schemas.openxmlformats.org/drawingml/2006/table">
            <a:tbl>
              <a:tblPr/>
              <a:tblGrid>
                <a:gridCol w="3017520"/>
                <a:gridCol w="2688336"/>
                <a:gridCol w="3017520"/>
                <a:gridCol w="2350008"/>
              </a:tblGrid>
              <a:tr h="457200">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評価軸</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Microsoft 365</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専用PM管理ツール</a:t>
                      </a:r>
                      <a:endParaRPr lang="en-US" sz="1150" dirty="0">
                        <a:latin typeface="Meiryo" charset="0"/>
                        <a:ea typeface="Meiryo" charset="0"/>
                        <a:cs typeface="Meiryo" charset="0"/>
                      </a:endParaRPr>
                    </a:p>
                    <a:p>
                      <a:pPr indent="0" marL="0">
                        <a:buNone/>
                      </a:pPr>
                      <a:r>
                        <a:rPr lang="en-US" sz="1150" b="1" dirty="0">
                          <a:solidFill>
                            <a:srgbClr val="FFFFFF"/>
                          </a:solidFill>
                          <a:latin typeface="Meiryo" pitchFamily="34" charset="0"/>
                          <a:ea typeface="Meiryo" pitchFamily="34" charset="-122"/>
                          <a:cs typeface="Meiryo" pitchFamily="34" charset="-120"/>
                        </a:rPr>
                        <a:t>（Asana / monday.com 等）</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150" b="1" dirty="0">
                          <a:solidFill>
                            <a:srgbClr val="FFFFFF"/>
                          </a:solidFill>
                          <a:latin typeface="Meiryo" pitchFamily="34" charset="0"/>
                          <a:ea typeface="Meiryo" pitchFamily="34" charset="-122"/>
                          <a:cs typeface="Meiryo" pitchFamily="34" charset="-120"/>
                        </a:rPr>
                        <a:t>Notion</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2C5F8D"/>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案件管理（課題A）</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Plannerで一部</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得意領域</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b="1" dirty="0">
                          <a:solidFill>
                            <a:srgbClr val="2C5F8D"/>
                          </a:solidFill>
                          <a:latin typeface="Meiryo" pitchFamily="34" charset="0"/>
                          <a:ea typeface="Meiryo" pitchFamily="34" charset="-122"/>
                          <a:cs typeface="Meiryo" pitchFamily="34" charset="-120"/>
                        </a:rPr>
                        <a:t>○　実務水準を満たす</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議事録との統合（課題B）</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別アプリになる</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ドキュメント機能が弱い</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b="1" dirty="0">
                          <a:solidFill>
                            <a:srgbClr val="2C5F8D"/>
                          </a:solidFill>
                          <a:latin typeface="Meiryo" pitchFamily="34" charset="0"/>
                          <a:ea typeface="Meiryo" pitchFamily="34" charset="-122"/>
                          <a:cs typeface="Meiryo" pitchFamily="34" charset="-120"/>
                        </a:rPr>
                        <a:t>◎　同一製品内で連結</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ナレッジ蓄積</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SharePoint</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不得意</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b="1" dirty="0">
                          <a:solidFill>
                            <a:srgbClr val="2C5F8D"/>
                          </a:solidFill>
                          <a:latin typeface="Meiryo" pitchFamily="34" charset="0"/>
                          <a:ea typeface="Meiryo" pitchFamily="34" charset="-122"/>
                          <a:cs typeface="Meiryo" pitchFamily="34" charset="-120"/>
                        </a:rPr>
                        <a:t>◎　得意領域</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全社員が使えるか</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既に全員が保有</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　管理者向けの設計が多い</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b="1" dirty="0">
                          <a:solidFill>
                            <a:srgbClr val="2C5F8D"/>
                          </a:solidFill>
                          <a:latin typeface="Meiryo" pitchFamily="34" charset="0"/>
                          <a:ea typeface="Meiryo" pitchFamily="34" charset="-122"/>
                          <a:cs typeface="Meiryo" pitchFamily="34" charset="-120"/>
                        </a:rPr>
                        <a:t>○　学習容易</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r>
              <a:tr h="457200">
                <a:tc>
                  <a:txBody>
                    <a:bodyPr/>
                    <a:lstStyle/>
                    <a:p>
                      <a:pPr indent="0" marL="0">
                        <a:buNone/>
                      </a:pPr>
                      <a:r>
                        <a:rPr lang="en-US" sz="1150" b="1" dirty="0">
                          <a:solidFill>
                            <a:srgbClr val="1A1F2B"/>
                          </a:solidFill>
                          <a:latin typeface="Meiryo" pitchFamily="34" charset="0"/>
                          <a:ea typeface="Meiryo" pitchFamily="34" charset="-122"/>
                          <a:cs typeface="Meiryo" pitchFamily="34" charset="-120"/>
                        </a:rPr>
                        <a:t>課題A・Bを1つで満たすか</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dirty="0">
                          <a:solidFill>
                            <a:srgbClr val="5A6472"/>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50" b="1" dirty="0">
                          <a:solidFill>
                            <a:srgbClr val="2C5F8D"/>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r>
            </a:tbl>
          </a:graphicData>
        </a:graphic>
      </p:graphicFrame>
      <p:sp>
        <p:nvSpPr>
          <p:cNvPr id="5" name="Shape 2"/>
          <p:cNvSpPr/>
          <p:nvPr/>
        </p:nvSpPr>
        <p:spPr>
          <a:xfrm>
            <a:off x="566928" y="4791456"/>
            <a:ext cx="11057839" cy="1371600"/>
          </a:xfrm>
          <a:prstGeom prst="roundRect">
            <a:avLst>
              <a:gd name="adj" fmla="val 4000"/>
            </a:avLst>
          </a:prstGeom>
          <a:solidFill>
            <a:srgbClr val="F1F4F9"/>
          </a:solidFill>
          <a:ln/>
          <a:effectLst>
            <a:outerShdw sx="100000" sy="100000" kx="0" ky="0" algn="bl" rotWithShape="0" blurRad="127000" dist="25400" dir="5400000">
              <a:srgbClr val="8A97AC">
                <a:alpha val="22000"/>
              </a:srgbClr>
            </a:outerShdw>
          </a:effectLst>
        </p:spPr>
      </p:sp>
      <p:sp>
        <p:nvSpPr>
          <p:cNvPr id="6" name="Text 3"/>
          <p:cNvSpPr/>
          <p:nvPr/>
        </p:nvSpPr>
        <p:spPr>
          <a:xfrm>
            <a:off x="969264" y="4937760"/>
            <a:ext cx="10253167" cy="365760"/>
          </a:xfrm>
          <a:prstGeom prst="rect">
            <a:avLst/>
          </a:prstGeom>
          <a:noFill/>
          <a:ln/>
        </p:spPr>
        <p:txBody>
          <a:bodyPr wrap="square" lIns="0" tIns="0" rIns="0" bIns="0" rtlCol="0" anchor="ctr"/>
          <a:lstStyle/>
          <a:p>
            <a:pPr indent="0" marL="0">
              <a:buNone/>
            </a:pPr>
            <a:r>
              <a:rPr lang="en-US" sz="1300" dirty="0">
                <a:solidFill>
                  <a:srgbClr val="1A1F2B"/>
                </a:solidFill>
                <a:latin typeface="Meiryo" pitchFamily="34" charset="0"/>
                <a:ea typeface="Meiryo" pitchFamily="34" charset="-122"/>
                <a:cs typeface="Meiryo" pitchFamily="34" charset="-120"/>
              </a:rPr>
              <a:t>専用PMツールは案件管理単体では優れていますが、議事録・ナレッジと分離するため課題Bが解決しません。</a:t>
            </a:r>
            <a:endParaRPr lang="en-US" sz="1300" dirty="0"/>
          </a:p>
        </p:txBody>
      </p:sp>
      <p:sp>
        <p:nvSpPr>
          <p:cNvPr id="7" name="Text 4"/>
          <p:cNvSpPr/>
          <p:nvPr/>
        </p:nvSpPr>
        <p:spPr>
          <a:xfrm>
            <a:off x="969264" y="5394960"/>
            <a:ext cx="10253167" cy="457200"/>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課題AとBを1つの基盤で解くという要件を満たすのは、Notionのみです。</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デモンストレーション</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実際の画面</a:t>
            </a:r>
            <a:endParaRPr lang="en-US" sz="2700" dirty="0"/>
          </a:p>
        </p:txBody>
      </p:sp>
      <p:sp>
        <p:nvSpPr>
          <p:cNvPr id="4" name="Shape 2"/>
          <p:cNvSpPr/>
          <p:nvPr/>
        </p:nvSpPr>
        <p:spPr>
          <a:xfrm>
            <a:off x="566928" y="1609344"/>
            <a:ext cx="2688336" cy="2286000"/>
          </a:xfrm>
          <a:prstGeom prst="roundRect">
            <a:avLst>
              <a:gd name="adj" fmla="val 2400"/>
            </a:avLst>
          </a:prstGeom>
          <a:solidFill>
            <a:srgbClr val="F1F4F9"/>
          </a:solidFill>
          <a:ln w="12700">
            <a:solidFill>
              <a:srgbClr val="D5DCE6"/>
            </a:solidFill>
            <a:prstDash val="dash"/>
          </a:ln>
        </p:spPr>
      </p:sp>
      <p:sp>
        <p:nvSpPr>
          <p:cNvPr id="5" name="Text 3"/>
          <p:cNvSpPr/>
          <p:nvPr/>
        </p:nvSpPr>
        <p:spPr>
          <a:xfrm>
            <a:off x="694944" y="1609344"/>
            <a:ext cx="2432304" cy="2286000"/>
          </a:xfrm>
          <a:prstGeom prst="rect">
            <a:avLst/>
          </a:prstGeom>
          <a:noFill/>
          <a:ln/>
        </p:spPr>
        <p:txBody>
          <a:bodyPr wrap="square" lIns="0" tIns="0" rIns="0" bIns="0" rtlCol="0" anchor="ctr"/>
          <a:lstStyle/>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スクリーンショット</a:t>
            </a:r>
            <a:endParaRPr lang="en-US" sz="1100" dirty="0"/>
          </a:p>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（差し込み）</a:t>
            </a:r>
            <a:endParaRPr lang="en-US" sz="1100" dirty="0"/>
          </a:p>
        </p:txBody>
      </p:sp>
      <p:sp>
        <p:nvSpPr>
          <p:cNvPr id="6" name="Shape 4"/>
          <p:cNvSpPr/>
          <p:nvPr/>
        </p:nvSpPr>
        <p:spPr>
          <a:xfrm>
            <a:off x="566928" y="4023360"/>
            <a:ext cx="402336" cy="402336"/>
          </a:xfrm>
          <a:prstGeom prst="ellipse">
            <a:avLst/>
          </a:prstGeom>
          <a:solidFill>
            <a:srgbClr val="16233F"/>
          </a:solidFill>
          <a:ln/>
        </p:spPr>
      </p:sp>
      <p:sp>
        <p:nvSpPr>
          <p:cNvPr id="7" name="Text 5"/>
          <p:cNvSpPr/>
          <p:nvPr/>
        </p:nvSpPr>
        <p:spPr>
          <a:xfrm>
            <a:off x="566928" y="4023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8" name="Text 6"/>
          <p:cNvSpPr/>
          <p:nvPr/>
        </p:nvSpPr>
        <p:spPr>
          <a:xfrm>
            <a:off x="1097280" y="4005072"/>
            <a:ext cx="2157984" cy="329184"/>
          </a:xfrm>
          <a:prstGeom prst="rect">
            <a:avLst/>
          </a:prstGeom>
          <a:noFill/>
          <a:ln/>
        </p:spPr>
        <p:txBody>
          <a:bodyPr wrap="square" lIns="0" tIns="0" rIns="0" bIns="0" rtlCol="0" anchor="ctr"/>
          <a:lstStyle/>
          <a:p>
            <a:pPr indent="0" marL="0">
              <a:buNone/>
            </a:pPr>
            <a:r>
              <a:rPr lang="en-US" sz="1350" b="1" dirty="0">
                <a:solidFill>
                  <a:srgbClr val="16233F"/>
                </a:solidFill>
                <a:latin typeface="Meiryo" pitchFamily="34" charset="0"/>
                <a:ea typeface="Meiryo" pitchFamily="34" charset="-122"/>
                <a:cs typeface="Meiryo" pitchFamily="34" charset="-120"/>
              </a:rPr>
              <a:t>会議ページ</a:t>
            </a:r>
            <a:endParaRPr lang="en-US" sz="1350" dirty="0"/>
          </a:p>
        </p:txBody>
      </p:sp>
      <p:sp>
        <p:nvSpPr>
          <p:cNvPr id="9" name="Text 7"/>
          <p:cNvSpPr/>
          <p:nvPr/>
        </p:nvSpPr>
        <p:spPr>
          <a:xfrm>
            <a:off x="566928" y="4498848"/>
            <a:ext cx="2688336" cy="548640"/>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アジェンダ → 議事録 → 決定事項</a:t>
            </a:r>
            <a:endParaRPr lang="en-US" sz="1100" dirty="0"/>
          </a:p>
        </p:txBody>
      </p:sp>
      <p:sp>
        <p:nvSpPr>
          <p:cNvPr id="10" name="Shape 8"/>
          <p:cNvSpPr/>
          <p:nvPr/>
        </p:nvSpPr>
        <p:spPr>
          <a:xfrm>
            <a:off x="3520440" y="1609344"/>
            <a:ext cx="2688336" cy="2286000"/>
          </a:xfrm>
          <a:prstGeom prst="roundRect">
            <a:avLst>
              <a:gd name="adj" fmla="val 2400"/>
            </a:avLst>
          </a:prstGeom>
          <a:solidFill>
            <a:srgbClr val="F1F4F9"/>
          </a:solidFill>
          <a:ln w="12700">
            <a:solidFill>
              <a:srgbClr val="D5DCE6"/>
            </a:solidFill>
            <a:prstDash val="dash"/>
          </a:ln>
        </p:spPr>
      </p:sp>
      <p:sp>
        <p:nvSpPr>
          <p:cNvPr id="11" name="Text 9"/>
          <p:cNvSpPr/>
          <p:nvPr/>
        </p:nvSpPr>
        <p:spPr>
          <a:xfrm>
            <a:off x="3648456" y="1609344"/>
            <a:ext cx="2432304" cy="2286000"/>
          </a:xfrm>
          <a:prstGeom prst="rect">
            <a:avLst/>
          </a:prstGeom>
          <a:noFill/>
          <a:ln/>
        </p:spPr>
        <p:txBody>
          <a:bodyPr wrap="square" lIns="0" tIns="0" rIns="0" bIns="0" rtlCol="0" anchor="ctr"/>
          <a:lstStyle/>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スクリーンショット</a:t>
            </a:r>
            <a:endParaRPr lang="en-US" sz="1100" dirty="0"/>
          </a:p>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（差し込み）</a:t>
            </a:r>
            <a:endParaRPr lang="en-US" sz="1100" dirty="0"/>
          </a:p>
        </p:txBody>
      </p:sp>
      <p:sp>
        <p:nvSpPr>
          <p:cNvPr id="12" name="Shape 10"/>
          <p:cNvSpPr/>
          <p:nvPr/>
        </p:nvSpPr>
        <p:spPr>
          <a:xfrm>
            <a:off x="3520440" y="4023360"/>
            <a:ext cx="402336" cy="402336"/>
          </a:xfrm>
          <a:prstGeom prst="ellipse">
            <a:avLst/>
          </a:prstGeom>
          <a:solidFill>
            <a:srgbClr val="16233F"/>
          </a:solidFill>
          <a:ln/>
        </p:spPr>
      </p:sp>
      <p:sp>
        <p:nvSpPr>
          <p:cNvPr id="13" name="Text 11"/>
          <p:cNvSpPr/>
          <p:nvPr/>
        </p:nvSpPr>
        <p:spPr>
          <a:xfrm>
            <a:off x="3520440" y="4023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4" name="Text 12"/>
          <p:cNvSpPr/>
          <p:nvPr/>
        </p:nvSpPr>
        <p:spPr>
          <a:xfrm>
            <a:off x="4050792" y="4005072"/>
            <a:ext cx="2157984" cy="329184"/>
          </a:xfrm>
          <a:prstGeom prst="rect">
            <a:avLst/>
          </a:prstGeom>
          <a:noFill/>
          <a:ln/>
        </p:spPr>
        <p:txBody>
          <a:bodyPr wrap="square" lIns="0" tIns="0" rIns="0" bIns="0" rtlCol="0" anchor="ctr"/>
          <a:lstStyle/>
          <a:p>
            <a:pPr indent="0" marL="0">
              <a:buNone/>
            </a:pPr>
            <a:r>
              <a:rPr lang="en-US" sz="1350" b="1" dirty="0">
                <a:solidFill>
                  <a:srgbClr val="16233F"/>
                </a:solidFill>
                <a:latin typeface="Meiryo" pitchFamily="34" charset="0"/>
                <a:ea typeface="Meiryo" pitchFamily="34" charset="-122"/>
                <a:cs typeface="Meiryo" pitchFamily="34" charset="-120"/>
              </a:rPr>
              <a:t>生成されたタスク</a:t>
            </a:r>
            <a:endParaRPr lang="en-US" sz="1350" dirty="0"/>
          </a:p>
        </p:txBody>
      </p:sp>
      <p:sp>
        <p:nvSpPr>
          <p:cNvPr id="15" name="Text 13"/>
          <p:cNvSpPr/>
          <p:nvPr/>
        </p:nvSpPr>
        <p:spPr>
          <a:xfrm>
            <a:off x="3520440" y="4498848"/>
            <a:ext cx="2688336" cy="548640"/>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決定事項がそのままタスクに</a:t>
            </a:r>
            <a:endParaRPr lang="en-US" sz="1100" dirty="0"/>
          </a:p>
        </p:txBody>
      </p:sp>
      <p:sp>
        <p:nvSpPr>
          <p:cNvPr id="16" name="Shape 14"/>
          <p:cNvSpPr/>
          <p:nvPr/>
        </p:nvSpPr>
        <p:spPr>
          <a:xfrm>
            <a:off x="6473952" y="1609344"/>
            <a:ext cx="2688336" cy="2286000"/>
          </a:xfrm>
          <a:prstGeom prst="roundRect">
            <a:avLst>
              <a:gd name="adj" fmla="val 2400"/>
            </a:avLst>
          </a:prstGeom>
          <a:solidFill>
            <a:srgbClr val="F1F4F9"/>
          </a:solidFill>
          <a:ln w="12700">
            <a:solidFill>
              <a:srgbClr val="D5DCE6"/>
            </a:solidFill>
            <a:prstDash val="dash"/>
          </a:ln>
        </p:spPr>
      </p:sp>
      <p:sp>
        <p:nvSpPr>
          <p:cNvPr id="17" name="Text 15"/>
          <p:cNvSpPr/>
          <p:nvPr/>
        </p:nvSpPr>
        <p:spPr>
          <a:xfrm>
            <a:off x="6601968" y="1609344"/>
            <a:ext cx="2432304" cy="2286000"/>
          </a:xfrm>
          <a:prstGeom prst="rect">
            <a:avLst/>
          </a:prstGeom>
          <a:noFill/>
          <a:ln/>
        </p:spPr>
        <p:txBody>
          <a:bodyPr wrap="square" lIns="0" tIns="0" rIns="0" bIns="0" rtlCol="0" anchor="ctr"/>
          <a:lstStyle/>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スクリーンショット</a:t>
            </a:r>
            <a:endParaRPr lang="en-US" sz="1100" dirty="0"/>
          </a:p>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（差し込み）</a:t>
            </a:r>
            <a:endParaRPr lang="en-US" sz="1100" dirty="0"/>
          </a:p>
        </p:txBody>
      </p:sp>
      <p:sp>
        <p:nvSpPr>
          <p:cNvPr id="18" name="Shape 16"/>
          <p:cNvSpPr/>
          <p:nvPr/>
        </p:nvSpPr>
        <p:spPr>
          <a:xfrm>
            <a:off x="6473952" y="4023360"/>
            <a:ext cx="402336" cy="402336"/>
          </a:xfrm>
          <a:prstGeom prst="ellipse">
            <a:avLst/>
          </a:prstGeom>
          <a:solidFill>
            <a:srgbClr val="16233F"/>
          </a:solidFill>
          <a:ln/>
        </p:spPr>
      </p:sp>
      <p:sp>
        <p:nvSpPr>
          <p:cNvPr id="19" name="Text 17"/>
          <p:cNvSpPr/>
          <p:nvPr/>
        </p:nvSpPr>
        <p:spPr>
          <a:xfrm>
            <a:off x="6473952" y="4023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20" name="Text 18"/>
          <p:cNvSpPr/>
          <p:nvPr/>
        </p:nvSpPr>
        <p:spPr>
          <a:xfrm>
            <a:off x="7004304" y="4005072"/>
            <a:ext cx="2157984" cy="329184"/>
          </a:xfrm>
          <a:prstGeom prst="rect">
            <a:avLst/>
          </a:prstGeom>
          <a:noFill/>
          <a:ln/>
        </p:spPr>
        <p:txBody>
          <a:bodyPr wrap="square" lIns="0" tIns="0" rIns="0" bIns="0" rtlCol="0" anchor="ctr"/>
          <a:lstStyle/>
          <a:p>
            <a:pPr indent="0" marL="0">
              <a:buNone/>
            </a:pPr>
            <a:r>
              <a:rPr lang="en-US" sz="1350" b="1" dirty="0">
                <a:solidFill>
                  <a:srgbClr val="16233F"/>
                </a:solidFill>
                <a:latin typeface="Meiryo" pitchFamily="34" charset="0"/>
                <a:ea typeface="Meiryo" pitchFamily="34" charset="-122"/>
                <a:cs typeface="Meiryo" pitchFamily="34" charset="-120"/>
              </a:rPr>
              <a:t>案件ページ</a:t>
            </a:r>
            <a:endParaRPr lang="en-US" sz="1350" dirty="0"/>
          </a:p>
        </p:txBody>
      </p:sp>
      <p:sp>
        <p:nvSpPr>
          <p:cNvPr id="21" name="Text 19"/>
          <p:cNvSpPr/>
          <p:nvPr/>
        </p:nvSpPr>
        <p:spPr>
          <a:xfrm>
            <a:off x="6473952" y="4498848"/>
            <a:ext cx="2688336" cy="548640"/>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タスクが案件に紐づいた状態</a:t>
            </a:r>
            <a:endParaRPr lang="en-US" sz="1100" dirty="0"/>
          </a:p>
        </p:txBody>
      </p:sp>
      <p:sp>
        <p:nvSpPr>
          <p:cNvPr id="22" name="Shape 20"/>
          <p:cNvSpPr/>
          <p:nvPr/>
        </p:nvSpPr>
        <p:spPr>
          <a:xfrm>
            <a:off x="9427464" y="1609344"/>
            <a:ext cx="2688336" cy="2286000"/>
          </a:xfrm>
          <a:prstGeom prst="roundRect">
            <a:avLst>
              <a:gd name="adj" fmla="val 2400"/>
            </a:avLst>
          </a:prstGeom>
          <a:solidFill>
            <a:srgbClr val="F1F4F9"/>
          </a:solidFill>
          <a:ln w="12700">
            <a:solidFill>
              <a:srgbClr val="D5DCE6"/>
            </a:solidFill>
            <a:prstDash val="dash"/>
          </a:ln>
        </p:spPr>
      </p:sp>
      <p:sp>
        <p:nvSpPr>
          <p:cNvPr id="23" name="Text 21"/>
          <p:cNvSpPr/>
          <p:nvPr/>
        </p:nvSpPr>
        <p:spPr>
          <a:xfrm>
            <a:off x="9555480" y="1609344"/>
            <a:ext cx="2432304" cy="2286000"/>
          </a:xfrm>
          <a:prstGeom prst="rect">
            <a:avLst/>
          </a:prstGeom>
          <a:noFill/>
          <a:ln/>
        </p:spPr>
        <p:txBody>
          <a:bodyPr wrap="square" lIns="0" tIns="0" rIns="0" bIns="0" rtlCol="0" anchor="ctr"/>
          <a:lstStyle/>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スクリーンショット</a:t>
            </a:r>
            <a:endParaRPr lang="en-US" sz="1100" dirty="0"/>
          </a:p>
          <a:p>
            <a:pPr algn="ctr" indent="0" marL="0">
              <a:lnSpc>
                <a:spcPts val="1800"/>
              </a:lnSpc>
              <a:buNone/>
            </a:pPr>
            <a:r>
              <a:rPr lang="en-US" sz="1100" dirty="0">
                <a:solidFill>
                  <a:srgbClr val="9AA5B4"/>
                </a:solidFill>
                <a:latin typeface="Meiryo" pitchFamily="34" charset="0"/>
                <a:ea typeface="Meiryo" pitchFamily="34" charset="-122"/>
                <a:cs typeface="Meiryo" pitchFamily="34" charset="-120"/>
              </a:rPr>
              <a:t>（差し込み）</a:t>
            </a:r>
            <a:endParaRPr lang="en-US" sz="1100" dirty="0"/>
          </a:p>
        </p:txBody>
      </p:sp>
      <p:sp>
        <p:nvSpPr>
          <p:cNvPr id="24" name="Shape 22"/>
          <p:cNvSpPr/>
          <p:nvPr/>
        </p:nvSpPr>
        <p:spPr>
          <a:xfrm>
            <a:off x="9427464" y="4023360"/>
            <a:ext cx="402336" cy="402336"/>
          </a:xfrm>
          <a:prstGeom prst="ellipse">
            <a:avLst/>
          </a:prstGeom>
          <a:solidFill>
            <a:srgbClr val="16233F"/>
          </a:solidFill>
          <a:ln/>
        </p:spPr>
      </p:sp>
      <p:sp>
        <p:nvSpPr>
          <p:cNvPr id="25" name="Text 23"/>
          <p:cNvSpPr/>
          <p:nvPr/>
        </p:nvSpPr>
        <p:spPr>
          <a:xfrm>
            <a:off x="9427464" y="40233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6" name="Text 24"/>
          <p:cNvSpPr/>
          <p:nvPr/>
        </p:nvSpPr>
        <p:spPr>
          <a:xfrm>
            <a:off x="9957816" y="4005072"/>
            <a:ext cx="2157984" cy="329184"/>
          </a:xfrm>
          <a:prstGeom prst="rect">
            <a:avLst/>
          </a:prstGeom>
          <a:noFill/>
          <a:ln/>
        </p:spPr>
        <p:txBody>
          <a:bodyPr wrap="square" lIns="0" tIns="0" rIns="0" bIns="0" rtlCol="0" anchor="ctr"/>
          <a:lstStyle/>
          <a:p>
            <a:pPr indent="0" marL="0">
              <a:buNone/>
            </a:pPr>
            <a:r>
              <a:rPr lang="en-US" sz="1350" b="1" dirty="0">
                <a:solidFill>
                  <a:srgbClr val="16233F"/>
                </a:solidFill>
                <a:latin typeface="Meiryo" pitchFamily="34" charset="0"/>
                <a:ea typeface="Meiryo" pitchFamily="34" charset="-122"/>
                <a:cs typeface="Meiryo" pitchFamily="34" charset="-120"/>
              </a:rPr>
              <a:t>PMOの横断ビュー</a:t>
            </a:r>
            <a:endParaRPr lang="en-US" sz="1350" dirty="0"/>
          </a:p>
        </p:txBody>
      </p:sp>
      <p:sp>
        <p:nvSpPr>
          <p:cNvPr id="27" name="Text 25"/>
          <p:cNvSpPr/>
          <p:nvPr/>
        </p:nvSpPr>
        <p:spPr>
          <a:xfrm>
            <a:off x="9427464" y="4498848"/>
            <a:ext cx="2688336" cy="548640"/>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全案件の進捗とガント</a:t>
            </a:r>
            <a:endParaRPr lang="en-US" sz="1100" dirty="0"/>
          </a:p>
        </p:txBody>
      </p:sp>
      <p:sp>
        <p:nvSpPr>
          <p:cNvPr id="28" name="Shape 26"/>
          <p:cNvSpPr/>
          <p:nvPr/>
        </p:nvSpPr>
        <p:spPr>
          <a:xfrm>
            <a:off x="566928" y="5230368"/>
            <a:ext cx="11057839" cy="749808"/>
          </a:xfrm>
          <a:prstGeom prst="roundRect">
            <a:avLst>
              <a:gd name="adj" fmla="val 7317"/>
            </a:avLst>
          </a:prstGeom>
          <a:solidFill>
            <a:srgbClr val="FBF3E4"/>
          </a:solidFill>
          <a:ln/>
          <a:effectLst>
            <a:outerShdw sx="100000" sy="100000" kx="0" ky="0" algn="bl" rotWithShape="0" blurRad="127000" dist="25400" dir="5400000">
              <a:srgbClr val="8A97AC">
                <a:alpha val="22000"/>
              </a:srgbClr>
            </a:outerShdw>
          </a:effectLst>
        </p:spPr>
      </p:sp>
      <p:sp>
        <p:nvSpPr>
          <p:cNvPr id="29" name="Text 27"/>
          <p:cNvSpPr/>
          <p:nvPr/>
        </p:nvSpPr>
        <p:spPr>
          <a:xfrm>
            <a:off x="950976" y="5230368"/>
            <a:ext cx="10289743" cy="749808"/>
          </a:xfrm>
          <a:prstGeom prst="rect">
            <a:avLst/>
          </a:prstGeom>
          <a:noFill/>
          <a:ln/>
        </p:spPr>
        <p:txBody>
          <a:bodyPr wrap="square" lIns="0" tIns="0" rIns="0" bIns="0" rtlCol="0" anchor="ctr"/>
          <a:lstStyle/>
          <a:p>
            <a:pPr indent="0" marL="0">
              <a:buNone/>
            </a:pPr>
            <a:r>
              <a:rPr lang="en-US" sz="1250" b="1" dirty="0">
                <a:solidFill>
                  <a:srgbClr val="7A5410"/>
                </a:solidFill>
                <a:latin typeface="Meiryo" pitchFamily="34" charset="0"/>
                <a:ea typeface="Meiryo" pitchFamily="34" charset="-122"/>
                <a:cs typeface="Meiryo" pitchFamily="34" charset="-120"/>
              </a:rPr>
              <a:t>要準備：架空の研修案件で、アジェンダ → 議事録 → タスク → ガントが繋がった状態を作っておくこと</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10058400" y="4023360"/>
            <a:ext cx="3291840" cy="3291840"/>
          </a:xfrm>
          <a:prstGeom prst="ellipse">
            <a:avLst/>
          </a:prstGeom>
          <a:solidFill>
            <a:srgbClr val="E8A33D">
              <a:alpha val="32000"/>
            </a:srgbClr>
          </a:solidFill>
          <a:ln/>
        </p:spPr>
      </p:sp>
      <p:sp>
        <p:nvSpPr>
          <p:cNvPr id="3" name="Shape 1"/>
          <p:cNvSpPr/>
          <p:nvPr/>
        </p:nvSpPr>
        <p:spPr>
          <a:xfrm>
            <a:off x="566928" y="2432304"/>
            <a:ext cx="896112" cy="896112"/>
          </a:xfrm>
          <a:prstGeom prst="ellipse">
            <a:avLst/>
          </a:prstGeom>
          <a:solidFill>
            <a:srgbClr val="E8A33D"/>
          </a:solidFill>
          <a:ln/>
        </p:spPr>
      </p:sp>
      <p:sp>
        <p:nvSpPr>
          <p:cNvPr id="4" name="Text 2"/>
          <p:cNvSpPr/>
          <p:nvPr/>
        </p:nvSpPr>
        <p:spPr>
          <a:xfrm>
            <a:off x="566928" y="2432304"/>
            <a:ext cx="896112" cy="896112"/>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3</a:t>
            </a:r>
            <a:endParaRPr lang="en-US" sz="3000" dirty="0"/>
          </a:p>
        </p:txBody>
      </p:sp>
      <p:sp>
        <p:nvSpPr>
          <p:cNvPr id="5" name="Text 3"/>
          <p:cNvSpPr/>
          <p:nvPr/>
        </p:nvSpPr>
        <p:spPr>
          <a:xfrm>
            <a:off x="1792224" y="2395728"/>
            <a:ext cx="8412480" cy="658368"/>
          </a:xfrm>
          <a:prstGeom prst="rect">
            <a:avLst/>
          </a:prstGeom>
          <a:noFill/>
          <a:ln/>
        </p:spPr>
        <p:txBody>
          <a:bodyPr wrap="square" lIns="0" tIns="0" rIns="0" bIns="0" rtlCol="0" anchor="ctr"/>
          <a:lstStyle/>
          <a:p>
            <a:pPr indent="0" marL="0">
              <a:buNone/>
            </a:pPr>
            <a:r>
              <a:rPr lang="en-US" sz="3300" b="1" dirty="0">
                <a:solidFill>
                  <a:srgbClr val="FFFFFF"/>
                </a:solidFill>
                <a:latin typeface="Meiryo" pitchFamily="34" charset="0"/>
                <a:ea typeface="Meiryo" pitchFamily="34" charset="-122"/>
                <a:cs typeface="Meiryo" pitchFamily="34" charset="-120"/>
              </a:rPr>
              <a:t>導入判断の材料</a:t>
            </a:r>
            <a:endParaRPr lang="en-US" sz="3300" dirty="0"/>
          </a:p>
        </p:txBody>
      </p:sp>
      <p:sp>
        <p:nvSpPr>
          <p:cNvPr id="6" name="Text 4"/>
          <p:cNvSpPr/>
          <p:nvPr/>
        </p:nvSpPr>
        <p:spPr>
          <a:xfrm>
            <a:off x="1792224" y="3127248"/>
            <a:ext cx="8412480" cy="365760"/>
          </a:xfrm>
          <a:prstGeom prst="rect">
            <a:avLst/>
          </a:prstGeom>
          <a:noFill/>
          <a:ln/>
        </p:spPr>
        <p:txBody>
          <a:bodyPr wrap="square" lIns="0" tIns="0" rIns="0" bIns="0" rtlCol="0" anchor="ctr"/>
          <a:lstStyle/>
          <a:p>
            <a:pPr indent="0" marL="0">
              <a:buNone/>
            </a:pPr>
            <a:r>
              <a:rPr lang="en-US" sz="1400" dirty="0">
                <a:solidFill>
                  <a:srgbClr val="9FB0CC"/>
                </a:solidFill>
                <a:latin typeface="Meiryo" pitchFamily="34" charset="0"/>
                <a:ea typeface="Meiryo" pitchFamily="34" charset="-122"/>
                <a:cs typeface="Meiryo" pitchFamily="34" charset="-120"/>
              </a:rPr>
              <a:t>プラン・費用・効果・リスク・進め方</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プラン別 機能比較</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Businessは最上位ではありません</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3657600"/>
                <a:gridCol w="2286000"/>
                <a:gridCol w="2743200"/>
                <a:gridCol w="2386584"/>
              </a:tblGrid>
              <a:tr h="365760">
                <a:tc>
                  <a:txBody>
                    <a:bodyPr/>
                    <a:lstStyle/>
                    <a:p>
                      <a:pPr indent="0" marL="0">
                        <a:buNone/>
                      </a:pP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Plus</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Business（推奨）</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2C5F8D"/>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Enterprise</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月額（1人・年払い）</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1,650円</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3,150円</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要見積（約5,425円）</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年間費用（140名）</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277.2万円</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529.2万円</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約911.4万円</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SAML SSO（Microsoft 365連携）</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プライベートチームスペース</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ページ履歴</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30日</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90日</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要確認</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SCIM（アカウント自動削除）</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b="1" dirty="0">
                          <a:solidFill>
                            <a:srgbClr val="E8A33D"/>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監査ログ</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b="1" dirty="0">
                          <a:solidFill>
                            <a:srgbClr val="E8A33D"/>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データの国内保管</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b="1" dirty="0">
                          <a:solidFill>
                            <a:srgbClr val="E8A33D"/>
                          </a:solidFill>
                          <a:latin typeface="Meiryo" pitchFamily="34" charset="0"/>
                          <a:ea typeface="Meiryo" pitchFamily="34" charset="-122"/>
                          <a:cs typeface="Meiryo" pitchFamily="34" charset="-120"/>
                        </a:rPr>
                        <a:t>○（追加費用なし）</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1F2B"/>
                          </a:solidFill>
                          <a:latin typeface="Meiryo" pitchFamily="34" charset="0"/>
                          <a:ea typeface="Meiryo" pitchFamily="34" charset="-122"/>
                          <a:cs typeface="Meiryo" pitchFamily="34" charset="-120"/>
                        </a:rPr>
                        <a:t>ゲスト上限</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100名</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b="1" dirty="0">
                          <a:solidFill>
                            <a:srgbClr val="2C5F8D"/>
                          </a:solidFill>
                          <a:latin typeface="Meiryo" pitchFamily="34" charset="0"/>
                          <a:ea typeface="Meiryo" pitchFamily="34" charset="-122"/>
                          <a:cs typeface="Meiryo" pitchFamily="34" charset="-120"/>
                        </a:rPr>
                        <a:t>250名</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100" dirty="0">
                          <a:solidFill>
                            <a:srgbClr val="5A6472"/>
                          </a:solidFill>
                          <a:latin typeface="Meiryo" pitchFamily="34" charset="0"/>
                          <a:ea typeface="Meiryo" pitchFamily="34" charset="-122"/>
                          <a:cs typeface="Meiryo" pitchFamily="34" charset="-120"/>
                        </a:rPr>
                        <a:t>250名〜</a:t>
                      </a:r>
                      <a:endParaRPr lang="en-US" sz="1100" dirty="0">
                        <a:latin typeface="Meiryo" charset="0"/>
                        <a:ea typeface="Meiryo" charset="0"/>
                        <a:cs typeface="Meiryo" charset="0"/>
                      </a:endParaRPr>
                    </a:p>
                  </a:txBody>
                  <a:tcPr marL="64008" marR="64008" marT="64008" marB="64008"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504688"/>
            <a:ext cx="11057839" cy="914400"/>
          </a:xfrm>
          <a:prstGeom prst="roundRect">
            <a:avLst>
              <a:gd name="adj" fmla="val 6000"/>
            </a:avLst>
          </a:prstGeom>
          <a:solidFill>
            <a:srgbClr val="F1F4F9"/>
          </a:solidFill>
          <a:ln/>
          <a:effectLst>
            <a:outerShdw sx="100000" sy="100000" kx="0" ky="0" algn="bl" rotWithShape="0" blurRad="127000" dist="25400" dir="5400000">
              <a:srgbClr val="8A97AC">
                <a:alpha val="22000"/>
              </a:srgbClr>
            </a:outerShdw>
          </a:effectLst>
        </p:spPr>
      </p:sp>
      <p:sp>
        <p:nvSpPr>
          <p:cNvPr id="6" name="Text 3"/>
          <p:cNvSpPr/>
          <p:nvPr/>
        </p:nvSpPr>
        <p:spPr>
          <a:xfrm>
            <a:off x="969264" y="5504688"/>
            <a:ext cx="10253167" cy="914400"/>
          </a:xfrm>
          <a:prstGeom prst="rect">
            <a:avLst/>
          </a:prstGeom>
          <a:noFill/>
          <a:ln/>
        </p:spPr>
        <p:txBody>
          <a:bodyPr wrap="square" lIns="0" tIns="0" rIns="0" bIns="0" rtlCol="0" anchor="ctr"/>
          <a:lstStyle/>
          <a:p>
            <a:pPr indent="0" marL="0">
              <a:buNone/>
            </a:pPr>
            <a:r>
              <a:rPr lang="en-US" sz="1250" b="1" dirty="0">
                <a:solidFill>
                  <a:srgbClr val="16233F"/>
                </a:solidFill>
                <a:latin typeface="Meiryo" pitchFamily="34" charset="0"/>
                <a:ea typeface="Meiryo" pitchFamily="34" charset="-122"/>
                <a:cs typeface="Meiryo" pitchFamily="34" charset="-120"/>
              </a:rPr>
              <a:t>監査ログ・SCIM・国内データ保管はEnterpriseの機能です（差額は年間約382万円）。今回のスコープでは機微情報を置かない運用で代替し、Businessを選択します。</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プラン比較</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3案を比較し、Businessプランの全社導入を推奨します</a:t>
            </a:r>
            <a:endParaRPr lang="en-US" sz="2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57839" cy="914400"/>
        </p:xfrm>
        <a:graphic>
          <a:graphicData uri="http://schemas.openxmlformats.org/drawingml/2006/table">
            <a:tbl>
              <a:tblPr/>
              <a:tblGrid>
                <a:gridCol w="3200400"/>
                <a:gridCol w="2468880"/>
                <a:gridCol w="2743200"/>
                <a:gridCol w="2660904"/>
              </a:tblGrid>
              <a:tr h="420624">
                <a:tc>
                  <a:txBody>
                    <a:bodyPr/>
                    <a:lstStyle/>
                    <a:p>
                      <a:pPr indent="0" marL="0">
                        <a:buNone/>
                      </a:pP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案1：Plus 全社</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案2：Business 全社</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2C5F8D"/>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案3：Business 上層部のみ</a:t>
                      </a:r>
                      <a:endParaRPr lang="en-US" sz="1200" dirty="0">
                        <a:latin typeface="Meiryo" charset="0"/>
                        <a:ea typeface="Meiryo" charset="0"/>
                        <a:cs typeface="Meiryo" charset="0"/>
                      </a:endParaRPr>
                    </a:p>
                    <a:p>
                      <a:pPr indent="0" marL="0">
                        <a:buNone/>
                      </a:pPr>
                      <a:r>
                        <a:rPr lang="en-US" sz="1200" b="1" dirty="0">
                          <a:solidFill>
                            <a:srgbClr val="FFFFFF"/>
                          </a:solidFill>
                          <a:latin typeface="Meiryo" pitchFamily="34" charset="0"/>
                          <a:ea typeface="Meiryo" pitchFamily="34" charset="-122"/>
                          <a:cs typeface="Meiryo" pitchFamily="34" charset="-120"/>
                        </a:rPr>
                        <a:t>＋一般社員はゲスト</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r>
              <a:tr h="420624">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年間費用（140名・年払い）</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277.2万円</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2C5F8D"/>
                          </a:solidFill>
                          <a:latin typeface="Meiryo" pitchFamily="34" charset="0"/>
                          <a:ea typeface="Meiryo" pitchFamily="34" charset="-122"/>
                          <a:cs typeface="Meiryo" pitchFamily="34" charset="-120"/>
                        </a:rPr>
                        <a:t>529.2万円</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見かけ上は最小</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SAML SSO（M365連携）</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2C5F8D"/>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○（対象者のみ）</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全社員の横断ビュー</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2C5F8D"/>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監査ログ / SCIM</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2C5F8D"/>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判定</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EFF3"/>
                    </a:solidFill>
                  </a:tcPr>
                </a:tc>
                <a:tc>
                  <a:txBody>
                    <a:bodyPr/>
                    <a:lstStyle/>
                    <a:p>
                      <a:pPr indent="0" marL="0">
                        <a:buNone/>
                      </a:pPr>
                      <a:r>
                        <a:rPr lang="en-US" sz="1200" b="1" dirty="0">
                          <a:solidFill>
                            <a:srgbClr val="B3423A"/>
                          </a:solidFill>
                          <a:latin typeface="Meiryo" pitchFamily="34" charset="0"/>
                          <a:ea typeface="Meiryo" pitchFamily="34" charset="-122"/>
                          <a:cs typeface="Meiryo" pitchFamily="34" charset="-120"/>
                        </a:rPr>
                        <a:t>却下</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EFF3"/>
                    </a:solidFill>
                  </a:tcPr>
                </a:tc>
                <a:tc>
                  <a:txBody>
                    <a:bodyPr/>
                    <a:lstStyle/>
                    <a:p>
                      <a:pPr indent="0" marL="0">
                        <a:buNone/>
                      </a:pPr>
                      <a:r>
                        <a:rPr lang="en-US" sz="1200" b="1" dirty="0">
                          <a:solidFill>
                            <a:srgbClr val="2E7D5B"/>
                          </a:solidFill>
                          <a:latin typeface="Meiryo" pitchFamily="34" charset="0"/>
                          <a:ea typeface="Meiryo" pitchFamily="34" charset="-122"/>
                          <a:cs typeface="Meiryo" pitchFamily="34" charset="-120"/>
                        </a:rPr>
                        <a:t>推奨</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F3F8"/>
                    </a:solidFill>
                  </a:tcPr>
                </a:tc>
                <a:tc>
                  <a:txBody>
                    <a:bodyPr/>
                    <a:lstStyle/>
                    <a:p>
                      <a:pPr indent="0" marL="0">
                        <a:buNone/>
                      </a:pPr>
                      <a:r>
                        <a:rPr lang="en-US" sz="1200" b="1" dirty="0">
                          <a:solidFill>
                            <a:srgbClr val="B3423A"/>
                          </a:solidFill>
                          <a:latin typeface="Meiryo" pitchFamily="34" charset="0"/>
                          <a:ea typeface="Meiryo" pitchFamily="34" charset="-122"/>
                          <a:cs typeface="Meiryo" pitchFamily="34" charset="-120"/>
                        </a:rPr>
                        <a:t>実現不可</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EDEFF3"/>
                    </a:solidFill>
                  </a:tcPr>
                </a:tc>
              </a:tr>
            </a:tbl>
          </a:graphicData>
        </a:graphic>
      </p:graphicFrame>
      <p:sp>
        <p:nvSpPr>
          <p:cNvPr id="5" name="Shape 2"/>
          <p:cNvSpPr/>
          <p:nvPr/>
        </p:nvSpPr>
        <p:spPr>
          <a:xfrm>
            <a:off x="566928" y="4517136"/>
            <a:ext cx="5486400" cy="1463040"/>
          </a:xfrm>
          <a:prstGeom prst="roundRect">
            <a:avLst>
              <a:gd name="adj" fmla="val 3750"/>
            </a:avLst>
          </a:prstGeom>
          <a:solidFill>
            <a:srgbClr val="F1F4F9"/>
          </a:solidFill>
          <a:ln/>
          <a:effectLst>
            <a:outerShdw sx="100000" sy="100000" kx="0" ky="0" algn="bl" rotWithShape="0" blurRad="127000" dist="25400" dir="5400000">
              <a:srgbClr val="8A97AC">
                <a:alpha val="22000"/>
              </a:srgbClr>
            </a:outerShdw>
          </a:effectLst>
        </p:spPr>
      </p:sp>
      <p:sp>
        <p:nvSpPr>
          <p:cNvPr id="6" name="Shape 3"/>
          <p:cNvSpPr/>
          <p:nvPr/>
        </p:nvSpPr>
        <p:spPr>
          <a:xfrm>
            <a:off x="841248" y="4700016"/>
            <a:ext cx="365760" cy="365760"/>
          </a:xfrm>
          <a:prstGeom prst="ellipse">
            <a:avLst/>
          </a:prstGeom>
          <a:solidFill>
            <a:srgbClr val="B3423A"/>
          </a:solidFill>
          <a:ln/>
        </p:spPr>
      </p:sp>
      <p:sp>
        <p:nvSpPr>
          <p:cNvPr id="7" name="Text 4"/>
          <p:cNvSpPr/>
          <p:nvPr/>
        </p:nvSpPr>
        <p:spPr>
          <a:xfrm>
            <a:off x="841248" y="47000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8" name="Text 5"/>
          <p:cNvSpPr/>
          <p:nvPr/>
        </p:nvSpPr>
        <p:spPr>
          <a:xfrm>
            <a:off x="1316736" y="4681728"/>
            <a:ext cx="4480560" cy="384048"/>
          </a:xfrm>
          <a:prstGeom prst="rect">
            <a:avLst/>
          </a:prstGeom>
          <a:noFill/>
          <a:ln/>
        </p:spPr>
        <p:txBody>
          <a:bodyPr wrap="square" lIns="0" tIns="0" rIns="0" bIns="0" rtlCol="0" anchor="ctr"/>
          <a:lstStyle/>
          <a:p>
            <a:pPr indent="0" marL="0">
              <a:buNone/>
            </a:pPr>
            <a:r>
              <a:rPr lang="en-US" sz="1300" b="1" dirty="0">
                <a:solidFill>
                  <a:srgbClr val="B3423A"/>
                </a:solidFill>
                <a:latin typeface="Meiryo" pitchFamily="34" charset="0"/>
                <a:ea typeface="Meiryo" pitchFamily="34" charset="-122"/>
                <a:cs typeface="Meiryo" pitchFamily="34" charset="-120"/>
              </a:rPr>
              <a:t>案1を却下する理由</a:t>
            </a:r>
            <a:endParaRPr lang="en-US" sz="1300" dirty="0"/>
          </a:p>
        </p:txBody>
      </p:sp>
      <p:sp>
        <p:nvSpPr>
          <p:cNvPr id="9" name="Text 6"/>
          <p:cNvSpPr/>
          <p:nvPr/>
        </p:nvSpPr>
        <p:spPr>
          <a:xfrm>
            <a:off x="841248" y="5138928"/>
            <a:ext cx="4937760" cy="731520"/>
          </a:xfrm>
          <a:prstGeom prst="rect">
            <a:avLst/>
          </a:prstGeom>
          <a:noFill/>
          <a:ln/>
        </p:spPr>
        <p:txBody>
          <a:bodyPr wrap="square" lIns="0" tIns="0" rIns="0" bIns="0" rtlCol="0" anchor="ctr"/>
          <a:lstStyle/>
          <a:p>
            <a:pPr indent="0" marL="0">
              <a:lnSpc>
                <a:spcPts val="1600"/>
              </a:lnSpc>
              <a:buNone/>
            </a:pPr>
            <a:r>
              <a:rPr lang="en-US" sz="1100" dirty="0">
                <a:solidFill>
                  <a:srgbClr val="5A6472"/>
                </a:solidFill>
                <a:latin typeface="Meiryo" pitchFamily="34" charset="0"/>
                <a:ea typeface="Meiryo" pitchFamily="34" charset="-122"/>
                <a:cs typeface="Meiryo" pitchFamily="34" charset="-120"/>
              </a:rPr>
              <a:t>SAML SSOが使えず、Microsoft 365アカウントと連携できない。退職者のアカウント停止が手作業となり、親会社のセキュリティ審査を通せない可能性が高い</a:t>
            </a:r>
            <a:endParaRPr lang="en-US" sz="1100" dirty="0"/>
          </a:p>
        </p:txBody>
      </p:sp>
      <p:sp>
        <p:nvSpPr>
          <p:cNvPr id="10" name="Shape 7"/>
          <p:cNvSpPr/>
          <p:nvPr/>
        </p:nvSpPr>
        <p:spPr>
          <a:xfrm>
            <a:off x="6373368" y="4517136"/>
            <a:ext cx="5486400" cy="1463040"/>
          </a:xfrm>
          <a:prstGeom prst="roundRect">
            <a:avLst>
              <a:gd name="adj" fmla="val 3750"/>
            </a:avLst>
          </a:prstGeom>
          <a:solidFill>
            <a:srgbClr val="F1F4F9"/>
          </a:solidFill>
          <a:ln/>
          <a:effectLst>
            <a:outerShdw sx="100000" sy="100000" kx="0" ky="0" algn="bl" rotWithShape="0" blurRad="127000" dist="25400" dir="5400000">
              <a:srgbClr val="8A97AC">
                <a:alpha val="22000"/>
              </a:srgbClr>
            </a:outerShdw>
          </a:effectLst>
        </p:spPr>
      </p:sp>
      <p:sp>
        <p:nvSpPr>
          <p:cNvPr id="11" name="Shape 8"/>
          <p:cNvSpPr/>
          <p:nvPr/>
        </p:nvSpPr>
        <p:spPr>
          <a:xfrm>
            <a:off x="6647688" y="4700016"/>
            <a:ext cx="365760" cy="365760"/>
          </a:xfrm>
          <a:prstGeom prst="ellipse">
            <a:avLst/>
          </a:prstGeom>
          <a:solidFill>
            <a:srgbClr val="B3423A"/>
          </a:solidFill>
          <a:ln/>
        </p:spPr>
      </p:sp>
      <p:sp>
        <p:nvSpPr>
          <p:cNvPr id="12" name="Text 9"/>
          <p:cNvSpPr/>
          <p:nvPr/>
        </p:nvSpPr>
        <p:spPr>
          <a:xfrm>
            <a:off x="6647688" y="470001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13" name="Text 10"/>
          <p:cNvSpPr/>
          <p:nvPr/>
        </p:nvSpPr>
        <p:spPr>
          <a:xfrm>
            <a:off x="7123176" y="4681728"/>
            <a:ext cx="4480560" cy="384048"/>
          </a:xfrm>
          <a:prstGeom prst="rect">
            <a:avLst/>
          </a:prstGeom>
          <a:noFill/>
          <a:ln/>
        </p:spPr>
        <p:txBody>
          <a:bodyPr wrap="square" lIns="0" tIns="0" rIns="0" bIns="0" rtlCol="0" anchor="ctr"/>
          <a:lstStyle/>
          <a:p>
            <a:pPr indent="0" marL="0">
              <a:buNone/>
            </a:pPr>
            <a:r>
              <a:rPr lang="en-US" sz="1300" b="1" dirty="0">
                <a:solidFill>
                  <a:srgbClr val="B3423A"/>
                </a:solidFill>
                <a:latin typeface="Meiryo" pitchFamily="34" charset="0"/>
                <a:ea typeface="Meiryo" pitchFamily="34" charset="-122"/>
                <a:cs typeface="Meiryo" pitchFamily="34" charset="-120"/>
              </a:rPr>
              <a:t>案3が成立しない理由</a:t>
            </a:r>
            <a:endParaRPr lang="en-US" sz="1300" dirty="0"/>
          </a:p>
        </p:txBody>
      </p:sp>
      <p:sp>
        <p:nvSpPr>
          <p:cNvPr id="14" name="Text 11"/>
          <p:cNvSpPr/>
          <p:nvPr/>
        </p:nvSpPr>
        <p:spPr>
          <a:xfrm>
            <a:off x="6647688" y="5138928"/>
            <a:ext cx="4937760" cy="731520"/>
          </a:xfrm>
          <a:prstGeom prst="rect">
            <a:avLst/>
          </a:prstGeom>
          <a:noFill/>
          <a:ln/>
        </p:spPr>
        <p:txBody>
          <a:bodyPr wrap="square" lIns="0" tIns="0" rIns="0" bIns="0" rtlCol="0" anchor="ctr"/>
          <a:lstStyle/>
          <a:p>
            <a:pPr indent="0" marL="0">
              <a:lnSpc>
                <a:spcPts val="1600"/>
              </a:lnSpc>
              <a:buNone/>
            </a:pPr>
            <a:r>
              <a:rPr lang="en-US" sz="1100" dirty="0">
                <a:solidFill>
                  <a:srgbClr val="5A6472"/>
                </a:solidFill>
                <a:latin typeface="Meiryo" pitchFamily="34" charset="0"/>
                <a:ea typeface="Meiryo" pitchFamily="34" charset="-122"/>
                <a:cs typeface="Meiryo" pitchFamily="34" charset="-120"/>
              </a:rPr>
              <a:t>ゲストは招待されたページしか見られず、横断ビューを持てない。課題A-1（可視性）とA-2（横断性）が解決せず、導入目的そのものが失われる</a:t>
            </a:r>
            <a:endParaRPr lang="en-US" sz="1100" dirty="0"/>
          </a:p>
        </p:txBody>
      </p:sp>
      <p:sp>
        <p:nvSpPr>
          <p:cNvPr id="15" name="Text 12"/>
          <p:cNvSpPr/>
          <p:nvPr/>
        </p:nvSpPr>
        <p:spPr>
          <a:xfrm>
            <a:off x="566928" y="6126480"/>
            <a:ext cx="11057839" cy="274320"/>
          </a:xfrm>
          <a:prstGeom prst="rect">
            <a:avLst/>
          </a:prstGeom>
          <a:noFill/>
          <a:ln/>
        </p:spPr>
        <p:txBody>
          <a:bodyPr wrap="square" lIns="0" tIns="0" rIns="0" bIns="0" rtlCol="0" anchor="ctr"/>
          <a:lstStyle/>
          <a:p>
            <a:pPr indent="0" marL="0">
              <a:buNone/>
            </a:pPr>
            <a:r>
              <a:rPr lang="en-US" sz="1000" dirty="0">
                <a:solidFill>
                  <a:srgbClr val="5A6472"/>
                </a:solidFill>
                <a:latin typeface="Meiryo" pitchFamily="34" charset="0"/>
                <a:ea typeface="Meiryo" pitchFamily="34" charset="-122"/>
                <a:cs typeface="Meiryo" pitchFamily="34" charset="-120"/>
              </a:rPr>
              <a:t>※ 2026年8月時点の公表価格。監査ログまたは国内データ保管が必須要件となる場合はEnterprise（約911万円／年）への切替が必要</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投資額</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費用</a:t>
            </a:r>
            <a:endParaRPr lang="en-US" sz="2700" dirty="0"/>
          </a:p>
        </p:txBody>
      </p:sp>
      <p:sp>
        <p:nvSpPr>
          <p:cNvPr id="4" name="Shape 2"/>
          <p:cNvSpPr/>
          <p:nvPr/>
        </p:nvSpPr>
        <p:spPr>
          <a:xfrm>
            <a:off x="566928" y="1591056"/>
            <a:ext cx="5852160" cy="2377440"/>
          </a:xfrm>
          <a:prstGeom prst="roundRect">
            <a:avLst>
              <a:gd name="adj" fmla="val 2308"/>
            </a:avLst>
          </a:prstGeom>
          <a:solidFill>
            <a:srgbClr val="16233F"/>
          </a:solidFill>
          <a:ln/>
          <a:effectLst>
            <a:outerShdw sx="100000" sy="100000" kx="0" ky="0" algn="bl" rotWithShape="0" blurRad="127000" dist="25400" dir="5400000">
              <a:srgbClr val="8A97AC">
                <a:alpha val="22000"/>
              </a:srgbClr>
            </a:outerShdw>
          </a:effectLst>
        </p:spPr>
      </p:sp>
      <p:sp>
        <p:nvSpPr>
          <p:cNvPr id="5" name="Text 3"/>
          <p:cNvSpPr/>
          <p:nvPr/>
        </p:nvSpPr>
        <p:spPr>
          <a:xfrm>
            <a:off x="969264" y="1810512"/>
            <a:ext cx="5029200" cy="274320"/>
          </a:xfrm>
          <a:prstGeom prst="rect">
            <a:avLst/>
          </a:prstGeom>
          <a:noFill/>
          <a:ln/>
        </p:spPr>
        <p:txBody>
          <a:bodyPr wrap="square" lIns="0" tIns="0" rIns="0" bIns="0" rtlCol="0" anchor="ctr"/>
          <a:lstStyle/>
          <a:p>
            <a:pPr indent="0" marL="0">
              <a:buNone/>
            </a:pPr>
            <a:r>
              <a:rPr lang="en-US" sz="1200" dirty="0">
                <a:solidFill>
                  <a:srgbClr val="9FB0CC"/>
                </a:solidFill>
                <a:latin typeface="Meiryo" pitchFamily="34" charset="0"/>
                <a:ea typeface="Meiryo" pitchFamily="34" charset="-122"/>
                <a:cs typeface="Meiryo" pitchFamily="34" charset="-120"/>
              </a:rPr>
              <a:t>年間ライセンス費用</a:t>
            </a:r>
            <a:endParaRPr lang="en-US" sz="1200" dirty="0"/>
          </a:p>
        </p:txBody>
      </p:sp>
      <p:sp>
        <p:nvSpPr>
          <p:cNvPr id="6" name="Text 4"/>
          <p:cNvSpPr/>
          <p:nvPr/>
        </p:nvSpPr>
        <p:spPr>
          <a:xfrm>
            <a:off x="969264" y="2194560"/>
            <a:ext cx="5029200" cy="749808"/>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529.2万円</a:t>
            </a:r>
            <a:endParaRPr lang="en-US" sz="4000" dirty="0"/>
          </a:p>
        </p:txBody>
      </p:sp>
      <p:sp>
        <p:nvSpPr>
          <p:cNvPr id="7" name="Text 5"/>
          <p:cNvSpPr/>
          <p:nvPr/>
        </p:nvSpPr>
        <p:spPr>
          <a:xfrm>
            <a:off x="969264" y="3127248"/>
            <a:ext cx="5029200" cy="292608"/>
          </a:xfrm>
          <a:prstGeom prst="rect">
            <a:avLst/>
          </a:prstGeom>
          <a:noFill/>
          <a:ln/>
        </p:spPr>
        <p:txBody>
          <a:bodyPr wrap="square" lIns="0" tIns="0" rIns="0" bIns="0" rtlCol="0" anchor="ctr"/>
          <a:lstStyle/>
          <a:p>
            <a:pPr indent="0" marL="0">
              <a:buNone/>
            </a:pPr>
            <a:r>
              <a:rPr lang="en-US" sz="1200" dirty="0">
                <a:solidFill>
                  <a:srgbClr val="C3CEE0"/>
                </a:solidFill>
                <a:latin typeface="Meiryo" pitchFamily="34" charset="0"/>
                <a:ea typeface="Meiryo" pitchFamily="34" charset="-122"/>
                <a:cs typeface="Meiryo" pitchFamily="34" charset="-120"/>
              </a:rPr>
              <a:t>Business 年払い　3,150円 × 140名 × 12か月</a:t>
            </a:r>
            <a:endParaRPr lang="en-US" sz="1200" dirty="0"/>
          </a:p>
        </p:txBody>
      </p:sp>
      <p:sp>
        <p:nvSpPr>
          <p:cNvPr id="8" name="Shape 6"/>
          <p:cNvSpPr/>
          <p:nvPr/>
        </p:nvSpPr>
        <p:spPr>
          <a:xfrm>
            <a:off x="6739128" y="1591056"/>
            <a:ext cx="5120640" cy="2377440"/>
          </a:xfrm>
          <a:prstGeom prst="roundRect">
            <a:avLst>
              <a:gd name="adj" fmla="val 2308"/>
            </a:avLst>
          </a:prstGeom>
          <a:solidFill>
            <a:srgbClr val="F1F4F9"/>
          </a:solidFill>
          <a:ln/>
          <a:effectLst>
            <a:outerShdw sx="100000" sy="100000" kx="0" ky="0" algn="bl" rotWithShape="0" blurRad="127000" dist="25400" dir="5400000">
              <a:srgbClr val="8A97AC">
                <a:alpha val="22000"/>
              </a:srgbClr>
            </a:outerShdw>
          </a:effectLst>
        </p:spPr>
      </p:sp>
      <p:sp>
        <p:nvSpPr>
          <p:cNvPr id="9" name="Text 7"/>
          <p:cNvSpPr/>
          <p:nvPr/>
        </p:nvSpPr>
        <p:spPr>
          <a:xfrm>
            <a:off x="7050024" y="1792224"/>
            <a:ext cx="4480560" cy="292608"/>
          </a:xfrm>
          <a:prstGeom prst="rect">
            <a:avLst/>
          </a:prstGeom>
          <a:noFill/>
          <a:ln/>
        </p:spPr>
        <p:txBody>
          <a:bodyPr wrap="square" lIns="0" tIns="0" rIns="0" bIns="0" rtlCol="0" anchor="ctr"/>
          <a:lstStyle/>
          <a:p>
            <a:pPr indent="0" marL="0">
              <a:buNone/>
            </a:pPr>
            <a:r>
              <a:rPr lang="en-US" sz="1250" b="1" dirty="0">
                <a:solidFill>
                  <a:srgbClr val="16233F"/>
                </a:solidFill>
                <a:latin typeface="Meiryo" pitchFamily="34" charset="0"/>
                <a:ea typeface="Meiryo" pitchFamily="34" charset="-122"/>
                <a:cs typeface="Meiryo" pitchFamily="34" charset="-120"/>
              </a:rPr>
              <a:t>社内工数（現金支出なし）</a:t>
            </a:r>
            <a:endParaRPr lang="en-US" sz="1250" dirty="0"/>
          </a:p>
        </p:txBody>
      </p:sp>
      <p:sp>
        <p:nvSpPr>
          <p:cNvPr id="10" name="Text 8"/>
          <p:cNvSpPr/>
          <p:nvPr/>
        </p:nvSpPr>
        <p:spPr>
          <a:xfrm>
            <a:off x="7050024" y="2212848"/>
            <a:ext cx="3383280" cy="512064"/>
          </a:xfrm>
          <a:prstGeom prst="rect">
            <a:avLst/>
          </a:prstGeom>
          <a:noFill/>
          <a:ln/>
        </p:spPr>
        <p:txBody>
          <a:bodyPr wrap="square" lIns="0" tIns="0" rIns="0" bIns="0" rtlCol="0" anchor="ctr"/>
          <a:lstStyle/>
          <a:p>
            <a:pPr indent="0" marL="0">
              <a:lnSpc>
                <a:spcPts val="1600"/>
              </a:lnSpc>
              <a:buNone/>
            </a:pPr>
            <a:r>
              <a:rPr lang="en-US" sz="1100" dirty="0">
                <a:solidFill>
                  <a:srgbClr val="5A6472"/>
                </a:solidFill>
                <a:latin typeface="Meiryo" pitchFamily="34" charset="0"/>
                <a:ea typeface="Meiryo" pitchFamily="34" charset="-122"/>
                <a:cs typeface="Meiryo" pitchFamily="34" charset="-120"/>
              </a:rPr>
              <a:t>初期構築（テンプレート設計・DB構築）</a:t>
            </a:r>
            <a:endParaRPr lang="en-US" sz="1100" dirty="0"/>
          </a:p>
        </p:txBody>
      </p:sp>
      <p:sp>
        <p:nvSpPr>
          <p:cNvPr id="11" name="Text 9"/>
          <p:cNvSpPr/>
          <p:nvPr/>
        </p:nvSpPr>
        <p:spPr>
          <a:xfrm>
            <a:off x="10442448" y="2212848"/>
            <a:ext cx="1097280" cy="512064"/>
          </a:xfrm>
          <a:prstGeom prst="rect">
            <a:avLst/>
          </a:prstGeom>
          <a:noFill/>
          <a:ln/>
        </p:spPr>
        <p:txBody>
          <a:bodyPr wrap="square" lIns="0" tIns="0" rIns="0" bIns="0" rtlCol="0" anchor="ctr"/>
          <a:lstStyle/>
          <a:p>
            <a:pPr algn="r" indent="0" marL="0">
              <a:buNone/>
            </a:pPr>
            <a:r>
              <a:rPr lang="en-US" sz="1300" b="1" dirty="0">
                <a:solidFill>
                  <a:srgbClr val="16233F"/>
                </a:solidFill>
                <a:latin typeface="Meiryo" pitchFamily="34" charset="0"/>
                <a:ea typeface="Meiryo" pitchFamily="34" charset="-122"/>
                <a:cs typeface="Meiryo" pitchFamily="34" charset="-120"/>
              </a:rPr>
              <a:t>◯人月</a:t>
            </a:r>
            <a:endParaRPr lang="en-US" sz="1300" dirty="0"/>
          </a:p>
        </p:txBody>
      </p:sp>
      <p:sp>
        <p:nvSpPr>
          <p:cNvPr id="12" name="Text 10"/>
          <p:cNvSpPr/>
          <p:nvPr/>
        </p:nvSpPr>
        <p:spPr>
          <a:xfrm>
            <a:off x="7050024" y="2779776"/>
            <a:ext cx="3383280" cy="512064"/>
          </a:xfrm>
          <a:prstGeom prst="rect">
            <a:avLst/>
          </a:prstGeom>
          <a:noFill/>
          <a:ln/>
        </p:spPr>
        <p:txBody>
          <a:bodyPr wrap="square" lIns="0" tIns="0" rIns="0" bIns="0" rtlCol="0" anchor="ctr"/>
          <a:lstStyle/>
          <a:p>
            <a:pPr indent="0" marL="0">
              <a:lnSpc>
                <a:spcPts val="1600"/>
              </a:lnSpc>
              <a:buNone/>
            </a:pPr>
            <a:r>
              <a:rPr lang="en-US" sz="1100" dirty="0">
                <a:solidFill>
                  <a:srgbClr val="5A6472"/>
                </a:solidFill>
                <a:latin typeface="Meiryo" pitchFamily="34" charset="0"/>
                <a:ea typeface="Meiryo" pitchFamily="34" charset="-122"/>
                <a:cs typeface="Meiryo" pitchFamily="34" charset="-120"/>
              </a:rPr>
              <a:t>教育・定着支援（説明会・3か月伴走）</a:t>
            </a:r>
            <a:endParaRPr lang="en-US" sz="1100" dirty="0"/>
          </a:p>
        </p:txBody>
      </p:sp>
      <p:sp>
        <p:nvSpPr>
          <p:cNvPr id="13" name="Text 11"/>
          <p:cNvSpPr/>
          <p:nvPr/>
        </p:nvSpPr>
        <p:spPr>
          <a:xfrm>
            <a:off x="10442448" y="2779776"/>
            <a:ext cx="1097280" cy="512064"/>
          </a:xfrm>
          <a:prstGeom prst="rect">
            <a:avLst/>
          </a:prstGeom>
          <a:noFill/>
          <a:ln/>
        </p:spPr>
        <p:txBody>
          <a:bodyPr wrap="square" lIns="0" tIns="0" rIns="0" bIns="0" rtlCol="0" anchor="ctr"/>
          <a:lstStyle/>
          <a:p>
            <a:pPr algn="r" indent="0" marL="0">
              <a:buNone/>
            </a:pPr>
            <a:r>
              <a:rPr lang="en-US" sz="1300" b="1" dirty="0">
                <a:solidFill>
                  <a:srgbClr val="16233F"/>
                </a:solidFill>
                <a:latin typeface="Meiryo" pitchFamily="34" charset="0"/>
                <a:ea typeface="Meiryo" pitchFamily="34" charset="-122"/>
                <a:cs typeface="Meiryo" pitchFamily="34" charset="-120"/>
              </a:rPr>
              <a:t>◯人月</a:t>
            </a:r>
            <a:endParaRPr lang="en-US" sz="1300" dirty="0"/>
          </a:p>
        </p:txBody>
      </p:sp>
      <p:sp>
        <p:nvSpPr>
          <p:cNvPr id="14" name="Text 12"/>
          <p:cNvSpPr/>
          <p:nvPr/>
        </p:nvSpPr>
        <p:spPr>
          <a:xfrm>
            <a:off x="7050024" y="3438144"/>
            <a:ext cx="4480560" cy="457200"/>
          </a:xfrm>
          <a:prstGeom prst="rect">
            <a:avLst/>
          </a:prstGeom>
          <a:noFill/>
          <a:ln/>
        </p:spPr>
        <p:txBody>
          <a:bodyPr wrap="square" lIns="0" tIns="0" rIns="0" bIns="0" rtlCol="0" anchor="ctr"/>
          <a:lstStyle/>
          <a:p>
            <a:pPr indent="0" marL="0">
              <a:lnSpc>
                <a:spcPts val="1500"/>
              </a:lnSpc>
              <a:buNone/>
            </a:pPr>
            <a:r>
              <a:rPr lang="en-US" sz="1050" dirty="0">
                <a:solidFill>
                  <a:srgbClr val="5A6472"/>
                </a:solidFill>
                <a:latin typeface="Meiryo" pitchFamily="34" charset="0"/>
                <a:ea typeface="Meiryo" pitchFamily="34" charset="-122"/>
                <a:cs typeface="Meiryo" pitchFamily="34" charset="-120"/>
              </a:rPr>
              <a:t>いずれも内製。PMO・人事組織の立ち上げ業務の一部として実施し、新規採用は行いません。</a:t>
            </a:r>
            <a:endParaRPr lang="en-US" sz="1050" dirty="0"/>
          </a:p>
        </p:txBody>
      </p:sp>
      <p:sp>
        <p:nvSpPr>
          <p:cNvPr id="15" name="Shape 13"/>
          <p:cNvSpPr/>
          <p:nvPr/>
        </p:nvSpPr>
        <p:spPr>
          <a:xfrm>
            <a:off x="566928" y="4206240"/>
            <a:ext cx="11057839" cy="914400"/>
          </a:xfrm>
          <a:prstGeom prst="roundRect">
            <a:avLst>
              <a:gd name="adj" fmla="val 6000"/>
            </a:avLst>
          </a:prstGeom>
          <a:solidFill>
            <a:srgbClr val="F1F4F9"/>
          </a:solidFill>
          <a:ln/>
          <a:effectLst>
            <a:outerShdw sx="100000" sy="100000" kx="0" ky="0" algn="bl" rotWithShape="0" blurRad="127000" dist="25400" dir="5400000">
              <a:srgbClr val="8A97AC">
                <a:alpha val="22000"/>
              </a:srgbClr>
            </a:outerShdw>
          </a:effectLst>
        </p:spPr>
      </p:sp>
      <p:sp>
        <p:nvSpPr>
          <p:cNvPr id="16" name="Text 14"/>
          <p:cNvSpPr/>
          <p:nvPr/>
        </p:nvSpPr>
        <p:spPr>
          <a:xfrm>
            <a:off x="969264" y="4206240"/>
            <a:ext cx="2743200" cy="914400"/>
          </a:xfrm>
          <a:prstGeom prst="rect">
            <a:avLst/>
          </a:prstGeom>
          <a:noFill/>
          <a:ln/>
        </p:spPr>
        <p:txBody>
          <a:bodyPr wrap="square" lIns="0" tIns="0" rIns="0" bIns="0" rtlCol="0" anchor="ctr"/>
          <a:lstStyle/>
          <a:p>
            <a:pPr indent="0" marL="0">
              <a:buNone/>
            </a:pPr>
            <a:r>
              <a:rPr lang="en-US" sz="1250" b="1" dirty="0">
                <a:solidFill>
                  <a:srgbClr val="16233F"/>
                </a:solidFill>
                <a:latin typeface="Meiryo" pitchFamily="34" charset="0"/>
                <a:ea typeface="Meiryo" pitchFamily="34" charset="-122"/>
                <a:cs typeface="Meiryo" pitchFamily="34" charset="-120"/>
              </a:rPr>
              <a:t>削減できる既存コスト</a:t>
            </a:r>
            <a:endParaRPr lang="en-US" sz="1250" dirty="0"/>
          </a:p>
        </p:txBody>
      </p:sp>
      <p:sp>
        <p:nvSpPr>
          <p:cNvPr id="17" name="Text 15"/>
          <p:cNvSpPr/>
          <p:nvPr/>
        </p:nvSpPr>
        <p:spPr>
          <a:xfrm>
            <a:off x="3767328" y="4206240"/>
            <a:ext cx="7680960" cy="914400"/>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現在はMicrosoft 365に含まれるツールを使用しているため、直接的なライセンス削減は発生しません。</a:t>
            </a:r>
            <a:endParaRPr lang="en-US" sz="1200" dirty="0"/>
          </a:p>
        </p:txBody>
      </p:sp>
      <p:sp>
        <p:nvSpPr>
          <p:cNvPr id="18" name="Shape 16"/>
          <p:cNvSpPr/>
          <p:nvPr/>
        </p:nvSpPr>
        <p:spPr>
          <a:xfrm>
            <a:off x="566928" y="5321808"/>
            <a:ext cx="11057839" cy="914400"/>
          </a:xfrm>
          <a:prstGeom prst="roundRect">
            <a:avLst>
              <a:gd name="adj" fmla="val 6000"/>
            </a:avLst>
          </a:prstGeom>
          <a:solidFill>
            <a:srgbClr val="FBF3E4"/>
          </a:solidFill>
          <a:ln/>
          <a:effectLst>
            <a:outerShdw sx="100000" sy="100000" kx="0" ky="0" algn="bl" rotWithShape="0" blurRad="127000" dist="25400" dir="5400000">
              <a:srgbClr val="8A97AC">
                <a:alpha val="22000"/>
              </a:srgbClr>
            </a:outerShdw>
          </a:effectLst>
        </p:spPr>
      </p:sp>
      <p:sp>
        <p:nvSpPr>
          <p:cNvPr id="19" name="Text 17"/>
          <p:cNvSpPr/>
          <p:nvPr/>
        </p:nvSpPr>
        <p:spPr>
          <a:xfrm>
            <a:off x="969264" y="5321808"/>
            <a:ext cx="10253167" cy="914400"/>
          </a:xfrm>
          <a:prstGeom prst="rect">
            <a:avLst/>
          </a:prstGeom>
          <a:noFill/>
          <a:ln/>
        </p:spPr>
        <p:txBody>
          <a:bodyPr wrap="square" lIns="0" tIns="0" rIns="0" bIns="0" rtlCol="0" anchor="ctr"/>
          <a:lstStyle/>
          <a:p>
            <a:pPr indent="0" marL="0">
              <a:buNone/>
            </a:pPr>
            <a:r>
              <a:rPr lang="en-US" sz="1250" b="1" dirty="0">
                <a:solidFill>
                  <a:srgbClr val="7A5410"/>
                </a:solidFill>
                <a:latin typeface="Meiryo" pitchFamily="34" charset="0"/>
                <a:ea typeface="Meiryo" pitchFamily="34" charset="-122"/>
                <a:cs typeface="Meiryo" pitchFamily="34" charset="-120"/>
              </a:rPr>
              <a:t>参考：監査ログまたは国内データ保管が必須要件となった場合は Enterprise 約911万円／年（要見積）</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想定効果</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会議時間の削減だけで、投資額の約3.7倍の効果を見込みます</a:t>
            </a:r>
            <a:endParaRPr lang="en-US" sz="2700" dirty="0"/>
          </a:p>
        </p:txBody>
      </p:sp>
      <p:sp>
        <p:nvSpPr>
          <p:cNvPr id="4" name="Shape 2"/>
          <p:cNvSpPr/>
          <p:nvPr/>
        </p:nvSpPr>
        <p:spPr>
          <a:xfrm>
            <a:off x="566928" y="1591056"/>
            <a:ext cx="3529584" cy="1737360"/>
          </a:xfrm>
          <a:prstGeom prst="roundRect">
            <a:avLst>
              <a:gd name="adj" fmla="val 3158"/>
            </a:avLst>
          </a:prstGeom>
          <a:solidFill>
            <a:srgbClr val="F1F4F9"/>
          </a:solidFill>
          <a:ln/>
          <a:effectLst>
            <a:outerShdw sx="100000" sy="100000" kx="0" ky="0" algn="bl" rotWithShape="0" blurRad="127000" dist="25400" dir="5400000">
              <a:srgbClr val="8A97AC">
                <a:alpha val="22000"/>
              </a:srgbClr>
            </a:outerShdw>
          </a:effectLst>
        </p:spPr>
      </p:sp>
      <p:sp>
        <p:nvSpPr>
          <p:cNvPr id="5" name="Text 3"/>
          <p:cNvSpPr/>
          <p:nvPr/>
        </p:nvSpPr>
        <p:spPr>
          <a:xfrm>
            <a:off x="841248" y="1755648"/>
            <a:ext cx="2980944" cy="274320"/>
          </a:xfrm>
          <a:prstGeom prst="rect">
            <a:avLst/>
          </a:prstGeom>
          <a:noFill/>
          <a:ln/>
        </p:spPr>
        <p:txBody>
          <a:bodyPr wrap="square" lIns="0" tIns="0" rIns="0" bIns="0" rtlCol="0" anchor="ctr"/>
          <a:lstStyle/>
          <a:p>
            <a:pPr indent="0" marL="0">
              <a:buNone/>
            </a:pPr>
            <a:r>
              <a:rPr lang="en-US" sz="1150" b="1" dirty="0">
                <a:solidFill>
                  <a:srgbClr val="5A6472"/>
                </a:solidFill>
                <a:latin typeface="Meiryo" pitchFamily="34" charset="0"/>
                <a:ea typeface="Meiryo" pitchFamily="34" charset="-122"/>
                <a:cs typeface="Meiryo" pitchFamily="34" charset="-120"/>
              </a:rPr>
              <a:t>投資額</a:t>
            </a:r>
            <a:endParaRPr lang="en-US" sz="1150" dirty="0"/>
          </a:p>
        </p:txBody>
      </p:sp>
      <p:sp>
        <p:nvSpPr>
          <p:cNvPr id="6" name="Text 4"/>
          <p:cNvSpPr/>
          <p:nvPr/>
        </p:nvSpPr>
        <p:spPr>
          <a:xfrm>
            <a:off x="841248" y="2066544"/>
            <a:ext cx="2980944" cy="658368"/>
          </a:xfrm>
          <a:prstGeom prst="rect">
            <a:avLst/>
          </a:prstGeom>
          <a:noFill/>
          <a:ln/>
        </p:spPr>
        <p:txBody>
          <a:bodyPr wrap="square" lIns="0" tIns="0" rIns="0" bIns="0" rtlCol="0" anchor="ctr"/>
          <a:lstStyle/>
          <a:p>
            <a:pPr indent="0" marL="0">
              <a:buNone/>
            </a:pPr>
            <a:r>
              <a:rPr lang="en-US" sz="3000" b="1" dirty="0">
                <a:solidFill>
                  <a:srgbClr val="16233F"/>
                </a:solidFill>
                <a:latin typeface="Meiryo" pitchFamily="34" charset="0"/>
                <a:ea typeface="Meiryo" pitchFamily="34" charset="-122"/>
                <a:cs typeface="Meiryo" pitchFamily="34" charset="-120"/>
              </a:rPr>
              <a:t>529.2万円</a:t>
            </a:r>
            <a:endParaRPr lang="en-US" sz="3000" dirty="0"/>
          </a:p>
        </p:txBody>
      </p:sp>
      <p:sp>
        <p:nvSpPr>
          <p:cNvPr id="7" name="Text 5"/>
          <p:cNvSpPr/>
          <p:nvPr/>
        </p:nvSpPr>
        <p:spPr>
          <a:xfrm>
            <a:off x="841248" y="2779776"/>
            <a:ext cx="2980944" cy="402336"/>
          </a:xfrm>
          <a:prstGeom prst="rect">
            <a:avLst/>
          </a:prstGeom>
          <a:noFill/>
          <a:ln/>
        </p:spPr>
        <p:txBody>
          <a:bodyPr wrap="square" lIns="0" tIns="0" rIns="0" bIns="0" rtlCol="0" anchor="ctr"/>
          <a:lstStyle/>
          <a:p>
            <a:pPr indent="0" marL="0">
              <a:lnSpc>
                <a:spcPts val="1600"/>
              </a:lnSpc>
              <a:buNone/>
            </a:pPr>
            <a:r>
              <a:rPr lang="en-US" sz="1100" dirty="0">
                <a:solidFill>
                  <a:srgbClr val="5A6472"/>
                </a:solidFill>
                <a:latin typeface="Meiryo" pitchFamily="34" charset="0"/>
                <a:ea typeface="Meiryo" pitchFamily="34" charset="-122"/>
                <a:cs typeface="Meiryo" pitchFamily="34" charset="-120"/>
              </a:rPr>
              <a:t>年間ライセンス費用</a:t>
            </a:r>
            <a:endParaRPr lang="en-US" sz="1100" dirty="0"/>
          </a:p>
        </p:txBody>
      </p:sp>
      <p:sp>
        <p:nvSpPr>
          <p:cNvPr id="8" name="Shape 6"/>
          <p:cNvSpPr/>
          <p:nvPr/>
        </p:nvSpPr>
        <p:spPr>
          <a:xfrm>
            <a:off x="4439412" y="1591056"/>
            <a:ext cx="3529584" cy="1737360"/>
          </a:xfrm>
          <a:prstGeom prst="roundRect">
            <a:avLst>
              <a:gd name="adj" fmla="val 3158"/>
            </a:avLst>
          </a:prstGeom>
          <a:solidFill>
            <a:srgbClr val="F1F4F9"/>
          </a:solidFill>
          <a:ln/>
          <a:effectLst>
            <a:outerShdw sx="100000" sy="100000" kx="0" ky="0" algn="bl" rotWithShape="0" blurRad="127000" dist="25400" dir="5400000">
              <a:srgbClr val="8A97AC">
                <a:alpha val="22000"/>
              </a:srgbClr>
            </a:outerShdw>
          </a:effectLst>
        </p:spPr>
      </p:sp>
      <p:sp>
        <p:nvSpPr>
          <p:cNvPr id="9" name="Text 7"/>
          <p:cNvSpPr/>
          <p:nvPr/>
        </p:nvSpPr>
        <p:spPr>
          <a:xfrm>
            <a:off x="4713732" y="1755648"/>
            <a:ext cx="2980944" cy="274320"/>
          </a:xfrm>
          <a:prstGeom prst="rect">
            <a:avLst/>
          </a:prstGeom>
          <a:noFill/>
          <a:ln/>
        </p:spPr>
        <p:txBody>
          <a:bodyPr wrap="square" lIns="0" tIns="0" rIns="0" bIns="0" rtlCol="0" anchor="ctr"/>
          <a:lstStyle/>
          <a:p>
            <a:pPr indent="0" marL="0">
              <a:buNone/>
            </a:pPr>
            <a:r>
              <a:rPr lang="en-US" sz="1150" b="1" dirty="0">
                <a:solidFill>
                  <a:srgbClr val="5A6472"/>
                </a:solidFill>
                <a:latin typeface="Meiryo" pitchFamily="34" charset="0"/>
                <a:ea typeface="Meiryo" pitchFamily="34" charset="-122"/>
                <a:cs typeface="Meiryo" pitchFamily="34" charset="-120"/>
              </a:rPr>
              <a:t>効果（会議のみ）</a:t>
            </a:r>
            <a:endParaRPr lang="en-US" sz="1150" dirty="0"/>
          </a:p>
        </p:txBody>
      </p:sp>
      <p:sp>
        <p:nvSpPr>
          <p:cNvPr id="10" name="Text 8"/>
          <p:cNvSpPr/>
          <p:nvPr/>
        </p:nvSpPr>
        <p:spPr>
          <a:xfrm>
            <a:off x="4713732" y="2066544"/>
            <a:ext cx="2980944" cy="658368"/>
          </a:xfrm>
          <a:prstGeom prst="rect">
            <a:avLst/>
          </a:prstGeom>
          <a:noFill/>
          <a:ln/>
        </p:spPr>
        <p:txBody>
          <a:bodyPr wrap="square" lIns="0" tIns="0" rIns="0" bIns="0" rtlCol="0" anchor="ctr"/>
          <a:lstStyle/>
          <a:p>
            <a:pPr indent="0" marL="0">
              <a:buNone/>
            </a:pPr>
            <a:r>
              <a:rPr lang="en-US" sz="2800" b="1" dirty="0">
                <a:solidFill>
                  <a:srgbClr val="1F7A6C"/>
                </a:solidFill>
                <a:latin typeface="Meiryo" pitchFamily="34" charset="0"/>
                <a:ea typeface="Meiryo" pitchFamily="34" charset="-122"/>
                <a:cs typeface="Meiryo" pitchFamily="34" charset="-120"/>
              </a:rPr>
              <a:t>約1,980万円</a:t>
            </a:r>
            <a:endParaRPr lang="en-US" sz="2800" dirty="0"/>
          </a:p>
        </p:txBody>
      </p:sp>
      <p:sp>
        <p:nvSpPr>
          <p:cNvPr id="11" name="Text 9"/>
          <p:cNvSpPr/>
          <p:nvPr/>
        </p:nvSpPr>
        <p:spPr>
          <a:xfrm>
            <a:off x="4713732" y="2779776"/>
            <a:ext cx="2980944" cy="402336"/>
          </a:xfrm>
          <a:prstGeom prst="rect">
            <a:avLst/>
          </a:prstGeom>
          <a:noFill/>
          <a:ln/>
        </p:spPr>
        <p:txBody>
          <a:bodyPr wrap="square" lIns="0" tIns="0" rIns="0" bIns="0" rtlCol="0" anchor="ctr"/>
          <a:lstStyle/>
          <a:p>
            <a:pPr indent="0" marL="0">
              <a:lnSpc>
                <a:spcPts val="1600"/>
              </a:lnSpc>
              <a:buNone/>
            </a:pPr>
            <a:r>
              <a:rPr lang="en-US" sz="1100" dirty="0">
                <a:solidFill>
                  <a:srgbClr val="5A6472"/>
                </a:solidFill>
                <a:latin typeface="Meiryo" pitchFamily="34" charset="0"/>
                <a:ea typeface="Meiryo" pitchFamily="34" charset="-122"/>
                <a:cs typeface="Meiryo" pitchFamily="34" charset="-120"/>
              </a:rPr>
              <a:t>目的が曖昧な会議の3割を削減</a:t>
            </a:r>
            <a:endParaRPr lang="en-US" sz="1100" dirty="0"/>
          </a:p>
        </p:txBody>
      </p:sp>
      <p:sp>
        <p:nvSpPr>
          <p:cNvPr id="12" name="Shape 10"/>
          <p:cNvSpPr/>
          <p:nvPr/>
        </p:nvSpPr>
        <p:spPr>
          <a:xfrm>
            <a:off x="8311896" y="1591056"/>
            <a:ext cx="3529584" cy="1737360"/>
          </a:xfrm>
          <a:prstGeom prst="roundRect">
            <a:avLst>
              <a:gd name="adj" fmla="val 3158"/>
            </a:avLst>
          </a:prstGeom>
          <a:solidFill>
            <a:srgbClr val="16233F"/>
          </a:solidFill>
          <a:ln/>
          <a:effectLst>
            <a:outerShdw sx="100000" sy="100000" kx="0" ky="0" algn="bl" rotWithShape="0" blurRad="127000" dist="25400" dir="5400000">
              <a:srgbClr val="8A97AC">
                <a:alpha val="22000"/>
              </a:srgbClr>
            </a:outerShdw>
          </a:effectLst>
        </p:spPr>
      </p:sp>
      <p:sp>
        <p:nvSpPr>
          <p:cNvPr id="13" name="Text 11"/>
          <p:cNvSpPr/>
          <p:nvPr/>
        </p:nvSpPr>
        <p:spPr>
          <a:xfrm>
            <a:off x="8586216" y="1755648"/>
            <a:ext cx="2980944" cy="274320"/>
          </a:xfrm>
          <a:prstGeom prst="rect">
            <a:avLst/>
          </a:prstGeom>
          <a:noFill/>
          <a:ln/>
        </p:spPr>
        <p:txBody>
          <a:bodyPr wrap="square" lIns="0" tIns="0" rIns="0" bIns="0" rtlCol="0" anchor="ctr"/>
          <a:lstStyle/>
          <a:p>
            <a:pPr indent="0" marL="0">
              <a:buNone/>
            </a:pPr>
            <a:r>
              <a:rPr lang="en-US" sz="1150" b="1" dirty="0">
                <a:solidFill>
                  <a:srgbClr val="9FB0CC"/>
                </a:solidFill>
                <a:latin typeface="Meiryo" pitchFamily="34" charset="0"/>
                <a:ea typeface="Meiryo" pitchFamily="34" charset="-122"/>
                <a:cs typeface="Meiryo" pitchFamily="34" charset="-120"/>
              </a:rPr>
              <a:t>倍率</a:t>
            </a:r>
            <a:endParaRPr lang="en-US" sz="1150" dirty="0"/>
          </a:p>
        </p:txBody>
      </p:sp>
      <p:sp>
        <p:nvSpPr>
          <p:cNvPr id="14" name="Text 12"/>
          <p:cNvSpPr/>
          <p:nvPr/>
        </p:nvSpPr>
        <p:spPr>
          <a:xfrm>
            <a:off x="8586216" y="2066544"/>
            <a:ext cx="2980944" cy="658368"/>
          </a:xfrm>
          <a:prstGeom prst="rect">
            <a:avLst/>
          </a:prstGeom>
          <a:noFill/>
          <a:ln/>
        </p:spPr>
        <p:txBody>
          <a:bodyPr wrap="square" lIns="0" tIns="0" rIns="0" bIns="0" rtlCol="0" anchor="ctr"/>
          <a:lstStyle/>
          <a:p>
            <a:pPr indent="0" marL="0">
              <a:buNone/>
            </a:pPr>
            <a:r>
              <a:rPr lang="en-US" sz="3000" b="1" dirty="0">
                <a:solidFill>
                  <a:srgbClr val="E8A33D"/>
                </a:solidFill>
                <a:latin typeface="Meiryo" pitchFamily="34" charset="0"/>
                <a:ea typeface="Meiryo" pitchFamily="34" charset="-122"/>
                <a:cs typeface="Meiryo" pitchFamily="34" charset="-120"/>
              </a:rPr>
              <a:t>約3.7倍</a:t>
            </a:r>
            <a:endParaRPr lang="en-US" sz="3000" dirty="0"/>
          </a:p>
        </p:txBody>
      </p:sp>
      <p:sp>
        <p:nvSpPr>
          <p:cNvPr id="15" name="Text 13"/>
          <p:cNvSpPr/>
          <p:nvPr/>
        </p:nvSpPr>
        <p:spPr>
          <a:xfrm>
            <a:off x="8586216" y="2779776"/>
            <a:ext cx="2980944" cy="402336"/>
          </a:xfrm>
          <a:prstGeom prst="rect">
            <a:avLst/>
          </a:prstGeom>
          <a:noFill/>
          <a:ln/>
        </p:spPr>
        <p:txBody>
          <a:bodyPr wrap="square" lIns="0" tIns="0" rIns="0" bIns="0" rtlCol="0" anchor="ctr"/>
          <a:lstStyle/>
          <a:p>
            <a:pPr indent="0" marL="0">
              <a:lnSpc>
                <a:spcPts val="1600"/>
              </a:lnSpc>
              <a:buNone/>
            </a:pPr>
            <a:r>
              <a:rPr lang="en-US" sz="1100" dirty="0">
                <a:solidFill>
                  <a:srgbClr val="C3CEE0"/>
                </a:solidFill>
                <a:latin typeface="Meiryo" pitchFamily="34" charset="0"/>
                <a:ea typeface="Meiryo" pitchFamily="34" charset="-122"/>
                <a:cs typeface="Meiryo" pitchFamily="34" charset="-120"/>
              </a:rPr>
              <a:t>会議削減効果 ÷ 投資額</a:t>
            </a:r>
            <a:endParaRPr lang="en-US" sz="1100" dirty="0"/>
          </a:p>
        </p:txBody>
      </p:sp>
      <p:sp>
        <p:nvSpPr>
          <p:cNvPr id="16" name="Text 14"/>
          <p:cNvSpPr/>
          <p:nvPr/>
        </p:nvSpPr>
        <p:spPr>
          <a:xfrm>
            <a:off x="566928" y="3602736"/>
            <a:ext cx="11057839" cy="292608"/>
          </a:xfrm>
          <a:prstGeom prst="rect">
            <a:avLst/>
          </a:prstGeom>
          <a:noFill/>
          <a:ln/>
        </p:spPr>
        <p:txBody>
          <a:bodyPr wrap="square" lIns="0" tIns="0" rIns="0" bIns="0" rtlCol="0" anchor="ctr"/>
          <a:lstStyle/>
          <a:p>
            <a:pPr indent="0" marL="0">
              <a:buNone/>
            </a:pPr>
            <a:r>
              <a:rPr lang="en-US" sz="1300" b="1" dirty="0">
                <a:solidFill>
                  <a:srgbClr val="16233F"/>
                </a:solidFill>
                <a:latin typeface="Meiryo" pitchFamily="34" charset="0"/>
                <a:ea typeface="Meiryo" pitchFamily="34" charset="-122"/>
                <a:cs typeface="Meiryo" pitchFamily="34" charset="-120"/>
              </a:rPr>
              <a:t>その他の効果（今回は金額に算入していません）</a:t>
            </a:r>
            <a:endParaRPr lang="en-US" sz="1300" dirty="0"/>
          </a:p>
        </p:txBody>
      </p:sp>
      <p:sp>
        <p:nvSpPr>
          <p:cNvPr id="17" name="Shape 15"/>
          <p:cNvSpPr/>
          <p:nvPr/>
        </p:nvSpPr>
        <p:spPr>
          <a:xfrm>
            <a:off x="566928" y="3986784"/>
            <a:ext cx="11057839" cy="438912"/>
          </a:xfrm>
          <a:prstGeom prst="roundRect">
            <a:avLst>
              <a:gd name="adj" fmla="val 8333"/>
            </a:avLst>
          </a:prstGeom>
          <a:solidFill>
            <a:srgbClr val="FFFFFF"/>
          </a:solidFill>
          <a:ln w="12700">
            <a:solidFill>
              <a:srgbClr val="D5DCE6"/>
            </a:solidFill>
            <a:prstDash val="solid"/>
          </a:ln>
        </p:spPr>
      </p:sp>
      <p:sp>
        <p:nvSpPr>
          <p:cNvPr id="18" name="Shape 16"/>
          <p:cNvSpPr/>
          <p:nvPr/>
        </p:nvSpPr>
        <p:spPr>
          <a:xfrm>
            <a:off x="713232" y="4069080"/>
            <a:ext cx="274320" cy="274320"/>
          </a:xfrm>
          <a:prstGeom prst="ellipse">
            <a:avLst/>
          </a:prstGeom>
          <a:solidFill>
            <a:srgbClr val="2C5F8D"/>
          </a:solidFill>
          <a:ln/>
        </p:spPr>
      </p:sp>
      <p:sp>
        <p:nvSpPr>
          <p:cNvPr id="19" name="Text 17"/>
          <p:cNvSpPr/>
          <p:nvPr/>
        </p:nvSpPr>
        <p:spPr>
          <a:xfrm>
            <a:off x="713232" y="4069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a:t>
            </a:r>
            <a:endParaRPr lang="en-US" sz="1000" dirty="0"/>
          </a:p>
        </p:txBody>
      </p:sp>
      <p:sp>
        <p:nvSpPr>
          <p:cNvPr id="20" name="Text 18"/>
          <p:cNvSpPr/>
          <p:nvPr/>
        </p:nvSpPr>
        <p:spPr>
          <a:xfrm>
            <a:off x="1133856" y="3986784"/>
            <a:ext cx="8229600" cy="438912"/>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手戻り・遅延の削減</a:t>
            </a:r>
            <a:endParaRPr lang="en-US" sz="1200" dirty="0"/>
          </a:p>
        </p:txBody>
      </p:sp>
      <p:sp>
        <p:nvSpPr>
          <p:cNvPr id="21" name="Text 19"/>
          <p:cNvSpPr/>
          <p:nvPr/>
        </p:nvSpPr>
        <p:spPr>
          <a:xfrm>
            <a:off x="9436608" y="3986784"/>
            <a:ext cx="2103120" cy="438912"/>
          </a:xfrm>
          <a:prstGeom prst="rect">
            <a:avLst/>
          </a:prstGeom>
          <a:noFill/>
          <a:ln/>
        </p:spPr>
        <p:txBody>
          <a:bodyPr wrap="square" lIns="0" tIns="0" rIns="0" bIns="0" rtlCol="0" anchor="ctr"/>
          <a:lstStyle/>
          <a:p>
            <a:pPr algn="r" indent="0" marL="0">
              <a:buNone/>
            </a:pPr>
            <a:r>
              <a:rPr lang="en-US" sz="1100" dirty="0">
                <a:solidFill>
                  <a:srgbClr val="5A6472"/>
                </a:solidFill>
                <a:latin typeface="Meiryo" pitchFamily="34" charset="0"/>
                <a:ea typeface="Meiryo" pitchFamily="34" charset="-122"/>
                <a:cs typeface="Meiryo" pitchFamily="34" charset="-120"/>
              </a:rPr>
              <a:t>実測後に算定</a:t>
            </a:r>
            <a:endParaRPr lang="en-US" sz="1100" dirty="0"/>
          </a:p>
        </p:txBody>
      </p:sp>
      <p:sp>
        <p:nvSpPr>
          <p:cNvPr id="22" name="Shape 20"/>
          <p:cNvSpPr/>
          <p:nvPr/>
        </p:nvSpPr>
        <p:spPr>
          <a:xfrm>
            <a:off x="566928" y="4498848"/>
            <a:ext cx="11057839" cy="438912"/>
          </a:xfrm>
          <a:prstGeom prst="roundRect">
            <a:avLst>
              <a:gd name="adj" fmla="val 8333"/>
            </a:avLst>
          </a:prstGeom>
          <a:solidFill>
            <a:srgbClr val="FFFFFF"/>
          </a:solidFill>
          <a:ln w="12700">
            <a:solidFill>
              <a:srgbClr val="D5DCE6"/>
            </a:solidFill>
            <a:prstDash val="solid"/>
          </a:ln>
        </p:spPr>
      </p:sp>
      <p:sp>
        <p:nvSpPr>
          <p:cNvPr id="23" name="Shape 21"/>
          <p:cNvSpPr/>
          <p:nvPr/>
        </p:nvSpPr>
        <p:spPr>
          <a:xfrm>
            <a:off x="713232" y="4581144"/>
            <a:ext cx="274320" cy="274320"/>
          </a:xfrm>
          <a:prstGeom prst="ellipse">
            <a:avLst/>
          </a:prstGeom>
          <a:solidFill>
            <a:srgbClr val="2C5F8D"/>
          </a:solidFill>
          <a:ln/>
        </p:spPr>
      </p:sp>
      <p:sp>
        <p:nvSpPr>
          <p:cNvPr id="24" name="Text 22"/>
          <p:cNvSpPr/>
          <p:nvPr/>
        </p:nvSpPr>
        <p:spPr>
          <a:xfrm>
            <a:off x="713232" y="45811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a:t>
            </a:r>
            <a:endParaRPr lang="en-US" sz="1000" dirty="0"/>
          </a:p>
        </p:txBody>
      </p:sp>
      <p:sp>
        <p:nvSpPr>
          <p:cNvPr id="25" name="Text 23"/>
          <p:cNvSpPr/>
          <p:nvPr/>
        </p:nvSpPr>
        <p:spPr>
          <a:xfrm>
            <a:off x="1133856" y="4498848"/>
            <a:ext cx="8229600" cy="438912"/>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PMOが全案件のリスクを事前に検知できる</a:t>
            </a:r>
            <a:endParaRPr lang="en-US" sz="1200" dirty="0"/>
          </a:p>
        </p:txBody>
      </p:sp>
      <p:sp>
        <p:nvSpPr>
          <p:cNvPr id="26" name="Text 24"/>
          <p:cNvSpPr/>
          <p:nvPr/>
        </p:nvSpPr>
        <p:spPr>
          <a:xfrm>
            <a:off x="9436608" y="4498848"/>
            <a:ext cx="2103120" cy="438912"/>
          </a:xfrm>
          <a:prstGeom prst="rect">
            <a:avLst/>
          </a:prstGeom>
          <a:noFill/>
          <a:ln/>
        </p:spPr>
        <p:txBody>
          <a:bodyPr wrap="square" lIns="0" tIns="0" rIns="0" bIns="0" rtlCol="0" anchor="ctr"/>
          <a:lstStyle/>
          <a:p>
            <a:pPr algn="r" indent="0" marL="0">
              <a:buNone/>
            </a:pPr>
            <a:r>
              <a:rPr lang="en-US" sz="1100" dirty="0">
                <a:solidFill>
                  <a:srgbClr val="5A6472"/>
                </a:solidFill>
                <a:latin typeface="Meiryo" pitchFamily="34" charset="0"/>
                <a:ea typeface="Meiryo" pitchFamily="34" charset="-122"/>
                <a:cs typeface="Meiryo" pitchFamily="34" charset="-120"/>
              </a:rPr>
              <a:t>定性</a:t>
            </a:r>
            <a:endParaRPr lang="en-US" sz="1100" dirty="0"/>
          </a:p>
        </p:txBody>
      </p:sp>
      <p:sp>
        <p:nvSpPr>
          <p:cNvPr id="27" name="Shape 25"/>
          <p:cNvSpPr/>
          <p:nvPr/>
        </p:nvSpPr>
        <p:spPr>
          <a:xfrm>
            <a:off x="566928" y="5010912"/>
            <a:ext cx="11057839" cy="438912"/>
          </a:xfrm>
          <a:prstGeom prst="roundRect">
            <a:avLst>
              <a:gd name="adj" fmla="val 8333"/>
            </a:avLst>
          </a:prstGeom>
          <a:solidFill>
            <a:srgbClr val="FFFFFF"/>
          </a:solidFill>
          <a:ln w="12700">
            <a:solidFill>
              <a:srgbClr val="D5DCE6"/>
            </a:solidFill>
            <a:prstDash val="solid"/>
          </a:ln>
        </p:spPr>
      </p:sp>
      <p:sp>
        <p:nvSpPr>
          <p:cNvPr id="28" name="Shape 26"/>
          <p:cNvSpPr/>
          <p:nvPr/>
        </p:nvSpPr>
        <p:spPr>
          <a:xfrm>
            <a:off x="713232" y="5093208"/>
            <a:ext cx="274320" cy="274320"/>
          </a:xfrm>
          <a:prstGeom prst="ellipse">
            <a:avLst/>
          </a:prstGeom>
          <a:solidFill>
            <a:srgbClr val="1F7A6C"/>
          </a:solidFill>
          <a:ln/>
        </p:spPr>
      </p:sp>
      <p:sp>
        <p:nvSpPr>
          <p:cNvPr id="29" name="Text 27"/>
          <p:cNvSpPr/>
          <p:nvPr/>
        </p:nvSpPr>
        <p:spPr>
          <a:xfrm>
            <a:off x="713232" y="50932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B</a:t>
            </a:r>
            <a:endParaRPr lang="en-US" sz="1000" dirty="0"/>
          </a:p>
        </p:txBody>
      </p:sp>
      <p:sp>
        <p:nvSpPr>
          <p:cNvPr id="30" name="Text 28"/>
          <p:cNvSpPr/>
          <p:nvPr/>
        </p:nvSpPr>
        <p:spPr>
          <a:xfrm>
            <a:off x="1133856" y="5010912"/>
            <a:ext cx="8229600" cy="438912"/>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属人化の解消。異動・退職時の引き継ぎコスト低減</a:t>
            </a:r>
            <a:endParaRPr lang="en-US" sz="1200" dirty="0"/>
          </a:p>
        </p:txBody>
      </p:sp>
      <p:sp>
        <p:nvSpPr>
          <p:cNvPr id="31" name="Text 29"/>
          <p:cNvSpPr/>
          <p:nvPr/>
        </p:nvSpPr>
        <p:spPr>
          <a:xfrm>
            <a:off x="9436608" y="5010912"/>
            <a:ext cx="2103120" cy="438912"/>
          </a:xfrm>
          <a:prstGeom prst="rect">
            <a:avLst/>
          </a:prstGeom>
          <a:noFill/>
          <a:ln/>
        </p:spPr>
        <p:txBody>
          <a:bodyPr wrap="square" lIns="0" tIns="0" rIns="0" bIns="0" rtlCol="0" anchor="ctr"/>
          <a:lstStyle/>
          <a:p>
            <a:pPr algn="r" indent="0" marL="0">
              <a:buNone/>
            </a:pPr>
            <a:r>
              <a:rPr lang="en-US" sz="1100" dirty="0">
                <a:solidFill>
                  <a:srgbClr val="5A6472"/>
                </a:solidFill>
                <a:latin typeface="Meiryo" pitchFamily="34" charset="0"/>
                <a:ea typeface="Meiryo" pitchFamily="34" charset="-122"/>
                <a:cs typeface="Meiryo" pitchFamily="34" charset="-120"/>
              </a:rPr>
              <a:t>定性</a:t>
            </a:r>
            <a:endParaRPr lang="en-US" sz="1100" dirty="0"/>
          </a:p>
        </p:txBody>
      </p:sp>
      <p:sp>
        <p:nvSpPr>
          <p:cNvPr id="32" name="Shape 30"/>
          <p:cNvSpPr/>
          <p:nvPr/>
        </p:nvSpPr>
        <p:spPr>
          <a:xfrm>
            <a:off x="566928" y="5522976"/>
            <a:ext cx="11057839" cy="438912"/>
          </a:xfrm>
          <a:prstGeom prst="roundRect">
            <a:avLst>
              <a:gd name="adj" fmla="val 8333"/>
            </a:avLst>
          </a:prstGeom>
          <a:solidFill>
            <a:srgbClr val="FFFFFF"/>
          </a:solidFill>
          <a:ln w="12700">
            <a:solidFill>
              <a:srgbClr val="D5DCE6"/>
            </a:solidFill>
            <a:prstDash val="solid"/>
          </a:ln>
        </p:spPr>
      </p:sp>
      <p:sp>
        <p:nvSpPr>
          <p:cNvPr id="33" name="Shape 31"/>
          <p:cNvSpPr/>
          <p:nvPr/>
        </p:nvSpPr>
        <p:spPr>
          <a:xfrm>
            <a:off x="713232" y="5605272"/>
            <a:ext cx="274320" cy="274320"/>
          </a:xfrm>
          <a:prstGeom prst="ellipse">
            <a:avLst/>
          </a:prstGeom>
          <a:solidFill>
            <a:srgbClr val="2C5F8D"/>
          </a:solidFill>
          <a:ln/>
        </p:spPr>
      </p:sp>
      <p:sp>
        <p:nvSpPr>
          <p:cNvPr id="34" name="Text 32"/>
          <p:cNvSpPr/>
          <p:nvPr/>
        </p:nvSpPr>
        <p:spPr>
          <a:xfrm>
            <a:off x="713232" y="56052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a:t>
            </a:r>
            <a:endParaRPr lang="en-US" sz="1000" dirty="0"/>
          </a:p>
        </p:txBody>
      </p:sp>
      <p:sp>
        <p:nvSpPr>
          <p:cNvPr id="35" name="Text 33"/>
          <p:cNvSpPr/>
          <p:nvPr/>
        </p:nvSpPr>
        <p:spPr>
          <a:xfrm>
            <a:off x="1133856" y="5522976"/>
            <a:ext cx="8229600" cy="438912"/>
          </a:xfrm>
          <a:prstGeom prst="rect">
            <a:avLst/>
          </a:prstGeom>
          <a:noFill/>
          <a:ln/>
        </p:spPr>
        <p:txBody>
          <a:bodyPr wrap="square" lIns="0" tIns="0" rIns="0" bIns="0" rtlCol="0" anchor="ctr"/>
          <a:lstStyle/>
          <a:p>
            <a:pPr indent="0" marL="0">
              <a:buNone/>
            </a:pPr>
            <a:r>
              <a:rPr lang="en-US" sz="1200" dirty="0">
                <a:solidFill>
                  <a:srgbClr val="1A1F2B"/>
                </a:solidFill>
                <a:latin typeface="Meiryo" pitchFamily="34" charset="0"/>
                <a:ea typeface="Meiryo" pitchFamily="34" charset="-122"/>
                <a:cs typeface="Meiryo" pitchFamily="34" charset="-120"/>
              </a:rPr>
              <a:t>顧客への納期遵守率向上による信用の維持</a:t>
            </a:r>
            <a:endParaRPr lang="en-US" sz="1200" dirty="0"/>
          </a:p>
        </p:txBody>
      </p:sp>
      <p:sp>
        <p:nvSpPr>
          <p:cNvPr id="36" name="Text 34"/>
          <p:cNvSpPr/>
          <p:nvPr/>
        </p:nvSpPr>
        <p:spPr>
          <a:xfrm>
            <a:off x="9436608" y="5522976"/>
            <a:ext cx="2103120" cy="438912"/>
          </a:xfrm>
          <a:prstGeom prst="rect">
            <a:avLst/>
          </a:prstGeom>
          <a:noFill/>
          <a:ln/>
        </p:spPr>
        <p:txBody>
          <a:bodyPr wrap="square" lIns="0" tIns="0" rIns="0" bIns="0" rtlCol="0" anchor="ctr"/>
          <a:lstStyle/>
          <a:p>
            <a:pPr algn="r" indent="0" marL="0">
              <a:buNone/>
            </a:pPr>
            <a:r>
              <a:rPr lang="en-US" sz="1100" dirty="0">
                <a:solidFill>
                  <a:srgbClr val="5A6472"/>
                </a:solidFill>
                <a:latin typeface="Meiryo" pitchFamily="34" charset="0"/>
                <a:ea typeface="Meiryo" pitchFamily="34" charset="-122"/>
                <a:cs typeface="Meiryo" pitchFamily="34" charset="-120"/>
              </a:rPr>
              <a:t>定性</a:t>
            </a:r>
            <a:endParaRPr lang="en-US" sz="1100" dirty="0"/>
          </a:p>
        </p:txBody>
      </p:sp>
      <p:sp>
        <p:nvSpPr>
          <p:cNvPr id="37" name="Text 35"/>
          <p:cNvSpPr/>
          <p:nvPr/>
        </p:nvSpPr>
        <p:spPr>
          <a:xfrm>
            <a:off x="566928" y="6089904"/>
            <a:ext cx="11057839" cy="274320"/>
          </a:xfrm>
          <a:prstGeom prst="rect">
            <a:avLst/>
          </a:prstGeom>
          <a:noFill/>
          <a:ln/>
        </p:spPr>
        <p:txBody>
          <a:bodyPr wrap="square" lIns="0" tIns="0" rIns="0" bIns="0" rtlCol="0" anchor="ctr"/>
          <a:lstStyle/>
          <a:p>
            <a:pPr indent="0" marL="0">
              <a:buNone/>
            </a:pPr>
            <a:r>
              <a:rPr lang="en-US" sz="1000" dirty="0">
                <a:solidFill>
                  <a:srgbClr val="5A6472"/>
                </a:solidFill>
                <a:latin typeface="Meiryo" pitchFamily="34" charset="0"/>
                <a:ea typeface="Meiryo" pitchFamily="34" charset="-122"/>
                <a:cs typeface="Meiryo" pitchFamily="34" charset="-120"/>
              </a:rPr>
              <a:t>※ 削減率3割は意図的に控えめな設定です</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リスクと対策</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想定されるリスクは3つ。すべて対策があります</a:t>
            </a:r>
            <a:endParaRPr lang="en-US" sz="2700" dirty="0"/>
          </a:p>
        </p:txBody>
      </p:sp>
      <p:sp>
        <p:nvSpPr>
          <p:cNvPr id="4" name="Shape 2"/>
          <p:cNvSpPr/>
          <p:nvPr/>
        </p:nvSpPr>
        <p:spPr>
          <a:xfrm>
            <a:off x="566928" y="1591056"/>
            <a:ext cx="3529584" cy="4114800"/>
          </a:xfrm>
          <a:prstGeom prst="roundRect">
            <a:avLst>
              <a:gd name="adj" fmla="val 1554"/>
            </a:avLst>
          </a:prstGeom>
          <a:solidFill>
            <a:srgbClr val="F1F4F9"/>
          </a:solidFill>
          <a:ln/>
          <a:effectLst>
            <a:outerShdw sx="100000" sy="100000" kx="0" ky="0" algn="bl" rotWithShape="0" blurRad="127000" dist="25400" dir="5400000">
              <a:srgbClr val="8A97AC">
                <a:alpha val="22000"/>
              </a:srgbClr>
            </a:outerShdw>
          </a:effectLst>
        </p:spPr>
      </p:sp>
      <p:sp>
        <p:nvSpPr>
          <p:cNvPr id="5" name="Shape 3"/>
          <p:cNvSpPr/>
          <p:nvPr/>
        </p:nvSpPr>
        <p:spPr>
          <a:xfrm>
            <a:off x="841248" y="1810512"/>
            <a:ext cx="402336" cy="402336"/>
          </a:xfrm>
          <a:prstGeom prst="ellipse">
            <a:avLst/>
          </a:prstGeom>
          <a:solidFill>
            <a:srgbClr val="B3423A"/>
          </a:solidFill>
          <a:ln/>
        </p:spPr>
      </p:sp>
      <p:sp>
        <p:nvSpPr>
          <p:cNvPr id="6" name="Text 4"/>
          <p:cNvSpPr/>
          <p:nvPr/>
        </p:nvSpPr>
        <p:spPr>
          <a:xfrm>
            <a:off x="841248" y="1810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 name="Text 5"/>
          <p:cNvSpPr/>
          <p:nvPr/>
        </p:nvSpPr>
        <p:spPr>
          <a:xfrm>
            <a:off x="1353312" y="1792224"/>
            <a:ext cx="2523744" cy="438912"/>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定着しない</a:t>
            </a:r>
            <a:endParaRPr lang="en-US" sz="1500" dirty="0"/>
          </a:p>
        </p:txBody>
      </p:sp>
      <p:sp>
        <p:nvSpPr>
          <p:cNvPr id="8" name="Text 6"/>
          <p:cNvSpPr/>
          <p:nvPr/>
        </p:nvSpPr>
        <p:spPr>
          <a:xfrm>
            <a:off x="841248" y="2322576"/>
            <a:ext cx="2980944" cy="603504"/>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一部の人しか使わず、結局チャットに戻る</a:t>
            </a:r>
            <a:endParaRPr lang="en-US" sz="1100" dirty="0"/>
          </a:p>
        </p:txBody>
      </p:sp>
      <p:sp>
        <p:nvSpPr>
          <p:cNvPr id="9" name="Text 7"/>
          <p:cNvSpPr/>
          <p:nvPr/>
        </p:nvSpPr>
        <p:spPr>
          <a:xfrm>
            <a:off x="841248" y="2980944"/>
            <a:ext cx="1371600" cy="256032"/>
          </a:xfrm>
          <a:prstGeom prst="rect">
            <a:avLst/>
          </a:prstGeom>
          <a:noFill/>
          <a:ln/>
        </p:spPr>
        <p:txBody>
          <a:bodyPr wrap="square" lIns="0" tIns="0" rIns="0" bIns="0" rtlCol="0" anchor="ctr"/>
          <a:lstStyle/>
          <a:p>
            <a:pPr indent="0" marL="0">
              <a:buNone/>
            </a:pPr>
            <a:r>
              <a:rPr lang="en-US" sz="1050" b="1" dirty="0">
                <a:solidFill>
                  <a:srgbClr val="2E7D5B"/>
                </a:solidFill>
                <a:latin typeface="Meiryo" pitchFamily="34" charset="0"/>
                <a:ea typeface="Meiryo" pitchFamily="34" charset="-122"/>
                <a:cs typeface="Meiryo" pitchFamily="34" charset="-120"/>
              </a:rPr>
              <a:t>対策</a:t>
            </a:r>
            <a:endParaRPr lang="en-US" sz="1050" dirty="0"/>
          </a:p>
        </p:txBody>
      </p:sp>
      <p:sp>
        <p:nvSpPr>
          <p:cNvPr id="10" name="Shape 8"/>
          <p:cNvSpPr/>
          <p:nvPr/>
        </p:nvSpPr>
        <p:spPr>
          <a:xfrm>
            <a:off x="859536" y="3374136"/>
            <a:ext cx="109728" cy="109728"/>
          </a:xfrm>
          <a:prstGeom prst="ellipse">
            <a:avLst/>
          </a:prstGeom>
          <a:solidFill>
            <a:srgbClr val="2E7D5B"/>
          </a:solidFill>
          <a:ln/>
        </p:spPr>
      </p:sp>
      <p:sp>
        <p:nvSpPr>
          <p:cNvPr id="11" name="Text 9"/>
          <p:cNvSpPr/>
          <p:nvPr/>
        </p:nvSpPr>
        <p:spPr>
          <a:xfrm>
            <a:off x="1097280" y="329184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経営層で3か月試行済み</a:t>
            </a:r>
            <a:endParaRPr lang="en-US" sz="1100" dirty="0"/>
          </a:p>
        </p:txBody>
      </p:sp>
      <p:sp>
        <p:nvSpPr>
          <p:cNvPr id="12" name="Shape 10"/>
          <p:cNvSpPr/>
          <p:nvPr/>
        </p:nvSpPr>
        <p:spPr>
          <a:xfrm>
            <a:off x="859536" y="3922776"/>
            <a:ext cx="109728" cy="109728"/>
          </a:xfrm>
          <a:prstGeom prst="ellipse">
            <a:avLst/>
          </a:prstGeom>
          <a:solidFill>
            <a:srgbClr val="2E7D5B"/>
          </a:solidFill>
          <a:ln/>
        </p:spPr>
      </p:sp>
      <p:sp>
        <p:nvSpPr>
          <p:cNvPr id="13" name="Text 11"/>
          <p:cNvSpPr/>
          <p:nvPr/>
        </p:nvSpPr>
        <p:spPr>
          <a:xfrm>
            <a:off x="1097280" y="384048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テンプレート・ミニマニュアルを整備</a:t>
            </a:r>
            <a:endParaRPr lang="en-US" sz="1100" dirty="0"/>
          </a:p>
        </p:txBody>
      </p:sp>
      <p:sp>
        <p:nvSpPr>
          <p:cNvPr id="14" name="Shape 12"/>
          <p:cNvSpPr/>
          <p:nvPr/>
        </p:nvSpPr>
        <p:spPr>
          <a:xfrm>
            <a:off x="859536" y="4471416"/>
            <a:ext cx="109728" cy="109728"/>
          </a:xfrm>
          <a:prstGeom prst="ellipse">
            <a:avLst/>
          </a:prstGeom>
          <a:solidFill>
            <a:srgbClr val="2E7D5B"/>
          </a:solidFill>
          <a:ln/>
        </p:spPr>
      </p:sp>
      <p:sp>
        <p:nvSpPr>
          <p:cNvPr id="15" name="Text 13"/>
          <p:cNvSpPr/>
          <p:nvPr/>
        </p:nvSpPr>
        <p:spPr>
          <a:xfrm>
            <a:off x="1097280" y="438912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PMOが運用ルールの管理責任を持つ</a:t>
            </a:r>
            <a:endParaRPr lang="en-US" sz="1100" dirty="0"/>
          </a:p>
        </p:txBody>
      </p:sp>
      <p:sp>
        <p:nvSpPr>
          <p:cNvPr id="16" name="Shape 14"/>
          <p:cNvSpPr/>
          <p:nvPr/>
        </p:nvSpPr>
        <p:spPr>
          <a:xfrm>
            <a:off x="859536" y="5020056"/>
            <a:ext cx="109728" cy="109728"/>
          </a:xfrm>
          <a:prstGeom prst="ellipse">
            <a:avLst/>
          </a:prstGeom>
          <a:solidFill>
            <a:srgbClr val="2E7D5B"/>
          </a:solidFill>
          <a:ln/>
        </p:spPr>
      </p:sp>
      <p:sp>
        <p:nvSpPr>
          <p:cNvPr id="17" name="Text 15"/>
          <p:cNvSpPr/>
          <p:nvPr/>
        </p:nvSpPr>
        <p:spPr>
          <a:xfrm>
            <a:off x="1097280" y="493776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導入後3か月は人事組織が伴走</a:t>
            </a:r>
            <a:endParaRPr lang="en-US" sz="1100" dirty="0"/>
          </a:p>
        </p:txBody>
      </p:sp>
      <p:sp>
        <p:nvSpPr>
          <p:cNvPr id="18" name="Shape 16"/>
          <p:cNvSpPr/>
          <p:nvPr/>
        </p:nvSpPr>
        <p:spPr>
          <a:xfrm>
            <a:off x="4439412" y="1591056"/>
            <a:ext cx="3529584" cy="4114800"/>
          </a:xfrm>
          <a:prstGeom prst="roundRect">
            <a:avLst>
              <a:gd name="adj" fmla="val 1554"/>
            </a:avLst>
          </a:prstGeom>
          <a:solidFill>
            <a:srgbClr val="F1F4F9"/>
          </a:solidFill>
          <a:ln/>
          <a:effectLst>
            <a:outerShdw sx="100000" sy="100000" kx="0" ky="0" algn="bl" rotWithShape="0" blurRad="127000" dist="25400" dir="5400000">
              <a:srgbClr val="8A97AC">
                <a:alpha val="22000"/>
              </a:srgbClr>
            </a:outerShdw>
          </a:effectLst>
        </p:spPr>
      </p:sp>
      <p:sp>
        <p:nvSpPr>
          <p:cNvPr id="19" name="Shape 17"/>
          <p:cNvSpPr/>
          <p:nvPr/>
        </p:nvSpPr>
        <p:spPr>
          <a:xfrm>
            <a:off x="4713732" y="1810512"/>
            <a:ext cx="402336" cy="402336"/>
          </a:xfrm>
          <a:prstGeom prst="ellipse">
            <a:avLst/>
          </a:prstGeom>
          <a:solidFill>
            <a:srgbClr val="B3423A"/>
          </a:solidFill>
          <a:ln/>
        </p:spPr>
      </p:sp>
      <p:sp>
        <p:nvSpPr>
          <p:cNvPr id="20" name="Text 18"/>
          <p:cNvSpPr/>
          <p:nvPr/>
        </p:nvSpPr>
        <p:spPr>
          <a:xfrm>
            <a:off x="4713732" y="1810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21" name="Text 19"/>
          <p:cNvSpPr/>
          <p:nvPr/>
        </p:nvSpPr>
        <p:spPr>
          <a:xfrm>
            <a:off x="5225796" y="1792224"/>
            <a:ext cx="2523744" cy="438912"/>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情報の置き場所が分散する</a:t>
            </a:r>
            <a:endParaRPr lang="en-US" sz="1500" dirty="0"/>
          </a:p>
        </p:txBody>
      </p:sp>
      <p:sp>
        <p:nvSpPr>
          <p:cNvPr id="22" name="Text 20"/>
          <p:cNvSpPr/>
          <p:nvPr/>
        </p:nvSpPr>
        <p:spPr>
          <a:xfrm>
            <a:off x="4713732" y="2322576"/>
            <a:ext cx="2980944" cy="603504"/>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Teams・Notion・SharePointのどこに何があるか分からなくなる</a:t>
            </a:r>
            <a:endParaRPr lang="en-US" sz="1100" dirty="0"/>
          </a:p>
        </p:txBody>
      </p:sp>
      <p:sp>
        <p:nvSpPr>
          <p:cNvPr id="23" name="Text 21"/>
          <p:cNvSpPr/>
          <p:nvPr/>
        </p:nvSpPr>
        <p:spPr>
          <a:xfrm>
            <a:off x="4713732" y="2980944"/>
            <a:ext cx="1371600" cy="256032"/>
          </a:xfrm>
          <a:prstGeom prst="rect">
            <a:avLst/>
          </a:prstGeom>
          <a:noFill/>
          <a:ln/>
        </p:spPr>
        <p:txBody>
          <a:bodyPr wrap="square" lIns="0" tIns="0" rIns="0" bIns="0" rtlCol="0" anchor="ctr"/>
          <a:lstStyle/>
          <a:p>
            <a:pPr indent="0" marL="0">
              <a:buNone/>
            </a:pPr>
            <a:r>
              <a:rPr lang="en-US" sz="1050" b="1" dirty="0">
                <a:solidFill>
                  <a:srgbClr val="2E7D5B"/>
                </a:solidFill>
                <a:latin typeface="Meiryo" pitchFamily="34" charset="0"/>
                <a:ea typeface="Meiryo" pitchFamily="34" charset="-122"/>
                <a:cs typeface="Meiryo" pitchFamily="34" charset="-120"/>
              </a:rPr>
              <a:t>対策</a:t>
            </a:r>
            <a:endParaRPr lang="en-US" sz="1050" dirty="0"/>
          </a:p>
        </p:txBody>
      </p:sp>
      <p:sp>
        <p:nvSpPr>
          <p:cNvPr id="24" name="Shape 22"/>
          <p:cNvSpPr/>
          <p:nvPr/>
        </p:nvSpPr>
        <p:spPr>
          <a:xfrm>
            <a:off x="4732020" y="3374136"/>
            <a:ext cx="109728" cy="109728"/>
          </a:xfrm>
          <a:prstGeom prst="ellipse">
            <a:avLst/>
          </a:prstGeom>
          <a:solidFill>
            <a:srgbClr val="2E7D5B"/>
          </a:solidFill>
          <a:ln/>
        </p:spPr>
      </p:sp>
      <p:sp>
        <p:nvSpPr>
          <p:cNvPr id="25" name="Text 23"/>
          <p:cNvSpPr/>
          <p:nvPr/>
        </p:nvSpPr>
        <p:spPr>
          <a:xfrm>
            <a:off x="4969764" y="329184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役割分担を1枚の図で定義し全社に周知</a:t>
            </a:r>
            <a:endParaRPr lang="en-US" sz="1100" dirty="0"/>
          </a:p>
        </p:txBody>
      </p:sp>
      <p:sp>
        <p:nvSpPr>
          <p:cNvPr id="26" name="Shape 24"/>
          <p:cNvSpPr/>
          <p:nvPr/>
        </p:nvSpPr>
        <p:spPr>
          <a:xfrm>
            <a:off x="4732020" y="3922776"/>
            <a:ext cx="109728" cy="109728"/>
          </a:xfrm>
          <a:prstGeom prst="ellipse">
            <a:avLst/>
          </a:prstGeom>
          <a:solidFill>
            <a:srgbClr val="2E7D5B"/>
          </a:solidFill>
          <a:ln/>
        </p:spPr>
      </p:sp>
      <p:sp>
        <p:nvSpPr>
          <p:cNvPr id="27" name="Text 25"/>
          <p:cNvSpPr/>
          <p:nvPr/>
        </p:nvSpPr>
        <p:spPr>
          <a:xfrm>
            <a:off x="4969764" y="384048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「会話はTeams、記録はNotion」を徹底</a:t>
            </a:r>
            <a:endParaRPr lang="en-US" sz="1100" dirty="0"/>
          </a:p>
        </p:txBody>
      </p:sp>
      <p:sp>
        <p:nvSpPr>
          <p:cNvPr id="28" name="Shape 26"/>
          <p:cNvSpPr/>
          <p:nvPr/>
        </p:nvSpPr>
        <p:spPr>
          <a:xfrm>
            <a:off x="4732020" y="4471416"/>
            <a:ext cx="109728" cy="109728"/>
          </a:xfrm>
          <a:prstGeom prst="ellipse">
            <a:avLst/>
          </a:prstGeom>
          <a:solidFill>
            <a:srgbClr val="2E7D5B"/>
          </a:solidFill>
          <a:ln/>
        </p:spPr>
      </p:sp>
      <p:sp>
        <p:nvSpPr>
          <p:cNvPr id="29" name="Text 27"/>
          <p:cNvSpPr/>
          <p:nvPr/>
        </p:nvSpPr>
        <p:spPr>
          <a:xfrm>
            <a:off x="4969764" y="438912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SharePointは当面そのまま併存</a:t>
            </a:r>
            <a:endParaRPr lang="en-US" sz="1100" dirty="0"/>
          </a:p>
        </p:txBody>
      </p:sp>
      <p:sp>
        <p:nvSpPr>
          <p:cNvPr id="30" name="Shape 28"/>
          <p:cNvSpPr/>
          <p:nvPr/>
        </p:nvSpPr>
        <p:spPr>
          <a:xfrm>
            <a:off x="8311896" y="1591056"/>
            <a:ext cx="3529584" cy="4114800"/>
          </a:xfrm>
          <a:prstGeom prst="roundRect">
            <a:avLst>
              <a:gd name="adj" fmla="val 1554"/>
            </a:avLst>
          </a:prstGeom>
          <a:solidFill>
            <a:srgbClr val="F1F4F9"/>
          </a:solidFill>
          <a:ln/>
          <a:effectLst>
            <a:outerShdw sx="100000" sy="100000" kx="0" ky="0" algn="bl" rotWithShape="0" blurRad="127000" dist="25400" dir="5400000">
              <a:srgbClr val="8A97AC">
                <a:alpha val="22000"/>
              </a:srgbClr>
            </a:outerShdw>
          </a:effectLst>
        </p:spPr>
      </p:sp>
      <p:sp>
        <p:nvSpPr>
          <p:cNvPr id="31" name="Shape 29"/>
          <p:cNvSpPr/>
          <p:nvPr/>
        </p:nvSpPr>
        <p:spPr>
          <a:xfrm>
            <a:off x="8586216" y="1810512"/>
            <a:ext cx="402336" cy="402336"/>
          </a:xfrm>
          <a:prstGeom prst="ellipse">
            <a:avLst/>
          </a:prstGeom>
          <a:solidFill>
            <a:srgbClr val="B3423A"/>
          </a:solidFill>
          <a:ln/>
        </p:spPr>
      </p:sp>
      <p:sp>
        <p:nvSpPr>
          <p:cNvPr id="32" name="Text 30"/>
          <p:cNvSpPr/>
          <p:nvPr/>
        </p:nvSpPr>
        <p:spPr>
          <a:xfrm>
            <a:off x="8586216" y="1810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33" name="Text 31"/>
          <p:cNvSpPr/>
          <p:nvPr/>
        </p:nvSpPr>
        <p:spPr>
          <a:xfrm>
            <a:off x="9098280" y="1792224"/>
            <a:ext cx="2523744" cy="438912"/>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セキュリティ</a:t>
            </a:r>
            <a:endParaRPr lang="en-US" sz="1500" dirty="0"/>
          </a:p>
        </p:txBody>
      </p:sp>
      <p:sp>
        <p:nvSpPr>
          <p:cNvPr id="34" name="Text 32"/>
          <p:cNvSpPr/>
          <p:nvPr/>
        </p:nvSpPr>
        <p:spPr>
          <a:xfrm>
            <a:off x="8586216" y="2322576"/>
            <a:ext cx="2980944" cy="603504"/>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親会社の基準を満たせない</a:t>
            </a:r>
            <a:endParaRPr lang="en-US" sz="1100" dirty="0"/>
          </a:p>
        </p:txBody>
      </p:sp>
      <p:sp>
        <p:nvSpPr>
          <p:cNvPr id="35" name="Text 33"/>
          <p:cNvSpPr/>
          <p:nvPr/>
        </p:nvSpPr>
        <p:spPr>
          <a:xfrm>
            <a:off x="8586216" y="2980944"/>
            <a:ext cx="1371600" cy="256032"/>
          </a:xfrm>
          <a:prstGeom prst="rect">
            <a:avLst/>
          </a:prstGeom>
          <a:noFill/>
          <a:ln/>
        </p:spPr>
        <p:txBody>
          <a:bodyPr wrap="square" lIns="0" tIns="0" rIns="0" bIns="0" rtlCol="0" anchor="ctr"/>
          <a:lstStyle/>
          <a:p>
            <a:pPr indent="0" marL="0">
              <a:buNone/>
            </a:pPr>
            <a:r>
              <a:rPr lang="en-US" sz="1050" b="1" dirty="0">
                <a:solidFill>
                  <a:srgbClr val="2E7D5B"/>
                </a:solidFill>
                <a:latin typeface="Meiryo" pitchFamily="34" charset="0"/>
                <a:ea typeface="Meiryo" pitchFamily="34" charset="-122"/>
                <a:cs typeface="Meiryo" pitchFamily="34" charset="-120"/>
              </a:rPr>
              <a:t>対策</a:t>
            </a:r>
            <a:endParaRPr lang="en-US" sz="1050" dirty="0"/>
          </a:p>
        </p:txBody>
      </p:sp>
      <p:sp>
        <p:nvSpPr>
          <p:cNvPr id="36" name="Shape 34"/>
          <p:cNvSpPr/>
          <p:nvPr/>
        </p:nvSpPr>
        <p:spPr>
          <a:xfrm>
            <a:off x="8604504" y="3374136"/>
            <a:ext cx="109728" cy="109728"/>
          </a:xfrm>
          <a:prstGeom prst="ellipse">
            <a:avLst/>
          </a:prstGeom>
          <a:solidFill>
            <a:srgbClr val="2E7D5B"/>
          </a:solidFill>
          <a:ln/>
        </p:spPr>
      </p:sp>
      <p:sp>
        <p:nvSpPr>
          <p:cNvPr id="37" name="Text 35"/>
          <p:cNvSpPr/>
          <p:nvPr/>
        </p:nvSpPr>
        <p:spPr>
          <a:xfrm>
            <a:off x="8842248" y="329184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SOC 2 Type II・ISO 27001 等を取得済み</a:t>
            </a:r>
            <a:endParaRPr lang="en-US" sz="1100" dirty="0"/>
          </a:p>
        </p:txBody>
      </p:sp>
      <p:sp>
        <p:nvSpPr>
          <p:cNvPr id="38" name="Shape 36"/>
          <p:cNvSpPr/>
          <p:nvPr/>
        </p:nvSpPr>
        <p:spPr>
          <a:xfrm>
            <a:off x="8604504" y="3922776"/>
            <a:ext cx="109728" cy="109728"/>
          </a:xfrm>
          <a:prstGeom prst="ellipse">
            <a:avLst/>
          </a:prstGeom>
          <a:solidFill>
            <a:srgbClr val="2E7D5B"/>
          </a:solidFill>
          <a:ln/>
        </p:spPr>
      </p:sp>
      <p:sp>
        <p:nvSpPr>
          <p:cNvPr id="39" name="Text 37"/>
          <p:cNvSpPr/>
          <p:nvPr/>
        </p:nvSpPr>
        <p:spPr>
          <a:xfrm>
            <a:off x="8842248" y="384048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SAML SSOでMicrosoft 365と統合</a:t>
            </a:r>
            <a:endParaRPr lang="en-US" sz="1100" dirty="0"/>
          </a:p>
        </p:txBody>
      </p:sp>
      <p:sp>
        <p:nvSpPr>
          <p:cNvPr id="40" name="Shape 38"/>
          <p:cNvSpPr/>
          <p:nvPr/>
        </p:nvSpPr>
        <p:spPr>
          <a:xfrm>
            <a:off x="8604504" y="4471416"/>
            <a:ext cx="109728" cy="109728"/>
          </a:xfrm>
          <a:prstGeom prst="ellipse">
            <a:avLst/>
          </a:prstGeom>
          <a:solidFill>
            <a:srgbClr val="2E7D5B"/>
          </a:solidFill>
          <a:ln/>
        </p:spPr>
      </p:sp>
      <p:sp>
        <p:nvSpPr>
          <p:cNvPr id="41" name="Text 39"/>
          <p:cNvSpPr/>
          <p:nvPr/>
        </p:nvSpPr>
        <p:spPr>
          <a:xfrm>
            <a:off x="8842248" y="438912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機微情報は置かない運用とする</a:t>
            </a:r>
            <a:endParaRPr lang="en-US" sz="1100" dirty="0"/>
          </a:p>
        </p:txBody>
      </p:sp>
      <p:sp>
        <p:nvSpPr>
          <p:cNvPr id="42" name="Shape 40"/>
          <p:cNvSpPr/>
          <p:nvPr/>
        </p:nvSpPr>
        <p:spPr>
          <a:xfrm>
            <a:off x="8604504" y="5020056"/>
            <a:ext cx="109728" cy="109728"/>
          </a:xfrm>
          <a:prstGeom prst="ellipse">
            <a:avLst/>
          </a:prstGeom>
          <a:solidFill>
            <a:srgbClr val="2E7D5B"/>
          </a:solidFill>
          <a:ln/>
        </p:spPr>
      </p:sp>
      <p:sp>
        <p:nvSpPr>
          <p:cNvPr id="43" name="Text 41"/>
          <p:cNvSpPr/>
          <p:nvPr/>
        </p:nvSpPr>
        <p:spPr>
          <a:xfrm>
            <a:off x="8842248" y="4937760"/>
            <a:ext cx="2743200" cy="512064"/>
          </a:xfrm>
          <a:prstGeom prst="rect">
            <a:avLst/>
          </a:prstGeom>
          <a:noFill/>
          <a:ln/>
        </p:spPr>
        <p:txBody>
          <a:bodyPr wrap="square" lIns="0" tIns="0" rIns="0" bIns="0" rtlCol="0" anchor="ctr"/>
          <a:lstStyle/>
          <a:p>
            <a:pPr indent="0" marL="0">
              <a:lnSpc>
                <a:spcPts val="1600"/>
              </a:lnSpc>
              <a:buNone/>
            </a:pPr>
            <a:r>
              <a:rPr lang="en-US" sz="1100" dirty="0">
                <a:solidFill>
                  <a:srgbClr val="1A1F2B"/>
                </a:solidFill>
                <a:latin typeface="Meiryo" pitchFamily="34" charset="0"/>
                <a:ea typeface="Meiryo" pitchFamily="34" charset="-122"/>
                <a:cs typeface="Meiryo" pitchFamily="34" charset="-120"/>
              </a:rPr>
              <a:t>詳細は別添にて説明</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進め方</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ライセンスは全社、業務の移行は段階的に行います</a:t>
            </a:r>
            <a:endParaRPr lang="en-US" sz="2700" dirty="0"/>
          </a:p>
        </p:txBody>
      </p:sp>
      <p:sp>
        <p:nvSpPr>
          <p:cNvPr id="4" name="Shape 2"/>
          <p:cNvSpPr/>
          <p:nvPr/>
        </p:nvSpPr>
        <p:spPr>
          <a:xfrm>
            <a:off x="566928" y="1700784"/>
            <a:ext cx="2688336" cy="2615184"/>
          </a:xfrm>
          <a:prstGeom prst="roundRect">
            <a:avLst>
              <a:gd name="adj" fmla="val 2098"/>
            </a:avLst>
          </a:prstGeom>
          <a:solidFill>
            <a:srgbClr val="F1F4F9"/>
          </a:solidFill>
          <a:ln/>
          <a:effectLst>
            <a:outerShdw sx="100000" sy="100000" kx="0" ky="0" algn="bl" rotWithShape="0" blurRad="127000" dist="25400" dir="5400000">
              <a:srgbClr val="8A97AC">
                <a:alpha val="22000"/>
              </a:srgbClr>
            </a:outerShdw>
          </a:effectLst>
        </p:spPr>
      </p:sp>
      <p:sp>
        <p:nvSpPr>
          <p:cNvPr id="5" name="Text 3"/>
          <p:cNvSpPr/>
          <p:nvPr/>
        </p:nvSpPr>
        <p:spPr>
          <a:xfrm>
            <a:off x="804672" y="1901952"/>
            <a:ext cx="2212848" cy="329184"/>
          </a:xfrm>
          <a:prstGeom prst="rect">
            <a:avLst/>
          </a:prstGeom>
          <a:noFill/>
          <a:ln/>
        </p:spPr>
        <p:txBody>
          <a:bodyPr wrap="square" lIns="0" tIns="0" rIns="0" bIns="0" rtlCol="0" anchor="ctr"/>
          <a:lstStyle/>
          <a:p>
            <a:pPr indent="0" marL="0">
              <a:buNone/>
            </a:pPr>
            <a:r>
              <a:rPr lang="en-US" sz="1500" b="1" dirty="0">
                <a:solidFill>
                  <a:srgbClr val="16233F"/>
                </a:solidFill>
                <a:latin typeface="Meiryo" pitchFamily="34" charset="0"/>
                <a:ea typeface="Meiryo" pitchFamily="34" charset="-122"/>
                <a:cs typeface="Meiryo" pitchFamily="34" charset="-120"/>
              </a:rPr>
              <a:t>Phase 0</a:t>
            </a:r>
            <a:endParaRPr lang="en-US" sz="1500" dirty="0"/>
          </a:p>
        </p:txBody>
      </p:sp>
      <p:sp>
        <p:nvSpPr>
          <p:cNvPr id="6" name="Text 4"/>
          <p:cNvSpPr/>
          <p:nvPr/>
        </p:nvSpPr>
        <p:spPr>
          <a:xfrm>
            <a:off x="804672" y="2249424"/>
            <a:ext cx="2212848"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承認後すぐ</a:t>
            </a:r>
            <a:endParaRPr lang="en-US" sz="1050" dirty="0"/>
          </a:p>
        </p:txBody>
      </p:sp>
      <p:sp>
        <p:nvSpPr>
          <p:cNvPr id="7" name="Text 5"/>
          <p:cNvSpPr/>
          <p:nvPr/>
        </p:nvSpPr>
        <p:spPr>
          <a:xfrm>
            <a:off x="804672" y="2633472"/>
            <a:ext cx="2212848" cy="914400"/>
          </a:xfrm>
          <a:prstGeom prst="rect">
            <a:avLst/>
          </a:prstGeom>
          <a:noFill/>
          <a:ln/>
        </p:spPr>
        <p:txBody>
          <a:bodyPr wrap="square" lIns="0" tIns="0" rIns="0" bIns="0" rtlCol="0" anchor="ctr"/>
          <a:lstStyle/>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情シスへの申請</a:t>
            </a:r>
            <a:endParaRPr lang="en-US" sz="1200" dirty="0"/>
          </a:p>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セキュリティ審査</a:t>
            </a:r>
            <a:endParaRPr lang="en-US" sz="1200" dirty="0"/>
          </a:p>
        </p:txBody>
      </p:sp>
      <p:sp>
        <p:nvSpPr>
          <p:cNvPr id="8" name="Shape 6"/>
          <p:cNvSpPr/>
          <p:nvPr/>
        </p:nvSpPr>
        <p:spPr>
          <a:xfrm>
            <a:off x="3310128" y="2871216"/>
            <a:ext cx="155448" cy="201168"/>
          </a:xfrm>
          <a:prstGeom prst="rightArrow">
            <a:avLst/>
          </a:prstGeom>
          <a:solidFill>
            <a:srgbClr val="D5DCE6"/>
          </a:solidFill>
          <a:ln/>
        </p:spPr>
      </p:sp>
      <p:sp>
        <p:nvSpPr>
          <p:cNvPr id="9" name="Shape 7"/>
          <p:cNvSpPr/>
          <p:nvPr/>
        </p:nvSpPr>
        <p:spPr>
          <a:xfrm>
            <a:off x="3520440" y="1700784"/>
            <a:ext cx="2688336" cy="2615184"/>
          </a:xfrm>
          <a:prstGeom prst="roundRect">
            <a:avLst>
              <a:gd name="adj" fmla="val 2098"/>
            </a:avLst>
          </a:prstGeom>
          <a:solidFill>
            <a:srgbClr val="F1F4F9"/>
          </a:solidFill>
          <a:ln/>
          <a:effectLst>
            <a:outerShdw sx="100000" sy="100000" kx="0" ky="0" algn="bl" rotWithShape="0" blurRad="127000" dist="25400" dir="5400000">
              <a:srgbClr val="8A97AC">
                <a:alpha val="22000"/>
              </a:srgbClr>
            </a:outerShdw>
          </a:effectLst>
        </p:spPr>
      </p:sp>
      <p:sp>
        <p:nvSpPr>
          <p:cNvPr id="10" name="Text 8"/>
          <p:cNvSpPr/>
          <p:nvPr/>
        </p:nvSpPr>
        <p:spPr>
          <a:xfrm>
            <a:off x="3758184" y="1901952"/>
            <a:ext cx="2212848" cy="329184"/>
          </a:xfrm>
          <a:prstGeom prst="rect">
            <a:avLst/>
          </a:prstGeom>
          <a:noFill/>
          <a:ln/>
        </p:spPr>
        <p:txBody>
          <a:bodyPr wrap="square" lIns="0" tIns="0" rIns="0" bIns="0" rtlCol="0" anchor="ctr"/>
          <a:lstStyle/>
          <a:p>
            <a:pPr indent="0" marL="0">
              <a:buNone/>
            </a:pPr>
            <a:r>
              <a:rPr lang="en-US" sz="1500" b="1" dirty="0">
                <a:solidFill>
                  <a:srgbClr val="1F7A6C"/>
                </a:solidFill>
                <a:latin typeface="Meiryo" pitchFamily="34" charset="0"/>
                <a:ea typeface="Meiryo" pitchFamily="34" charset="-122"/>
                <a:cs typeface="Meiryo" pitchFamily="34" charset="-120"/>
              </a:rPr>
              <a:t>Phase 1</a:t>
            </a:r>
            <a:endParaRPr lang="en-US" sz="1500" dirty="0"/>
          </a:p>
        </p:txBody>
      </p:sp>
      <p:sp>
        <p:nvSpPr>
          <p:cNvPr id="11" name="Text 9"/>
          <p:cNvSpPr/>
          <p:nvPr/>
        </p:nvSpPr>
        <p:spPr>
          <a:xfrm>
            <a:off x="3758184" y="2249424"/>
            <a:ext cx="2212848"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審査通過後 1〜2か月</a:t>
            </a:r>
            <a:endParaRPr lang="en-US" sz="1050" dirty="0"/>
          </a:p>
        </p:txBody>
      </p:sp>
      <p:sp>
        <p:nvSpPr>
          <p:cNvPr id="12" name="Text 10"/>
          <p:cNvSpPr/>
          <p:nvPr/>
        </p:nvSpPr>
        <p:spPr>
          <a:xfrm>
            <a:off x="3758184" y="2633472"/>
            <a:ext cx="2212848" cy="914400"/>
          </a:xfrm>
          <a:prstGeom prst="rect">
            <a:avLst/>
          </a:prstGeom>
          <a:noFill/>
          <a:ln/>
        </p:spPr>
        <p:txBody>
          <a:bodyPr wrap="square" lIns="0" tIns="0" rIns="0" bIns="0" rtlCol="0" anchor="ctr"/>
          <a:lstStyle/>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会議運用から開始</a:t>
            </a:r>
            <a:endParaRPr lang="en-US" sz="1200" dirty="0"/>
          </a:p>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アジェンダ・議事録の標準化</a:t>
            </a:r>
            <a:endParaRPr lang="en-US" sz="1200" dirty="0"/>
          </a:p>
        </p:txBody>
      </p:sp>
      <p:sp>
        <p:nvSpPr>
          <p:cNvPr id="13" name="Shape 11"/>
          <p:cNvSpPr/>
          <p:nvPr/>
        </p:nvSpPr>
        <p:spPr>
          <a:xfrm>
            <a:off x="3758184" y="3712464"/>
            <a:ext cx="1060704" cy="310896"/>
          </a:xfrm>
          <a:prstGeom prst="roundRect">
            <a:avLst>
              <a:gd name="adj" fmla="val 14706"/>
            </a:avLst>
          </a:prstGeom>
          <a:solidFill>
            <a:srgbClr val="1F7A6C"/>
          </a:solidFill>
          <a:ln/>
        </p:spPr>
      </p:sp>
      <p:sp>
        <p:nvSpPr>
          <p:cNvPr id="14" name="Text 12"/>
          <p:cNvSpPr/>
          <p:nvPr/>
        </p:nvSpPr>
        <p:spPr>
          <a:xfrm>
            <a:off x="3758184" y="3712464"/>
            <a:ext cx="106070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課題B</a:t>
            </a:r>
            <a:endParaRPr lang="en-US" sz="1050" dirty="0"/>
          </a:p>
        </p:txBody>
      </p:sp>
      <p:sp>
        <p:nvSpPr>
          <p:cNvPr id="15" name="Shape 13"/>
          <p:cNvSpPr/>
          <p:nvPr/>
        </p:nvSpPr>
        <p:spPr>
          <a:xfrm>
            <a:off x="6263640" y="2871216"/>
            <a:ext cx="155448" cy="201168"/>
          </a:xfrm>
          <a:prstGeom prst="rightArrow">
            <a:avLst/>
          </a:prstGeom>
          <a:solidFill>
            <a:srgbClr val="D5DCE6"/>
          </a:solidFill>
          <a:ln/>
        </p:spPr>
      </p:sp>
      <p:sp>
        <p:nvSpPr>
          <p:cNvPr id="16" name="Shape 14"/>
          <p:cNvSpPr/>
          <p:nvPr/>
        </p:nvSpPr>
        <p:spPr>
          <a:xfrm>
            <a:off x="6473952" y="1700784"/>
            <a:ext cx="2688336" cy="2615184"/>
          </a:xfrm>
          <a:prstGeom prst="roundRect">
            <a:avLst>
              <a:gd name="adj" fmla="val 2098"/>
            </a:avLst>
          </a:prstGeom>
          <a:solidFill>
            <a:srgbClr val="F1F4F9"/>
          </a:solidFill>
          <a:ln/>
          <a:effectLst>
            <a:outerShdw sx="100000" sy="100000" kx="0" ky="0" algn="bl" rotWithShape="0" blurRad="127000" dist="25400" dir="5400000">
              <a:srgbClr val="8A97AC">
                <a:alpha val="22000"/>
              </a:srgbClr>
            </a:outerShdw>
          </a:effectLst>
        </p:spPr>
      </p:sp>
      <p:sp>
        <p:nvSpPr>
          <p:cNvPr id="17" name="Text 15"/>
          <p:cNvSpPr/>
          <p:nvPr/>
        </p:nvSpPr>
        <p:spPr>
          <a:xfrm>
            <a:off x="6711696" y="1901952"/>
            <a:ext cx="2212848" cy="329184"/>
          </a:xfrm>
          <a:prstGeom prst="rect">
            <a:avLst/>
          </a:prstGeom>
          <a:noFill/>
          <a:ln/>
        </p:spPr>
        <p:txBody>
          <a:bodyPr wrap="square" lIns="0" tIns="0" rIns="0" bIns="0" rtlCol="0" anchor="ctr"/>
          <a:lstStyle/>
          <a:p>
            <a:pPr indent="0" marL="0">
              <a:buNone/>
            </a:pPr>
            <a:r>
              <a:rPr lang="en-US" sz="1500" b="1" dirty="0">
                <a:solidFill>
                  <a:srgbClr val="2C5F8D"/>
                </a:solidFill>
                <a:latin typeface="Meiryo" pitchFamily="34" charset="0"/>
                <a:ea typeface="Meiryo" pitchFamily="34" charset="-122"/>
                <a:cs typeface="Meiryo" pitchFamily="34" charset="-120"/>
              </a:rPr>
              <a:t>Phase 2</a:t>
            </a:r>
            <a:endParaRPr lang="en-US" sz="1500" dirty="0"/>
          </a:p>
        </p:txBody>
      </p:sp>
      <p:sp>
        <p:nvSpPr>
          <p:cNvPr id="18" name="Text 16"/>
          <p:cNvSpPr/>
          <p:nvPr/>
        </p:nvSpPr>
        <p:spPr>
          <a:xfrm>
            <a:off x="6711696" y="2249424"/>
            <a:ext cx="2212848"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3〜4か月目</a:t>
            </a:r>
            <a:endParaRPr lang="en-US" sz="1050" dirty="0"/>
          </a:p>
        </p:txBody>
      </p:sp>
      <p:sp>
        <p:nvSpPr>
          <p:cNvPr id="19" name="Text 17"/>
          <p:cNvSpPr/>
          <p:nvPr/>
        </p:nvSpPr>
        <p:spPr>
          <a:xfrm>
            <a:off x="6711696" y="2633472"/>
            <a:ext cx="2212848" cy="914400"/>
          </a:xfrm>
          <a:prstGeom prst="rect">
            <a:avLst/>
          </a:prstGeom>
          <a:noFill/>
          <a:ln/>
        </p:spPr>
        <p:txBody>
          <a:bodyPr wrap="square" lIns="0" tIns="0" rIns="0" bIns="0" rtlCol="0" anchor="ctr"/>
          <a:lstStyle/>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案件管理を1部門で先行運用</a:t>
            </a:r>
            <a:endParaRPr lang="en-US" sz="1200" dirty="0"/>
          </a:p>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テンプレートを実案件で検証</a:t>
            </a:r>
            <a:endParaRPr lang="en-US" sz="1200" dirty="0"/>
          </a:p>
        </p:txBody>
      </p:sp>
      <p:sp>
        <p:nvSpPr>
          <p:cNvPr id="20" name="Shape 18"/>
          <p:cNvSpPr/>
          <p:nvPr/>
        </p:nvSpPr>
        <p:spPr>
          <a:xfrm>
            <a:off x="6711696" y="3712464"/>
            <a:ext cx="1060704" cy="310896"/>
          </a:xfrm>
          <a:prstGeom prst="roundRect">
            <a:avLst>
              <a:gd name="adj" fmla="val 14706"/>
            </a:avLst>
          </a:prstGeom>
          <a:solidFill>
            <a:srgbClr val="2C5F8D"/>
          </a:solidFill>
          <a:ln/>
        </p:spPr>
      </p:sp>
      <p:sp>
        <p:nvSpPr>
          <p:cNvPr id="21" name="Text 19"/>
          <p:cNvSpPr/>
          <p:nvPr/>
        </p:nvSpPr>
        <p:spPr>
          <a:xfrm>
            <a:off x="6711696" y="3712464"/>
            <a:ext cx="106070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課題A</a:t>
            </a:r>
            <a:endParaRPr lang="en-US" sz="1050" dirty="0"/>
          </a:p>
        </p:txBody>
      </p:sp>
      <p:sp>
        <p:nvSpPr>
          <p:cNvPr id="22" name="Shape 20"/>
          <p:cNvSpPr/>
          <p:nvPr/>
        </p:nvSpPr>
        <p:spPr>
          <a:xfrm>
            <a:off x="9217152" y="2871216"/>
            <a:ext cx="155448" cy="201168"/>
          </a:xfrm>
          <a:prstGeom prst="rightArrow">
            <a:avLst/>
          </a:prstGeom>
          <a:solidFill>
            <a:srgbClr val="D5DCE6"/>
          </a:solidFill>
          <a:ln/>
        </p:spPr>
      </p:sp>
      <p:sp>
        <p:nvSpPr>
          <p:cNvPr id="23" name="Shape 21"/>
          <p:cNvSpPr/>
          <p:nvPr/>
        </p:nvSpPr>
        <p:spPr>
          <a:xfrm>
            <a:off x="9427464" y="1700784"/>
            <a:ext cx="2688336" cy="2615184"/>
          </a:xfrm>
          <a:prstGeom prst="roundRect">
            <a:avLst>
              <a:gd name="adj" fmla="val 2098"/>
            </a:avLst>
          </a:prstGeom>
          <a:solidFill>
            <a:srgbClr val="F1F4F9"/>
          </a:solidFill>
          <a:ln/>
          <a:effectLst>
            <a:outerShdw sx="100000" sy="100000" kx="0" ky="0" algn="bl" rotWithShape="0" blurRad="127000" dist="25400" dir="5400000">
              <a:srgbClr val="8A97AC">
                <a:alpha val="22000"/>
              </a:srgbClr>
            </a:outerShdw>
          </a:effectLst>
        </p:spPr>
      </p:sp>
      <p:sp>
        <p:nvSpPr>
          <p:cNvPr id="24" name="Text 22"/>
          <p:cNvSpPr/>
          <p:nvPr/>
        </p:nvSpPr>
        <p:spPr>
          <a:xfrm>
            <a:off x="9665208" y="1901952"/>
            <a:ext cx="2212848" cy="329184"/>
          </a:xfrm>
          <a:prstGeom prst="rect">
            <a:avLst/>
          </a:prstGeom>
          <a:noFill/>
          <a:ln/>
        </p:spPr>
        <p:txBody>
          <a:bodyPr wrap="square" lIns="0" tIns="0" rIns="0" bIns="0" rtlCol="0" anchor="ctr"/>
          <a:lstStyle/>
          <a:p>
            <a:pPr indent="0" marL="0">
              <a:buNone/>
            </a:pPr>
            <a:r>
              <a:rPr lang="en-US" sz="1500" b="1" dirty="0">
                <a:solidFill>
                  <a:srgbClr val="2C5F8D"/>
                </a:solidFill>
                <a:latin typeface="Meiryo" pitchFamily="34" charset="0"/>
                <a:ea typeface="Meiryo" pitchFamily="34" charset="-122"/>
                <a:cs typeface="Meiryo" pitchFamily="34" charset="-120"/>
              </a:rPr>
              <a:t>Phase 3</a:t>
            </a:r>
            <a:endParaRPr lang="en-US" sz="1500" dirty="0"/>
          </a:p>
        </p:txBody>
      </p:sp>
      <p:sp>
        <p:nvSpPr>
          <p:cNvPr id="25" name="Text 23"/>
          <p:cNvSpPr/>
          <p:nvPr/>
        </p:nvSpPr>
        <p:spPr>
          <a:xfrm>
            <a:off x="9665208" y="2249424"/>
            <a:ext cx="2212848"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5か月目以降</a:t>
            </a:r>
            <a:endParaRPr lang="en-US" sz="1050" dirty="0"/>
          </a:p>
        </p:txBody>
      </p:sp>
      <p:sp>
        <p:nvSpPr>
          <p:cNvPr id="26" name="Text 24"/>
          <p:cNvSpPr/>
          <p:nvPr/>
        </p:nvSpPr>
        <p:spPr>
          <a:xfrm>
            <a:off x="9665208" y="2633472"/>
            <a:ext cx="2212848" cy="914400"/>
          </a:xfrm>
          <a:prstGeom prst="rect">
            <a:avLst/>
          </a:prstGeom>
          <a:noFill/>
          <a:ln/>
        </p:spPr>
        <p:txBody>
          <a:bodyPr wrap="square" lIns="0" tIns="0" rIns="0" bIns="0" rtlCol="0" anchor="ctr"/>
          <a:lstStyle/>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全案件へ展開</a:t>
            </a:r>
            <a:endParaRPr lang="en-US" sz="1200" dirty="0"/>
          </a:p>
          <a:p>
            <a:pPr indent="0" marL="0">
              <a:lnSpc>
                <a:spcPts val="1900"/>
              </a:lnSpc>
              <a:buNone/>
            </a:pPr>
            <a:r>
              <a:rPr lang="en-US" sz="1200" b="1" dirty="0">
                <a:solidFill>
                  <a:srgbClr val="16233F"/>
                </a:solidFill>
                <a:latin typeface="Meiryo" pitchFamily="34" charset="0"/>
                <a:ea typeface="Meiryo" pitchFamily="34" charset="-122"/>
                <a:cs typeface="Meiryo" pitchFamily="34" charset="-120"/>
              </a:rPr>
              <a:t>PMOの横断ビュー稼働</a:t>
            </a:r>
            <a:endParaRPr lang="en-US" sz="1200" dirty="0"/>
          </a:p>
        </p:txBody>
      </p:sp>
      <p:sp>
        <p:nvSpPr>
          <p:cNvPr id="27" name="Shape 25"/>
          <p:cNvSpPr/>
          <p:nvPr/>
        </p:nvSpPr>
        <p:spPr>
          <a:xfrm>
            <a:off x="9665208" y="3712464"/>
            <a:ext cx="1060704" cy="310896"/>
          </a:xfrm>
          <a:prstGeom prst="roundRect">
            <a:avLst>
              <a:gd name="adj" fmla="val 14706"/>
            </a:avLst>
          </a:prstGeom>
          <a:solidFill>
            <a:srgbClr val="2C5F8D"/>
          </a:solidFill>
          <a:ln/>
        </p:spPr>
      </p:sp>
      <p:sp>
        <p:nvSpPr>
          <p:cNvPr id="28" name="Text 26"/>
          <p:cNvSpPr/>
          <p:nvPr/>
        </p:nvSpPr>
        <p:spPr>
          <a:xfrm>
            <a:off x="9665208" y="3712464"/>
            <a:ext cx="1060704"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課題A</a:t>
            </a:r>
            <a:endParaRPr lang="en-US" sz="1050" dirty="0"/>
          </a:p>
        </p:txBody>
      </p:sp>
      <p:sp>
        <p:nvSpPr>
          <p:cNvPr id="29" name="Shape 27"/>
          <p:cNvSpPr/>
          <p:nvPr/>
        </p:nvSpPr>
        <p:spPr>
          <a:xfrm>
            <a:off x="566928" y="4572000"/>
            <a:ext cx="5532120" cy="1243584"/>
          </a:xfrm>
          <a:prstGeom prst="roundRect">
            <a:avLst>
              <a:gd name="adj" fmla="val 4412"/>
            </a:avLst>
          </a:prstGeom>
          <a:solidFill>
            <a:srgbClr val="F1F4F9"/>
          </a:solidFill>
          <a:ln/>
          <a:effectLst>
            <a:outerShdw sx="100000" sy="100000" kx="0" ky="0" algn="bl" rotWithShape="0" blurRad="127000" dist="25400" dir="5400000">
              <a:srgbClr val="8A97AC">
                <a:alpha val="22000"/>
              </a:srgbClr>
            </a:outerShdw>
          </a:effectLst>
        </p:spPr>
      </p:sp>
      <p:sp>
        <p:nvSpPr>
          <p:cNvPr id="30" name="Text 28"/>
          <p:cNvSpPr/>
          <p:nvPr/>
        </p:nvSpPr>
        <p:spPr>
          <a:xfrm>
            <a:off x="877824" y="4700016"/>
            <a:ext cx="4937760" cy="274320"/>
          </a:xfrm>
          <a:prstGeom prst="rect">
            <a:avLst/>
          </a:prstGeom>
          <a:noFill/>
          <a:ln/>
        </p:spPr>
        <p:txBody>
          <a:bodyPr wrap="square" lIns="0" tIns="0" rIns="0" bIns="0" rtlCol="0" anchor="ctr"/>
          <a:lstStyle/>
          <a:p>
            <a:pPr indent="0" marL="0">
              <a:buNone/>
            </a:pPr>
            <a:r>
              <a:rPr lang="en-US" sz="1200" b="1" dirty="0">
                <a:solidFill>
                  <a:srgbClr val="1F7A6C"/>
                </a:solidFill>
                <a:latin typeface="Meiryo" pitchFamily="34" charset="0"/>
                <a:ea typeface="Meiryo" pitchFamily="34" charset="-122"/>
                <a:cs typeface="Meiryo" pitchFamily="34" charset="-120"/>
              </a:rPr>
              <a:t>なぜ会議運用から始めるのか</a:t>
            </a:r>
            <a:endParaRPr lang="en-US" sz="1200" dirty="0"/>
          </a:p>
        </p:txBody>
      </p:sp>
      <p:sp>
        <p:nvSpPr>
          <p:cNvPr id="31" name="Text 29"/>
          <p:cNvSpPr/>
          <p:nvPr/>
        </p:nvSpPr>
        <p:spPr>
          <a:xfrm>
            <a:off x="877824" y="4992624"/>
            <a:ext cx="4937760" cy="694944"/>
          </a:xfrm>
          <a:prstGeom prst="rect">
            <a:avLst/>
          </a:prstGeom>
          <a:noFill/>
          <a:ln/>
        </p:spPr>
        <p:txBody>
          <a:bodyPr wrap="square" lIns="0" tIns="0" rIns="0" bIns="0" rtlCol="0" anchor="ctr"/>
          <a:lstStyle/>
          <a:p>
            <a:pPr indent="0" marL="0">
              <a:lnSpc>
                <a:spcPts val="1700"/>
              </a:lnSpc>
              <a:buNone/>
            </a:pPr>
            <a:r>
              <a:rPr lang="en-US" sz="1150" dirty="0">
                <a:solidFill>
                  <a:srgbClr val="5A6472"/>
                </a:solidFill>
                <a:latin typeface="Meiryo" pitchFamily="34" charset="0"/>
                <a:ea typeface="Meiryo" pitchFamily="34" charset="-122"/>
                <a:cs typeface="Meiryo" pitchFamily="34" charset="-120"/>
              </a:rPr>
              <a:t>習得が容易で全社員が即日使え、効果が早く見える。操作に慣れた状態で案件管理に進むほうが定着率が高い。</a:t>
            </a:r>
            <a:endParaRPr lang="en-US" sz="1150" dirty="0"/>
          </a:p>
        </p:txBody>
      </p:sp>
      <p:sp>
        <p:nvSpPr>
          <p:cNvPr id="32" name="Shape 30"/>
          <p:cNvSpPr/>
          <p:nvPr/>
        </p:nvSpPr>
        <p:spPr>
          <a:xfrm>
            <a:off x="6419088" y="4572000"/>
            <a:ext cx="5440680" cy="1243584"/>
          </a:xfrm>
          <a:prstGeom prst="roundRect">
            <a:avLst>
              <a:gd name="adj" fmla="val 4412"/>
            </a:avLst>
          </a:prstGeom>
          <a:solidFill>
            <a:srgbClr val="16233F"/>
          </a:solidFill>
          <a:ln/>
          <a:effectLst>
            <a:outerShdw sx="100000" sy="100000" kx="0" ky="0" algn="bl" rotWithShape="0" blurRad="127000" dist="25400" dir="5400000">
              <a:srgbClr val="8A97AC">
                <a:alpha val="22000"/>
              </a:srgbClr>
            </a:outerShdw>
          </a:effectLst>
        </p:spPr>
      </p:sp>
      <p:sp>
        <p:nvSpPr>
          <p:cNvPr id="33" name="Text 31"/>
          <p:cNvSpPr/>
          <p:nvPr/>
        </p:nvSpPr>
        <p:spPr>
          <a:xfrm>
            <a:off x="6729984" y="4700016"/>
            <a:ext cx="4846320" cy="274320"/>
          </a:xfrm>
          <a:prstGeom prst="rect">
            <a:avLst/>
          </a:prstGeom>
          <a:noFill/>
          <a:ln/>
        </p:spPr>
        <p:txBody>
          <a:bodyPr wrap="square" lIns="0" tIns="0" rIns="0" bIns="0" rtlCol="0" anchor="ctr"/>
          <a:lstStyle/>
          <a:p>
            <a:pPr indent="0" marL="0">
              <a:buNone/>
            </a:pPr>
            <a:r>
              <a:rPr lang="en-US" sz="1200" b="1" dirty="0">
                <a:solidFill>
                  <a:srgbClr val="E8A33D"/>
                </a:solidFill>
                <a:latin typeface="Meiryo" pitchFamily="34" charset="0"/>
                <a:ea typeface="Meiryo" pitchFamily="34" charset="-122"/>
                <a:cs typeface="Meiryo" pitchFamily="34" charset="-120"/>
              </a:rPr>
              <a:t>なぜライセンスは全社なのか</a:t>
            </a:r>
            <a:endParaRPr lang="en-US" sz="1200" dirty="0"/>
          </a:p>
        </p:txBody>
      </p:sp>
      <p:sp>
        <p:nvSpPr>
          <p:cNvPr id="34" name="Text 32"/>
          <p:cNvSpPr/>
          <p:nvPr/>
        </p:nvSpPr>
        <p:spPr>
          <a:xfrm>
            <a:off x="6729984" y="4992624"/>
            <a:ext cx="4846320" cy="694944"/>
          </a:xfrm>
          <a:prstGeom prst="rect">
            <a:avLst/>
          </a:prstGeom>
          <a:noFill/>
          <a:ln/>
        </p:spPr>
        <p:txBody>
          <a:bodyPr wrap="square" lIns="0" tIns="0" rIns="0" bIns="0" rtlCol="0" anchor="ctr"/>
          <a:lstStyle/>
          <a:p>
            <a:pPr indent="0" marL="0">
              <a:lnSpc>
                <a:spcPts val="1700"/>
              </a:lnSpc>
              <a:buNone/>
            </a:pPr>
            <a:r>
              <a:rPr lang="en-US" sz="1150" dirty="0">
                <a:solidFill>
                  <a:srgbClr val="C3CEE0"/>
                </a:solidFill>
                <a:latin typeface="Meiryo" pitchFamily="34" charset="0"/>
                <a:ea typeface="Meiryo" pitchFamily="34" charset="-122"/>
                <a:cs typeface="Meiryo" pitchFamily="34" charset="-120"/>
              </a:rPr>
              <a:t>案件は部門をまたいで進むため、一部の部署だけでは外側とチャット連絡が残り、二重管理が生まれる。</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中長期の構想</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今後の展望 ― ただし、今回は範囲を絞ります</a:t>
            </a:r>
            <a:endParaRPr lang="en-US" sz="2700" dirty="0"/>
          </a:p>
        </p:txBody>
      </p:sp>
      <p:sp>
        <p:nvSpPr>
          <p:cNvPr id="4" name="Text 2"/>
          <p:cNvSpPr/>
          <p:nvPr/>
        </p:nvSpPr>
        <p:spPr>
          <a:xfrm>
            <a:off x="566928" y="1609344"/>
            <a:ext cx="4937760" cy="274320"/>
          </a:xfrm>
          <a:prstGeom prst="rect">
            <a:avLst/>
          </a:prstGeom>
          <a:noFill/>
          <a:ln/>
        </p:spPr>
        <p:txBody>
          <a:bodyPr wrap="square" lIns="0" tIns="0" rIns="0" bIns="0" rtlCol="0" anchor="ctr"/>
          <a:lstStyle/>
          <a:p>
            <a:pPr indent="0" marL="0">
              <a:buNone/>
            </a:pPr>
            <a:r>
              <a:rPr lang="en-US" sz="1150" b="1" dirty="0">
                <a:solidFill>
                  <a:srgbClr val="E8A33D"/>
                </a:solidFill>
                <a:latin typeface="Meiryo" pitchFamily="34" charset="0"/>
                <a:ea typeface="Meiryo" pitchFamily="34" charset="-122"/>
                <a:cs typeface="Meiryo" pitchFamily="34" charset="-120"/>
              </a:rPr>
              <a:t>今回のスコープ</a:t>
            </a:r>
            <a:endParaRPr lang="en-US" sz="1150" dirty="0"/>
          </a:p>
        </p:txBody>
      </p:sp>
      <p:sp>
        <p:nvSpPr>
          <p:cNvPr id="5" name="Shape 3"/>
          <p:cNvSpPr/>
          <p:nvPr/>
        </p:nvSpPr>
        <p:spPr>
          <a:xfrm>
            <a:off x="566928" y="1938528"/>
            <a:ext cx="4114800" cy="786384"/>
          </a:xfrm>
          <a:prstGeom prst="roundRect">
            <a:avLst>
              <a:gd name="adj" fmla="val 6977"/>
            </a:avLst>
          </a:prstGeom>
          <a:solidFill>
            <a:srgbClr val="2C5F8D"/>
          </a:solidFill>
          <a:ln/>
          <a:effectLst>
            <a:outerShdw sx="100000" sy="100000" kx="0" ky="0" algn="bl" rotWithShape="0" blurRad="127000" dist="25400" dir="5400000">
              <a:srgbClr val="8A97AC">
                <a:alpha val="22000"/>
              </a:srgbClr>
            </a:outerShdw>
          </a:effectLst>
        </p:spPr>
      </p:sp>
      <p:sp>
        <p:nvSpPr>
          <p:cNvPr id="6" name="Text 4"/>
          <p:cNvSpPr/>
          <p:nvPr/>
        </p:nvSpPr>
        <p:spPr>
          <a:xfrm>
            <a:off x="877824" y="1938528"/>
            <a:ext cx="3657600" cy="786384"/>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①　案件管理</a:t>
            </a:r>
            <a:endParaRPr lang="en-US" sz="1700" dirty="0"/>
          </a:p>
        </p:txBody>
      </p:sp>
      <p:sp>
        <p:nvSpPr>
          <p:cNvPr id="7" name="Shape 5"/>
          <p:cNvSpPr/>
          <p:nvPr/>
        </p:nvSpPr>
        <p:spPr>
          <a:xfrm>
            <a:off x="566928" y="2834640"/>
            <a:ext cx="4114800" cy="786384"/>
          </a:xfrm>
          <a:prstGeom prst="roundRect">
            <a:avLst>
              <a:gd name="adj" fmla="val 6977"/>
            </a:avLst>
          </a:prstGeom>
          <a:solidFill>
            <a:srgbClr val="1F7A6C"/>
          </a:solidFill>
          <a:ln/>
          <a:effectLst>
            <a:outerShdw sx="100000" sy="100000" kx="0" ky="0" algn="bl" rotWithShape="0" blurRad="127000" dist="25400" dir="5400000">
              <a:srgbClr val="8A97AC">
                <a:alpha val="22000"/>
              </a:srgbClr>
            </a:outerShdw>
          </a:effectLst>
        </p:spPr>
      </p:sp>
      <p:sp>
        <p:nvSpPr>
          <p:cNvPr id="8" name="Text 6"/>
          <p:cNvSpPr/>
          <p:nvPr/>
        </p:nvSpPr>
        <p:spPr>
          <a:xfrm>
            <a:off x="877824" y="2834640"/>
            <a:ext cx="3657600" cy="786384"/>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②　議事録・会議</a:t>
            </a:r>
            <a:endParaRPr lang="en-US" sz="1700" dirty="0"/>
          </a:p>
        </p:txBody>
      </p:sp>
      <p:sp>
        <p:nvSpPr>
          <p:cNvPr id="9" name="Text 7"/>
          <p:cNvSpPr/>
          <p:nvPr/>
        </p:nvSpPr>
        <p:spPr>
          <a:xfrm>
            <a:off x="566928" y="3749040"/>
            <a:ext cx="4114800" cy="274320"/>
          </a:xfrm>
          <a:prstGeom prst="rect">
            <a:avLst/>
          </a:prstGeom>
          <a:noFill/>
          <a:ln/>
        </p:spPr>
        <p:txBody>
          <a:bodyPr wrap="square" lIns="0" tIns="0" rIns="0" bIns="0" rtlCol="0" anchor="ctr"/>
          <a:lstStyle/>
          <a:p>
            <a:pPr algn="ctr" indent="0" marL="0">
              <a:buNone/>
            </a:pPr>
            <a:r>
              <a:rPr lang="en-US" sz="1100" b="1" dirty="0">
                <a:solidFill>
                  <a:srgbClr val="5A6472"/>
                </a:solidFill>
                <a:latin typeface="Meiryo" pitchFamily="34" charset="0"/>
                <a:ea typeface="Meiryo" pitchFamily="34" charset="-122"/>
                <a:cs typeface="Meiryo" pitchFamily="34" charset="-120"/>
              </a:rPr>
              <a:t>まずここだけ</a:t>
            </a:r>
            <a:endParaRPr lang="en-US" sz="1100" dirty="0"/>
          </a:p>
        </p:txBody>
      </p:sp>
      <p:sp>
        <p:nvSpPr>
          <p:cNvPr id="10" name="Shape 8"/>
          <p:cNvSpPr/>
          <p:nvPr/>
        </p:nvSpPr>
        <p:spPr>
          <a:xfrm>
            <a:off x="4937760" y="2542032"/>
            <a:ext cx="457200" cy="310896"/>
          </a:xfrm>
          <a:prstGeom prst="rightArrow">
            <a:avLst/>
          </a:prstGeom>
          <a:solidFill>
            <a:srgbClr val="D5DCE6"/>
          </a:solidFill>
          <a:ln/>
        </p:spPr>
      </p:sp>
      <p:sp>
        <p:nvSpPr>
          <p:cNvPr id="11" name="Text 9"/>
          <p:cNvSpPr/>
          <p:nvPr/>
        </p:nvSpPr>
        <p:spPr>
          <a:xfrm>
            <a:off x="5687568" y="1609344"/>
            <a:ext cx="4937760" cy="274320"/>
          </a:xfrm>
          <a:prstGeom prst="rect">
            <a:avLst/>
          </a:prstGeom>
          <a:noFill/>
          <a:ln/>
        </p:spPr>
        <p:txBody>
          <a:bodyPr wrap="square" lIns="0" tIns="0" rIns="0" bIns="0" rtlCol="0" anchor="ctr"/>
          <a:lstStyle/>
          <a:p>
            <a:pPr indent="0" marL="0">
              <a:buNone/>
            </a:pPr>
            <a:r>
              <a:rPr lang="en-US" sz="1150" b="1" dirty="0">
                <a:solidFill>
                  <a:srgbClr val="5A6472"/>
                </a:solidFill>
                <a:latin typeface="Meiryo" pitchFamily="34" charset="0"/>
                <a:ea typeface="Meiryo" pitchFamily="34" charset="-122"/>
                <a:cs typeface="Meiryo" pitchFamily="34" charset="-120"/>
              </a:rPr>
              <a:t>将来の構想</a:t>
            </a:r>
            <a:endParaRPr lang="en-US" sz="1150" dirty="0"/>
          </a:p>
        </p:txBody>
      </p:sp>
      <p:sp>
        <p:nvSpPr>
          <p:cNvPr id="12" name="Shape 10"/>
          <p:cNvSpPr/>
          <p:nvPr/>
        </p:nvSpPr>
        <p:spPr>
          <a:xfrm>
            <a:off x="5687568" y="1938528"/>
            <a:ext cx="6172200" cy="1682496"/>
          </a:xfrm>
          <a:prstGeom prst="roundRect">
            <a:avLst>
              <a:gd name="adj" fmla="val 3261"/>
            </a:avLst>
          </a:prstGeom>
          <a:solidFill>
            <a:srgbClr val="FFFFFF"/>
          </a:solidFill>
          <a:ln w="19050">
            <a:solidFill>
              <a:srgbClr val="D5DCE6"/>
            </a:solidFill>
            <a:prstDash val="dash"/>
          </a:ln>
        </p:spPr>
      </p:sp>
      <p:sp>
        <p:nvSpPr>
          <p:cNvPr id="13" name="Text 11"/>
          <p:cNvSpPr/>
          <p:nvPr/>
        </p:nvSpPr>
        <p:spPr>
          <a:xfrm>
            <a:off x="5998464" y="2157984"/>
            <a:ext cx="5577840" cy="384048"/>
          </a:xfrm>
          <a:prstGeom prst="rect">
            <a:avLst/>
          </a:prstGeom>
          <a:noFill/>
          <a:ln/>
        </p:spPr>
        <p:txBody>
          <a:bodyPr wrap="square" lIns="0" tIns="0" rIns="0" bIns="0" rtlCol="0" anchor="ctr"/>
          <a:lstStyle/>
          <a:p>
            <a:pPr indent="0" marL="0">
              <a:buNone/>
            </a:pPr>
            <a:r>
              <a:rPr lang="en-US" sz="1700" b="1" dirty="0">
                <a:solidFill>
                  <a:srgbClr val="5A6472"/>
                </a:solidFill>
                <a:latin typeface="Meiryo" pitchFamily="34" charset="0"/>
                <a:ea typeface="Meiryo" pitchFamily="34" charset="-122"/>
                <a:cs typeface="Meiryo" pitchFamily="34" charset="-120"/>
              </a:rPr>
              <a:t>③　社内ナレッジの移行</a:t>
            </a:r>
            <a:endParaRPr lang="en-US" sz="1700" dirty="0"/>
          </a:p>
        </p:txBody>
      </p:sp>
      <p:sp>
        <p:nvSpPr>
          <p:cNvPr id="14" name="Text 12"/>
          <p:cNvSpPr/>
          <p:nvPr/>
        </p:nvSpPr>
        <p:spPr>
          <a:xfrm>
            <a:off x="5998464" y="2615184"/>
            <a:ext cx="5577840" cy="768096"/>
          </a:xfrm>
          <a:prstGeom prst="rect">
            <a:avLst/>
          </a:prstGeom>
          <a:noFill/>
          <a:ln/>
        </p:spPr>
        <p:txBody>
          <a:bodyPr wrap="square" lIns="0" tIns="0" rIns="0" bIns="0" rtlCol="0" anchor="ctr"/>
          <a:lstStyle/>
          <a:p>
            <a:pPr indent="0" marL="0">
              <a:lnSpc>
                <a:spcPts val="2000"/>
              </a:lnSpc>
              <a:buNone/>
            </a:pPr>
            <a:r>
              <a:rPr lang="en-US" sz="1200" dirty="0">
                <a:solidFill>
                  <a:srgbClr val="5A6472"/>
                </a:solidFill>
                <a:latin typeface="Meiryo" pitchFamily="34" charset="0"/>
                <a:ea typeface="Meiryo" pitchFamily="34" charset="-122"/>
                <a:cs typeface="Meiryo" pitchFamily="34" charset="-120"/>
              </a:rPr>
              <a:t>現在SharePointに集約しているナレッジをNotionに統合し、</a:t>
            </a:r>
            <a:endParaRPr lang="en-US" sz="1200" dirty="0"/>
          </a:p>
          <a:p>
            <a:pPr indent="0" marL="0">
              <a:lnSpc>
                <a:spcPts val="2000"/>
              </a:lnSpc>
              <a:buNone/>
            </a:pPr>
            <a:r>
              <a:rPr lang="en-US" sz="1200" dirty="0">
                <a:solidFill>
                  <a:srgbClr val="5A6472"/>
                </a:solidFill>
                <a:latin typeface="Meiryo" pitchFamily="34" charset="0"/>
                <a:ea typeface="Meiryo" pitchFamily="34" charset="-122"/>
                <a:cs typeface="Meiryo" pitchFamily="34" charset="-120"/>
              </a:rPr>
              <a:t>案件・議事録・ナレッジが1か所で繋がる状態を目指したい。</a:t>
            </a:r>
            <a:endParaRPr lang="en-US" sz="1200" dirty="0"/>
          </a:p>
        </p:txBody>
      </p:sp>
      <p:sp>
        <p:nvSpPr>
          <p:cNvPr id="15" name="Text 13"/>
          <p:cNvSpPr/>
          <p:nvPr/>
        </p:nvSpPr>
        <p:spPr>
          <a:xfrm>
            <a:off x="5687568" y="3749040"/>
            <a:ext cx="6172200" cy="274320"/>
          </a:xfrm>
          <a:prstGeom prst="rect">
            <a:avLst/>
          </a:prstGeom>
          <a:noFill/>
          <a:ln/>
        </p:spPr>
        <p:txBody>
          <a:bodyPr wrap="square" lIns="0" tIns="0" rIns="0" bIns="0" rtlCol="0" anchor="ctr"/>
          <a:lstStyle/>
          <a:p>
            <a:pPr algn="ctr" indent="0" marL="0">
              <a:buNone/>
            </a:pPr>
            <a:r>
              <a:rPr lang="en-US" sz="1100" b="1" dirty="0">
                <a:solidFill>
                  <a:srgbClr val="5A6472"/>
                </a:solidFill>
                <a:latin typeface="Meiryo" pitchFamily="34" charset="0"/>
                <a:ea typeface="Meiryo" pitchFamily="34" charset="-122"/>
                <a:cs typeface="Meiryo" pitchFamily="34" charset="-120"/>
              </a:rPr>
              <a:t>今回は実施しません</a:t>
            </a:r>
            <a:endParaRPr lang="en-US" sz="1100" dirty="0"/>
          </a:p>
        </p:txBody>
      </p:sp>
      <p:sp>
        <p:nvSpPr>
          <p:cNvPr id="16" name="Text 14"/>
          <p:cNvSpPr/>
          <p:nvPr/>
        </p:nvSpPr>
        <p:spPr>
          <a:xfrm>
            <a:off x="566928" y="4224528"/>
            <a:ext cx="11057839" cy="274320"/>
          </a:xfrm>
          <a:prstGeom prst="rect">
            <a:avLst/>
          </a:prstGeom>
          <a:noFill/>
          <a:ln/>
        </p:spPr>
        <p:txBody>
          <a:bodyPr wrap="square" lIns="0" tIns="0" rIns="0" bIns="0" rtlCol="0" anchor="ctr"/>
          <a:lstStyle/>
          <a:p>
            <a:pPr indent="0" marL="0">
              <a:buNone/>
            </a:pPr>
            <a:r>
              <a:rPr lang="en-US" sz="1250" b="1" dirty="0">
                <a:solidFill>
                  <a:srgbClr val="16233F"/>
                </a:solidFill>
                <a:latin typeface="Meiryo" pitchFamily="34" charset="0"/>
                <a:ea typeface="Meiryo" pitchFamily="34" charset="-122"/>
                <a:cs typeface="Meiryo" pitchFamily="34" charset="-120"/>
              </a:rPr>
              <a:t>なぜ絞るのか</a:t>
            </a:r>
            <a:endParaRPr lang="en-US" sz="1250" dirty="0"/>
          </a:p>
        </p:txBody>
      </p:sp>
      <p:sp>
        <p:nvSpPr>
          <p:cNvPr id="17" name="Shape 15"/>
          <p:cNvSpPr/>
          <p:nvPr/>
        </p:nvSpPr>
        <p:spPr>
          <a:xfrm>
            <a:off x="566928" y="4553712"/>
            <a:ext cx="3529584" cy="1261872"/>
          </a:xfrm>
          <a:prstGeom prst="roundRect">
            <a:avLst>
              <a:gd name="adj" fmla="val 4348"/>
            </a:avLst>
          </a:prstGeom>
          <a:solidFill>
            <a:srgbClr val="F1F4F9"/>
          </a:solidFill>
          <a:ln/>
          <a:effectLst>
            <a:outerShdw sx="100000" sy="100000" kx="0" ky="0" algn="bl" rotWithShape="0" blurRad="127000" dist="25400" dir="5400000">
              <a:srgbClr val="8A97AC">
                <a:alpha val="22000"/>
              </a:srgbClr>
            </a:outerShdw>
          </a:effectLst>
        </p:spPr>
      </p:sp>
      <p:sp>
        <p:nvSpPr>
          <p:cNvPr id="18" name="Text 16"/>
          <p:cNvSpPr/>
          <p:nvPr/>
        </p:nvSpPr>
        <p:spPr>
          <a:xfrm>
            <a:off x="822960" y="4700016"/>
            <a:ext cx="3017520" cy="310896"/>
          </a:xfrm>
          <a:prstGeom prst="rect">
            <a:avLst/>
          </a:prstGeom>
          <a:noFill/>
          <a:ln/>
        </p:spPr>
        <p:txBody>
          <a:bodyPr wrap="square" lIns="0" tIns="0" rIns="0" bIns="0" rtlCol="0" anchor="ctr"/>
          <a:lstStyle/>
          <a:p>
            <a:pPr indent="0" marL="0">
              <a:buNone/>
            </a:pPr>
            <a:r>
              <a:rPr lang="en-US" sz="1300" b="1" dirty="0">
                <a:solidFill>
                  <a:srgbClr val="16233F"/>
                </a:solidFill>
                <a:latin typeface="Meiryo" pitchFamily="34" charset="0"/>
                <a:ea typeface="Meiryo" pitchFamily="34" charset="-122"/>
                <a:cs typeface="Meiryo" pitchFamily="34" charset="-120"/>
              </a:rPr>
              <a:t>撤退可能性の確保</a:t>
            </a:r>
            <a:endParaRPr lang="en-US" sz="1300" dirty="0"/>
          </a:p>
        </p:txBody>
      </p:sp>
      <p:sp>
        <p:nvSpPr>
          <p:cNvPr id="19" name="Text 17"/>
          <p:cNvSpPr/>
          <p:nvPr/>
        </p:nvSpPr>
        <p:spPr>
          <a:xfrm>
            <a:off x="822960" y="5029200"/>
            <a:ext cx="3017520" cy="640080"/>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思うような成果が得られなかった場合に、やめられる状態を保つ</a:t>
            </a:r>
            <a:endParaRPr lang="en-US" sz="1100" dirty="0"/>
          </a:p>
        </p:txBody>
      </p:sp>
      <p:sp>
        <p:nvSpPr>
          <p:cNvPr id="20" name="Shape 18"/>
          <p:cNvSpPr/>
          <p:nvPr/>
        </p:nvSpPr>
        <p:spPr>
          <a:xfrm>
            <a:off x="4439412" y="4553712"/>
            <a:ext cx="3529584" cy="1261872"/>
          </a:xfrm>
          <a:prstGeom prst="roundRect">
            <a:avLst>
              <a:gd name="adj" fmla="val 4348"/>
            </a:avLst>
          </a:prstGeom>
          <a:solidFill>
            <a:srgbClr val="F1F4F9"/>
          </a:solidFill>
          <a:ln/>
          <a:effectLst>
            <a:outerShdw sx="100000" sy="100000" kx="0" ky="0" algn="bl" rotWithShape="0" blurRad="127000" dist="25400" dir="5400000">
              <a:srgbClr val="8A97AC">
                <a:alpha val="22000"/>
              </a:srgbClr>
            </a:outerShdw>
          </a:effectLst>
        </p:spPr>
      </p:sp>
      <p:sp>
        <p:nvSpPr>
          <p:cNvPr id="21" name="Text 19"/>
          <p:cNvSpPr/>
          <p:nvPr/>
        </p:nvSpPr>
        <p:spPr>
          <a:xfrm>
            <a:off x="4695444" y="4700016"/>
            <a:ext cx="3017520" cy="310896"/>
          </a:xfrm>
          <a:prstGeom prst="rect">
            <a:avLst/>
          </a:prstGeom>
          <a:noFill/>
          <a:ln/>
        </p:spPr>
        <p:txBody>
          <a:bodyPr wrap="square" lIns="0" tIns="0" rIns="0" bIns="0" rtlCol="0" anchor="ctr"/>
          <a:lstStyle/>
          <a:p>
            <a:pPr indent="0" marL="0">
              <a:buNone/>
            </a:pPr>
            <a:r>
              <a:rPr lang="en-US" sz="1300" b="1" dirty="0">
                <a:solidFill>
                  <a:srgbClr val="16233F"/>
                </a:solidFill>
                <a:latin typeface="Meiryo" pitchFamily="34" charset="0"/>
                <a:ea typeface="Meiryo" pitchFamily="34" charset="-122"/>
                <a:cs typeface="Meiryo" pitchFamily="34" charset="-120"/>
              </a:rPr>
              <a:t>移行コストの回避</a:t>
            </a:r>
            <a:endParaRPr lang="en-US" sz="1300" dirty="0"/>
          </a:p>
        </p:txBody>
      </p:sp>
      <p:sp>
        <p:nvSpPr>
          <p:cNvPr id="22" name="Text 20"/>
          <p:cNvSpPr/>
          <p:nvPr/>
        </p:nvSpPr>
        <p:spPr>
          <a:xfrm>
            <a:off x="4695444" y="5029200"/>
            <a:ext cx="3017520" cy="640080"/>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SharePointの既存資産を移行すると、後戻りが困難になる</a:t>
            </a:r>
            <a:endParaRPr lang="en-US" sz="1100" dirty="0"/>
          </a:p>
        </p:txBody>
      </p:sp>
      <p:sp>
        <p:nvSpPr>
          <p:cNvPr id="23" name="Shape 21"/>
          <p:cNvSpPr/>
          <p:nvPr/>
        </p:nvSpPr>
        <p:spPr>
          <a:xfrm>
            <a:off x="8311896" y="4553712"/>
            <a:ext cx="3529584" cy="1261872"/>
          </a:xfrm>
          <a:prstGeom prst="roundRect">
            <a:avLst>
              <a:gd name="adj" fmla="val 4348"/>
            </a:avLst>
          </a:prstGeom>
          <a:solidFill>
            <a:srgbClr val="F1F4F9"/>
          </a:solidFill>
          <a:ln/>
          <a:effectLst>
            <a:outerShdw sx="100000" sy="100000" kx="0" ky="0" algn="bl" rotWithShape="0" blurRad="127000" dist="25400" dir="5400000">
              <a:srgbClr val="8A97AC">
                <a:alpha val="22000"/>
              </a:srgbClr>
            </a:outerShdw>
          </a:effectLst>
        </p:spPr>
      </p:sp>
      <p:sp>
        <p:nvSpPr>
          <p:cNvPr id="24" name="Text 22"/>
          <p:cNvSpPr/>
          <p:nvPr/>
        </p:nvSpPr>
        <p:spPr>
          <a:xfrm>
            <a:off x="8567928" y="4700016"/>
            <a:ext cx="3017520" cy="310896"/>
          </a:xfrm>
          <a:prstGeom prst="rect">
            <a:avLst/>
          </a:prstGeom>
          <a:noFill/>
          <a:ln/>
        </p:spPr>
        <p:txBody>
          <a:bodyPr wrap="square" lIns="0" tIns="0" rIns="0" bIns="0" rtlCol="0" anchor="ctr"/>
          <a:lstStyle/>
          <a:p>
            <a:pPr indent="0" marL="0">
              <a:buNone/>
            </a:pPr>
            <a:r>
              <a:rPr lang="en-US" sz="1300" b="1" dirty="0">
                <a:solidFill>
                  <a:srgbClr val="16233F"/>
                </a:solidFill>
                <a:latin typeface="Meiryo" pitchFamily="34" charset="0"/>
                <a:ea typeface="Meiryo" pitchFamily="34" charset="-122"/>
                <a:cs typeface="Meiryo" pitchFamily="34" charset="-120"/>
              </a:rPr>
              <a:t>効果検証の明確化</a:t>
            </a:r>
            <a:endParaRPr lang="en-US" sz="1300" dirty="0"/>
          </a:p>
        </p:txBody>
      </p:sp>
      <p:sp>
        <p:nvSpPr>
          <p:cNvPr id="25" name="Text 23"/>
          <p:cNvSpPr/>
          <p:nvPr/>
        </p:nvSpPr>
        <p:spPr>
          <a:xfrm>
            <a:off x="8567928" y="5029200"/>
            <a:ext cx="3017520" cy="640080"/>
          </a:xfrm>
          <a:prstGeom prst="rect">
            <a:avLst/>
          </a:prstGeom>
          <a:noFill/>
          <a:ln/>
        </p:spPr>
        <p:txBody>
          <a:bodyPr wrap="square" lIns="0" tIns="0" rIns="0" bIns="0" rtlCol="0" anchor="ctr"/>
          <a:lstStyle/>
          <a:p>
            <a:pPr indent="0" marL="0">
              <a:lnSpc>
                <a:spcPts val="1700"/>
              </a:lnSpc>
              <a:buNone/>
            </a:pPr>
            <a:r>
              <a:rPr lang="en-US" sz="1100" dirty="0">
                <a:solidFill>
                  <a:srgbClr val="5A6472"/>
                </a:solidFill>
                <a:latin typeface="Meiryo" pitchFamily="34" charset="0"/>
                <a:ea typeface="Meiryo" pitchFamily="34" charset="-122"/>
                <a:cs typeface="Meiryo" pitchFamily="34" charset="-120"/>
              </a:rPr>
              <a:t>範囲が狭いほど、効果が出たかどうかを判定しやすい</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57839" cy="274320"/>
          </a:xfrm>
          <a:prstGeom prst="rect">
            <a:avLst/>
          </a:prstGeom>
          <a:noFill/>
          <a:ln/>
        </p:spPr>
        <p:txBody>
          <a:bodyPr wrap="square" lIns="0" tIns="0" rIns="0" bIns="0" rtlCol="0" anchor="ctr"/>
          <a:lstStyle/>
          <a:p>
            <a:pPr indent="0" marL="0">
              <a:buNone/>
            </a:pPr>
            <a:r>
              <a:rPr lang="en-US" sz="1150" b="1" spc="140" kern="0" dirty="0">
                <a:solidFill>
                  <a:srgbClr val="E8A33D"/>
                </a:solidFill>
                <a:latin typeface="Meiryo" pitchFamily="34" charset="0"/>
                <a:ea typeface="Meiryo" pitchFamily="34" charset="-122"/>
                <a:cs typeface="Meiryo" pitchFamily="34" charset="-120"/>
              </a:rPr>
              <a:t>成功指標と撤退基準</a:t>
            </a:r>
            <a:endParaRPr lang="en-US" sz="1150" dirty="0"/>
          </a:p>
        </p:txBody>
      </p:sp>
      <p:sp>
        <p:nvSpPr>
          <p:cNvPr id="3" name="Text 1"/>
          <p:cNvSpPr/>
          <p:nvPr/>
        </p:nvSpPr>
        <p:spPr>
          <a:xfrm>
            <a:off x="566928" y="603504"/>
            <a:ext cx="11057839" cy="566928"/>
          </a:xfrm>
          <a:prstGeom prst="rect">
            <a:avLst/>
          </a:prstGeom>
          <a:noFill/>
          <a:ln/>
        </p:spPr>
        <p:txBody>
          <a:bodyPr wrap="square" lIns="0" tIns="0" rIns="0" bIns="0" rtlCol="0" anchor="ctr"/>
          <a:lstStyle/>
          <a:p>
            <a:pPr indent="0" marL="0">
              <a:buNone/>
            </a:pPr>
            <a:r>
              <a:rPr lang="en-US" sz="2700" b="1" dirty="0">
                <a:solidFill>
                  <a:srgbClr val="16233F"/>
                </a:solidFill>
                <a:latin typeface="Meiryo" pitchFamily="34" charset="0"/>
                <a:ea typeface="Meiryo" pitchFamily="34" charset="-122"/>
                <a:cs typeface="Meiryo" pitchFamily="34" charset="-120"/>
              </a:rPr>
              <a:t>効果が出なければ、1年で見直します</a:t>
            </a:r>
            <a:endParaRPr lang="en-US" sz="2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591056"/>
          <a:ext cx="11057839" cy="914400"/>
        </p:xfrm>
        <a:graphic>
          <a:graphicData uri="http://schemas.openxmlformats.org/drawingml/2006/table">
            <a:tbl>
              <a:tblPr/>
              <a:tblGrid>
                <a:gridCol w="502920"/>
                <a:gridCol w="5486400"/>
                <a:gridCol w="2377440"/>
                <a:gridCol w="2706624"/>
              </a:tblGrid>
              <a:tr h="475488">
                <a:tc>
                  <a:txBody>
                    <a:bodyPr/>
                    <a:lstStyle/>
                    <a:p>
                      <a:pPr indent="0" marL="0">
                        <a:buNone/>
                      </a:pP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指標</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現状</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c>
                  <a:txBody>
                    <a:bodyPr/>
                    <a:lstStyle/>
                    <a:p>
                      <a:pPr indent="0" marL="0">
                        <a:buNone/>
                      </a:pPr>
                      <a:r>
                        <a:rPr lang="en-US" sz="1200" b="1" dirty="0">
                          <a:solidFill>
                            <a:srgbClr val="FFFFFF"/>
                          </a:solidFill>
                          <a:latin typeface="Meiryo" pitchFamily="34" charset="0"/>
                          <a:ea typeface="Meiryo" pitchFamily="34" charset="-122"/>
                          <a:cs typeface="Meiryo" pitchFamily="34" charset="-120"/>
                        </a:rPr>
                        <a:t>目標</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6233F"/>
                    </a:solidFill>
                  </a:tcPr>
                </a:tc>
              </a:tr>
              <a:tr h="47548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2C5F8D"/>
                    </a:solidFill>
                  </a:tcPr>
                </a:tc>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案件の期日遵守率</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未計測</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6233F"/>
                          </a:solidFill>
                          <a:latin typeface="Meiryo" pitchFamily="34" charset="0"/>
                          <a:ea typeface="Meiryo" pitchFamily="34" charset="-122"/>
                          <a:cs typeface="Meiryo" pitchFamily="34" charset="-120"/>
                        </a:rPr>
                        <a:t>計測開始 → ◯%</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A</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2C5F8D"/>
                    </a:solidFill>
                  </a:tcPr>
                </a:tc>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案件情報がNotionに登録されている割合</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6233F"/>
                          </a:solidFill>
                          <a:latin typeface="Meiryo" pitchFamily="34" charset="0"/>
                          <a:ea typeface="Meiryo" pitchFamily="34" charset="-122"/>
                          <a:cs typeface="Meiryo" pitchFamily="34" charset="-120"/>
                        </a:rPr>
                        <a:t>95% 以上</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B</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F7A6C"/>
                    </a:solidFill>
                  </a:tcPr>
                </a:tc>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1人あたり週の会議時間</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実測中</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6233F"/>
                          </a:solidFill>
                          <a:latin typeface="Meiryo" pitchFamily="34" charset="0"/>
                          <a:ea typeface="Meiryo" pitchFamily="34" charset="-122"/>
                          <a:cs typeface="Meiryo" pitchFamily="34" charset="-120"/>
                        </a:rPr>
                        <a:t>▲◯%</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B</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1F7A6C"/>
                    </a:solidFill>
                  </a:tcPr>
                </a:tc>
                <a:tc>
                  <a:txBody>
                    <a:bodyPr/>
                    <a:lstStyle/>
                    <a:p>
                      <a:pPr indent="0" marL="0">
                        <a:buNone/>
                      </a:pPr>
                      <a:r>
                        <a:rPr lang="en-US" sz="1200" b="1" dirty="0">
                          <a:solidFill>
                            <a:srgbClr val="1A1F2B"/>
                          </a:solidFill>
                          <a:latin typeface="Meiryo" pitchFamily="34" charset="0"/>
                          <a:ea typeface="Meiryo" pitchFamily="34" charset="-122"/>
                          <a:cs typeface="Meiryo" pitchFamily="34" charset="-120"/>
                        </a:rPr>
                        <a:t>議事録が残っている会議の割合</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5A6472"/>
                          </a:solidFill>
                          <a:latin typeface="Meiryo" pitchFamily="34" charset="0"/>
                          <a:ea typeface="Meiryo" pitchFamily="34" charset="-122"/>
                          <a:cs typeface="Meiryo" pitchFamily="34" charset="-120"/>
                        </a:rPr>
                        <a:t>実測中</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16233F"/>
                          </a:solidFill>
                          <a:latin typeface="Meiryo" pitchFamily="34" charset="0"/>
                          <a:ea typeface="Meiryo" pitchFamily="34" charset="-122"/>
                          <a:cs typeface="Meiryo" pitchFamily="34" charset="-120"/>
                        </a:rPr>
                        <a:t>90% 以上</a:t>
                      </a:r>
                      <a:endParaRPr lang="en-US" sz="1200" dirty="0">
                        <a:latin typeface="Meiryo" charset="0"/>
                        <a:ea typeface="Meiryo" charset="0"/>
                        <a:cs typeface="Meiryo" charset="0"/>
                      </a:endParaRPr>
                    </a:p>
                  </a:txBody>
                  <a:tcPr marL="73152" marR="73152" marT="73152" marB="73152"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169664"/>
            <a:ext cx="11057839" cy="1371600"/>
          </a:xfrm>
          <a:prstGeom prst="roundRect">
            <a:avLst>
              <a:gd name="adj" fmla="val 4000"/>
            </a:avLst>
          </a:prstGeom>
          <a:solidFill>
            <a:srgbClr val="16233F"/>
          </a:solidFill>
          <a:ln/>
          <a:effectLst>
            <a:outerShdw sx="100000" sy="100000" kx="0" ky="0" algn="bl" rotWithShape="0" blurRad="127000" dist="25400" dir="5400000">
              <a:srgbClr val="8A97AC">
                <a:alpha val="22000"/>
              </a:srgbClr>
            </a:outerShdw>
          </a:effectLst>
        </p:spPr>
      </p:sp>
      <p:sp>
        <p:nvSpPr>
          <p:cNvPr id="6" name="Text 3"/>
          <p:cNvSpPr/>
          <p:nvPr/>
        </p:nvSpPr>
        <p:spPr>
          <a:xfrm>
            <a:off x="1024128" y="4352544"/>
            <a:ext cx="2743200" cy="310896"/>
          </a:xfrm>
          <a:prstGeom prst="rect">
            <a:avLst/>
          </a:prstGeom>
          <a:noFill/>
          <a:ln/>
        </p:spPr>
        <p:txBody>
          <a:bodyPr wrap="square" lIns="0" tIns="0" rIns="0" bIns="0" rtlCol="0" anchor="ctr"/>
          <a:lstStyle/>
          <a:p>
            <a:pPr indent="0" marL="0">
              <a:buNone/>
            </a:pPr>
            <a:r>
              <a:rPr lang="en-US" sz="1300" b="1" dirty="0">
                <a:solidFill>
                  <a:srgbClr val="E8A33D"/>
                </a:solidFill>
                <a:latin typeface="Meiryo" pitchFamily="34" charset="0"/>
                <a:ea typeface="Meiryo" pitchFamily="34" charset="-122"/>
                <a:cs typeface="Meiryo" pitchFamily="34" charset="-120"/>
              </a:rPr>
              <a:t>撤退基準</a:t>
            </a:r>
            <a:endParaRPr lang="en-US" sz="1300" dirty="0"/>
          </a:p>
        </p:txBody>
      </p:sp>
      <p:sp>
        <p:nvSpPr>
          <p:cNvPr id="7" name="Text 4"/>
          <p:cNvSpPr/>
          <p:nvPr/>
        </p:nvSpPr>
        <p:spPr>
          <a:xfrm>
            <a:off x="1024128" y="4700016"/>
            <a:ext cx="10143439" cy="365760"/>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導入12か月後、上記KPIが未達の場合は翌年度の契約更新を見送ります。</a:t>
            </a:r>
            <a:endParaRPr lang="en-US" sz="1700" dirty="0"/>
          </a:p>
        </p:txBody>
      </p:sp>
      <p:sp>
        <p:nvSpPr>
          <p:cNvPr id="8" name="Text 5"/>
          <p:cNvSpPr/>
          <p:nvPr/>
        </p:nvSpPr>
        <p:spPr>
          <a:xfrm>
            <a:off x="1024128" y="5102352"/>
            <a:ext cx="10143439" cy="310896"/>
          </a:xfrm>
          <a:prstGeom prst="rect">
            <a:avLst/>
          </a:prstGeom>
          <a:noFill/>
          <a:ln/>
        </p:spPr>
        <p:txBody>
          <a:bodyPr wrap="square" lIns="0" tIns="0" rIns="0" bIns="0" rtlCol="0" anchor="ctr"/>
          <a:lstStyle/>
          <a:p>
            <a:pPr indent="0" marL="0">
              <a:buNone/>
            </a:pPr>
            <a:r>
              <a:rPr lang="en-US" sz="1200" dirty="0">
                <a:solidFill>
                  <a:srgbClr val="C3CEE0"/>
                </a:solidFill>
                <a:latin typeface="Meiryo" pitchFamily="34" charset="0"/>
                <a:ea typeface="Meiryo" pitchFamily="34" charset="-122"/>
                <a:cs typeface="Meiryo" pitchFamily="34" charset="-120"/>
              </a:rPr>
              <a:t>対象範囲を①案件管理・②議事録に限定しているため、撤退時の影響は限定的です。</a:t>
            </a:r>
            <a:endParaRPr lang="en-US" sz="1200" dirty="0"/>
          </a:p>
        </p:txBody>
      </p:sp>
      <p:sp>
        <p:nvSpPr>
          <p:cNvPr id="9" name="Text 6"/>
          <p:cNvSpPr/>
          <p:nvPr/>
        </p:nvSpPr>
        <p:spPr>
          <a:xfrm>
            <a:off x="566928" y="5760720"/>
            <a:ext cx="11057839" cy="292608"/>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測定時期：導入6か月後（中間）／12か月後（判定）</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10424160" y="4572000"/>
            <a:ext cx="3108960" cy="3108960"/>
          </a:xfrm>
          <a:prstGeom prst="ellipse">
            <a:avLst/>
          </a:prstGeom>
          <a:solidFill>
            <a:srgbClr val="2C5F8D">
              <a:alpha val="34000"/>
            </a:srgbClr>
          </a:solidFill>
          <a:ln/>
        </p:spPr>
      </p:sp>
      <p:sp>
        <p:nvSpPr>
          <p:cNvPr id="3" name="Text 1"/>
          <p:cNvSpPr/>
          <p:nvPr/>
        </p:nvSpPr>
        <p:spPr>
          <a:xfrm>
            <a:off x="566928" y="658368"/>
            <a:ext cx="11057839" cy="548640"/>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改めて、お願いする3点</a:t>
            </a:r>
            <a:endParaRPr lang="en-US" sz="2800" dirty="0"/>
          </a:p>
        </p:txBody>
      </p:sp>
      <p:sp>
        <p:nvSpPr>
          <p:cNvPr id="4" name="Shape 2"/>
          <p:cNvSpPr/>
          <p:nvPr/>
        </p:nvSpPr>
        <p:spPr>
          <a:xfrm>
            <a:off x="566928" y="1572768"/>
            <a:ext cx="11057839" cy="896112"/>
          </a:xfrm>
          <a:prstGeom prst="roundRect">
            <a:avLst>
              <a:gd name="adj" fmla="val 6122"/>
            </a:avLst>
          </a:prstGeom>
          <a:solidFill>
            <a:srgbClr val="24365C"/>
          </a:solidFill>
          <a:ln/>
        </p:spPr>
      </p:sp>
      <p:sp>
        <p:nvSpPr>
          <p:cNvPr id="5" name="Shape 3"/>
          <p:cNvSpPr/>
          <p:nvPr/>
        </p:nvSpPr>
        <p:spPr>
          <a:xfrm>
            <a:off x="877824" y="1783080"/>
            <a:ext cx="475488" cy="475488"/>
          </a:xfrm>
          <a:prstGeom prst="ellipse">
            <a:avLst/>
          </a:prstGeom>
          <a:solidFill>
            <a:srgbClr val="E8A33D"/>
          </a:solidFill>
          <a:ln/>
        </p:spPr>
      </p:sp>
      <p:sp>
        <p:nvSpPr>
          <p:cNvPr id="6" name="Text 4"/>
          <p:cNvSpPr/>
          <p:nvPr/>
        </p:nvSpPr>
        <p:spPr>
          <a:xfrm>
            <a:off x="877824" y="17830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7" name="Text 5"/>
          <p:cNvSpPr/>
          <p:nvPr/>
        </p:nvSpPr>
        <p:spPr>
          <a:xfrm>
            <a:off x="1591056" y="1572768"/>
            <a:ext cx="9686239" cy="896112"/>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全社（140名）へのNotion導入のご承認</a:t>
            </a:r>
            <a:endParaRPr lang="en-US" sz="1700" dirty="0"/>
          </a:p>
        </p:txBody>
      </p:sp>
      <p:sp>
        <p:nvSpPr>
          <p:cNvPr id="8" name="Shape 6"/>
          <p:cNvSpPr/>
          <p:nvPr/>
        </p:nvSpPr>
        <p:spPr>
          <a:xfrm>
            <a:off x="566928" y="2615184"/>
            <a:ext cx="11057839" cy="896112"/>
          </a:xfrm>
          <a:prstGeom prst="roundRect">
            <a:avLst>
              <a:gd name="adj" fmla="val 6122"/>
            </a:avLst>
          </a:prstGeom>
          <a:solidFill>
            <a:srgbClr val="24365C"/>
          </a:solidFill>
          <a:ln/>
        </p:spPr>
      </p:sp>
      <p:sp>
        <p:nvSpPr>
          <p:cNvPr id="9" name="Shape 7"/>
          <p:cNvSpPr/>
          <p:nvPr/>
        </p:nvSpPr>
        <p:spPr>
          <a:xfrm>
            <a:off x="877824" y="2825496"/>
            <a:ext cx="475488" cy="475488"/>
          </a:xfrm>
          <a:prstGeom prst="ellipse">
            <a:avLst/>
          </a:prstGeom>
          <a:solidFill>
            <a:srgbClr val="E8A33D"/>
          </a:solidFill>
          <a:ln/>
        </p:spPr>
      </p:sp>
      <p:sp>
        <p:nvSpPr>
          <p:cNvPr id="10" name="Text 8"/>
          <p:cNvSpPr/>
          <p:nvPr/>
        </p:nvSpPr>
        <p:spPr>
          <a:xfrm>
            <a:off x="877824" y="28254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11" name="Text 9"/>
          <p:cNvSpPr/>
          <p:nvPr/>
        </p:nvSpPr>
        <p:spPr>
          <a:xfrm>
            <a:off x="1591056" y="2615184"/>
            <a:ext cx="9686239" cy="896112"/>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年間費用 529.2万円 のご承認（Business・年払い）</a:t>
            </a:r>
            <a:endParaRPr lang="en-US" sz="1700" dirty="0"/>
          </a:p>
        </p:txBody>
      </p:sp>
      <p:sp>
        <p:nvSpPr>
          <p:cNvPr id="12" name="Shape 10"/>
          <p:cNvSpPr/>
          <p:nvPr/>
        </p:nvSpPr>
        <p:spPr>
          <a:xfrm>
            <a:off x="566928" y="3657600"/>
            <a:ext cx="11057839" cy="896112"/>
          </a:xfrm>
          <a:prstGeom prst="roundRect">
            <a:avLst>
              <a:gd name="adj" fmla="val 6122"/>
            </a:avLst>
          </a:prstGeom>
          <a:solidFill>
            <a:srgbClr val="24365C"/>
          </a:solidFill>
          <a:ln/>
        </p:spPr>
      </p:sp>
      <p:sp>
        <p:nvSpPr>
          <p:cNvPr id="13" name="Shape 11"/>
          <p:cNvSpPr/>
          <p:nvPr/>
        </p:nvSpPr>
        <p:spPr>
          <a:xfrm>
            <a:off x="877824" y="3867912"/>
            <a:ext cx="475488" cy="475488"/>
          </a:xfrm>
          <a:prstGeom prst="ellipse">
            <a:avLst/>
          </a:prstGeom>
          <a:solidFill>
            <a:srgbClr val="E8A33D"/>
          </a:solidFill>
          <a:ln/>
        </p:spPr>
      </p:sp>
      <p:sp>
        <p:nvSpPr>
          <p:cNvPr id="14" name="Text 12"/>
          <p:cNvSpPr/>
          <p:nvPr/>
        </p:nvSpPr>
        <p:spPr>
          <a:xfrm>
            <a:off x="877824" y="38679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15" name="Text 13"/>
          <p:cNvSpPr/>
          <p:nvPr/>
        </p:nvSpPr>
        <p:spPr>
          <a:xfrm>
            <a:off x="1591056" y="3657600"/>
            <a:ext cx="9686239" cy="896112"/>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ホールディングスへの導入申請着手のご許可</a:t>
            </a:r>
            <a:endParaRPr lang="en-US" sz="1700" dirty="0"/>
          </a:p>
        </p:txBody>
      </p:sp>
      <p:sp>
        <p:nvSpPr>
          <p:cNvPr id="16" name="Text 14"/>
          <p:cNvSpPr/>
          <p:nvPr/>
        </p:nvSpPr>
        <p:spPr>
          <a:xfrm>
            <a:off x="566928" y="4846320"/>
            <a:ext cx="11057839" cy="292608"/>
          </a:xfrm>
          <a:prstGeom prst="rect">
            <a:avLst/>
          </a:prstGeom>
          <a:noFill/>
          <a:ln/>
        </p:spPr>
        <p:txBody>
          <a:bodyPr wrap="square" lIns="0" tIns="0" rIns="0" bIns="0" rtlCol="0" anchor="ctr"/>
          <a:lstStyle/>
          <a:p>
            <a:pPr indent="0" marL="0">
              <a:buNone/>
            </a:pPr>
            <a:r>
              <a:rPr lang="en-US" sz="1150" b="1" dirty="0">
                <a:solidFill>
                  <a:srgbClr val="E8A33D"/>
                </a:solidFill>
                <a:latin typeface="Meiryo" pitchFamily="34" charset="0"/>
                <a:ea typeface="Meiryo" pitchFamily="34" charset="-122"/>
                <a:cs typeface="Meiryo" pitchFamily="34" charset="-120"/>
              </a:rPr>
              <a:t>承認後ただちに着手すること</a:t>
            </a:r>
            <a:endParaRPr lang="en-US" sz="1150" dirty="0"/>
          </a:p>
        </p:txBody>
      </p:sp>
      <p:sp>
        <p:nvSpPr>
          <p:cNvPr id="17" name="Shape 15"/>
          <p:cNvSpPr/>
          <p:nvPr/>
        </p:nvSpPr>
        <p:spPr>
          <a:xfrm>
            <a:off x="603504" y="5285232"/>
            <a:ext cx="118872" cy="118872"/>
          </a:xfrm>
          <a:prstGeom prst="ellipse">
            <a:avLst/>
          </a:prstGeom>
          <a:solidFill>
            <a:srgbClr val="8FA0BC"/>
          </a:solidFill>
          <a:ln/>
        </p:spPr>
      </p:sp>
      <p:sp>
        <p:nvSpPr>
          <p:cNvPr id="18" name="Text 16"/>
          <p:cNvSpPr/>
          <p:nvPr/>
        </p:nvSpPr>
        <p:spPr>
          <a:xfrm>
            <a:off x="877824" y="5193792"/>
            <a:ext cx="10058400" cy="292608"/>
          </a:xfrm>
          <a:prstGeom prst="rect">
            <a:avLst/>
          </a:prstGeom>
          <a:noFill/>
          <a:ln/>
        </p:spPr>
        <p:txBody>
          <a:bodyPr wrap="square" lIns="0" tIns="0" rIns="0" bIns="0" rtlCol="0" anchor="ctr"/>
          <a:lstStyle/>
          <a:p>
            <a:pPr indent="0" marL="0">
              <a:buNone/>
            </a:pPr>
            <a:r>
              <a:rPr lang="en-US" sz="1250" dirty="0">
                <a:solidFill>
                  <a:srgbClr val="C3CEE0"/>
                </a:solidFill>
                <a:latin typeface="Meiryo" pitchFamily="34" charset="0"/>
                <a:ea typeface="Meiryo" pitchFamily="34" charset="-122"/>
                <a:cs typeface="Meiryo" pitchFamily="34" charset="-120"/>
              </a:rPr>
              <a:t>情シスへのセキュリティ要件のヒアリング</a:t>
            </a:r>
            <a:endParaRPr lang="en-US" sz="1250" dirty="0"/>
          </a:p>
        </p:txBody>
      </p:sp>
      <p:sp>
        <p:nvSpPr>
          <p:cNvPr id="19" name="Shape 17"/>
          <p:cNvSpPr/>
          <p:nvPr/>
        </p:nvSpPr>
        <p:spPr>
          <a:xfrm>
            <a:off x="603504" y="5650992"/>
            <a:ext cx="118872" cy="118872"/>
          </a:xfrm>
          <a:prstGeom prst="ellipse">
            <a:avLst/>
          </a:prstGeom>
          <a:solidFill>
            <a:srgbClr val="8FA0BC"/>
          </a:solidFill>
          <a:ln/>
        </p:spPr>
      </p:sp>
      <p:sp>
        <p:nvSpPr>
          <p:cNvPr id="20" name="Text 18"/>
          <p:cNvSpPr/>
          <p:nvPr/>
        </p:nvSpPr>
        <p:spPr>
          <a:xfrm>
            <a:off x="877824" y="5559552"/>
            <a:ext cx="10058400" cy="292608"/>
          </a:xfrm>
          <a:prstGeom prst="rect">
            <a:avLst/>
          </a:prstGeom>
          <a:noFill/>
          <a:ln/>
        </p:spPr>
        <p:txBody>
          <a:bodyPr wrap="square" lIns="0" tIns="0" rIns="0" bIns="0" rtlCol="0" anchor="ctr"/>
          <a:lstStyle/>
          <a:p>
            <a:pPr indent="0" marL="0">
              <a:buNone/>
            </a:pPr>
            <a:r>
              <a:rPr lang="en-US" sz="1250" dirty="0">
                <a:solidFill>
                  <a:srgbClr val="C3CEE0"/>
                </a:solidFill>
                <a:latin typeface="Meiryo" pitchFamily="34" charset="0"/>
                <a:ea typeface="Meiryo" pitchFamily="34" charset="-122"/>
                <a:cs typeface="Meiryo" pitchFamily="34" charset="-120"/>
              </a:rPr>
              <a:t>ホールディングスへの申請書類の作成</a:t>
            </a:r>
            <a:endParaRPr lang="en-US" sz="1250" dirty="0"/>
          </a:p>
        </p:txBody>
      </p:sp>
      <p:sp>
        <p:nvSpPr>
          <p:cNvPr id="21" name="Shape 19"/>
          <p:cNvSpPr/>
          <p:nvPr/>
        </p:nvSpPr>
        <p:spPr>
          <a:xfrm>
            <a:off x="603504" y="6016752"/>
            <a:ext cx="118872" cy="118872"/>
          </a:xfrm>
          <a:prstGeom prst="ellipse">
            <a:avLst/>
          </a:prstGeom>
          <a:solidFill>
            <a:srgbClr val="8FA0BC"/>
          </a:solidFill>
          <a:ln/>
        </p:spPr>
      </p:sp>
      <p:sp>
        <p:nvSpPr>
          <p:cNvPr id="22" name="Text 20"/>
          <p:cNvSpPr/>
          <p:nvPr/>
        </p:nvSpPr>
        <p:spPr>
          <a:xfrm>
            <a:off x="877824" y="5925312"/>
            <a:ext cx="10058400" cy="292608"/>
          </a:xfrm>
          <a:prstGeom prst="rect">
            <a:avLst/>
          </a:prstGeom>
          <a:noFill/>
          <a:ln/>
        </p:spPr>
        <p:txBody>
          <a:bodyPr wrap="square" lIns="0" tIns="0" rIns="0" bIns="0" rtlCol="0" anchor="ctr"/>
          <a:lstStyle/>
          <a:p>
            <a:pPr indent="0" marL="0">
              <a:buNone/>
            </a:pPr>
            <a:r>
              <a:rPr lang="en-US" sz="1250" dirty="0">
                <a:solidFill>
                  <a:srgbClr val="C3CEE0"/>
                </a:solidFill>
                <a:latin typeface="Meiryo" pitchFamily="34" charset="0"/>
                <a:ea typeface="Meiryo" pitchFamily="34" charset="-122"/>
                <a:cs typeface="Meiryo" pitchFamily="34" charset="-120"/>
              </a:rPr>
              <a:t>テンプレート設計とPMO運用ルールの策定</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案件管理と会議運営の標準化</dc:title>
  <dc:subject>PptxGenJS Presentation</dc:subject>
  <dc:creator>人事組織</dc:creator>
  <cp:lastModifiedBy>人事組織</cp:lastModifiedBy>
  <cp:revision>1</cp:revision>
  <dcterms:created xsi:type="dcterms:W3CDTF">2026-08-20T00:34:49Z</dcterms:created>
  <dcterms:modified xsi:type="dcterms:W3CDTF">2026-08-20T00:34:49Z</dcterms:modified>
</cp:coreProperties>
</file>