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TPR各社との違いを最初に置くのは、聞き手（および将来ホールディングス）が大企業の感覚で判断しないようにするため。フルリモートであることが、文書に残す必要性の根拠になる。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部署名・個人名は絶対に出さない。「担当者が見逃した」ではなく「見逃せてしまう仕組みだった」と、主語を必ず仕組みに置く。
試算の分母を実施420件に絞っているのは、控えめに見せるため。「提案段階の案件を入れればもっと大きい」と口頭で補足できる。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「では人を減らせるのか」と必ず聞かれる。人件費が浮くとは絶対に言わないこと。
【数字の根拠を問われたら】Outlookの予定表から抽出することは可能だが、140名分の集計に相応の工数がかかるため、今回は各階層へのヒアリングによる概算としている。精緻な数字が必要であれば別途集計する、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「Notionが全部で一番」とは言わない。個別項目では他ツールが勝ることを正直に認めた上で、『①と②を1つで解く』という要件で選んでいると説明する。この誠実さが説得力になる。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このスライドの準備の有無が提案の成否を分ける。文字10枚より画面4枚のほうが伝わる。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税区分は公式ページに明記がないため税別として扱っている。契約時に必ず確認すること。承認額が約53万円変わる。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狙いは「一番高いプランを買おうとしているわけではない」と示すこと。情シスが監査ログや国内保管を必須とした場合は、この表がそのままEnterprise切替の根拠資料になる。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保管のルールはSharePointのドキュメントセット化・タグ運用として別途検討が進行中であり、Notionへ移すかどうかは決まっていない。この提案がそちらの選択肢を狭めないことを明示するため、ここではNotionという語を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情シスへの事前相談が最優先。監査ログと国内データ保管の要否を先に確認すること。どちらかが必須ならEnterprise（約911万円）になり、承認額が変わる。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206240" cy="4206240"/>
          </a:xfrm>
          <a:prstGeom prst="ellipse">
            <a:avLst/>
          </a:prstGeom>
          <a:solidFill>
            <a:srgbClr val="24365C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663440"/>
            <a:ext cx="2560320" cy="2560320"/>
          </a:xfrm>
          <a:prstGeom prst="ellipse">
            <a:avLst/>
          </a:prstGeom>
          <a:solidFill>
            <a:srgbClr val="2C5F8D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ご提案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883664"/>
            <a:ext cx="85953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案件管理と会議運営の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標準化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71246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PMO立ち上げに合わせた全社基盤の整備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13308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実行基盤としての Notion 全社導入について 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576072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2026年◯月◯日　人事組織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本日の流れ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048256"/>
            <a:ext cx="694944" cy="694944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20482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865376" y="2103120"/>
            <a:ext cx="3703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弊社が抱える課題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9264" y="3017520"/>
            <a:ext cx="4544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140名・フルリモートという特性と、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そこから生じている2つの課題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2784" y="173736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75120" y="2048256"/>
            <a:ext cx="694944" cy="69494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048256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7571232" y="2103120"/>
            <a:ext cx="3703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Notionを選ぶ理由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675120" y="3017520"/>
            <a:ext cx="4544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3つの選択肢を比較した結果と、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Notionでなければならない理由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5029200"/>
            <a:ext cx="11057839" cy="859536"/>
          </a:xfrm>
          <a:prstGeom prst="roundRect">
            <a:avLst>
              <a:gd name="adj" fmla="val 6383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9264" y="5029200"/>
            <a:ext cx="10253167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費用・プラン比較・進め方・セキュリティは Appendix に収録しています。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第1章｜弊社が抱える課題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PCAはTPR各社と異なり、140名・フルリモートで案件ごとにチームを組み替える会社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PCAの特性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719072"/>
            <a:ext cx="5349240" cy="1810512"/>
          </a:xfrm>
          <a:prstGeom prst="roundRect">
            <a:avLst>
              <a:gd name="adj" fmla="val 303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1984248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7" name="Text 5"/>
          <p:cNvSpPr/>
          <p:nvPr/>
        </p:nvSpPr>
        <p:spPr>
          <a:xfrm>
            <a:off x="1115568" y="1883664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140名の中小規模（TPR各社は大企業）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77824" y="2441448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2340864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フルリモート。対面での補完が効かない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77824" y="2843784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74320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案件ごとに部門横断でチームを組み替える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年約700件の研修案件と、社内プロジェクト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81928" y="1426464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だから、業務にはこれが必要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81928" y="1719072"/>
            <a:ext cx="5349240" cy="1810512"/>
          </a:xfrm>
          <a:prstGeom prst="roundRect">
            <a:avLst>
              <a:gd name="adj" fmla="val 303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92824" y="1984248"/>
            <a:ext cx="109728" cy="1097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5" name="Text 13"/>
          <p:cNvSpPr/>
          <p:nvPr/>
        </p:nvSpPr>
        <p:spPr>
          <a:xfrm>
            <a:off x="6830568" y="1883664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少人数のため、手戻りがそのまま効率に響く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92824" y="2441448"/>
            <a:ext cx="109728" cy="1097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7" name="Text 15"/>
          <p:cNvSpPr/>
          <p:nvPr/>
        </p:nvSpPr>
        <p:spPr>
          <a:xfrm>
            <a:off x="6830568" y="2340864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決定事項を口頭に頼れず、文書に残す必要がある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92824" y="2843784"/>
            <a:ext cx="109728" cy="109728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6830568" y="274320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プロジェクト管理と、離れた場所からでも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進捗が見える状態が要る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3749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現状の管理方法と、起きていること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41648"/>
          <a:ext cx="11057839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3717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現状の管理方法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起きていること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案件管理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Teamsのグループチャット ＋ 各自のExcel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42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依頼の見落としと期日超過。進捗が横断的に見えない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会議・議事録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会議はTeams。議事録はTeams上のWordとOneNoteに分散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42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目的が曖昧なまま設定される。決定が後から追えない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第1章｜弊社が抱える課題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課題は2つ ― 案件の進捗が見えない／会議に時間が溶ける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49240" cy="3968496"/>
          </a:xfrm>
          <a:prstGeom prst="roundRect">
            <a:avLst>
              <a:gd name="adj" fmla="val 138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792224"/>
            <a:ext cx="548640" cy="54864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36192" y="17739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課題①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36192" y="20116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77824" y="2651760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何が起きているか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907792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年約700件の案件が部門をまたいで進むのに、進捗を一望する場所がない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7824" y="3621024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誰が困っているか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877056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営業・運営・講師管理・コンテンツ制作・システム担当、そして新設のPMO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7824" y="4590288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放置するとどうなるか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77824" y="4846320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納期遅延と手戻りが再発し、顧客の信用を損なう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554480"/>
            <a:ext cx="5349240" cy="3968496"/>
          </a:xfrm>
          <a:prstGeom prst="roundRect">
            <a:avLst>
              <a:gd name="adj" fmla="val 138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83680" y="1792224"/>
            <a:ext cx="548640" cy="54864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242048" y="17739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課題②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242048" y="20116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会議と議事録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83680" y="2651760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何が起きているか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83680" y="2907792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会議が多く、目的が曖昧なまま設定され、決定事項が後から追えない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621024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誰が困っているか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83680" y="3877056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全社員。とくに会議時間の長いリーダー・MG層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4590288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放置するとどうなるか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4846320"/>
            <a:ext cx="4727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意思決定が遅れ、同じ議論が繰り返される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5705856"/>
            <a:ext cx="110578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次の2枚で、それぞれどれだけの時間と金額が失われているかをご説明します。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第1章｜課題① 案件管理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課題① 案件管理 ― 1案件のべ3〜5時間が、確認の往復と緊急会議に消えている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064240" y="457200"/>
            <a:ext cx="512064" cy="512064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5" name="Text 3"/>
          <p:cNvSpPr/>
          <p:nvPr/>
        </p:nvSpPr>
        <p:spPr>
          <a:xfrm>
            <a:off x="11064240" y="4572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029200" cy="4224528"/>
          </a:xfrm>
          <a:prstGeom prst="roundRect">
            <a:avLst>
              <a:gd name="adj" fmla="val 129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70078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77824" y="22494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 ／ 年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77824" y="25054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研修案件（提案段階から）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55264" y="170078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7〜11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255264" y="22494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 ／ 案件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55264" y="25054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PMO・コンテンツ制作・システム担当を含む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30723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現に起きたこと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77824" y="3419856"/>
            <a:ext cx="4407408" cy="694944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34747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チャットでの依頼を見逃し、期日が守られなかった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0704" y="37856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失われたもの： 納期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77824" y="4187952"/>
            <a:ext cx="4407408" cy="694944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0704" y="424281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教材開発の成果物が、期日になっても出てこない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60704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失われたもの： 納期・部門間の信頼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77824" y="4956048"/>
            <a:ext cx="4407408" cy="694944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0704" y="50109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講師選定が遅れ、機材準備が間に合わなかった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0704" y="53218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失われたもの： 実施品質・顧客信用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61888" y="1517904"/>
            <a:ext cx="5669280" cy="1975104"/>
          </a:xfrm>
          <a:prstGeom prst="roundRect">
            <a:avLst>
              <a:gd name="adj" fmla="val 277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72784" y="17190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確認の往復・手戻り・緊急会議で失われている時間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72784" y="201168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 約500万円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272784" y="26700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実施に至った420件 × のべ4時間 × 時間単価3,000円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72784" y="29809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提案段階の案件と社内プロジェクトは含めていない、控えめな試算です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61888" y="3639312"/>
            <a:ext cx="5669280" cy="1481328"/>
          </a:xfrm>
          <a:prstGeom prst="roundRect">
            <a:avLst>
              <a:gd name="adj" fmla="val 370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272784" y="3767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解決すると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72784" y="4160520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1" name="Text 29"/>
          <p:cNvSpPr/>
          <p:nvPr/>
        </p:nvSpPr>
        <p:spPr>
          <a:xfrm>
            <a:off x="6510528" y="4059936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全案件が同じ型で登録され、誰からも見える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72784" y="448970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89120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遅延している案件が自動で浮かび上がる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72784" y="4818888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5" name="Text 33"/>
          <p:cNvSpPr/>
          <p:nvPr/>
        </p:nvSpPr>
        <p:spPr>
          <a:xfrm>
            <a:off x="6510528" y="471830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PMOが1画面で全案件を把握できる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961888" y="5266944"/>
            <a:ext cx="5669280" cy="475488"/>
          </a:xfrm>
          <a:prstGeom prst="roundRect">
            <a:avLst>
              <a:gd name="adj" fmla="val 11538"/>
            </a:avLst>
          </a:prstGeom>
          <a:solidFill>
            <a:srgbClr val="F7E9E7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272784" y="526694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失われるのは時間だけではない ― 納期遅延は、顧客の信用に直結する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第1章｜課題② 会議と議事録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課題② 会議 ― 目的が曖昧な会議に、年間約4,700万円が費やされている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11064240" y="457200"/>
            <a:ext cx="512064" cy="51206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5" name="Text 3"/>
          <p:cNvSpPr/>
          <p:nvPr/>
        </p:nvSpPr>
        <p:spPr>
          <a:xfrm>
            <a:off x="11064240" y="4572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94960" cy="2523744"/>
          </a:xfrm>
          <a:prstGeom prst="roundRect">
            <a:avLst>
              <a:gd name="adj" fmla="val 2174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17373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年間の会議コスト（全社140名）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20299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約1億8,900万円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32688" y="2743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うち目的が曖昧なもの（25%）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32688" y="303580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約4,700万円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32688" y="3657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140名 × 週の会議時間 × 45週 × 時間単価3,000円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27648" y="1517904"/>
            <a:ext cx="5303520" cy="2523744"/>
          </a:xfrm>
          <a:prstGeom prst="roundRect">
            <a:avLst>
              <a:gd name="adj" fmla="val 217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38544" y="17373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議事録は、こう扱われている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38544" y="2203704"/>
            <a:ext cx="109728" cy="109728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5" name="Text 13"/>
          <p:cNvSpPr/>
          <p:nvPr/>
        </p:nvSpPr>
        <p:spPr>
          <a:xfrm>
            <a:off x="6876288" y="2103120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Teams上のWord と OneNote に分かれて保存される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38544" y="2660904"/>
            <a:ext cx="109728" cy="109728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7" name="Text 15"/>
          <p:cNvSpPr/>
          <p:nvPr/>
        </p:nvSpPr>
        <p:spPr>
          <a:xfrm>
            <a:off x="6876288" y="2560320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共有はチャットのリンク。時間が経てば遡れない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38544" y="3118104"/>
            <a:ext cx="109728" cy="109728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9" name="Text 17"/>
          <p:cNvSpPr/>
          <p:nvPr/>
        </p:nvSpPr>
        <p:spPr>
          <a:xfrm>
            <a:off x="6876288" y="3017520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決定事項・担当・期日が文章の中に埋もれる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38544" y="3575304"/>
            <a:ext cx="109728" cy="109728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3474720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結果として、議事録は残っているのに決定が追えない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420624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会議時間は各階層へのヒアリングにもとづく概算です。厳密な集計は行っていないため、規模感としてご覧ください。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4663440"/>
            <a:ext cx="11057839" cy="1005840"/>
          </a:xfrm>
          <a:prstGeom prst="roundRect">
            <a:avLst>
              <a:gd name="adj" fmla="val 5455"/>
            </a:avLst>
          </a:prstGeom>
          <a:solidFill>
            <a:srgbClr val="FBF3E4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9264" y="4663440"/>
            <a:ext cx="102531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削減した時間は、案件対応と提案活動に充てます。人件費の削減を目的とするものではありません。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第2章｜Notionを選ぶ理由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なぜ2つの課題が起き続けるのか ― 情報がチャットに流れ、どこにも残らないから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457200" cy="45720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70432" y="144475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課題①　案件管理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2029968"/>
            <a:ext cx="5349240" cy="1060704"/>
          </a:xfrm>
          <a:prstGeom prst="roundRect">
            <a:avLst>
              <a:gd name="adj" fmla="val 517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1579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招待された人しか見えない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248716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グループチャットは招待制。漏れた人はそのまま情報から遮断される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18688"/>
            <a:ext cx="5349240" cy="1060704"/>
          </a:xfrm>
          <a:prstGeom prst="roundRect">
            <a:avLst>
              <a:gd name="adj" fmla="val 517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1248" y="334670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Excelが各自バラバラ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41248" y="367588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案件間の比較も、全体の集計も物理的にできない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407408"/>
            <a:ext cx="5349240" cy="1060704"/>
          </a:xfrm>
          <a:prstGeom prst="roundRect">
            <a:avLst>
              <a:gd name="adj" fmla="val 517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45354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WBS・ガントがない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1248" y="486460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進捗と作業の依存関係を追う手段がない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72784" y="1463040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76288" y="144475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課題②　会議と議事録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72784" y="2029968"/>
            <a:ext cx="5349240" cy="1060704"/>
          </a:xfrm>
          <a:prstGeom prst="roundRect">
            <a:avLst>
              <a:gd name="adj" fmla="val 517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47104" y="215798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アジェンダを作る型がない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47104" y="248716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目的が曖昧なまま「とりあえず集まる」定例が生き残る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72784" y="3218688"/>
            <a:ext cx="5349240" cy="1060704"/>
          </a:xfrm>
          <a:prstGeom prst="roundRect">
            <a:avLst>
              <a:gd name="adj" fmla="val 517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47104" y="334670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決定が文章に埋もれる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547104" y="367588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決定事項・担当・期日を検索も集計もできない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2784" y="4407408"/>
            <a:ext cx="5349240" cy="1060704"/>
          </a:xfrm>
          <a:prstGeom prst="roundRect">
            <a:avLst>
              <a:gd name="adj" fmla="val 517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47104" y="4535424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議事録の置き場所が分かれる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547104" y="486460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Teams上のWordとOneNoteに分散し、どこにあるか分からない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614416"/>
            <a:ext cx="11057839" cy="786384"/>
          </a:xfrm>
          <a:prstGeom prst="roundRect">
            <a:avLst>
              <a:gd name="adj" fmla="val 6977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9264" y="5614416"/>
            <a:ext cx="1025316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どれも担当者の問題ではなく、情報が1か所に集まらないことから起きています。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第2章｜Notionを選ぶ理由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3つの選択肢を比較した ― 2つの課題を1つで解けるのはNotionだけ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3200400"/>
                <a:gridCol w="227685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Microsoft 365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専用のPM管理ツール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（Asana / monday.com 等）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Notion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課題① 案件管理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Plannerで一部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得意領域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　実務水準を満たす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課題② 議事録との連結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　別アプリになる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　ドキュメント機能が弱い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同一製品内で連結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ナレッジの蓄積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　SharePoint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不得意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得意領域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全社員が使えるか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　既に全員が保有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　管理者向けの設計が多い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　学習が容易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①と②を1つで解けるか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389120"/>
            <a:ext cx="5349240" cy="1280160"/>
          </a:xfrm>
          <a:prstGeom prst="roundRect">
            <a:avLst>
              <a:gd name="adj" fmla="val 4286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" y="45171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365 で満たすと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41248" y="484632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Planner＋Lists＋Loop＋SharePoint の併用になる。同じ情報を複数箇所に入力することになり、いま解決したい分散を作り直すことになる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72784" y="4389120"/>
            <a:ext cx="5349240" cy="1280160"/>
          </a:xfrm>
          <a:prstGeom prst="roundRect">
            <a:avLst>
              <a:gd name="adj" fmla="val 4286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47104" y="45171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専用のPM管理ツールは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547104" y="4846320"/>
            <a:ext cx="4800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案件管理単体では優れているが、議事録とナレッジが別の場所に分かれる。課題②がそのまま残る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581558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チャットの可視化は、Teamsのパブリックチーム／チャネルで対応します（Notionは不要）。Microsoft 365 は継続利用し、置き換えません。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第2章｜Notionを選ぶ理由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Notionでは、議事録を書くことがそのまま案件管理になる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議事録の正体が違う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755648"/>
            <a:ext cx="5029200" cy="1847088"/>
          </a:xfrm>
          <a:prstGeom prst="roundRect">
            <a:avLst>
              <a:gd name="adj" fmla="val 2970"/>
            </a:avLst>
          </a:prstGeom>
          <a:solidFill>
            <a:srgbClr val="F4F5F7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0195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 / OneNote / Loop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77824" y="22677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議事録＝文書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" y="25786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決定事項もToDoも、文中に埋まった「文字」でしかない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77824" y="307238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転記しなければ管理に使えない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767328"/>
            <a:ext cx="5029200" cy="1847088"/>
          </a:xfrm>
          <a:prstGeom prst="roundRect">
            <a:avLst>
              <a:gd name="adj" fmla="val 297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77824" y="39136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77824" y="42793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議事録＝データベースのレコード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77824" y="45902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ToDoは、案件に紐づいたタスクそのもの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7824" y="50840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書いた時点で、管理の入力が完了している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961888" y="1463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会議から案件管理までの流れ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1755648"/>
            <a:ext cx="5669280" cy="786384"/>
          </a:xfrm>
          <a:prstGeom prst="roundRect">
            <a:avLst>
              <a:gd name="adj" fmla="val 6977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36208" y="182880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会議前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0665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アジェンダを事前に作る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61888" y="2670048"/>
            <a:ext cx="5669280" cy="786384"/>
          </a:xfrm>
          <a:prstGeom prst="roundRect">
            <a:avLst>
              <a:gd name="adj" fmla="val 6977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236208" y="274320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会議中・会議後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36208" y="29809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議事録に、決定事項とToDoを項目として登録する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61888" y="36027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　転記せずに、同じ実体が3か所に現れる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61888" y="3931920"/>
            <a:ext cx="5669280" cy="457200"/>
          </a:xfrm>
          <a:prstGeom prst="roundRect">
            <a:avLst>
              <a:gd name="adj" fmla="val 10000"/>
            </a:avLst>
          </a:prstGeom>
          <a:solidFill>
            <a:srgbClr val="2C5F8D"/>
          </a:solidFill>
          <a:ln/>
        </p:spPr>
      </p:sp>
      <p:sp>
        <p:nvSpPr>
          <p:cNvPr id="24" name="Text 22"/>
          <p:cNvSpPr/>
          <p:nvPr/>
        </p:nvSpPr>
        <p:spPr>
          <a:xfrm>
            <a:off x="6236208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案件ページ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4480560"/>
            <a:ext cx="5669280" cy="457200"/>
          </a:xfrm>
          <a:prstGeom prst="roundRect">
            <a:avLst>
              <a:gd name="adj" fmla="val 10000"/>
            </a:avLst>
          </a:prstGeom>
          <a:solidFill>
            <a:srgbClr val="2C5F8D"/>
          </a:solidFill>
          <a:ln/>
        </p:spPr>
      </p:sp>
      <p:sp>
        <p:nvSpPr>
          <p:cNvPr id="26" name="Text 24"/>
          <p:cNvSpPr/>
          <p:nvPr/>
        </p:nvSpPr>
        <p:spPr>
          <a:xfrm>
            <a:off x="6236208" y="4480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担当者のToDo一覧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5029200"/>
            <a:ext cx="5669280" cy="457200"/>
          </a:xfrm>
          <a:prstGeom prst="roundRect">
            <a:avLst>
              <a:gd name="adj" fmla="val 10000"/>
            </a:avLst>
          </a:prstGeom>
          <a:solidFill>
            <a:srgbClr val="2C5F8D"/>
          </a:solidFill>
          <a:ln/>
        </p:spPr>
      </p:sp>
      <p:sp>
        <p:nvSpPr>
          <p:cNvPr id="28" name="Text 26"/>
          <p:cNvSpPr/>
          <p:nvPr/>
        </p:nvSpPr>
        <p:spPr>
          <a:xfrm>
            <a:off x="6236208" y="5029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PMOの全案件ビュー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815584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69264" y="5815584"/>
            <a:ext cx="102531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会議で決まったToDoは、転記せずにそのまま案件のタスクになります。二重入力は発生しません。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第2章｜Notionを選ぶ理由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 ― 会議から案件管理までが1か所で繋がる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688336" cy="2468880"/>
          </a:xfrm>
          <a:prstGeom prst="roundRect">
            <a:avLst>
              <a:gd name="adj" fmla="val 2222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94944" y="1554480"/>
            <a:ext cx="24323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4169664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4151376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会議ページ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4645152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 → 議事録 → 決定事項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0440" y="1554480"/>
            <a:ext cx="2688336" cy="2468880"/>
          </a:xfrm>
          <a:prstGeom prst="roundRect">
            <a:avLst>
              <a:gd name="adj" fmla="val 2222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648456" y="1554480"/>
            <a:ext cx="24323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20440" y="4169664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50792" y="4151376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生成されたタスク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20440" y="4645152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決定事項がそのままタスクに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73952" y="1554480"/>
            <a:ext cx="2688336" cy="2468880"/>
          </a:xfrm>
          <a:prstGeom prst="roundRect">
            <a:avLst>
              <a:gd name="adj" fmla="val 2222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601968" y="1554480"/>
            <a:ext cx="24323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73952" y="4169664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9" name="Text 17"/>
          <p:cNvSpPr/>
          <p:nvPr/>
        </p:nvSpPr>
        <p:spPr>
          <a:xfrm>
            <a:off x="6473952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04304" y="4151376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案件ページ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73952" y="4645152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タスクが案件に紐づいた状態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27464" y="1554480"/>
            <a:ext cx="2688336" cy="2468880"/>
          </a:xfrm>
          <a:prstGeom prst="roundRect">
            <a:avLst>
              <a:gd name="adj" fmla="val 2222"/>
            </a:avLst>
          </a:prstGeom>
          <a:solidFill>
            <a:srgbClr val="F1F4F9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9555480" y="1554480"/>
            <a:ext cx="243230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スクリーンショット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AA5B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（差し込み）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427464" y="4169664"/>
            <a:ext cx="402336" cy="402336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25" name="Text 23"/>
          <p:cNvSpPr/>
          <p:nvPr/>
        </p:nvSpPr>
        <p:spPr>
          <a:xfrm>
            <a:off x="9427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57816" y="4151376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PMOの横断ビュー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427464" y="4645152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全案件の進捗とガント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057839" cy="786384"/>
          </a:xfrm>
          <a:prstGeom prst="roundRect">
            <a:avLst>
              <a:gd name="adj" fmla="val 6977"/>
            </a:avLst>
          </a:prstGeom>
          <a:solidFill>
            <a:srgbClr val="FBF3E4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9264" y="5358384"/>
            <a:ext cx="1025316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要準備：架空の研修案件で、アジェンダ → 議事録 → タスク → ガントが繋がった状態を作っておくこと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だから、Notionを全社に導入したい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969264"/>
          </a:xfrm>
          <a:prstGeom prst="roundRect">
            <a:avLst>
              <a:gd name="adj" fmla="val 566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773936"/>
            <a:ext cx="457200" cy="45720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767328" y="17556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1案件のべ3〜5時間が確認と手戻りに消え、年約500万円。加えて納期遅延は顧客の信用に響く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596896"/>
            <a:ext cx="11057839" cy="969264"/>
          </a:xfrm>
          <a:prstGeom prst="roundRect">
            <a:avLst>
              <a:gd name="adj" fmla="val 566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77824" y="2852928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81328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会議と議事録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67328" y="2834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目的が曖昧な会議に、年間約4,700万円が費やされている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12464"/>
            <a:ext cx="11057839" cy="969264"/>
          </a:xfrm>
          <a:prstGeom prst="roundRect">
            <a:avLst>
              <a:gd name="adj" fmla="val 566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9264" y="3712464"/>
            <a:ext cx="102531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Notionなら、議事録を書くことがそのまま案件管理になり、2つの課題を1つの仕組みで解決できます。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66928" y="49011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承認いただけましたら、ただちに着手すること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330952"/>
            <a:ext cx="109728" cy="10972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230368"/>
            <a:ext cx="10277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情報システム部門へのセキュリティ要件のヒアリング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696712"/>
            <a:ext cx="109728" cy="10972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5596128"/>
            <a:ext cx="10277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ホールディングスへの導入申請書類の作成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6062472"/>
            <a:ext cx="109728" cy="10972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961888"/>
            <a:ext cx="10277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テンプレート設計とPMO運用ルールの策定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4023360"/>
            <a:ext cx="3291840" cy="3291840"/>
          </a:xfrm>
          <a:prstGeom prst="ellipse">
            <a:avLst/>
          </a:prstGeom>
          <a:solidFill>
            <a:srgbClr val="E8A33D">
              <a:alpha val="3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395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66928" y="31272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費用・プラン比較・進め方・セキュリティ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Appendix｜費用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年間529.2万円（税別）で、全社140名に導入できる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5852160" cy="2377440"/>
          </a:xfrm>
          <a:prstGeom prst="roundRect">
            <a:avLst>
              <a:gd name="adj" fmla="val 230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9264" y="17922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年間ライセンス費用（税別）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9264" y="2139696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529.2万円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9264" y="29626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Business 年払い　3,150円 × 140名 × 12か月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" y="3310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消費税10%を加えた場合　582.1万円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39128" y="1591056"/>
            <a:ext cx="5120640" cy="2377440"/>
          </a:xfrm>
          <a:prstGeom prst="roundRect">
            <a:avLst>
              <a:gd name="adj" fmla="val 230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50024" y="179222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実施体制（現金支出なし）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050024" y="2331720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12" name="Text 10"/>
          <p:cNvSpPr/>
          <p:nvPr/>
        </p:nvSpPr>
        <p:spPr>
          <a:xfrm>
            <a:off x="7287768" y="2231136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初期構築（テンプレート設計・データベース構築）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050024" y="2734056"/>
            <a:ext cx="109728" cy="109728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14" name="Text 12"/>
          <p:cNvSpPr/>
          <p:nvPr/>
        </p:nvSpPr>
        <p:spPr>
          <a:xfrm>
            <a:off x="7287768" y="2633472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教育・定着支援（説明会・マニュアル・3か月の伴走）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050024" y="31272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いずれも人事組織とPMOが内製で担当します。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新規採用は行いません。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20624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9264" y="42062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削減できる既存コスト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67328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現在はMicrosoft 365に含まれるツールを使用しているため、直接的なライセンス削減は発生しません。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32180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9264" y="5321808"/>
            <a:ext cx="10253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41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参考：監査ログまたは国内データ保管が必須要件となった場合は Enterprise 約911万円／年（要見積）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Appendix｜プラン選定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要件を満たす最小構成は、Businessプランです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743200"/>
                <a:gridCol w="238658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Plus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Business（推奨）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Enterprise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月額（1人・年払い／税別）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1,650円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3,150円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要見積（約5,425円）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年間費用（140名／税別）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277.2万円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529.2万円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約911.4万円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SAML SSO（Microsoft 365連携）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プライベートチームスペース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ページ履歴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30日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90日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要確認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SCIM（アカウント自動削除）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3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監査ログ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3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データの国内保管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33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○（追加費用なし）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ゲスト上限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250名〜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50468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9264" y="5504688"/>
            <a:ext cx="10253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監査ログ・SCIM・国内データ保管はEnterpriseの機能です（差額は年間約382万円）。今回のスコープでは機微情報を置かない運用で代替し、Businessを選択します。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Appendix｜導入案の比較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全社導入以外の2案は、目的を達成できない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  <a:gridCol w="266090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案1：Plus 全社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案2：Business 全社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案3：Business 上層部のみ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＋一般社員はゲスト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年間費用（140名・年払い／税別）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277.2万円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529.2万円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見かけ上は最小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SAML SSO（M365連携）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○（対象者のみ）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全社員の横断ビュー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監査ログ / SCIM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8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判定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342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却下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推奨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342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実現不可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517136"/>
            <a:ext cx="5486400" cy="1463040"/>
          </a:xfrm>
          <a:prstGeom prst="roundRect">
            <a:avLst>
              <a:gd name="adj" fmla="val 375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4700016"/>
            <a:ext cx="365760" cy="365760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4700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316736" y="46817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案1を却下する理由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" y="51389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SAML SSOが使えず、Microsoft 365アカウントと連携できない。退職者のアカウント停止が手作業となり、親会社のセキュリティ審査を通せない可能性が高い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73368" y="4517136"/>
            <a:ext cx="5486400" cy="1463040"/>
          </a:xfrm>
          <a:prstGeom prst="roundRect">
            <a:avLst>
              <a:gd name="adj" fmla="val 375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7688" y="4700016"/>
            <a:ext cx="365760" cy="365760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12" name="Text 9"/>
          <p:cNvSpPr/>
          <p:nvPr/>
        </p:nvSpPr>
        <p:spPr>
          <a:xfrm>
            <a:off x="6647688" y="4700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123176" y="46817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案3が成立しない理由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647688" y="51389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ゲストは招待されたページしか見られず、横断ビューを持てない。課題①の可視性と横断性が解決せず、導入目的そのものが失われる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Appendix｜想定効果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会議時間の削減だけで、投資額の約2.7倍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529584" cy="1737360"/>
          </a:xfrm>
          <a:prstGeom prst="roundRect">
            <a:avLst>
              <a:gd name="adj" fmla="val 315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556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投資額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41248" y="206654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529.2万円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41248" y="277977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年間ライセンス費用（税別）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9412" y="1591056"/>
            <a:ext cx="3529584" cy="1737360"/>
          </a:xfrm>
          <a:prstGeom prst="roundRect">
            <a:avLst>
              <a:gd name="adj" fmla="val 315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13732" y="17556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効果（会議のみ）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713732" y="206654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約1,420万円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13732" y="277977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目的が曖昧な会議の3割を削減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11896" y="1591056"/>
            <a:ext cx="3529584" cy="1737360"/>
          </a:xfrm>
          <a:prstGeom prst="roundRect">
            <a:avLst>
              <a:gd name="adj" fmla="val 3158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86216" y="1755648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FB0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倍率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86216" y="206654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約2.7倍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586216" y="2779776"/>
            <a:ext cx="2980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会議削減効果 ÷ 投資額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3602736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その他の効果（今回は金額に算入していません）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3986784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4069080"/>
            <a:ext cx="274320" cy="27432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" y="3986784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案件管理の手戻り・遅延の削減（年約500万円）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498848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" y="4581144"/>
            <a:ext cx="274320" cy="27432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33856" y="4498848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PMOが全案件のリスクを事前に検知できる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5093208"/>
            <a:ext cx="274320" cy="27432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3856" y="5010912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属人化の解消。異動・退職時の引き継ぎコスト低減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522976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3232" y="5605272"/>
            <a:ext cx="274320" cy="274320"/>
          </a:xfrm>
          <a:prstGeom prst="ellipse">
            <a:avLst/>
          </a:prstGeom>
          <a:solidFill>
            <a:srgbClr val="2C5F8D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33856" y="5522976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顧客への納期遵守率向上による信用の維持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削減率3割は意図的に控えめな設定です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Appendix｜進め方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ライセンスは全社、業務の移行は段階的に行う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承認後すぐ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情報システム部門への申請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セキュリティ審査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10128" y="2871216"/>
            <a:ext cx="155448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58184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58184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審査通過後 1〜2か月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58184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会議運用から開始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アジェンダ・議事録の標準化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58184" y="3712464"/>
            <a:ext cx="1060704" cy="310896"/>
          </a:xfrm>
          <a:prstGeom prst="roundRect">
            <a:avLst>
              <a:gd name="adj" fmla="val 14706"/>
            </a:avLst>
          </a:prstGeom>
          <a:solidFill>
            <a:srgbClr val="1F7A6C"/>
          </a:solidFill>
          <a:ln/>
        </p:spPr>
      </p:sp>
      <p:sp>
        <p:nvSpPr>
          <p:cNvPr id="14" name="Text 12"/>
          <p:cNvSpPr/>
          <p:nvPr/>
        </p:nvSpPr>
        <p:spPr>
          <a:xfrm>
            <a:off x="3758184" y="3712464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課題②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871216"/>
            <a:ext cx="155448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16" name="Shape 14"/>
          <p:cNvSpPr/>
          <p:nvPr/>
        </p:nvSpPr>
        <p:spPr>
          <a:xfrm>
            <a:off x="6473952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11696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11696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3〜4か月目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11696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案件管理を1部門で先行運用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テンプレートを実案件で検証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11696" y="3712464"/>
            <a:ext cx="1060704" cy="310896"/>
          </a:xfrm>
          <a:prstGeom prst="roundRect">
            <a:avLst>
              <a:gd name="adj" fmla="val 14706"/>
            </a:avLst>
          </a:prstGeom>
          <a:solidFill>
            <a:srgbClr val="2C5F8D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3712464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217152" y="2871216"/>
            <a:ext cx="155448" cy="201168"/>
          </a:xfrm>
          <a:prstGeom prst="rightArrow">
            <a:avLst/>
          </a:prstGeom>
          <a:solidFill>
            <a:srgbClr val="D5DCE6"/>
          </a:solidFill>
          <a:ln/>
        </p:spPr>
      </p:sp>
      <p:sp>
        <p:nvSpPr>
          <p:cNvPr id="23" name="Shape 21"/>
          <p:cNvSpPr/>
          <p:nvPr/>
        </p:nvSpPr>
        <p:spPr>
          <a:xfrm>
            <a:off x="9427464" y="1700784"/>
            <a:ext cx="2688336" cy="2615184"/>
          </a:xfrm>
          <a:prstGeom prst="roundRect">
            <a:avLst>
              <a:gd name="adj" fmla="val 209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65208" y="1901952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8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65208" y="22494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5か月目以降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65208" y="263347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全案件へ展開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PMOの横断ビュー稼働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665208" y="3712464"/>
            <a:ext cx="1060704" cy="310896"/>
          </a:xfrm>
          <a:prstGeom prst="roundRect">
            <a:avLst>
              <a:gd name="adj" fmla="val 14706"/>
            </a:avLst>
          </a:prstGeom>
          <a:solidFill>
            <a:srgbClr val="2C5F8D"/>
          </a:solidFill>
          <a:ln/>
        </p:spPr>
      </p:sp>
      <p:sp>
        <p:nvSpPr>
          <p:cNvPr id="28" name="Text 26"/>
          <p:cNvSpPr/>
          <p:nvPr/>
        </p:nvSpPr>
        <p:spPr>
          <a:xfrm>
            <a:off x="9665208" y="3712464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572000"/>
            <a:ext cx="5532120" cy="1243584"/>
          </a:xfrm>
          <a:prstGeom prst="roundRect">
            <a:avLst>
              <a:gd name="adj" fmla="val 4412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77824" y="47000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なぜ会議運用から始めるのか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77824" y="4992624"/>
            <a:ext cx="4937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習得が容易で全社員が即日使え、効果が早く見える。操作に慣れた状態で案件管理に進むほうが定着率が高い。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19088" y="4572000"/>
            <a:ext cx="5440680" cy="1243584"/>
          </a:xfrm>
          <a:prstGeom prst="roundRect">
            <a:avLst>
              <a:gd name="adj" fmla="val 4412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29984" y="4700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なぜライセンスは全社なのか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29984" y="4992624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案件は部門をまたいで進むため、一部の部署だけでは外側とチャット連絡が残り、二重管理が生まれる。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Appendix｜対象範囲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今回のスコープ ― やること／やらないこと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6093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今回ご承認いただきたい範囲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4480560" cy="786384"/>
          </a:xfrm>
          <a:prstGeom prst="roundRect">
            <a:avLst>
              <a:gd name="adj" fmla="val 6977"/>
            </a:avLst>
          </a:prstGeom>
          <a:solidFill>
            <a:srgbClr val="2C5F8D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　案件管理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6928" y="2834640"/>
            <a:ext cx="4480560" cy="786384"/>
          </a:xfrm>
          <a:prstGeom prst="roundRect">
            <a:avLst>
              <a:gd name="adj" fmla="val 6977"/>
            </a:avLst>
          </a:prstGeom>
          <a:solidFill>
            <a:srgbClr val="1F7A6C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77824" y="283464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　議事録・会議運営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87568" y="1609344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今回は対象に含めないもの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87568" y="1938528"/>
            <a:ext cx="6172200" cy="1682496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98464" y="2157984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　研修資料・ナレッジの保管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98464" y="2615184"/>
            <a:ext cx="5577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SharePointでの管理方法（ドキュメントセット化・タグ運用）を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別途検討中です。本提案とは切り離して進めます。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87568" y="3749040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やらないこと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2245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なぜ範囲を絞るのか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681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撤退可能性の確保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0292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思うような成果が得られなかった場合に、やめられる状態を保つ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39412" y="4553712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95444" y="4681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進行中の検討と干渉しない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95444" y="50292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資料保管のルールは別軸で検討中。今回の判断がそちらを縛らないようにする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11896" y="4553712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67928" y="46817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効果検証の明確化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67928" y="502920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範囲が狭いほど、効果が出たかどうかを判定しやすい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Appendix｜成功指標と撤退基準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効果が出なければ、1年で見直す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9105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486400"/>
                <a:gridCol w="2377440"/>
                <a:gridCol w="270662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案件の期日遵守率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未計測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計測開始 → ◯%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案件情報がNotionに登録されている割合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95% 以上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1人あたり週の会議時間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概算のみ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▲◯%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F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議事録が残っている会議の割合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47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未計測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 以上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16966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24128" y="435254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撤退基準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4128" y="4700016"/>
            <a:ext cx="10143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導入12か月後、上記KPIが未達の場合は翌年度の契約更新を見送ります。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24128" y="5102352"/>
            <a:ext cx="101434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E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対象範囲を①案件管理・②議事録に限定しているため、撤退時の影響は限定的です。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576072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測定時期：導入6か月後（中間）／12か月後（判定）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Appendix｜リスクと対策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想定されるリスクは3つ。すべて対策がある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529584" cy="4114800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10512"/>
            <a:ext cx="402336" cy="402336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53312" y="1792224"/>
            <a:ext cx="2523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定着しない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322576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一部の人しか使わず、結局チャットに戻る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9809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41248" y="339242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329184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経営層で3か月試行済み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" y="394106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3840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テンプレート・ミニマニュアルを整備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41248" y="448970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4389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PMOが運用ルールの管理責任を持つ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1248" y="503834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1078992" y="49377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導入後3か月は人事組織が伴走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39412" y="1591056"/>
            <a:ext cx="3529584" cy="4114800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13732" y="1810512"/>
            <a:ext cx="402336" cy="402336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20" name="Text 18"/>
          <p:cNvSpPr/>
          <p:nvPr/>
        </p:nvSpPr>
        <p:spPr>
          <a:xfrm>
            <a:off x="4713732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25796" y="1792224"/>
            <a:ext cx="2523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情報の置き場所が分散する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13732" y="2322576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Teams・Notion・SharePointのどこに何があるか分からなくなる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13732" y="29809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13732" y="339242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4951476" y="329184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役割分担を1枚の図で定義し全社に周知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13732" y="394106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7" name="Text 25"/>
          <p:cNvSpPr/>
          <p:nvPr/>
        </p:nvSpPr>
        <p:spPr>
          <a:xfrm>
            <a:off x="4951476" y="3840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「会話はTeams、記録はNotion」を徹底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13732" y="448970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9" name="Text 27"/>
          <p:cNvSpPr/>
          <p:nvPr/>
        </p:nvSpPr>
        <p:spPr>
          <a:xfrm>
            <a:off x="4951476" y="4389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SharePointは当面そのまま併存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311896" y="1591056"/>
            <a:ext cx="3529584" cy="4114800"/>
          </a:xfrm>
          <a:prstGeom prst="roundRect">
            <a:avLst>
              <a:gd name="adj" fmla="val 1554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86216" y="1810512"/>
            <a:ext cx="402336" cy="402336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32" name="Text 30"/>
          <p:cNvSpPr/>
          <p:nvPr/>
        </p:nvSpPr>
        <p:spPr>
          <a:xfrm>
            <a:off x="8586216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098280" y="1792224"/>
            <a:ext cx="2523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86216" y="2322576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親会社の基準を満たせない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86216" y="29809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86216" y="339242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7" name="Text 35"/>
          <p:cNvSpPr/>
          <p:nvPr/>
        </p:nvSpPr>
        <p:spPr>
          <a:xfrm>
            <a:off x="8823960" y="329184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SOC 2 Type II・ISO 27001 等を取得済み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586216" y="394106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9" name="Text 37"/>
          <p:cNvSpPr/>
          <p:nvPr/>
        </p:nvSpPr>
        <p:spPr>
          <a:xfrm>
            <a:off x="8823960" y="3840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SAML SSOでMicrosoft 365と統合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586216" y="448970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41" name="Text 39"/>
          <p:cNvSpPr/>
          <p:nvPr/>
        </p:nvSpPr>
        <p:spPr>
          <a:xfrm>
            <a:off x="8823960" y="4389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機微情報は置かない運用とする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586216" y="503834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43" name="Text 41"/>
          <p:cNvSpPr/>
          <p:nvPr/>
        </p:nvSpPr>
        <p:spPr>
          <a:xfrm>
            <a:off x="8823960" y="49377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詳細は次ページ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Appendix｜セキュリティ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SOC 2 Type II・ISO 27001を取得済み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77824" y="1737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第三者認証（取得済み）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77824" y="2203704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7" name="Text 5"/>
          <p:cNvSpPr/>
          <p:nvPr/>
        </p:nvSpPr>
        <p:spPr>
          <a:xfrm>
            <a:off x="1115568" y="21031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SOC 2 Type II（年次の第三者監査）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77824" y="2606040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" y="250545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ISO/IEC 27001・27017・27018・27701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77824" y="3008376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" y="2907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年次ペネトレーションテスト＋バグバウンティ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7824" y="3410712"/>
            <a:ext cx="109728" cy="10972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310128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監査報告書はトラストセンターで入手可能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81928" y="1554480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92824" y="1737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2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Businessプランでできないこと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92824" y="2203704"/>
            <a:ext cx="109728" cy="109728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30568" y="210312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監査ログ（情報持ち出しの追跡はできない）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92824" y="2606040"/>
            <a:ext cx="109728" cy="109728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19" name="Text 17"/>
          <p:cNvSpPr/>
          <p:nvPr/>
        </p:nvSpPr>
        <p:spPr>
          <a:xfrm>
            <a:off x="6830568" y="2505456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SCIM（退職者のアカウント自動削除）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92824" y="3008376"/>
            <a:ext cx="109728" cy="109728"/>
          </a:xfrm>
          <a:prstGeom prst="ellipse">
            <a:avLst/>
          </a:prstGeom>
          <a:solidFill>
            <a:srgbClr val="B3423A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2907792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F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データの国内保管（Enterpriseのみ）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92824" y="33649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いずれかが必須要件とされた場合は Enterprise への切替となります。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402336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運用面での安全設計（こちらから制約を課す）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4389120"/>
            <a:ext cx="11057839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4389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外部共有の原則禁止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41648" y="438912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公開リンクの生成を管理者権限で禁止。必要時のみ申請制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4974336"/>
            <a:ext cx="11057839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4974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扱わない情報の明示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41648" y="4974336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個人情報・機微情報はNotionに保存しないルールとする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5559552"/>
            <a:ext cx="11057839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" y="555955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退職・異動時の手順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41648" y="55595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SAML SSOでM365のアカウント停止と同時にログイン不能。メンバー削除は月次で突合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Appendix｜お願い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承認いただきたい3点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7839" cy="1207008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1975104"/>
            <a:ext cx="548640" cy="548640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1975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37360" y="188366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全社（140名）へのNotion導入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37360" y="2304288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案件管理と会議運営の標準化を、PMO発足と同時に開始する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017520"/>
            <a:ext cx="11057839" cy="1207008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50976" y="3346704"/>
            <a:ext cx="548640" cy="548640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737360" y="325526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年間費用 529.2万円（税別）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37360" y="3675888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Businessプラン・年払い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389120"/>
            <a:ext cx="11057839" cy="1207008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27000" dist="25400" dir="5400000">
              <a:srgbClr val="8A97AC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50976" y="4718304"/>
            <a:ext cx="548640" cy="548640"/>
          </a:xfrm>
          <a:prstGeom prst="ellipse">
            <a:avLst/>
          </a:prstGeom>
          <a:solidFill>
            <a:srgbClr val="16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47183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737360" y="462686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3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ホールディングスへの申請着手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37360" y="5047488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セキュリティ審査の事前相談を開始する許可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9436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稼働目標：PMO発足と同時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案件管理と会議運営の標準化</dc:title>
  <dc:subject>PptxGenJS Presentation</dc:subject>
  <dc:creator>人事組織</dc:creator>
  <cp:lastModifiedBy>人事組織</cp:lastModifiedBy>
  <cp:revision>1</cp:revision>
  <dcterms:created xsi:type="dcterms:W3CDTF">2026-08-23T13:57:01Z</dcterms:created>
  <dcterms:modified xsi:type="dcterms:W3CDTF">2026-08-23T13:57:01Z</dcterms:modified>
</cp:coreProperties>
</file>