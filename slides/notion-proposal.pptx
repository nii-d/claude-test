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タイトルに「Notion導入」と書かない。「標準化」と書くことで、聞き手は『ツールの良し悪し』ではなく『組織の話』として聞く体勢に入る。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3番目を冒頭に出しておくと、「で、親会社はOKなの？」という質問を後半まで先送りできる。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本編で最も効く一行。反論の対象がNotionではなく『PMOという意思決定そのもの』になるため、誰も反対できない構図をつくる。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資料全体の骨格。2つの課題を最初に並べて宣言することで、以降のスライドがどちらの話かが明確になる。色分け（A=青／B=緑）は最後まで一貫させる。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部署名・個人名は絶対に出さない。「担当者が見逃した」ではなく「見逃せてしまう仕組みだった」と、主語を必ず仕組みに置くこと。この資料は社内に回覧される。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「では人を減らせるのか」と必ず聞かれる。人件費が浮くとは絶対に言わないこと。言えば人員削減の話にすり替わり、現場の協力を失う。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B-1の「書けない会議は開かれなくなる」がこの提案の思想を最もよく表す。ツールが会議を減らすのではなく、アジェンダを書く行為が目的のない会議を淘汰する。口頭で強調する。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順番が重要。先に2つの課題を並べ、それぞれの解決を示した上で、ここで初めて『実は1つの仕組みだった』と繋げる。最初から統合して語ると、聞き手はどちらの課題の話かを見失う。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「M365で済む部分は済ませます」と正直に認めている点がこのスライドの価値。全否定すると売り込みに見える。一部を譲ることで残りの主張の信頼性が上がる。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「一元化したい」だけでは理由にならない（OneNoteに一元化すればタダ、と返される）。『文書ではなくデータになる』の一点に絞ることで、初めて他ツールとの差が説明できる。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「Notionが全部で一番」とは言わない。個別項目では他ツールが勝ることを正直に認めた上で、『2つの課題を1つで解く』という要件で選んでいると説明する。この誠実さが説得力になる。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このスライドの準備の有無が提案の成否を分ける。文字10枚より画面4枚のほうが伝わる。PoC環境で必ず作っておくこと。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案3は費用面だけ見ると魅力的に映るため、上層部から必ず提案される。「金額ではなく、目的が達成できないため不可」と即答すること。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工数は金額換算して合計に足さない。内製なら現金支出は増えず、足せば投資額が膨らんで求められる効果も大きくなる。一方、書かないと「タダでできる」と誤解されるため人月では必ず明示する。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スライドは守りではなく攻め。展望を語ることで『構想がある』と伝わり、同時に『今回はここまで』と自ら線を引くことで、なし崩しに全社システムを乗り換えるのではという警戒を解除できる。上層部が最も嫌う『気づいたら引き返せない』を先回りして潰す1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撤退基準を自分から示すのがこの資料で最も効く技術。「効果がなければやめます」と言える提案者は信頼される。前スライドの展望とセットで、『構想はあるが暴走はしない』という印象をつくる。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9601200" y="-1371600"/>
            <a:ext cx="4206240" cy="4206240"/>
          </a:xfrm>
          <a:prstGeom prst="ellipse">
            <a:avLst/>
          </a:prstGeom>
          <a:solidFill>
            <a:srgbClr val="24365C">
              <a:alpha val="65000"/>
            </a:srgbClr>
          </a:solidFill>
          <a:ln/>
        </p:spPr>
      </p:sp>
      <p:sp>
        <p:nvSpPr>
          <p:cNvPr id="3" name="Shape 1"/>
          <p:cNvSpPr/>
          <p:nvPr/>
        </p:nvSpPr>
        <p:spPr>
          <a:xfrm>
            <a:off x="10881360" y="4663440"/>
            <a:ext cx="2560320" cy="2560320"/>
          </a:xfrm>
          <a:prstGeom prst="ellipse">
            <a:avLst/>
          </a:prstGeom>
          <a:solidFill>
            <a:srgbClr val="2C5F8D">
              <a:alpha val="38000"/>
            </a:srgbClr>
          </a:solidFill>
          <a:ln/>
        </p:spPr>
      </p:sp>
      <p:sp>
        <p:nvSpPr>
          <p:cNvPr id="4" name="Text 2"/>
          <p:cNvSpPr/>
          <p:nvPr/>
        </p:nvSpPr>
        <p:spPr>
          <a:xfrm>
            <a:off x="566928" y="1481328"/>
            <a:ext cx="5486400" cy="292608"/>
          </a:xfrm>
          <a:prstGeom prst="rect">
            <a:avLst/>
          </a:prstGeom>
          <a:noFill/>
          <a:ln/>
        </p:spPr>
        <p:txBody>
          <a:bodyPr wrap="square" lIns="0" tIns="0" rIns="0" bIns="0" rtlCol="0" anchor="ctr"/>
          <a:lstStyle/>
          <a:p>
            <a:pPr indent="0" marL="0">
              <a:buNone/>
            </a:pPr>
            <a:r>
              <a:rPr lang="en-US" sz="1250" b="1" spc="220" kern="0" dirty="0">
                <a:solidFill>
                  <a:srgbClr val="E8A33D"/>
                </a:solidFill>
                <a:latin typeface="Meiryo" pitchFamily="34" charset="0"/>
                <a:ea typeface="Meiryo" pitchFamily="34" charset="-122"/>
                <a:cs typeface="Meiryo" pitchFamily="34" charset="-120"/>
              </a:rPr>
              <a:t>ご提案</a:t>
            </a:r>
            <a:endParaRPr lang="en-US" sz="1250" dirty="0"/>
          </a:p>
        </p:txBody>
      </p:sp>
      <p:sp>
        <p:nvSpPr>
          <p:cNvPr id="5" name="Text 3"/>
          <p:cNvSpPr/>
          <p:nvPr/>
        </p:nvSpPr>
        <p:spPr>
          <a:xfrm>
            <a:off x="566928" y="1883664"/>
            <a:ext cx="8595360" cy="1700784"/>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Meiryo" pitchFamily="34" charset="0"/>
                <a:ea typeface="Meiryo" pitchFamily="34" charset="-122"/>
                <a:cs typeface="Meiryo" pitchFamily="34" charset="-120"/>
              </a:rPr>
              <a:t>案件管理と会議運営の</a:t>
            </a:r>
            <a:endParaRPr lang="en-US" sz="4000" dirty="0"/>
          </a:p>
          <a:p>
            <a:pPr indent="0" marL="0">
              <a:lnSpc>
                <a:spcPts val="5000"/>
              </a:lnSpc>
              <a:buNone/>
            </a:pPr>
            <a:r>
              <a:rPr lang="en-US" sz="4000" b="1" dirty="0">
                <a:solidFill>
                  <a:srgbClr val="FFFFFF"/>
                </a:solidFill>
                <a:latin typeface="Meiryo" pitchFamily="34" charset="0"/>
                <a:ea typeface="Meiryo" pitchFamily="34" charset="-122"/>
                <a:cs typeface="Meiryo" pitchFamily="34" charset="-120"/>
              </a:rPr>
              <a:t>標準化</a:t>
            </a:r>
            <a:endParaRPr lang="en-US" sz="4000" dirty="0"/>
          </a:p>
        </p:txBody>
      </p:sp>
      <p:sp>
        <p:nvSpPr>
          <p:cNvPr id="6" name="Text 4"/>
          <p:cNvSpPr/>
          <p:nvPr/>
        </p:nvSpPr>
        <p:spPr>
          <a:xfrm>
            <a:off x="566928" y="3712464"/>
            <a:ext cx="8595360" cy="365760"/>
          </a:xfrm>
          <a:prstGeom prst="rect">
            <a:avLst/>
          </a:prstGeom>
          <a:noFill/>
          <a:ln/>
        </p:spPr>
        <p:txBody>
          <a:bodyPr wrap="square" lIns="0" tIns="0" rIns="0" bIns="0" rtlCol="0" anchor="ctr"/>
          <a:lstStyle/>
          <a:p>
            <a:pPr indent="0" marL="0">
              <a:buNone/>
            </a:pPr>
            <a:r>
              <a:rPr lang="en-US" sz="1600" dirty="0">
                <a:solidFill>
                  <a:srgbClr val="C3CEE0"/>
                </a:solidFill>
                <a:latin typeface="Meiryo" pitchFamily="34" charset="0"/>
                <a:ea typeface="Meiryo" pitchFamily="34" charset="-122"/>
                <a:cs typeface="Meiryo" pitchFamily="34" charset="-120"/>
              </a:rPr>
              <a:t>PMO立ち上げに合わせた全社基盤の整備</a:t>
            </a:r>
            <a:endParaRPr lang="en-US" sz="1600" dirty="0"/>
          </a:p>
        </p:txBody>
      </p:sp>
      <p:sp>
        <p:nvSpPr>
          <p:cNvPr id="7" name="Text 5"/>
          <p:cNvSpPr/>
          <p:nvPr/>
        </p:nvSpPr>
        <p:spPr>
          <a:xfrm>
            <a:off x="566928" y="4133088"/>
            <a:ext cx="8595360" cy="329184"/>
          </a:xfrm>
          <a:prstGeom prst="rect">
            <a:avLst/>
          </a:prstGeom>
          <a:noFill/>
          <a:ln/>
        </p:spPr>
        <p:txBody>
          <a:bodyPr wrap="square" lIns="0" tIns="0" rIns="0" bIns="0" rtlCol="0" anchor="ctr"/>
          <a:lstStyle/>
          <a:p>
            <a:pPr indent="0" marL="0">
              <a:buNone/>
            </a:pPr>
            <a:r>
              <a:rPr lang="en-US" sz="1300" dirty="0">
                <a:solidFill>
                  <a:srgbClr val="8FA0BC"/>
                </a:solidFill>
                <a:latin typeface="Meiryo" pitchFamily="34" charset="0"/>
                <a:ea typeface="Meiryo" pitchFamily="34" charset="-122"/>
                <a:cs typeface="Meiryo" pitchFamily="34" charset="-120"/>
              </a:rPr>
              <a:t>― 実行基盤としての Notion 全社導入について ―</a:t>
            </a:r>
            <a:endParaRPr lang="en-US" sz="1300" dirty="0"/>
          </a:p>
        </p:txBody>
      </p:sp>
      <p:sp>
        <p:nvSpPr>
          <p:cNvPr id="8" name="Text 6"/>
          <p:cNvSpPr/>
          <p:nvPr/>
        </p:nvSpPr>
        <p:spPr>
          <a:xfrm>
            <a:off x="566928" y="5760720"/>
            <a:ext cx="5486400" cy="310896"/>
          </a:xfrm>
          <a:prstGeom prst="rect">
            <a:avLst/>
          </a:prstGeom>
          <a:noFill/>
          <a:ln/>
        </p:spPr>
        <p:txBody>
          <a:bodyPr wrap="square" lIns="0" tIns="0" rIns="0" bIns="0" rtlCol="0" anchor="ctr"/>
          <a:lstStyle/>
          <a:p>
            <a:pPr indent="0" marL="0">
              <a:buNone/>
            </a:pPr>
            <a:r>
              <a:rPr lang="en-US" sz="1200" dirty="0">
                <a:solidFill>
                  <a:srgbClr val="8FA0BC"/>
                </a:solidFill>
                <a:latin typeface="Meiryo" pitchFamily="34" charset="0"/>
                <a:ea typeface="Meiryo" pitchFamily="34" charset="-122"/>
                <a:cs typeface="Meiryo" pitchFamily="34" charset="-120"/>
              </a:rPr>
              <a:t>2026年◯月◯日　人事組織</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本日のお願い</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本日、決めていただきたいこと</a:t>
            </a:r>
            <a:endParaRPr lang="en-US" sz="2700" dirty="0"/>
          </a:p>
        </p:txBody>
      </p:sp>
      <p:sp>
        <p:nvSpPr>
          <p:cNvPr id="4" name="Shape 2"/>
          <p:cNvSpPr/>
          <p:nvPr/>
        </p:nvSpPr>
        <p:spPr>
          <a:xfrm>
            <a:off x="566928" y="1572768"/>
            <a:ext cx="11057839" cy="1207008"/>
          </a:xfrm>
          <a:prstGeom prst="roundRect">
            <a:avLst>
              <a:gd name="adj" fmla="val 4545"/>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950976" y="1901952"/>
            <a:ext cx="548640" cy="548640"/>
          </a:xfrm>
          <a:prstGeom prst="ellipse">
            <a:avLst/>
          </a:prstGeom>
          <a:solidFill>
            <a:srgbClr val="16233F"/>
          </a:solidFill>
          <a:ln/>
        </p:spPr>
      </p:sp>
      <p:sp>
        <p:nvSpPr>
          <p:cNvPr id="6" name="Text 4"/>
          <p:cNvSpPr/>
          <p:nvPr/>
        </p:nvSpPr>
        <p:spPr>
          <a:xfrm>
            <a:off x="950976" y="19019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1</a:t>
            </a:r>
            <a:endParaRPr lang="en-US" sz="1700" dirty="0"/>
          </a:p>
        </p:txBody>
      </p:sp>
      <p:sp>
        <p:nvSpPr>
          <p:cNvPr id="7" name="Text 5"/>
          <p:cNvSpPr/>
          <p:nvPr/>
        </p:nvSpPr>
        <p:spPr>
          <a:xfrm>
            <a:off x="1737360" y="1810512"/>
            <a:ext cx="7863840" cy="384048"/>
          </a:xfrm>
          <a:prstGeom prst="rect">
            <a:avLst/>
          </a:prstGeom>
          <a:noFill/>
          <a:ln/>
        </p:spPr>
        <p:txBody>
          <a:bodyPr wrap="square" lIns="0" tIns="0" rIns="0" bIns="0" rtlCol="0" anchor="ctr"/>
          <a:lstStyle/>
          <a:p>
            <a:pPr indent="0" marL="0">
              <a:buNone/>
            </a:pPr>
            <a:r>
              <a:rPr lang="en-US" sz="1800" b="1" dirty="0">
                <a:solidFill>
                  <a:srgbClr val="16233F"/>
                </a:solidFill>
                <a:latin typeface="Meiryo" pitchFamily="34" charset="0"/>
                <a:ea typeface="Meiryo" pitchFamily="34" charset="-122"/>
                <a:cs typeface="Meiryo" pitchFamily="34" charset="-120"/>
              </a:rPr>
              <a:t>全社（140名）へのNotion導入</a:t>
            </a:r>
            <a:endParaRPr lang="en-US" sz="1800" dirty="0"/>
          </a:p>
        </p:txBody>
      </p:sp>
      <p:sp>
        <p:nvSpPr>
          <p:cNvPr id="8" name="Text 6"/>
          <p:cNvSpPr/>
          <p:nvPr/>
        </p:nvSpPr>
        <p:spPr>
          <a:xfrm>
            <a:off x="1737360" y="2231136"/>
            <a:ext cx="9326880"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案件管理と会議運営の標準化を、PMO発足と同時に開始する</a:t>
            </a:r>
            <a:endParaRPr lang="en-US" sz="1250" dirty="0"/>
          </a:p>
        </p:txBody>
      </p:sp>
      <p:sp>
        <p:nvSpPr>
          <p:cNvPr id="9" name="Shape 7"/>
          <p:cNvSpPr/>
          <p:nvPr/>
        </p:nvSpPr>
        <p:spPr>
          <a:xfrm>
            <a:off x="566928" y="2944368"/>
            <a:ext cx="11057839" cy="1207008"/>
          </a:xfrm>
          <a:prstGeom prst="roundRect">
            <a:avLst>
              <a:gd name="adj" fmla="val 4545"/>
            </a:avLst>
          </a:prstGeom>
          <a:solidFill>
            <a:srgbClr val="F1F4F9"/>
          </a:solidFill>
          <a:ln/>
          <a:effectLst>
            <a:outerShdw sx="100000" sy="100000" kx="0" ky="0" algn="bl" rotWithShape="0" blurRad="127000" dist="25400" dir="5400000">
              <a:srgbClr val="8A97AC">
                <a:alpha val="22000"/>
              </a:srgbClr>
            </a:outerShdw>
          </a:effectLst>
        </p:spPr>
      </p:sp>
      <p:sp>
        <p:nvSpPr>
          <p:cNvPr id="10" name="Shape 8"/>
          <p:cNvSpPr/>
          <p:nvPr/>
        </p:nvSpPr>
        <p:spPr>
          <a:xfrm>
            <a:off x="950976" y="3273552"/>
            <a:ext cx="548640" cy="548640"/>
          </a:xfrm>
          <a:prstGeom prst="ellipse">
            <a:avLst/>
          </a:prstGeom>
          <a:solidFill>
            <a:srgbClr val="16233F"/>
          </a:solidFill>
          <a:ln/>
        </p:spPr>
      </p:sp>
      <p:sp>
        <p:nvSpPr>
          <p:cNvPr id="11" name="Text 9"/>
          <p:cNvSpPr/>
          <p:nvPr/>
        </p:nvSpPr>
        <p:spPr>
          <a:xfrm>
            <a:off x="950976" y="32735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2</a:t>
            </a:r>
            <a:endParaRPr lang="en-US" sz="1700" dirty="0"/>
          </a:p>
        </p:txBody>
      </p:sp>
      <p:sp>
        <p:nvSpPr>
          <p:cNvPr id="12" name="Text 10"/>
          <p:cNvSpPr/>
          <p:nvPr/>
        </p:nvSpPr>
        <p:spPr>
          <a:xfrm>
            <a:off x="1737360" y="3182112"/>
            <a:ext cx="7863840" cy="384048"/>
          </a:xfrm>
          <a:prstGeom prst="rect">
            <a:avLst/>
          </a:prstGeom>
          <a:noFill/>
          <a:ln/>
        </p:spPr>
        <p:txBody>
          <a:bodyPr wrap="square" lIns="0" tIns="0" rIns="0" bIns="0" rtlCol="0" anchor="ctr"/>
          <a:lstStyle/>
          <a:p>
            <a:pPr indent="0" marL="0">
              <a:buNone/>
            </a:pPr>
            <a:r>
              <a:rPr lang="en-US" sz="1800" b="1" dirty="0">
                <a:solidFill>
                  <a:srgbClr val="16233F"/>
                </a:solidFill>
                <a:latin typeface="Meiryo" pitchFamily="34" charset="0"/>
                <a:ea typeface="Meiryo" pitchFamily="34" charset="-122"/>
                <a:cs typeface="Meiryo" pitchFamily="34" charset="-120"/>
              </a:rPr>
              <a:t>年間費用 529.2万円 のご承認</a:t>
            </a:r>
            <a:endParaRPr lang="en-US" sz="1800" dirty="0"/>
          </a:p>
        </p:txBody>
      </p:sp>
      <p:sp>
        <p:nvSpPr>
          <p:cNvPr id="13" name="Text 11"/>
          <p:cNvSpPr/>
          <p:nvPr/>
        </p:nvSpPr>
        <p:spPr>
          <a:xfrm>
            <a:off x="1737360" y="3602736"/>
            <a:ext cx="9326880"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Businessプラン・年払い（プラン比較は後半でご説明）</a:t>
            </a:r>
            <a:endParaRPr lang="en-US" sz="1250" dirty="0"/>
          </a:p>
        </p:txBody>
      </p:sp>
      <p:sp>
        <p:nvSpPr>
          <p:cNvPr id="14" name="Shape 12"/>
          <p:cNvSpPr/>
          <p:nvPr/>
        </p:nvSpPr>
        <p:spPr>
          <a:xfrm>
            <a:off x="566928" y="4315968"/>
            <a:ext cx="11057839" cy="1207008"/>
          </a:xfrm>
          <a:prstGeom prst="roundRect">
            <a:avLst>
              <a:gd name="adj" fmla="val 4545"/>
            </a:avLst>
          </a:prstGeom>
          <a:solidFill>
            <a:srgbClr val="F1F4F9"/>
          </a:solidFill>
          <a:ln/>
          <a:effectLst>
            <a:outerShdw sx="100000" sy="100000" kx="0" ky="0" algn="bl" rotWithShape="0" blurRad="127000" dist="25400" dir="5400000">
              <a:srgbClr val="8A97AC">
                <a:alpha val="22000"/>
              </a:srgbClr>
            </a:outerShdw>
          </a:effectLst>
        </p:spPr>
      </p:sp>
      <p:sp>
        <p:nvSpPr>
          <p:cNvPr id="15" name="Shape 13"/>
          <p:cNvSpPr/>
          <p:nvPr/>
        </p:nvSpPr>
        <p:spPr>
          <a:xfrm>
            <a:off x="950976" y="4645152"/>
            <a:ext cx="548640" cy="548640"/>
          </a:xfrm>
          <a:prstGeom prst="ellipse">
            <a:avLst/>
          </a:prstGeom>
          <a:solidFill>
            <a:srgbClr val="16233F"/>
          </a:solidFill>
          <a:ln/>
        </p:spPr>
      </p:sp>
      <p:sp>
        <p:nvSpPr>
          <p:cNvPr id="16" name="Text 14"/>
          <p:cNvSpPr/>
          <p:nvPr/>
        </p:nvSpPr>
        <p:spPr>
          <a:xfrm>
            <a:off x="950976" y="46451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3</a:t>
            </a:r>
            <a:endParaRPr lang="en-US" sz="1700" dirty="0"/>
          </a:p>
        </p:txBody>
      </p:sp>
      <p:sp>
        <p:nvSpPr>
          <p:cNvPr id="17" name="Text 15"/>
          <p:cNvSpPr/>
          <p:nvPr/>
        </p:nvSpPr>
        <p:spPr>
          <a:xfrm>
            <a:off x="1737360" y="4553712"/>
            <a:ext cx="7863840" cy="384048"/>
          </a:xfrm>
          <a:prstGeom prst="rect">
            <a:avLst/>
          </a:prstGeom>
          <a:noFill/>
          <a:ln/>
        </p:spPr>
        <p:txBody>
          <a:bodyPr wrap="square" lIns="0" tIns="0" rIns="0" bIns="0" rtlCol="0" anchor="ctr"/>
          <a:lstStyle/>
          <a:p>
            <a:pPr indent="0" marL="0">
              <a:buNone/>
            </a:pPr>
            <a:r>
              <a:rPr lang="en-US" sz="1800" b="1" dirty="0">
                <a:solidFill>
                  <a:srgbClr val="16233F"/>
                </a:solidFill>
                <a:latin typeface="Meiryo" pitchFamily="34" charset="0"/>
                <a:ea typeface="Meiryo" pitchFamily="34" charset="-122"/>
                <a:cs typeface="Meiryo" pitchFamily="34" charset="-120"/>
              </a:rPr>
              <a:t>ホールディングスへの申請着手</a:t>
            </a:r>
            <a:endParaRPr lang="en-US" sz="1800" dirty="0"/>
          </a:p>
        </p:txBody>
      </p:sp>
      <p:sp>
        <p:nvSpPr>
          <p:cNvPr id="18" name="Text 16"/>
          <p:cNvSpPr/>
          <p:nvPr/>
        </p:nvSpPr>
        <p:spPr>
          <a:xfrm>
            <a:off x="1737360" y="4974336"/>
            <a:ext cx="9326880"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セキュリティ審査の事前相談を開始する許可</a:t>
            </a:r>
            <a:endParaRPr lang="en-US" sz="1250" dirty="0"/>
          </a:p>
        </p:txBody>
      </p:sp>
      <p:sp>
        <p:nvSpPr>
          <p:cNvPr id="19" name="Text 17"/>
          <p:cNvSpPr/>
          <p:nvPr/>
        </p:nvSpPr>
        <p:spPr>
          <a:xfrm>
            <a:off x="566928" y="5888736"/>
            <a:ext cx="11057839" cy="310896"/>
          </a:xfrm>
          <a:prstGeom prst="rect">
            <a:avLst/>
          </a:prstGeom>
          <a:noFill/>
          <a:ln/>
        </p:spPr>
        <p:txBody>
          <a:bodyPr wrap="square" lIns="0" tIns="0" rIns="0" bIns="0" rtlCol="0" anchor="ctr"/>
          <a:lstStyle/>
          <a:p>
            <a:pPr indent="0" marL="0">
              <a:buNone/>
            </a:pPr>
            <a:r>
              <a:rPr lang="en-US" sz="1300" b="1" dirty="0">
                <a:solidFill>
                  <a:srgbClr val="E8A33D"/>
                </a:solidFill>
                <a:latin typeface="Meiryo" pitchFamily="34" charset="0"/>
                <a:ea typeface="Meiryo" pitchFamily="34" charset="-122"/>
                <a:cs typeface="Meiryo" pitchFamily="34" charset="-120"/>
              </a:rPr>
              <a:t>稼働目標：PMO発足と同時</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AGENDA</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本日の流れ</a:t>
            </a:r>
            <a:endParaRPr lang="en-US" sz="2700" dirty="0"/>
          </a:p>
        </p:txBody>
      </p:sp>
      <p:sp>
        <p:nvSpPr>
          <p:cNvPr id="4" name="Shape 2"/>
          <p:cNvSpPr/>
          <p:nvPr/>
        </p:nvSpPr>
        <p:spPr>
          <a:xfrm>
            <a:off x="566928" y="1828800"/>
            <a:ext cx="3529584" cy="3346704"/>
          </a:xfrm>
          <a:prstGeom prst="roundRect">
            <a:avLst>
              <a:gd name="adj" fmla="val 1639"/>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2002536" y="2395728"/>
            <a:ext cx="658368" cy="658368"/>
          </a:xfrm>
          <a:prstGeom prst="ellipse">
            <a:avLst/>
          </a:prstGeom>
          <a:solidFill>
            <a:srgbClr val="2C5F8D"/>
          </a:solidFill>
          <a:ln/>
        </p:spPr>
      </p:sp>
      <p:sp>
        <p:nvSpPr>
          <p:cNvPr id="6" name="Text 4"/>
          <p:cNvSpPr/>
          <p:nvPr/>
        </p:nvSpPr>
        <p:spPr>
          <a:xfrm>
            <a:off x="2002536" y="2395728"/>
            <a:ext cx="658368" cy="658368"/>
          </a:xfrm>
          <a:prstGeom prst="rect">
            <a:avLst/>
          </a:prstGeom>
          <a:noFill/>
          <a:ln/>
        </p:spPr>
        <p:txBody>
          <a:bodyPr wrap="square" lIns="0" tIns="0" rIns="0" bIns="0" rtlCol="0" anchor="ctr"/>
          <a:lstStyle/>
          <a:p>
            <a:pPr algn="ctr" indent="0" marL="0">
              <a:buNone/>
            </a:pPr>
            <a:r>
              <a:rPr lang="en-US" sz="2100" b="1" dirty="0">
                <a:solidFill>
                  <a:srgbClr val="FFFFFF"/>
                </a:solidFill>
                <a:latin typeface="Meiryo" pitchFamily="34" charset="0"/>
                <a:ea typeface="Meiryo" pitchFamily="34" charset="-122"/>
                <a:cs typeface="Meiryo" pitchFamily="34" charset="-120"/>
              </a:rPr>
              <a:t>1</a:t>
            </a:r>
            <a:endParaRPr lang="en-US" sz="2100" dirty="0"/>
          </a:p>
        </p:txBody>
      </p:sp>
      <p:sp>
        <p:nvSpPr>
          <p:cNvPr id="7" name="Text 5"/>
          <p:cNvSpPr/>
          <p:nvPr/>
        </p:nvSpPr>
        <p:spPr>
          <a:xfrm>
            <a:off x="749808" y="3346704"/>
            <a:ext cx="3163824" cy="402336"/>
          </a:xfrm>
          <a:prstGeom prst="rect">
            <a:avLst/>
          </a:prstGeom>
          <a:noFill/>
          <a:ln/>
        </p:spPr>
        <p:txBody>
          <a:bodyPr wrap="square" lIns="0" tIns="0" rIns="0" bIns="0" rtlCol="0" anchor="ctr"/>
          <a:lstStyle/>
          <a:p>
            <a:pPr algn="ctr" indent="0" marL="0">
              <a:buNone/>
            </a:pPr>
            <a:r>
              <a:rPr lang="en-US" sz="1700" b="1" dirty="0">
                <a:solidFill>
                  <a:srgbClr val="16233F"/>
                </a:solidFill>
                <a:latin typeface="Meiryo" pitchFamily="34" charset="0"/>
                <a:ea typeface="Meiryo" pitchFamily="34" charset="-122"/>
                <a:cs typeface="Meiryo" pitchFamily="34" charset="-120"/>
              </a:rPr>
              <a:t>なぜ必要か</a:t>
            </a:r>
            <a:endParaRPr lang="en-US" sz="1700" dirty="0"/>
          </a:p>
        </p:txBody>
      </p:sp>
      <p:sp>
        <p:nvSpPr>
          <p:cNvPr id="8" name="Text 6"/>
          <p:cNvSpPr/>
          <p:nvPr/>
        </p:nvSpPr>
        <p:spPr>
          <a:xfrm>
            <a:off x="786384" y="3895344"/>
            <a:ext cx="3090672" cy="822960"/>
          </a:xfrm>
          <a:prstGeom prst="rect">
            <a:avLst/>
          </a:prstGeom>
          <a:noFill/>
          <a:ln/>
        </p:spPr>
        <p:txBody>
          <a:bodyPr wrap="square" lIns="0" tIns="0" rIns="0" bIns="0" rtlCol="0" anchor="ctr"/>
          <a:lstStyle/>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弊社が抱える2つの課題と、</a:t>
            </a:r>
            <a:endParaRPr lang="en-US" sz="1250" dirty="0"/>
          </a:p>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その解決像</a:t>
            </a:r>
            <a:endParaRPr lang="en-US" sz="1250" dirty="0"/>
          </a:p>
        </p:txBody>
      </p:sp>
      <p:sp>
        <p:nvSpPr>
          <p:cNvPr id="9" name="Shape 7"/>
          <p:cNvSpPr/>
          <p:nvPr/>
        </p:nvSpPr>
        <p:spPr>
          <a:xfrm>
            <a:off x="4439412" y="1828800"/>
            <a:ext cx="3529584" cy="3346704"/>
          </a:xfrm>
          <a:prstGeom prst="roundRect">
            <a:avLst>
              <a:gd name="adj" fmla="val 1639"/>
            </a:avLst>
          </a:prstGeom>
          <a:solidFill>
            <a:srgbClr val="F1F4F9"/>
          </a:solidFill>
          <a:ln/>
          <a:effectLst>
            <a:outerShdw sx="100000" sy="100000" kx="0" ky="0" algn="bl" rotWithShape="0" blurRad="127000" dist="25400" dir="5400000">
              <a:srgbClr val="8A97AC">
                <a:alpha val="22000"/>
              </a:srgbClr>
            </a:outerShdw>
          </a:effectLst>
        </p:spPr>
      </p:sp>
      <p:sp>
        <p:nvSpPr>
          <p:cNvPr id="10" name="Shape 8"/>
          <p:cNvSpPr/>
          <p:nvPr/>
        </p:nvSpPr>
        <p:spPr>
          <a:xfrm>
            <a:off x="5875020" y="2395728"/>
            <a:ext cx="658368" cy="658368"/>
          </a:xfrm>
          <a:prstGeom prst="ellipse">
            <a:avLst/>
          </a:prstGeom>
          <a:solidFill>
            <a:srgbClr val="1F7A6C"/>
          </a:solidFill>
          <a:ln/>
        </p:spPr>
      </p:sp>
      <p:sp>
        <p:nvSpPr>
          <p:cNvPr id="11" name="Text 9"/>
          <p:cNvSpPr/>
          <p:nvPr/>
        </p:nvSpPr>
        <p:spPr>
          <a:xfrm>
            <a:off x="5875020" y="2395728"/>
            <a:ext cx="658368" cy="658368"/>
          </a:xfrm>
          <a:prstGeom prst="rect">
            <a:avLst/>
          </a:prstGeom>
          <a:noFill/>
          <a:ln/>
        </p:spPr>
        <p:txBody>
          <a:bodyPr wrap="square" lIns="0" tIns="0" rIns="0" bIns="0" rtlCol="0" anchor="ctr"/>
          <a:lstStyle/>
          <a:p>
            <a:pPr algn="ctr" indent="0" marL="0">
              <a:buNone/>
            </a:pPr>
            <a:r>
              <a:rPr lang="en-US" sz="2100" b="1" dirty="0">
                <a:solidFill>
                  <a:srgbClr val="FFFFFF"/>
                </a:solidFill>
                <a:latin typeface="Meiryo" pitchFamily="34" charset="0"/>
                <a:ea typeface="Meiryo" pitchFamily="34" charset="-122"/>
                <a:cs typeface="Meiryo" pitchFamily="34" charset="-120"/>
              </a:rPr>
              <a:t>2</a:t>
            </a:r>
            <a:endParaRPr lang="en-US" sz="2100" dirty="0"/>
          </a:p>
        </p:txBody>
      </p:sp>
      <p:sp>
        <p:nvSpPr>
          <p:cNvPr id="12" name="Text 10"/>
          <p:cNvSpPr/>
          <p:nvPr/>
        </p:nvSpPr>
        <p:spPr>
          <a:xfrm>
            <a:off x="4622292" y="3346704"/>
            <a:ext cx="3163824" cy="402336"/>
          </a:xfrm>
          <a:prstGeom prst="rect">
            <a:avLst/>
          </a:prstGeom>
          <a:noFill/>
          <a:ln/>
        </p:spPr>
        <p:txBody>
          <a:bodyPr wrap="square" lIns="0" tIns="0" rIns="0" bIns="0" rtlCol="0" anchor="ctr"/>
          <a:lstStyle/>
          <a:p>
            <a:pPr algn="ctr" indent="0" marL="0">
              <a:buNone/>
            </a:pPr>
            <a:r>
              <a:rPr lang="en-US" sz="1700" b="1" dirty="0">
                <a:solidFill>
                  <a:srgbClr val="16233F"/>
                </a:solidFill>
                <a:latin typeface="Meiryo" pitchFamily="34" charset="0"/>
                <a:ea typeface="Meiryo" pitchFamily="34" charset="-122"/>
                <a:cs typeface="Meiryo" pitchFamily="34" charset="-120"/>
              </a:rPr>
              <a:t>なぜNotionか</a:t>
            </a:r>
            <a:endParaRPr lang="en-US" sz="1700" dirty="0"/>
          </a:p>
        </p:txBody>
      </p:sp>
      <p:sp>
        <p:nvSpPr>
          <p:cNvPr id="13" name="Text 11"/>
          <p:cNvSpPr/>
          <p:nvPr/>
        </p:nvSpPr>
        <p:spPr>
          <a:xfrm>
            <a:off x="4658868" y="3895344"/>
            <a:ext cx="3090672" cy="822960"/>
          </a:xfrm>
          <a:prstGeom prst="rect">
            <a:avLst/>
          </a:prstGeom>
          <a:noFill/>
          <a:ln/>
        </p:spPr>
        <p:txBody>
          <a:bodyPr wrap="square" lIns="0" tIns="0" rIns="0" bIns="0" rtlCol="0" anchor="ctr"/>
          <a:lstStyle/>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既存ツールで代替できない</a:t>
            </a:r>
            <a:endParaRPr lang="en-US" sz="1250" dirty="0"/>
          </a:p>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理由</a:t>
            </a:r>
            <a:endParaRPr lang="en-US" sz="1250" dirty="0"/>
          </a:p>
        </p:txBody>
      </p:sp>
      <p:sp>
        <p:nvSpPr>
          <p:cNvPr id="14" name="Shape 12"/>
          <p:cNvSpPr/>
          <p:nvPr/>
        </p:nvSpPr>
        <p:spPr>
          <a:xfrm>
            <a:off x="8311896" y="1828800"/>
            <a:ext cx="3529584" cy="3346704"/>
          </a:xfrm>
          <a:prstGeom prst="roundRect">
            <a:avLst>
              <a:gd name="adj" fmla="val 1639"/>
            </a:avLst>
          </a:prstGeom>
          <a:solidFill>
            <a:srgbClr val="F1F4F9"/>
          </a:solidFill>
          <a:ln/>
          <a:effectLst>
            <a:outerShdw sx="100000" sy="100000" kx="0" ky="0" algn="bl" rotWithShape="0" blurRad="127000" dist="25400" dir="5400000">
              <a:srgbClr val="8A97AC">
                <a:alpha val="22000"/>
              </a:srgbClr>
            </a:outerShdw>
          </a:effectLst>
        </p:spPr>
      </p:sp>
      <p:sp>
        <p:nvSpPr>
          <p:cNvPr id="15" name="Shape 13"/>
          <p:cNvSpPr/>
          <p:nvPr/>
        </p:nvSpPr>
        <p:spPr>
          <a:xfrm>
            <a:off x="9747504" y="2395728"/>
            <a:ext cx="658368" cy="658368"/>
          </a:xfrm>
          <a:prstGeom prst="ellipse">
            <a:avLst/>
          </a:prstGeom>
          <a:solidFill>
            <a:srgbClr val="16233F"/>
          </a:solidFill>
          <a:ln/>
        </p:spPr>
      </p:sp>
      <p:sp>
        <p:nvSpPr>
          <p:cNvPr id="16" name="Text 14"/>
          <p:cNvSpPr/>
          <p:nvPr/>
        </p:nvSpPr>
        <p:spPr>
          <a:xfrm>
            <a:off x="9747504" y="2395728"/>
            <a:ext cx="658368" cy="658368"/>
          </a:xfrm>
          <a:prstGeom prst="rect">
            <a:avLst/>
          </a:prstGeom>
          <a:noFill/>
          <a:ln/>
        </p:spPr>
        <p:txBody>
          <a:bodyPr wrap="square" lIns="0" tIns="0" rIns="0" bIns="0" rtlCol="0" anchor="ctr"/>
          <a:lstStyle/>
          <a:p>
            <a:pPr algn="ctr" indent="0" marL="0">
              <a:buNone/>
            </a:pPr>
            <a:r>
              <a:rPr lang="en-US" sz="2100" b="1" dirty="0">
                <a:solidFill>
                  <a:srgbClr val="FFFFFF"/>
                </a:solidFill>
                <a:latin typeface="Meiryo" pitchFamily="34" charset="0"/>
                <a:ea typeface="Meiryo" pitchFamily="34" charset="-122"/>
                <a:cs typeface="Meiryo" pitchFamily="34" charset="-120"/>
              </a:rPr>
              <a:t>3</a:t>
            </a:r>
            <a:endParaRPr lang="en-US" sz="2100" dirty="0"/>
          </a:p>
        </p:txBody>
      </p:sp>
      <p:sp>
        <p:nvSpPr>
          <p:cNvPr id="17" name="Text 15"/>
          <p:cNvSpPr/>
          <p:nvPr/>
        </p:nvSpPr>
        <p:spPr>
          <a:xfrm>
            <a:off x="8494776" y="3346704"/>
            <a:ext cx="3163824" cy="402336"/>
          </a:xfrm>
          <a:prstGeom prst="rect">
            <a:avLst/>
          </a:prstGeom>
          <a:noFill/>
          <a:ln/>
        </p:spPr>
        <p:txBody>
          <a:bodyPr wrap="square" lIns="0" tIns="0" rIns="0" bIns="0" rtlCol="0" anchor="ctr"/>
          <a:lstStyle/>
          <a:p>
            <a:pPr algn="ctr" indent="0" marL="0">
              <a:buNone/>
            </a:pPr>
            <a:r>
              <a:rPr lang="en-US" sz="1700" b="1" dirty="0">
                <a:solidFill>
                  <a:srgbClr val="16233F"/>
                </a:solidFill>
                <a:latin typeface="Meiryo" pitchFamily="34" charset="0"/>
                <a:ea typeface="Meiryo" pitchFamily="34" charset="-122"/>
                <a:cs typeface="Meiryo" pitchFamily="34" charset="-120"/>
              </a:rPr>
              <a:t>導入判断の材料</a:t>
            </a:r>
            <a:endParaRPr lang="en-US" sz="1700" dirty="0"/>
          </a:p>
        </p:txBody>
      </p:sp>
      <p:sp>
        <p:nvSpPr>
          <p:cNvPr id="18" name="Text 16"/>
          <p:cNvSpPr/>
          <p:nvPr/>
        </p:nvSpPr>
        <p:spPr>
          <a:xfrm>
            <a:off x="8531352" y="3895344"/>
            <a:ext cx="3090672" cy="822960"/>
          </a:xfrm>
          <a:prstGeom prst="rect">
            <a:avLst/>
          </a:prstGeom>
          <a:noFill/>
          <a:ln/>
        </p:spPr>
        <p:txBody>
          <a:bodyPr wrap="square" lIns="0" tIns="0" rIns="0" bIns="0" rtlCol="0" anchor="ctr"/>
          <a:lstStyle/>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プラン・費用・効果・リスク・</a:t>
            </a:r>
            <a:endParaRPr lang="en-US" sz="1250" dirty="0"/>
          </a:p>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進め方</a:t>
            </a:r>
            <a:endParaRPr lang="en-US" sz="1250" dirty="0"/>
          </a:p>
        </p:txBody>
      </p:sp>
      <p:sp>
        <p:nvSpPr>
          <p:cNvPr id="19" name="Text 17"/>
          <p:cNvSpPr/>
          <p:nvPr/>
        </p:nvSpPr>
        <p:spPr>
          <a:xfrm>
            <a:off x="566928" y="5614416"/>
            <a:ext cx="11057839" cy="329184"/>
          </a:xfrm>
          <a:prstGeom prst="rect">
            <a:avLst/>
          </a:prstGeom>
          <a:noFill/>
          <a:ln/>
        </p:spPr>
        <p:txBody>
          <a:bodyPr wrap="square" lIns="0" tIns="0" rIns="0" bIns="0" rtlCol="0" anchor="ctr"/>
          <a:lstStyle/>
          <a:p>
            <a:pPr indent="0" marL="0">
              <a:buNone/>
            </a:pPr>
            <a:r>
              <a:rPr lang="en-US" sz="1300" dirty="0">
                <a:solidFill>
                  <a:srgbClr val="5A6472"/>
                </a:solidFill>
                <a:latin typeface="Meiryo" pitchFamily="34" charset="0"/>
                <a:ea typeface="Meiryo" pitchFamily="34" charset="-122"/>
                <a:cs typeface="Meiryo" pitchFamily="34" charset="-120"/>
              </a:rPr>
              <a:t>本日は 1 と 3 を中心に、20分でご説明します。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058400" y="4023360"/>
            <a:ext cx="3291840" cy="3291840"/>
          </a:xfrm>
          <a:prstGeom prst="ellipse">
            <a:avLst/>
          </a:prstGeom>
          <a:solidFill>
            <a:srgbClr val="2C5F8D">
              <a:alpha val="32000"/>
            </a:srgbClr>
          </a:solidFill>
          <a:ln/>
        </p:spPr>
      </p:sp>
      <p:sp>
        <p:nvSpPr>
          <p:cNvPr id="3" name="Shape 1"/>
          <p:cNvSpPr/>
          <p:nvPr/>
        </p:nvSpPr>
        <p:spPr>
          <a:xfrm>
            <a:off x="566928" y="2432304"/>
            <a:ext cx="896112" cy="896112"/>
          </a:xfrm>
          <a:prstGeom prst="ellipse">
            <a:avLst/>
          </a:prstGeom>
          <a:solidFill>
            <a:srgbClr val="2C5F8D"/>
          </a:solidFill>
          <a:ln/>
        </p:spPr>
      </p:sp>
      <p:sp>
        <p:nvSpPr>
          <p:cNvPr id="4" name="Text 2"/>
          <p:cNvSpPr/>
          <p:nvPr/>
        </p:nvSpPr>
        <p:spPr>
          <a:xfrm>
            <a:off x="566928" y="2432304"/>
            <a:ext cx="896112" cy="896112"/>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1</a:t>
            </a:r>
            <a:endParaRPr lang="en-US" sz="3000" dirty="0"/>
          </a:p>
        </p:txBody>
      </p:sp>
      <p:sp>
        <p:nvSpPr>
          <p:cNvPr id="5" name="Text 3"/>
          <p:cNvSpPr/>
          <p:nvPr/>
        </p:nvSpPr>
        <p:spPr>
          <a:xfrm>
            <a:off x="1792224" y="2395728"/>
            <a:ext cx="8412480" cy="658368"/>
          </a:xfrm>
          <a:prstGeom prst="rect">
            <a:avLst/>
          </a:prstGeom>
          <a:noFill/>
          <a:ln/>
        </p:spPr>
        <p:txBody>
          <a:bodyPr wrap="square" lIns="0" tIns="0" rIns="0" bIns="0" rtlCol="0" anchor="ctr"/>
          <a:lstStyle/>
          <a:p>
            <a:pPr indent="0" marL="0">
              <a:buNone/>
            </a:pPr>
            <a:r>
              <a:rPr lang="en-US" sz="3300" b="1" dirty="0">
                <a:solidFill>
                  <a:srgbClr val="FFFFFF"/>
                </a:solidFill>
                <a:latin typeface="Meiryo" pitchFamily="34" charset="0"/>
                <a:ea typeface="Meiryo" pitchFamily="34" charset="-122"/>
                <a:cs typeface="Meiryo" pitchFamily="34" charset="-120"/>
              </a:rPr>
              <a:t>なぜ必要か</a:t>
            </a:r>
            <a:endParaRPr lang="en-US" sz="3300" dirty="0"/>
          </a:p>
        </p:txBody>
      </p:sp>
      <p:sp>
        <p:nvSpPr>
          <p:cNvPr id="6" name="Text 4"/>
          <p:cNvSpPr/>
          <p:nvPr/>
        </p:nvSpPr>
        <p:spPr>
          <a:xfrm>
            <a:off x="1792224" y="3127248"/>
            <a:ext cx="8412480" cy="365760"/>
          </a:xfrm>
          <a:prstGeom prst="rect">
            <a:avLst/>
          </a:prstGeom>
          <a:noFill/>
          <a:ln/>
        </p:spPr>
        <p:txBody>
          <a:bodyPr wrap="square" lIns="0" tIns="0" rIns="0" bIns="0" rtlCol="0" anchor="ctr"/>
          <a:lstStyle/>
          <a:p>
            <a:pPr indent="0" marL="0">
              <a:buNone/>
            </a:pPr>
            <a:r>
              <a:rPr lang="en-US" sz="1400" dirty="0">
                <a:solidFill>
                  <a:srgbClr val="9FB0CC"/>
                </a:solidFill>
                <a:latin typeface="Meiryo" pitchFamily="34" charset="0"/>
                <a:ea typeface="Meiryo" pitchFamily="34" charset="-122"/>
                <a:cs typeface="Meiryo" pitchFamily="34" charset="-120"/>
              </a:rPr>
              <a:t>弊社が抱える2つの課題と、その解決像</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なぜ今なのか</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PMOが立ち上がる今が、仕組みを整えるタイミングです</a:t>
            </a:r>
            <a:endParaRPr lang="en-US" sz="2700" dirty="0"/>
          </a:p>
        </p:txBody>
      </p:sp>
      <p:sp>
        <p:nvSpPr>
          <p:cNvPr id="4" name="Shape 2"/>
          <p:cNvSpPr/>
          <p:nvPr/>
        </p:nvSpPr>
        <p:spPr>
          <a:xfrm>
            <a:off x="566928" y="1627632"/>
            <a:ext cx="5486400" cy="1975104"/>
          </a:xfrm>
          <a:prstGeom prst="roundRect">
            <a:avLst>
              <a:gd name="adj" fmla="val 2778"/>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932688" y="1938528"/>
            <a:ext cx="493776" cy="493776"/>
          </a:xfrm>
          <a:prstGeom prst="ellipse">
            <a:avLst/>
          </a:prstGeom>
          <a:solidFill>
            <a:srgbClr val="2E7D5B"/>
          </a:solidFill>
          <a:ln/>
        </p:spPr>
      </p:sp>
      <p:sp>
        <p:nvSpPr>
          <p:cNvPr id="6" name="Text 4"/>
          <p:cNvSpPr/>
          <p:nvPr/>
        </p:nvSpPr>
        <p:spPr>
          <a:xfrm>
            <a:off x="932688" y="1938528"/>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a:t>
            </a:r>
            <a:endParaRPr lang="en-US" sz="1600" dirty="0"/>
          </a:p>
        </p:txBody>
      </p:sp>
      <p:sp>
        <p:nvSpPr>
          <p:cNvPr id="7" name="Text 5"/>
          <p:cNvSpPr/>
          <p:nvPr/>
        </p:nvSpPr>
        <p:spPr>
          <a:xfrm>
            <a:off x="1572768" y="1920240"/>
            <a:ext cx="4206240" cy="34747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決まっていること</a:t>
            </a:r>
            <a:endParaRPr lang="en-US" sz="1500" dirty="0"/>
          </a:p>
        </p:txBody>
      </p:sp>
      <p:sp>
        <p:nvSpPr>
          <p:cNvPr id="8" name="Text 6"/>
          <p:cNvSpPr/>
          <p:nvPr/>
        </p:nvSpPr>
        <p:spPr>
          <a:xfrm>
            <a:off x="932688" y="2542032"/>
            <a:ext cx="4754880" cy="896112"/>
          </a:xfrm>
          <a:prstGeom prst="rect">
            <a:avLst/>
          </a:prstGeom>
          <a:noFill/>
          <a:ln/>
        </p:spPr>
        <p:txBody>
          <a:bodyPr wrap="square" lIns="0" tIns="0" rIns="0" bIns="0" rtlCol="0" anchor="ctr"/>
          <a:lstStyle/>
          <a:p>
            <a:pPr indent="0" marL="0">
              <a:lnSpc>
                <a:spcPts val="2000"/>
              </a:lnSpc>
              <a:buNone/>
            </a:pPr>
            <a:r>
              <a:rPr lang="en-US" sz="1250" dirty="0">
                <a:solidFill>
                  <a:srgbClr val="5A6472"/>
                </a:solidFill>
                <a:latin typeface="Meiryo" pitchFamily="34" charset="0"/>
                <a:ea typeface="Meiryo" pitchFamily="34" charset="-122"/>
                <a:cs typeface="Meiryo" pitchFamily="34" charset="-120"/>
              </a:rPr>
              <a:t>PMO部署と人事組織が新設される。</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案件管理と会議運営を、組織として</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標準化する転機を迎えている。</a:t>
            </a:r>
            <a:endParaRPr lang="en-US" sz="1250" dirty="0"/>
          </a:p>
        </p:txBody>
      </p:sp>
      <p:sp>
        <p:nvSpPr>
          <p:cNvPr id="9" name="Shape 7"/>
          <p:cNvSpPr/>
          <p:nvPr/>
        </p:nvSpPr>
        <p:spPr>
          <a:xfrm>
            <a:off x="6373368" y="1627632"/>
            <a:ext cx="5486400" cy="1975104"/>
          </a:xfrm>
          <a:prstGeom prst="roundRect">
            <a:avLst>
              <a:gd name="adj" fmla="val 2778"/>
            </a:avLst>
          </a:prstGeom>
          <a:solidFill>
            <a:srgbClr val="F1F4F9"/>
          </a:solidFill>
          <a:ln/>
          <a:effectLst>
            <a:outerShdw sx="100000" sy="100000" kx="0" ky="0" algn="bl" rotWithShape="0" blurRad="127000" dist="25400" dir="5400000">
              <a:srgbClr val="8A97AC">
                <a:alpha val="22000"/>
              </a:srgbClr>
            </a:outerShdw>
          </a:effectLst>
        </p:spPr>
      </p:sp>
      <p:sp>
        <p:nvSpPr>
          <p:cNvPr id="10" name="Shape 8"/>
          <p:cNvSpPr/>
          <p:nvPr/>
        </p:nvSpPr>
        <p:spPr>
          <a:xfrm>
            <a:off x="6739128" y="1938528"/>
            <a:ext cx="493776" cy="493776"/>
          </a:xfrm>
          <a:prstGeom prst="ellipse">
            <a:avLst/>
          </a:prstGeom>
          <a:solidFill>
            <a:srgbClr val="B3423A"/>
          </a:solidFill>
          <a:ln/>
        </p:spPr>
      </p:sp>
      <p:sp>
        <p:nvSpPr>
          <p:cNvPr id="11" name="Text 9"/>
          <p:cNvSpPr/>
          <p:nvPr/>
        </p:nvSpPr>
        <p:spPr>
          <a:xfrm>
            <a:off x="6739128" y="1938528"/>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a:t>
            </a:r>
            <a:endParaRPr lang="en-US" sz="1600" dirty="0"/>
          </a:p>
        </p:txBody>
      </p:sp>
      <p:sp>
        <p:nvSpPr>
          <p:cNvPr id="12" name="Text 10"/>
          <p:cNvSpPr/>
          <p:nvPr/>
        </p:nvSpPr>
        <p:spPr>
          <a:xfrm>
            <a:off x="7379208" y="1920240"/>
            <a:ext cx="4206240" cy="34747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足りていないこと</a:t>
            </a:r>
            <a:endParaRPr lang="en-US" sz="1500" dirty="0"/>
          </a:p>
        </p:txBody>
      </p:sp>
      <p:sp>
        <p:nvSpPr>
          <p:cNvPr id="13" name="Text 11"/>
          <p:cNvSpPr/>
          <p:nvPr/>
        </p:nvSpPr>
        <p:spPr>
          <a:xfrm>
            <a:off x="6739128" y="2542032"/>
            <a:ext cx="4754880" cy="896112"/>
          </a:xfrm>
          <a:prstGeom prst="rect">
            <a:avLst/>
          </a:prstGeom>
          <a:noFill/>
          <a:ln/>
        </p:spPr>
        <p:txBody>
          <a:bodyPr wrap="square" lIns="0" tIns="0" rIns="0" bIns="0" rtlCol="0" anchor="ctr"/>
          <a:lstStyle/>
          <a:p>
            <a:pPr indent="0" marL="0">
              <a:lnSpc>
                <a:spcPts val="2000"/>
              </a:lnSpc>
              <a:buNone/>
            </a:pPr>
            <a:r>
              <a:rPr lang="en-US" sz="1250" dirty="0">
                <a:solidFill>
                  <a:srgbClr val="5A6472"/>
                </a:solidFill>
                <a:latin typeface="Meiryo" pitchFamily="34" charset="0"/>
                <a:ea typeface="Meiryo" pitchFamily="34" charset="-122"/>
                <a:cs typeface="Meiryo" pitchFamily="34" charset="-120"/>
              </a:rPr>
              <a:t>PMOが使う「管制塔」が存在しない。</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案件の状況を一望できる場所が、</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現在どこにもない。</a:t>
            </a:r>
            <a:endParaRPr lang="en-US" sz="1250" dirty="0"/>
          </a:p>
        </p:txBody>
      </p:sp>
      <p:sp>
        <p:nvSpPr>
          <p:cNvPr id="14" name="Shape 12"/>
          <p:cNvSpPr/>
          <p:nvPr/>
        </p:nvSpPr>
        <p:spPr>
          <a:xfrm>
            <a:off x="566928" y="4041648"/>
            <a:ext cx="11057839" cy="1828800"/>
          </a:xfrm>
          <a:prstGeom prst="roundRect">
            <a:avLst>
              <a:gd name="adj" fmla="val 3000"/>
            </a:avLst>
          </a:prstGeom>
          <a:solidFill>
            <a:srgbClr val="16233F"/>
          </a:solidFill>
          <a:ln/>
          <a:effectLst>
            <a:outerShdw sx="100000" sy="100000" kx="0" ky="0" algn="bl" rotWithShape="0" blurRad="127000" dist="25400" dir="5400000">
              <a:srgbClr val="8A97AC">
                <a:alpha val="22000"/>
              </a:srgbClr>
            </a:outerShdw>
          </a:effectLst>
        </p:spPr>
      </p:sp>
      <p:sp>
        <p:nvSpPr>
          <p:cNvPr id="15" name="Text 13"/>
          <p:cNvSpPr/>
          <p:nvPr/>
        </p:nvSpPr>
        <p:spPr>
          <a:xfrm>
            <a:off x="1115568" y="4041648"/>
            <a:ext cx="9960559" cy="1828800"/>
          </a:xfrm>
          <a:prstGeom prst="rect">
            <a:avLst/>
          </a:prstGeom>
          <a:noFill/>
          <a:ln/>
        </p:spPr>
        <p:txBody>
          <a:bodyPr wrap="square" lIns="0" tIns="0" rIns="0" bIns="0" rtlCol="0" anchor="ctr"/>
          <a:lstStyle/>
          <a:p>
            <a:pPr indent="0" marL="0">
              <a:lnSpc>
                <a:spcPts val="3400"/>
              </a:lnSpc>
              <a:buNone/>
            </a:pPr>
            <a:r>
              <a:rPr lang="en-US" sz="2100" b="1" dirty="0">
                <a:solidFill>
                  <a:srgbClr val="FFFFFF"/>
                </a:solidFill>
                <a:latin typeface="Meiryo" pitchFamily="34" charset="0"/>
                <a:ea typeface="Meiryo" pitchFamily="34" charset="-122"/>
                <a:cs typeface="Meiryo" pitchFamily="34" charset="-120"/>
              </a:rPr>
              <a:t>器のないままPMOを作れば、PMOは各部署に</a:t>
            </a:r>
            <a:endParaRPr lang="en-US" sz="2100" dirty="0"/>
          </a:p>
          <a:p>
            <a:pPr indent="0" marL="0">
              <a:lnSpc>
                <a:spcPts val="3400"/>
              </a:lnSpc>
              <a:buNone/>
            </a:pPr>
            <a:r>
              <a:rPr lang="en-US" sz="2100" b="1" dirty="0">
                <a:solidFill>
                  <a:srgbClr val="FFFFFF"/>
                </a:solidFill>
                <a:latin typeface="Meiryo" pitchFamily="34" charset="0"/>
                <a:ea typeface="Meiryo" pitchFamily="34" charset="-122"/>
                <a:cs typeface="Meiryo" pitchFamily="34" charset="-120"/>
              </a:rPr>
              <a:t>チャットと電話で状況を聞いて回る係になります。</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課題の全体像</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弊社の課題は、2つあります</a:t>
            </a:r>
            <a:endParaRPr lang="en-US" sz="2700" dirty="0"/>
          </a:p>
        </p:txBody>
      </p:sp>
      <p:sp>
        <p:nvSpPr>
          <p:cNvPr id="4" name="Shape 2"/>
          <p:cNvSpPr/>
          <p:nvPr/>
        </p:nvSpPr>
        <p:spPr>
          <a:xfrm>
            <a:off x="566928" y="1572768"/>
            <a:ext cx="5486400" cy="4224528"/>
          </a:xfrm>
          <a:prstGeom prst="roundRect">
            <a:avLst>
              <a:gd name="adj" fmla="val 1299"/>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877824" y="1810512"/>
            <a:ext cx="566928" cy="566928"/>
          </a:xfrm>
          <a:prstGeom prst="ellipse">
            <a:avLst/>
          </a:prstGeom>
          <a:solidFill>
            <a:srgbClr val="2C5F8D"/>
          </a:solidFill>
          <a:ln/>
        </p:spPr>
      </p:sp>
      <p:sp>
        <p:nvSpPr>
          <p:cNvPr id="6" name="Text 4"/>
          <p:cNvSpPr/>
          <p:nvPr/>
        </p:nvSpPr>
        <p:spPr>
          <a:xfrm>
            <a:off x="877824" y="1810512"/>
            <a:ext cx="566928"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Meiryo" pitchFamily="34" charset="0"/>
                <a:ea typeface="Meiryo" pitchFamily="34" charset="-122"/>
                <a:cs typeface="Meiryo" pitchFamily="34" charset="-120"/>
              </a:rPr>
              <a:t>A</a:t>
            </a:r>
            <a:endParaRPr lang="en-US" sz="1900" dirty="0"/>
          </a:p>
        </p:txBody>
      </p:sp>
      <p:sp>
        <p:nvSpPr>
          <p:cNvPr id="7" name="Text 5"/>
          <p:cNvSpPr/>
          <p:nvPr/>
        </p:nvSpPr>
        <p:spPr>
          <a:xfrm>
            <a:off x="1554480" y="1792224"/>
            <a:ext cx="2011680" cy="274320"/>
          </a:xfrm>
          <a:prstGeom prst="rect">
            <a:avLst/>
          </a:prstGeom>
          <a:noFill/>
          <a:ln/>
        </p:spPr>
        <p:txBody>
          <a:bodyPr wrap="square" lIns="0" tIns="0" rIns="0" bIns="0" rtlCol="0" anchor="ctr"/>
          <a:lstStyle/>
          <a:p>
            <a:pPr indent="0" marL="0">
              <a:buNone/>
            </a:pPr>
            <a:r>
              <a:rPr lang="en-US" sz="1100" b="1" spc="100" kern="0" dirty="0">
                <a:solidFill>
                  <a:srgbClr val="2C5F8D"/>
                </a:solidFill>
                <a:latin typeface="Meiryo" pitchFamily="34" charset="0"/>
                <a:ea typeface="Meiryo" pitchFamily="34" charset="-122"/>
                <a:cs typeface="Meiryo" pitchFamily="34" charset="-120"/>
              </a:rPr>
              <a:t>課題A</a:t>
            </a:r>
            <a:endParaRPr lang="en-US" sz="1100" dirty="0"/>
          </a:p>
        </p:txBody>
      </p:sp>
      <p:sp>
        <p:nvSpPr>
          <p:cNvPr id="8" name="Text 6"/>
          <p:cNvSpPr/>
          <p:nvPr/>
        </p:nvSpPr>
        <p:spPr>
          <a:xfrm>
            <a:off x="1554480" y="2048256"/>
            <a:ext cx="4206240" cy="384048"/>
          </a:xfrm>
          <a:prstGeom prst="rect">
            <a:avLst/>
          </a:prstGeom>
          <a:noFill/>
          <a:ln/>
        </p:spPr>
        <p:txBody>
          <a:bodyPr wrap="square" lIns="0" tIns="0" rIns="0" bIns="0" rtlCol="0" anchor="ctr"/>
          <a:lstStyle/>
          <a:p>
            <a:pPr indent="0" marL="0">
              <a:buNone/>
            </a:pPr>
            <a:r>
              <a:rPr lang="en-US" sz="2000" b="1" dirty="0">
                <a:solidFill>
                  <a:srgbClr val="16233F"/>
                </a:solidFill>
                <a:latin typeface="Meiryo" pitchFamily="34" charset="0"/>
                <a:ea typeface="Meiryo" pitchFamily="34" charset="-122"/>
                <a:cs typeface="Meiryo" pitchFamily="34" charset="-120"/>
              </a:rPr>
              <a:t>案件管理</a:t>
            </a:r>
            <a:endParaRPr lang="en-US" sz="2000" dirty="0"/>
          </a:p>
        </p:txBody>
      </p:sp>
      <p:sp>
        <p:nvSpPr>
          <p:cNvPr id="9" name="Text 7"/>
          <p:cNvSpPr/>
          <p:nvPr/>
        </p:nvSpPr>
        <p:spPr>
          <a:xfrm>
            <a:off x="877824" y="2761488"/>
            <a:ext cx="4864608"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何が起きているか</a:t>
            </a:r>
            <a:endParaRPr lang="en-US" sz="1050" dirty="0"/>
          </a:p>
        </p:txBody>
      </p:sp>
      <p:sp>
        <p:nvSpPr>
          <p:cNvPr id="10" name="Text 8"/>
          <p:cNvSpPr/>
          <p:nvPr/>
        </p:nvSpPr>
        <p:spPr>
          <a:xfrm>
            <a:off x="877824" y="3017520"/>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年間700件の研修案件が部門をまたいで進むのに、進捗を一望する場所がない</a:t>
            </a:r>
            <a:endParaRPr lang="en-US" sz="1200" dirty="0"/>
          </a:p>
        </p:txBody>
      </p:sp>
      <p:sp>
        <p:nvSpPr>
          <p:cNvPr id="11" name="Text 9"/>
          <p:cNvSpPr/>
          <p:nvPr/>
        </p:nvSpPr>
        <p:spPr>
          <a:xfrm>
            <a:off x="877824" y="3749040"/>
            <a:ext cx="4864608"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現在の管理方法</a:t>
            </a:r>
            <a:endParaRPr lang="en-US" sz="1050" dirty="0"/>
          </a:p>
        </p:txBody>
      </p:sp>
      <p:sp>
        <p:nvSpPr>
          <p:cNvPr id="12" name="Text 10"/>
          <p:cNvSpPr/>
          <p:nvPr/>
        </p:nvSpPr>
        <p:spPr>
          <a:xfrm>
            <a:off x="877824" y="4005072"/>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Teamsのグループチャット ＋ 各自オリジナルのExcel</a:t>
            </a:r>
            <a:endParaRPr lang="en-US" sz="1200" dirty="0"/>
          </a:p>
        </p:txBody>
      </p:sp>
      <p:sp>
        <p:nvSpPr>
          <p:cNvPr id="13" name="Text 11"/>
          <p:cNvSpPr/>
          <p:nvPr/>
        </p:nvSpPr>
        <p:spPr>
          <a:xfrm>
            <a:off x="877824" y="4736592"/>
            <a:ext cx="4864608"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放置するとどうなるか</a:t>
            </a:r>
            <a:endParaRPr lang="en-US" sz="1050" dirty="0"/>
          </a:p>
        </p:txBody>
      </p:sp>
      <p:sp>
        <p:nvSpPr>
          <p:cNvPr id="14" name="Text 12"/>
          <p:cNvSpPr/>
          <p:nvPr/>
        </p:nvSpPr>
        <p:spPr>
          <a:xfrm>
            <a:off x="877824" y="4992624"/>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納期遅延と手戻りが再発し、顧客の信用を損なう</a:t>
            </a:r>
            <a:endParaRPr lang="en-US" sz="1200" dirty="0"/>
          </a:p>
        </p:txBody>
      </p:sp>
      <p:sp>
        <p:nvSpPr>
          <p:cNvPr id="15" name="Shape 13"/>
          <p:cNvSpPr/>
          <p:nvPr/>
        </p:nvSpPr>
        <p:spPr>
          <a:xfrm>
            <a:off x="6373368" y="1572768"/>
            <a:ext cx="5486400" cy="4224528"/>
          </a:xfrm>
          <a:prstGeom prst="roundRect">
            <a:avLst>
              <a:gd name="adj" fmla="val 1299"/>
            </a:avLst>
          </a:prstGeom>
          <a:solidFill>
            <a:srgbClr val="F1F4F9"/>
          </a:solidFill>
          <a:ln/>
          <a:effectLst>
            <a:outerShdw sx="100000" sy="100000" kx="0" ky="0" algn="bl" rotWithShape="0" blurRad="127000" dist="25400" dir="5400000">
              <a:srgbClr val="8A97AC">
                <a:alpha val="22000"/>
              </a:srgbClr>
            </a:outerShdw>
          </a:effectLst>
        </p:spPr>
      </p:sp>
      <p:sp>
        <p:nvSpPr>
          <p:cNvPr id="16" name="Shape 14"/>
          <p:cNvSpPr/>
          <p:nvPr/>
        </p:nvSpPr>
        <p:spPr>
          <a:xfrm>
            <a:off x="6684264" y="1810512"/>
            <a:ext cx="566928" cy="566928"/>
          </a:xfrm>
          <a:prstGeom prst="ellipse">
            <a:avLst/>
          </a:prstGeom>
          <a:solidFill>
            <a:srgbClr val="1F7A6C"/>
          </a:solidFill>
          <a:ln/>
        </p:spPr>
      </p:sp>
      <p:sp>
        <p:nvSpPr>
          <p:cNvPr id="17" name="Text 15"/>
          <p:cNvSpPr/>
          <p:nvPr/>
        </p:nvSpPr>
        <p:spPr>
          <a:xfrm>
            <a:off x="6684264" y="1810512"/>
            <a:ext cx="566928"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Meiryo" pitchFamily="34" charset="0"/>
                <a:ea typeface="Meiryo" pitchFamily="34" charset="-122"/>
                <a:cs typeface="Meiryo" pitchFamily="34" charset="-120"/>
              </a:rPr>
              <a:t>B</a:t>
            </a:r>
            <a:endParaRPr lang="en-US" sz="1900" dirty="0"/>
          </a:p>
        </p:txBody>
      </p:sp>
      <p:sp>
        <p:nvSpPr>
          <p:cNvPr id="18" name="Text 16"/>
          <p:cNvSpPr/>
          <p:nvPr/>
        </p:nvSpPr>
        <p:spPr>
          <a:xfrm>
            <a:off x="7360920" y="1792224"/>
            <a:ext cx="2011680" cy="274320"/>
          </a:xfrm>
          <a:prstGeom prst="rect">
            <a:avLst/>
          </a:prstGeom>
          <a:noFill/>
          <a:ln/>
        </p:spPr>
        <p:txBody>
          <a:bodyPr wrap="square" lIns="0" tIns="0" rIns="0" bIns="0" rtlCol="0" anchor="ctr"/>
          <a:lstStyle/>
          <a:p>
            <a:pPr indent="0" marL="0">
              <a:buNone/>
            </a:pPr>
            <a:r>
              <a:rPr lang="en-US" sz="1100" b="1" spc="100" kern="0" dirty="0">
                <a:solidFill>
                  <a:srgbClr val="1F7A6C"/>
                </a:solidFill>
                <a:latin typeface="Meiryo" pitchFamily="34" charset="0"/>
                <a:ea typeface="Meiryo" pitchFamily="34" charset="-122"/>
                <a:cs typeface="Meiryo" pitchFamily="34" charset="-120"/>
              </a:rPr>
              <a:t>課題B</a:t>
            </a:r>
            <a:endParaRPr lang="en-US" sz="1100" dirty="0"/>
          </a:p>
        </p:txBody>
      </p:sp>
      <p:sp>
        <p:nvSpPr>
          <p:cNvPr id="19" name="Text 17"/>
          <p:cNvSpPr/>
          <p:nvPr/>
        </p:nvSpPr>
        <p:spPr>
          <a:xfrm>
            <a:off x="7360920" y="2048256"/>
            <a:ext cx="4206240" cy="384048"/>
          </a:xfrm>
          <a:prstGeom prst="rect">
            <a:avLst/>
          </a:prstGeom>
          <a:noFill/>
          <a:ln/>
        </p:spPr>
        <p:txBody>
          <a:bodyPr wrap="square" lIns="0" tIns="0" rIns="0" bIns="0" rtlCol="0" anchor="ctr"/>
          <a:lstStyle/>
          <a:p>
            <a:pPr indent="0" marL="0">
              <a:buNone/>
            </a:pPr>
            <a:r>
              <a:rPr lang="en-US" sz="2000" b="1" dirty="0">
                <a:solidFill>
                  <a:srgbClr val="16233F"/>
                </a:solidFill>
                <a:latin typeface="Meiryo" pitchFamily="34" charset="0"/>
                <a:ea typeface="Meiryo" pitchFamily="34" charset="-122"/>
                <a:cs typeface="Meiryo" pitchFamily="34" charset="-120"/>
              </a:rPr>
              <a:t>会議と議事録</a:t>
            </a:r>
            <a:endParaRPr lang="en-US" sz="2000" dirty="0"/>
          </a:p>
        </p:txBody>
      </p:sp>
      <p:sp>
        <p:nvSpPr>
          <p:cNvPr id="20" name="Text 18"/>
          <p:cNvSpPr/>
          <p:nvPr/>
        </p:nvSpPr>
        <p:spPr>
          <a:xfrm>
            <a:off x="6684264" y="2761488"/>
            <a:ext cx="4864608"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何が起きているか</a:t>
            </a:r>
            <a:endParaRPr lang="en-US" sz="1050" dirty="0"/>
          </a:p>
        </p:txBody>
      </p:sp>
      <p:sp>
        <p:nvSpPr>
          <p:cNvPr id="21" name="Text 19"/>
          <p:cNvSpPr/>
          <p:nvPr/>
        </p:nvSpPr>
        <p:spPr>
          <a:xfrm>
            <a:off x="6684264" y="3017520"/>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会議が多く、目的が曖昧なまま設定され、決定事項が後から追えない</a:t>
            </a:r>
            <a:endParaRPr lang="en-US" sz="1200" dirty="0"/>
          </a:p>
        </p:txBody>
      </p:sp>
      <p:sp>
        <p:nvSpPr>
          <p:cNvPr id="22" name="Text 20"/>
          <p:cNvSpPr/>
          <p:nvPr/>
        </p:nvSpPr>
        <p:spPr>
          <a:xfrm>
            <a:off x="6684264" y="3749040"/>
            <a:ext cx="4864608"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現在の管理方法</a:t>
            </a:r>
            <a:endParaRPr lang="en-US" sz="1050" dirty="0"/>
          </a:p>
        </p:txBody>
      </p:sp>
      <p:sp>
        <p:nvSpPr>
          <p:cNvPr id="23" name="Text 21"/>
          <p:cNvSpPr/>
          <p:nvPr/>
        </p:nvSpPr>
        <p:spPr>
          <a:xfrm>
            <a:off x="6684264" y="4005072"/>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AI議事録をWord・OneNoteに保存し、リンクをチャットで共有</a:t>
            </a:r>
            <a:endParaRPr lang="en-US" sz="1200" dirty="0"/>
          </a:p>
        </p:txBody>
      </p:sp>
      <p:sp>
        <p:nvSpPr>
          <p:cNvPr id="24" name="Text 22"/>
          <p:cNvSpPr/>
          <p:nvPr/>
        </p:nvSpPr>
        <p:spPr>
          <a:xfrm>
            <a:off x="6684264" y="4736592"/>
            <a:ext cx="4864608"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放置するとどうなるか</a:t>
            </a:r>
            <a:endParaRPr lang="en-US" sz="1050" dirty="0"/>
          </a:p>
        </p:txBody>
      </p:sp>
      <p:sp>
        <p:nvSpPr>
          <p:cNvPr id="25" name="Text 23"/>
          <p:cNvSpPr/>
          <p:nvPr/>
        </p:nvSpPr>
        <p:spPr>
          <a:xfrm>
            <a:off x="6684264" y="4992624"/>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意思決定が遅れ、同じ議論が繰り返される</a:t>
            </a:r>
            <a:endParaRPr lang="en-US" sz="1200" dirty="0"/>
          </a:p>
        </p:txBody>
      </p:sp>
      <p:sp>
        <p:nvSpPr>
          <p:cNvPr id="26" name="Text 24"/>
          <p:cNvSpPr/>
          <p:nvPr/>
        </p:nvSpPr>
        <p:spPr>
          <a:xfrm>
            <a:off x="566928" y="5998464"/>
            <a:ext cx="11057839" cy="365760"/>
          </a:xfrm>
          <a:prstGeom prst="rect">
            <a:avLst/>
          </a:prstGeom>
          <a:noFill/>
          <a:ln/>
        </p:spPr>
        <p:txBody>
          <a:bodyPr wrap="square" lIns="0" tIns="0" rIns="0" bIns="0" rtlCol="0" anchor="ctr"/>
          <a:lstStyle/>
          <a:p>
            <a:pPr indent="0" marL="0">
              <a:buNone/>
            </a:pPr>
            <a:r>
              <a:rPr lang="en-US" sz="1350" b="1" dirty="0">
                <a:solidFill>
                  <a:srgbClr val="E8A33D"/>
                </a:solidFill>
                <a:latin typeface="Meiryo" pitchFamily="34" charset="0"/>
                <a:ea typeface="Meiryo" pitchFamily="34" charset="-122"/>
                <a:cs typeface="Meiryo" pitchFamily="34" charset="-120"/>
              </a:rPr>
              <a:t>この2つは、1つの仕組みで解決できます（後半でご説明します）</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課題A：案件管理</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年間700件が、部門をまたいで動いています</a:t>
            </a:r>
            <a:endParaRPr lang="en-US" sz="2700" dirty="0"/>
          </a:p>
        </p:txBody>
      </p:sp>
      <p:sp>
        <p:nvSpPr>
          <p:cNvPr id="4" name="Shape 2"/>
          <p:cNvSpPr/>
          <p:nvPr/>
        </p:nvSpPr>
        <p:spPr>
          <a:xfrm>
            <a:off x="11064240" y="475488"/>
            <a:ext cx="512064" cy="512064"/>
          </a:xfrm>
          <a:prstGeom prst="ellipse">
            <a:avLst/>
          </a:prstGeom>
          <a:solidFill>
            <a:srgbClr val="2C5F8D"/>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A</a:t>
            </a:r>
            <a:endParaRPr lang="en-US" sz="1700" dirty="0"/>
          </a:p>
        </p:txBody>
      </p:sp>
      <p:sp>
        <p:nvSpPr>
          <p:cNvPr id="6" name="Shape 4"/>
          <p:cNvSpPr/>
          <p:nvPr/>
        </p:nvSpPr>
        <p:spPr>
          <a:xfrm>
            <a:off x="566928" y="1572768"/>
            <a:ext cx="4206240" cy="4315968"/>
          </a:xfrm>
          <a:prstGeom prst="roundRect">
            <a:avLst>
              <a:gd name="adj" fmla="val 1304"/>
            </a:avLst>
          </a:prstGeom>
          <a:solidFill>
            <a:srgbClr val="F1F4F9"/>
          </a:solidFill>
          <a:ln/>
          <a:effectLst>
            <a:outerShdw sx="100000" sy="100000" kx="0" ky="0" algn="bl" rotWithShape="0" blurRad="127000" dist="25400" dir="5400000">
              <a:srgbClr val="8A97AC">
                <a:alpha val="22000"/>
              </a:srgbClr>
            </a:outerShdw>
          </a:effectLst>
        </p:spPr>
      </p:sp>
      <p:sp>
        <p:nvSpPr>
          <p:cNvPr id="7" name="Text 5"/>
          <p:cNvSpPr/>
          <p:nvPr/>
        </p:nvSpPr>
        <p:spPr>
          <a:xfrm>
            <a:off x="877824" y="1773936"/>
            <a:ext cx="3566160" cy="310896"/>
          </a:xfrm>
          <a:prstGeom prst="rect">
            <a:avLst/>
          </a:prstGeom>
          <a:noFill/>
          <a:ln/>
        </p:spPr>
        <p:txBody>
          <a:bodyPr wrap="square" lIns="0" tIns="0" rIns="0" bIns="0" rtlCol="0" anchor="ctr"/>
          <a:lstStyle/>
          <a:p>
            <a:pPr indent="0" marL="0">
              <a:buNone/>
            </a:pPr>
            <a:r>
              <a:rPr lang="en-US" sz="1400" b="1" dirty="0">
                <a:solidFill>
                  <a:srgbClr val="16233F"/>
                </a:solidFill>
                <a:latin typeface="Meiryo" pitchFamily="34" charset="0"/>
                <a:ea typeface="Meiryo" pitchFamily="34" charset="-122"/>
                <a:cs typeface="Meiryo" pitchFamily="34" charset="-120"/>
              </a:rPr>
              <a:t>1案件に関わる人</a:t>
            </a:r>
            <a:endParaRPr lang="en-US" sz="1400" dirty="0"/>
          </a:p>
        </p:txBody>
      </p:sp>
      <p:sp>
        <p:nvSpPr>
          <p:cNvPr id="8" name="Shape 6"/>
          <p:cNvSpPr/>
          <p:nvPr/>
        </p:nvSpPr>
        <p:spPr>
          <a:xfrm>
            <a:off x="914400" y="2281428"/>
            <a:ext cx="118872" cy="118872"/>
          </a:xfrm>
          <a:prstGeom prst="ellipse">
            <a:avLst/>
          </a:prstGeom>
          <a:solidFill>
            <a:srgbClr val="2C5F8D"/>
          </a:solidFill>
          <a:ln/>
        </p:spPr>
      </p:sp>
      <p:sp>
        <p:nvSpPr>
          <p:cNvPr id="9" name="Text 7"/>
          <p:cNvSpPr/>
          <p:nvPr/>
        </p:nvSpPr>
        <p:spPr>
          <a:xfrm>
            <a:off x="1170432" y="2212848"/>
            <a:ext cx="3383280" cy="274320"/>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営業　1〜2名</a:t>
            </a:r>
            <a:endParaRPr lang="en-US" sz="1200" dirty="0"/>
          </a:p>
        </p:txBody>
      </p:sp>
      <p:sp>
        <p:nvSpPr>
          <p:cNvPr id="10" name="Shape 8"/>
          <p:cNvSpPr/>
          <p:nvPr/>
        </p:nvSpPr>
        <p:spPr>
          <a:xfrm>
            <a:off x="914400" y="2665476"/>
            <a:ext cx="118872" cy="118872"/>
          </a:xfrm>
          <a:prstGeom prst="ellipse">
            <a:avLst/>
          </a:prstGeom>
          <a:solidFill>
            <a:srgbClr val="2C5F8D"/>
          </a:solidFill>
          <a:ln/>
        </p:spPr>
      </p:sp>
      <p:sp>
        <p:nvSpPr>
          <p:cNvPr id="11" name="Text 9"/>
          <p:cNvSpPr/>
          <p:nvPr/>
        </p:nvSpPr>
        <p:spPr>
          <a:xfrm>
            <a:off x="1170432" y="2596896"/>
            <a:ext cx="3383280" cy="274320"/>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運営管理　1〜2名</a:t>
            </a:r>
            <a:endParaRPr lang="en-US" sz="1200" dirty="0"/>
          </a:p>
        </p:txBody>
      </p:sp>
      <p:sp>
        <p:nvSpPr>
          <p:cNvPr id="12" name="Shape 10"/>
          <p:cNvSpPr/>
          <p:nvPr/>
        </p:nvSpPr>
        <p:spPr>
          <a:xfrm>
            <a:off x="914400" y="3049524"/>
            <a:ext cx="118872" cy="118872"/>
          </a:xfrm>
          <a:prstGeom prst="ellipse">
            <a:avLst/>
          </a:prstGeom>
          <a:solidFill>
            <a:srgbClr val="2C5F8D"/>
          </a:solidFill>
          <a:ln/>
        </p:spPr>
      </p:sp>
      <p:sp>
        <p:nvSpPr>
          <p:cNvPr id="13" name="Text 11"/>
          <p:cNvSpPr/>
          <p:nvPr/>
        </p:nvSpPr>
        <p:spPr>
          <a:xfrm>
            <a:off x="1170432" y="2980944"/>
            <a:ext cx="3383280" cy="274320"/>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講師管理　1名</a:t>
            </a:r>
            <a:endParaRPr lang="en-US" sz="1200" dirty="0"/>
          </a:p>
        </p:txBody>
      </p:sp>
      <p:sp>
        <p:nvSpPr>
          <p:cNvPr id="14" name="Shape 12"/>
          <p:cNvSpPr/>
          <p:nvPr/>
        </p:nvSpPr>
        <p:spPr>
          <a:xfrm>
            <a:off x="914400" y="3433572"/>
            <a:ext cx="118872" cy="118872"/>
          </a:xfrm>
          <a:prstGeom prst="ellipse">
            <a:avLst/>
          </a:prstGeom>
          <a:solidFill>
            <a:srgbClr val="2C5F8D"/>
          </a:solidFill>
          <a:ln/>
        </p:spPr>
      </p:sp>
      <p:sp>
        <p:nvSpPr>
          <p:cNvPr id="15" name="Text 13"/>
          <p:cNvSpPr/>
          <p:nvPr/>
        </p:nvSpPr>
        <p:spPr>
          <a:xfrm>
            <a:off x="1170432" y="3364992"/>
            <a:ext cx="3383280" cy="274320"/>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講師　1〜2名</a:t>
            </a:r>
            <a:endParaRPr lang="en-US" sz="1200" dirty="0"/>
          </a:p>
        </p:txBody>
      </p:sp>
      <p:sp>
        <p:nvSpPr>
          <p:cNvPr id="16" name="Shape 14"/>
          <p:cNvSpPr/>
          <p:nvPr/>
        </p:nvSpPr>
        <p:spPr>
          <a:xfrm>
            <a:off x="914400" y="3817620"/>
            <a:ext cx="118872" cy="118872"/>
          </a:xfrm>
          <a:prstGeom prst="ellipse">
            <a:avLst/>
          </a:prstGeom>
          <a:solidFill>
            <a:srgbClr val="D5DCE6"/>
          </a:solidFill>
          <a:ln/>
        </p:spPr>
      </p:sp>
      <p:sp>
        <p:nvSpPr>
          <p:cNvPr id="17" name="Text 15"/>
          <p:cNvSpPr/>
          <p:nvPr/>
        </p:nvSpPr>
        <p:spPr>
          <a:xfrm>
            <a:off x="1170432" y="3749040"/>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 機材担当部門と連携</a:t>
            </a:r>
            <a:endParaRPr lang="en-US" sz="1200" dirty="0"/>
          </a:p>
        </p:txBody>
      </p:sp>
      <p:sp>
        <p:nvSpPr>
          <p:cNvPr id="18" name="Shape 16"/>
          <p:cNvSpPr/>
          <p:nvPr/>
        </p:nvSpPr>
        <p:spPr>
          <a:xfrm>
            <a:off x="914400" y="4201668"/>
            <a:ext cx="118872" cy="118872"/>
          </a:xfrm>
          <a:prstGeom prst="ellipse">
            <a:avLst/>
          </a:prstGeom>
          <a:solidFill>
            <a:srgbClr val="D5DCE6"/>
          </a:solidFill>
          <a:ln/>
        </p:spPr>
      </p:sp>
      <p:sp>
        <p:nvSpPr>
          <p:cNvPr id="19" name="Text 17"/>
          <p:cNvSpPr/>
          <p:nvPr/>
        </p:nvSpPr>
        <p:spPr>
          <a:xfrm>
            <a:off x="1170432" y="4133088"/>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 コンテンツ作成部門と連携</a:t>
            </a:r>
            <a:endParaRPr lang="en-US" sz="1200" dirty="0"/>
          </a:p>
        </p:txBody>
      </p:sp>
      <p:sp>
        <p:nvSpPr>
          <p:cNvPr id="20" name="Shape 18"/>
          <p:cNvSpPr/>
          <p:nvPr/>
        </p:nvSpPr>
        <p:spPr>
          <a:xfrm>
            <a:off x="914400" y="4585716"/>
            <a:ext cx="118872" cy="118872"/>
          </a:xfrm>
          <a:prstGeom prst="ellipse">
            <a:avLst/>
          </a:prstGeom>
          <a:solidFill>
            <a:srgbClr val="D5DCE6"/>
          </a:solidFill>
          <a:ln/>
        </p:spPr>
      </p:sp>
      <p:sp>
        <p:nvSpPr>
          <p:cNvPr id="21" name="Text 19"/>
          <p:cNvSpPr/>
          <p:nvPr/>
        </p:nvSpPr>
        <p:spPr>
          <a:xfrm>
            <a:off x="1170432" y="4517136"/>
            <a:ext cx="3383280" cy="274320"/>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 PMO　1名（新設）</a:t>
            </a:r>
            <a:endParaRPr lang="en-US" sz="1200" dirty="0"/>
          </a:p>
        </p:txBody>
      </p:sp>
      <p:sp>
        <p:nvSpPr>
          <p:cNvPr id="22" name="Text 20"/>
          <p:cNvSpPr/>
          <p:nvPr/>
        </p:nvSpPr>
        <p:spPr>
          <a:xfrm>
            <a:off x="877824" y="5230368"/>
            <a:ext cx="3566160" cy="420624"/>
          </a:xfrm>
          <a:prstGeom prst="rect">
            <a:avLst/>
          </a:prstGeom>
          <a:noFill/>
          <a:ln/>
        </p:spPr>
        <p:txBody>
          <a:bodyPr wrap="square" lIns="0" tIns="0" rIns="0" bIns="0" rtlCol="0" anchor="ctr"/>
          <a:lstStyle/>
          <a:p>
            <a:pPr indent="0" marL="0">
              <a:buNone/>
            </a:pPr>
            <a:r>
              <a:rPr lang="en-US" sz="2000" b="1" dirty="0">
                <a:solidFill>
                  <a:srgbClr val="2C5F8D"/>
                </a:solidFill>
                <a:latin typeface="Meiryo" pitchFamily="34" charset="0"/>
                <a:ea typeface="Meiryo" pitchFamily="34" charset="-122"/>
                <a:cs typeface="Meiryo" pitchFamily="34" charset="-120"/>
              </a:rPr>
              <a:t>のべ 6〜8名</a:t>
            </a:r>
            <a:endParaRPr lang="en-US" sz="2000" dirty="0"/>
          </a:p>
        </p:txBody>
      </p:sp>
      <p:sp>
        <p:nvSpPr>
          <p:cNvPr id="23" name="Text 21"/>
          <p:cNvSpPr/>
          <p:nvPr/>
        </p:nvSpPr>
        <p:spPr>
          <a:xfrm>
            <a:off x="5138928" y="1627632"/>
            <a:ext cx="1920240" cy="841248"/>
          </a:xfrm>
          <a:prstGeom prst="rect">
            <a:avLst/>
          </a:prstGeom>
          <a:noFill/>
          <a:ln/>
        </p:spPr>
        <p:txBody>
          <a:bodyPr wrap="square" lIns="0" tIns="0" rIns="0" bIns="0" rtlCol="0" anchor="ctr"/>
          <a:lstStyle/>
          <a:p>
            <a:pPr indent="0" marL="0">
              <a:buNone/>
            </a:pPr>
            <a:r>
              <a:rPr lang="en-US" sz="5800" b="1" dirty="0">
                <a:solidFill>
                  <a:srgbClr val="2C5F8D"/>
                </a:solidFill>
                <a:latin typeface="Meiryo" pitchFamily="34" charset="0"/>
                <a:ea typeface="Meiryo" pitchFamily="34" charset="-122"/>
                <a:cs typeface="Meiryo" pitchFamily="34" charset="-120"/>
              </a:rPr>
              <a:t>700</a:t>
            </a:r>
            <a:endParaRPr lang="en-US" sz="5800" dirty="0"/>
          </a:p>
        </p:txBody>
      </p:sp>
      <p:sp>
        <p:nvSpPr>
          <p:cNvPr id="24" name="Text 22"/>
          <p:cNvSpPr/>
          <p:nvPr/>
        </p:nvSpPr>
        <p:spPr>
          <a:xfrm>
            <a:off x="6922008" y="2048256"/>
            <a:ext cx="1463040" cy="365760"/>
          </a:xfrm>
          <a:prstGeom prst="rect">
            <a:avLst/>
          </a:prstGeom>
          <a:noFill/>
          <a:ln/>
        </p:spPr>
        <p:txBody>
          <a:bodyPr wrap="square" lIns="0" tIns="0" rIns="0" bIns="0" rtlCol="0" anchor="ctr"/>
          <a:lstStyle/>
          <a:p>
            <a:pPr indent="0" marL="0">
              <a:buNone/>
            </a:pPr>
            <a:r>
              <a:rPr lang="en-US" sz="1500" b="1" dirty="0">
                <a:solidFill>
                  <a:srgbClr val="5A6472"/>
                </a:solidFill>
                <a:latin typeface="Meiryo" pitchFamily="34" charset="0"/>
                <a:ea typeface="Meiryo" pitchFamily="34" charset="-122"/>
                <a:cs typeface="Meiryo" pitchFamily="34" charset="-120"/>
              </a:rPr>
              <a:t>件 ／ 年</a:t>
            </a:r>
            <a:endParaRPr lang="en-US" sz="1500" dirty="0"/>
          </a:p>
        </p:txBody>
      </p:sp>
      <p:sp>
        <p:nvSpPr>
          <p:cNvPr id="25" name="Text 23"/>
          <p:cNvSpPr/>
          <p:nvPr/>
        </p:nvSpPr>
        <p:spPr>
          <a:xfrm>
            <a:off x="5138928" y="2706624"/>
            <a:ext cx="5852160" cy="292608"/>
          </a:xfrm>
          <a:prstGeom prst="rect">
            <a:avLst/>
          </a:prstGeom>
          <a:noFill/>
          <a:ln/>
        </p:spPr>
        <p:txBody>
          <a:bodyPr wrap="square" lIns="0" tIns="0" rIns="0" bIns="0" rtlCol="0" anchor="ctr"/>
          <a:lstStyle/>
          <a:p>
            <a:pPr indent="0" marL="0">
              <a:buNone/>
            </a:pPr>
            <a:r>
              <a:rPr lang="en-US" sz="1400" b="1" dirty="0">
                <a:solidFill>
                  <a:srgbClr val="16233F"/>
                </a:solidFill>
                <a:latin typeface="Meiryo" pitchFamily="34" charset="0"/>
                <a:ea typeface="Meiryo" pitchFamily="34" charset="-122"/>
                <a:cs typeface="Meiryo" pitchFamily="34" charset="-120"/>
              </a:rPr>
              <a:t>現に起きたこと</a:t>
            </a:r>
            <a:endParaRPr lang="en-US" sz="1400" dirty="0"/>
          </a:p>
        </p:txBody>
      </p:sp>
      <p:sp>
        <p:nvSpPr>
          <p:cNvPr id="26" name="Shape 24"/>
          <p:cNvSpPr/>
          <p:nvPr/>
        </p:nvSpPr>
        <p:spPr>
          <a:xfrm>
            <a:off x="5138928" y="3200400"/>
            <a:ext cx="6492240" cy="713232"/>
          </a:xfrm>
          <a:prstGeom prst="roundRect">
            <a:avLst>
              <a:gd name="adj" fmla="val 7692"/>
            </a:avLst>
          </a:prstGeom>
          <a:solidFill>
            <a:srgbClr val="FFFFFF"/>
          </a:solidFill>
          <a:ln/>
          <a:effectLst>
            <a:outerShdw sx="100000" sy="100000" kx="0" ky="0" algn="bl" rotWithShape="0" blurRad="127000" dist="25400" dir="5400000">
              <a:srgbClr val="8A97AC">
                <a:alpha val="22000"/>
              </a:srgbClr>
            </a:outerShdw>
          </a:effectLst>
        </p:spPr>
      </p:sp>
      <p:sp>
        <p:nvSpPr>
          <p:cNvPr id="27" name="Shape 25"/>
          <p:cNvSpPr/>
          <p:nvPr/>
        </p:nvSpPr>
        <p:spPr>
          <a:xfrm>
            <a:off x="5138928" y="3200400"/>
            <a:ext cx="6492240" cy="713232"/>
          </a:xfrm>
          <a:prstGeom prst="roundRect">
            <a:avLst>
              <a:gd name="adj" fmla="val 6410"/>
            </a:avLst>
          </a:prstGeom>
          <a:solidFill>
            <a:srgbClr val="FFFFFF"/>
          </a:solidFill>
          <a:ln w="12700">
            <a:solidFill>
              <a:srgbClr val="D5DCE6"/>
            </a:solidFill>
            <a:prstDash val="solid"/>
          </a:ln>
        </p:spPr>
      </p:sp>
      <p:sp>
        <p:nvSpPr>
          <p:cNvPr id="28" name="Text 26"/>
          <p:cNvSpPr/>
          <p:nvPr/>
        </p:nvSpPr>
        <p:spPr>
          <a:xfrm>
            <a:off x="5358384" y="3273552"/>
            <a:ext cx="4572000" cy="310896"/>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チャットでの依頼を見逃し、期日が守られなかった</a:t>
            </a:r>
            <a:endParaRPr lang="en-US" sz="1200" dirty="0"/>
          </a:p>
        </p:txBody>
      </p:sp>
      <p:sp>
        <p:nvSpPr>
          <p:cNvPr id="29" name="Text 27"/>
          <p:cNvSpPr/>
          <p:nvPr/>
        </p:nvSpPr>
        <p:spPr>
          <a:xfrm>
            <a:off x="5358384" y="3584448"/>
            <a:ext cx="4572000" cy="256032"/>
          </a:xfrm>
          <a:prstGeom prst="rect">
            <a:avLst/>
          </a:prstGeom>
          <a:noFill/>
          <a:ln/>
        </p:spPr>
        <p:txBody>
          <a:bodyPr wrap="square" lIns="0" tIns="0" rIns="0" bIns="0" rtlCol="0" anchor="ctr"/>
          <a:lstStyle/>
          <a:p>
            <a:pPr indent="0" marL="0">
              <a:buNone/>
            </a:pPr>
            <a:r>
              <a:rPr lang="en-US" sz="1050" dirty="0">
                <a:solidFill>
                  <a:srgbClr val="B3423A"/>
                </a:solidFill>
                <a:latin typeface="Meiryo" pitchFamily="34" charset="0"/>
                <a:ea typeface="Meiryo" pitchFamily="34" charset="-122"/>
                <a:cs typeface="Meiryo" pitchFamily="34" charset="-120"/>
              </a:rPr>
              <a:t>失われたもの： 納期</a:t>
            </a:r>
            <a:endParaRPr lang="en-US" sz="1050" dirty="0"/>
          </a:p>
        </p:txBody>
      </p:sp>
      <p:sp>
        <p:nvSpPr>
          <p:cNvPr id="30" name="Shape 28"/>
          <p:cNvSpPr/>
          <p:nvPr/>
        </p:nvSpPr>
        <p:spPr>
          <a:xfrm>
            <a:off x="5138928" y="4114800"/>
            <a:ext cx="6492240" cy="713232"/>
          </a:xfrm>
          <a:prstGeom prst="roundRect">
            <a:avLst>
              <a:gd name="adj" fmla="val 7692"/>
            </a:avLst>
          </a:prstGeom>
          <a:solidFill>
            <a:srgbClr val="FFFFFF"/>
          </a:solidFill>
          <a:ln/>
          <a:effectLst>
            <a:outerShdw sx="100000" sy="100000" kx="0" ky="0" algn="bl" rotWithShape="0" blurRad="127000" dist="25400" dir="5400000">
              <a:srgbClr val="8A97AC">
                <a:alpha val="22000"/>
              </a:srgbClr>
            </a:outerShdw>
          </a:effectLst>
        </p:spPr>
      </p:sp>
      <p:sp>
        <p:nvSpPr>
          <p:cNvPr id="31" name="Shape 29"/>
          <p:cNvSpPr/>
          <p:nvPr/>
        </p:nvSpPr>
        <p:spPr>
          <a:xfrm>
            <a:off x="5138928" y="4114800"/>
            <a:ext cx="6492240" cy="713232"/>
          </a:xfrm>
          <a:prstGeom prst="roundRect">
            <a:avLst>
              <a:gd name="adj" fmla="val 6410"/>
            </a:avLst>
          </a:prstGeom>
          <a:solidFill>
            <a:srgbClr val="FFFFFF"/>
          </a:solidFill>
          <a:ln w="12700">
            <a:solidFill>
              <a:srgbClr val="D5DCE6"/>
            </a:solidFill>
            <a:prstDash val="solid"/>
          </a:ln>
        </p:spPr>
      </p:sp>
      <p:sp>
        <p:nvSpPr>
          <p:cNvPr id="32" name="Text 30"/>
          <p:cNvSpPr/>
          <p:nvPr/>
        </p:nvSpPr>
        <p:spPr>
          <a:xfrm>
            <a:off x="5358384" y="4187952"/>
            <a:ext cx="4572000" cy="310896"/>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教材開発の成果物が、期日になっても出てこない</a:t>
            </a:r>
            <a:endParaRPr lang="en-US" sz="1200" dirty="0"/>
          </a:p>
        </p:txBody>
      </p:sp>
      <p:sp>
        <p:nvSpPr>
          <p:cNvPr id="33" name="Text 31"/>
          <p:cNvSpPr/>
          <p:nvPr/>
        </p:nvSpPr>
        <p:spPr>
          <a:xfrm>
            <a:off x="5358384" y="4498848"/>
            <a:ext cx="4572000" cy="256032"/>
          </a:xfrm>
          <a:prstGeom prst="rect">
            <a:avLst/>
          </a:prstGeom>
          <a:noFill/>
          <a:ln/>
        </p:spPr>
        <p:txBody>
          <a:bodyPr wrap="square" lIns="0" tIns="0" rIns="0" bIns="0" rtlCol="0" anchor="ctr"/>
          <a:lstStyle/>
          <a:p>
            <a:pPr indent="0" marL="0">
              <a:buNone/>
            </a:pPr>
            <a:r>
              <a:rPr lang="en-US" sz="1050" dirty="0">
                <a:solidFill>
                  <a:srgbClr val="B3423A"/>
                </a:solidFill>
                <a:latin typeface="Meiryo" pitchFamily="34" charset="0"/>
                <a:ea typeface="Meiryo" pitchFamily="34" charset="-122"/>
                <a:cs typeface="Meiryo" pitchFamily="34" charset="-120"/>
              </a:rPr>
              <a:t>失われたもの： 納期・部門間の信頼</a:t>
            </a:r>
            <a:endParaRPr lang="en-US" sz="1050" dirty="0"/>
          </a:p>
        </p:txBody>
      </p:sp>
      <p:sp>
        <p:nvSpPr>
          <p:cNvPr id="34" name="Shape 32"/>
          <p:cNvSpPr/>
          <p:nvPr/>
        </p:nvSpPr>
        <p:spPr>
          <a:xfrm>
            <a:off x="5138928" y="5029200"/>
            <a:ext cx="6492240" cy="713232"/>
          </a:xfrm>
          <a:prstGeom prst="roundRect">
            <a:avLst>
              <a:gd name="adj" fmla="val 7692"/>
            </a:avLst>
          </a:prstGeom>
          <a:solidFill>
            <a:srgbClr val="FFFFFF"/>
          </a:solidFill>
          <a:ln/>
          <a:effectLst>
            <a:outerShdw sx="100000" sy="100000" kx="0" ky="0" algn="bl" rotWithShape="0" blurRad="127000" dist="25400" dir="5400000">
              <a:srgbClr val="8A97AC">
                <a:alpha val="22000"/>
              </a:srgbClr>
            </a:outerShdw>
          </a:effectLst>
        </p:spPr>
      </p:sp>
      <p:sp>
        <p:nvSpPr>
          <p:cNvPr id="35" name="Shape 33"/>
          <p:cNvSpPr/>
          <p:nvPr/>
        </p:nvSpPr>
        <p:spPr>
          <a:xfrm>
            <a:off x="5138928" y="5029200"/>
            <a:ext cx="6492240" cy="713232"/>
          </a:xfrm>
          <a:prstGeom prst="roundRect">
            <a:avLst>
              <a:gd name="adj" fmla="val 6410"/>
            </a:avLst>
          </a:prstGeom>
          <a:solidFill>
            <a:srgbClr val="FFFFFF"/>
          </a:solidFill>
          <a:ln w="12700">
            <a:solidFill>
              <a:srgbClr val="D5DCE6"/>
            </a:solidFill>
            <a:prstDash val="solid"/>
          </a:ln>
        </p:spPr>
      </p:sp>
      <p:sp>
        <p:nvSpPr>
          <p:cNvPr id="36" name="Text 34"/>
          <p:cNvSpPr/>
          <p:nvPr/>
        </p:nvSpPr>
        <p:spPr>
          <a:xfrm>
            <a:off x="5358384" y="5102352"/>
            <a:ext cx="4572000" cy="310896"/>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講師選定が遅れ、機材準備が間に合わなかった</a:t>
            </a:r>
            <a:endParaRPr lang="en-US" sz="1200" dirty="0"/>
          </a:p>
        </p:txBody>
      </p:sp>
      <p:sp>
        <p:nvSpPr>
          <p:cNvPr id="37" name="Text 35"/>
          <p:cNvSpPr/>
          <p:nvPr/>
        </p:nvSpPr>
        <p:spPr>
          <a:xfrm>
            <a:off x="5358384" y="5413248"/>
            <a:ext cx="4572000" cy="256032"/>
          </a:xfrm>
          <a:prstGeom prst="rect">
            <a:avLst/>
          </a:prstGeom>
          <a:noFill/>
          <a:ln/>
        </p:spPr>
        <p:txBody>
          <a:bodyPr wrap="square" lIns="0" tIns="0" rIns="0" bIns="0" rtlCol="0" anchor="ctr"/>
          <a:lstStyle/>
          <a:p>
            <a:pPr indent="0" marL="0">
              <a:buNone/>
            </a:pPr>
            <a:r>
              <a:rPr lang="en-US" sz="1050" dirty="0">
                <a:solidFill>
                  <a:srgbClr val="B3423A"/>
                </a:solidFill>
                <a:latin typeface="Meiryo" pitchFamily="34" charset="0"/>
                <a:ea typeface="Meiryo" pitchFamily="34" charset="-122"/>
                <a:cs typeface="Meiryo" pitchFamily="34" charset="-120"/>
              </a:rPr>
              <a:t>失われたもの： 実施品質・顧客信用</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課題A：なぜ起きるのか</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原因は能力ではなく、3つの構造にあります</a:t>
            </a:r>
            <a:endParaRPr lang="en-US" sz="2700" dirty="0"/>
          </a:p>
        </p:txBody>
      </p:sp>
      <p:sp>
        <p:nvSpPr>
          <p:cNvPr id="4" name="Shape 2"/>
          <p:cNvSpPr/>
          <p:nvPr/>
        </p:nvSpPr>
        <p:spPr>
          <a:xfrm>
            <a:off x="11064240" y="475488"/>
            <a:ext cx="512064" cy="512064"/>
          </a:xfrm>
          <a:prstGeom prst="ellipse">
            <a:avLst/>
          </a:prstGeom>
          <a:solidFill>
            <a:srgbClr val="2C5F8D"/>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A</a:t>
            </a:r>
            <a:endParaRPr lang="en-US" sz="1700" dirty="0"/>
          </a:p>
        </p:txBody>
      </p:sp>
      <p:sp>
        <p:nvSpPr>
          <p:cNvPr id="6" name="Shape 4"/>
          <p:cNvSpPr/>
          <p:nvPr/>
        </p:nvSpPr>
        <p:spPr>
          <a:xfrm>
            <a:off x="566928" y="1700784"/>
            <a:ext cx="3529584" cy="3602736"/>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7" name="Text 5"/>
          <p:cNvSpPr/>
          <p:nvPr/>
        </p:nvSpPr>
        <p:spPr>
          <a:xfrm>
            <a:off x="859536" y="2103120"/>
            <a:ext cx="1828800" cy="292608"/>
          </a:xfrm>
          <a:prstGeom prst="rect">
            <a:avLst/>
          </a:prstGeom>
          <a:noFill/>
          <a:ln/>
        </p:spPr>
        <p:txBody>
          <a:bodyPr wrap="square" lIns="0" tIns="0" rIns="0" bIns="0" rtlCol="0" anchor="ctr"/>
          <a:lstStyle/>
          <a:p>
            <a:pPr indent="0" marL="0">
              <a:buNone/>
            </a:pPr>
            <a:r>
              <a:rPr lang="en-US" sz="1200" b="1" spc="100" kern="0" dirty="0">
                <a:solidFill>
                  <a:srgbClr val="2C5F8D"/>
                </a:solidFill>
                <a:latin typeface="Meiryo" pitchFamily="34" charset="0"/>
                <a:ea typeface="Meiryo" pitchFamily="34" charset="-122"/>
                <a:cs typeface="Meiryo" pitchFamily="34" charset="-120"/>
              </a:rPr>
              <a:t>A-1</a:t>
            </a:r>
            <a:endParaRPr lang="en-US" sz="1200" dirty="0"/>
          </a:p>
        </p:txBody>
      </p:sp>
      <p:sp>
        <p:nvSpPr>
          <p:cNvPr id="8" name="Text 6"/>
          <p:cNvSpPr/>
          <p:nvPr/>
        </p:nvSpPr>
        <p:spPr>
          <a:xfrm>
            <a:off x="859536" y="2523744"/>
            <a:ext cx="2944368" cy="731520"/>
          </a:xfrm>
          <a:prstGeom prst="rect">
            <a:avLst/>
          </a:prstGeom>
          <a:noFill/>
          <a:ln/>
        </p:spPr>
        <p:txBody>
          <a:bodyPr wrap="square" lIns="0" tIns="0" rIns="0" bIns="0" rtlCol="0" anchor="ctr"/>
          <a:lstStyle/>
          <a:p>
            <a:pPr indent="0" marL="0">
              <a:lnSpc>
                <a:spcPts val="2400"/>
              </a:lnSpc>
              <a:buNone/>
            </a:pPr>
            <a:r>
              <a:rPr lang="en-US" sz="1700" b="1" dirty="0">
                <a:solidFill>
                  <a:srgbClr val="16233F"/>
                </a:solidFill>
                <a:latin typeface="Meiryo" pitchFamily="34" charset="0"/>
                <a:ea typeface="Meiryo" pitchFamily="34" charset="-122"/>
                <a:cs typeface="Meiryo" pitchFamily="34" charset="-120"/>
              </a:rPr>
              <a:t>可視性がない</a:t>
            </a:r>
            <a:endParaRPr lang="en-US" sz="1700" dirty="0"/>
          </a:p>
        </p:txBody>
      </p:sp>
      <p:sp>
        <p:nvSpPr>
          <p:cNvPr id="9" name="Text 7"/>
          <p:cNvSpPr/>
          <p:nvPr/>
        </p:nvSpPr>
        <p:spPr>
          <a:xfrm>
            <a:off x="859536" y="3419856"/>
            <a:ext cx="2944368" cy="1371600"/>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グループチャットは招待された人しか見られない。招待漏れは、そのまま情報からの遮断を意味する</a:t>
            </a:r>
            <a:endParaRPr lang="en-US" sz="1200" dirty="0"/>
          </a:p>
        </p:txBody>
      </p:sp>
      <p:sp>
        <p:nvSpPr>
          <p:cNvPr id="10" name="Shape 8"/>
          <p:cNvSpPr/>
          <p:nvPr/>
        </p:nvSpPr>
        <p:spPr>
          <a:xfrm>
            <a:off x="4439412" y="1700784"/>
            <a:ext cx="3529584" cy="3602736"/>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11" name="Text 9"/>
          <p:cNvSpPr/>
          <p:nvPr/>
        </p:nvSpPr>
        <p:spPr>
          <a:xfrm>
            <a:off x="4732020" y="2103120"/>
            <a:ext cx="1828800" cy="292608"/>
          </a:xfrm>
          <a:prstGeom prst="rect">
            <a:avLst/>
          </a:prstGeom>
          <a:noFill/>
          <a:ln/>
        </p:spPr>
        <p:txBody>
          <a:bodyPr wrap="square" lIns="0" tIns="0" rIns="0" bIns="0" rtlCol="0" anchor="ctr"/>
          <a:lstStyle/>
          <a:p>
            <a:pPr indent="0" marL="0">
              <a:buNone/>
            </a:pPr>
            <a:r>
              <a:rPr lang="en-US" sz="1200" b="1" spc="100" kern="0" dirty="0">
                <a:solidFill>
                  <a:srgbClr val="2C5F8D"/>
                </a:solidFill>
                <a:latin typeface="Meiryo" pitchFamily="34" charset="0"/>
                <a:ea typeface="Meiryo" pitchFamily="34" charset="-122"/>
                <a:cs typeface="Meiryo" pitchFamily="34" charset="-120"/>
              </a:rPr>
              <a:t>A-2</a:t>
            </a:r>
            <a:endParaRPr lang="en-US" sz="1200" dirty="0"/>
          </a:p>
        </p:txBody>
      </p:sp>
      <p:sp>
        <p:nvSpPr>
          <p:cNvPr id="12" name="Text 10"/>
          <p:cNvSpPr/>
          <p:nvPr/>
        </p:nvSpPr>
        <p:spPr>
          <a:xfrm>
            <a:off x="4732020" y="2523744"/>
            <a:ext cx="2944368" cy="731520"/>
          </a:xfrm>
          <a:prstGeom prst="rect">
            <a:avLst/>
          </a:prstGeom>
          <a:noFill/>
          <a:ln/>
        </p:spPr>
        <p:txBody>
          <a:bodyPr wrap="square" lIns="0" tIns="0" rIns="0" bIns="0" rtlCol="0" anchor="ctr"/>
          <a:lstStyle/>
          <a:p>
            <a:pPr indent="0" marL="0">
              <a:lnSpc>
                <a:spcPts val="2400"/>
              </a:lnSpc>
              <a:buNone/>
            </a:pPr>
            <a:r>
              <a:rPr lang="en-US" sz="1700" b="1" dirty="0">
                <a:solidFill>
                  <a:srgbClr val="16233F"/>
                </a:solidFill>
                <a:latin typeface="Meiryo" pitchFamily="34" charset="0"/>
                <a:ea typeface="Meiryo" pitchFamily="34" charset="-122"/>
                <a:cs typeface="Meiryo" pitchFamily="34" charset="-120"/>
              </a:rPr>
              <a:t>横断して見えない</a:t>
            </a:r>
            <a:endParaRPr lang="en-US" sz="1700" dirty="0"/>
          </a:p>
        </p:txBody>
      </p:sp>
      <p:sp>
        <p:nvSpPr>
          <p:cNvPr id="13" name="Text 11"/>
          <p:cNvSpPr/>
          <p:nvPr/>
        </p:nvSpPr>
        <p:spPr>
          <a:xfrm>
            <a:off x="4732020" y="3419856"/>
            <a:ext cx="2944368" cy="1371600"/>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Excelが各自バラバラの形式。案件間の比較も、全体の集計も物理的に不可能</a:t>
            </a:r>
            <a:endParaRPr lang="en-US" sz="1200" dirty="0"/>
          </a:p>
        </p:txBody>
      </p:sp>
      <p:sp>
        <p:nvSpPr>
          <p:cNvPr id="14" name="Shape 12"/>
          <p:cNvSpPr/>
          <p:nvPr/>
        </p:nvSpPr>
        <p:spPr>
          <a:xfrm>
            <a:off x="8311896" y="1700784"/>
            <a:ext cx="3529584" cy="3602736"/>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15" name="Text 13"/>
          <p:cNvSpPr/>
          <p:nvPr/>
        </p:nvSpPr>
        <p:spPr>
          <a:xfrm>
            <a:off x="8604504" y="2103120"/>
            <a:ext cx="1828800" cy="292608"/>
          </a:xfrm>
          <a:prstGeom prst="rect">
            <a:avLst/>
          </a:prstGeom>
          <a:noFill/>
          <a:ln/>
        </p:spPr>
        <p:txBody>
          <a:bodyPr wrap="square" lIns="0" tIns="0" rIns="0" bIns="0" rtlCol="0" anchor="ctr"/>
          <a:lstStyle/>
          <a:p>
            <a:pPr indent="0" marL="0">
              <a:buNone/>
            </a:pPr>
            <a:r>
              <a:rPr lang="en-US" sz="1200" b="1" spc="100" kern="0" dirty="0">
                <a:solidFill>
                  <a:srgbClr val="2C5F8D"/>
                </a:solidFill>
                <a:latin typeface="Meiryo" pitchFamily="34" charset="0"/>
                <a:ea typeface="Meiryo" pitchFamily="34" charset="-122"/>
                <a:cs typeface="Meiryo" pitchFamily="34" charset="-120"/>
              </a:rPr>
              <a:t>A-3</a:t>
            </a:r>
            <a:endParaRPr lang="en-US" sz="1200" dirty="0"/>
          </a:p>
        </p:txBody>
      </p:sp>
      <p:sp>
        <p:nvSpPr>
          <p:cNvPr id="16" name="Text 14"/>
          <p:cNvSpPr/>
          <p:nvPr/>
        </p:nvSpPr>
        <p:spPr>
          <a:xfrm>
            <a:off x="8604504" y="2523744"/>
            <a:ext cx="2944368" cy="731520"/>
          </a:xfrm>
          <a:prstGeom prst="rect">
            <a:avLst/>
          </a:prstGeom>
          <a:noFill/>
          <a:ln/>
        </p:spPr>
        <p:txBody>
          <a:bodyPr wrap="square" lIns="0" tIns="0" rIns="0" bIns="0" rtlCol="0" anchor="ctr"/>
          <a:lstStyle/>
          <a:p>
            <a:pPr indent="0" marL="0">
              <a:lnSpc>
                <a:spcPts val="2400"/>
              </a:lnSpc>
              <a:buNone/>
            </a:pPr>
            <a:r>
              <a:rPr lang="en-US" sz="1700" b="1" dirty="0">
                <a:solidFill>
                  <a:srgbClr val="16233F"/>
                </a:solidFill>
                <a:latin typeface="Meiryo" pitchFamily="34" charset="0"/>
                <a:ea typeface="Meiryo" pitchFamily="34" charset="-122"/>
                <a:cs typeface="Meiryo" pitchFamily="34" charset="-120"/>
              </a:rPr>
              <a:t>管理手法がない</a:t>
            </a:r>
            <a:endParaRPr lang="en-US" sz="1700" dirty="0"/>
          </a:p>
        </p:txBody>
      </p:sp>
      <p:sp>
        <p:nvSpPr>
          <p:cNvPr id="17" name="Text 15"/>
          <p:cNvSpPr/>
          <p:nvPr/>
        </p:nvSpPr>
        <p:spPr>
          <a:xfrm>
            <a:off x="8604504" y="3419856"/>
            <a:ext cx="2944368" cy="1371600"/>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WBS・ガントが標準装備されておらず、進捗と作業の依存関係を追えない</a:t>
            </a:r>
            <a:endParaRPr lang="en-US" sz="1200" dirty="0"/>
          </a:p>
        </p:txBody>
      </p:sp>
      <p:sp>
        <p:nvSpPr>
          <p:cNvPr id="18" name="Text 16"/>
          <p:cNvSpPr/>
          <p:nvPr/>
        </p:nvSpPr>
        <p:spPr>
          <a:xfrm>
            <a:off x="566928" y="5614416"/>
            <a:ext cx="11057839" cy="347472"/>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いずれも「誰が・いつまでに・何を」が一箇所にまとまっていないことから生じています。</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課題B：会議のコスト</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目的が曖昧な会議に、年間約7,300万円を投じています</a:t>
            </a:r>
            <a:endParaRPr lang="en-US" sz="2700" dirty="0"/>
          </a:p>
        </p:txBody>
      </p:sp>
      <p:sp>
        <p:nvSpPr>
          <p:cNvPr id="4" name="Shape 2"/>
          <p:cNvSpPr/>
          <p:nvPr/>
        </p:nvSpPr>
        <p:spPr>
          <a:xfrm>
            <a:off x="11064240" y="475488"/>
            <a:ext cx="512064" cy="512064"/>
          </a:xfrm>
          <a:prstGeom prst="ellipse">
            <a:avLst/>
          </a:prstGeom>
          <a:solidFill>
            <a:srgbClr val="1F7A6C"/>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B</a:t>
            </a:r>
            <a:endParaRPr lang="en-US" sz="1700" dirty="0"/>
          </a:p>
        </p:txBody>
      </p:sp>
      <p:sp>
        <p:nvSpPr>
          <p:cNvPr id="6" name="Shape 4"/>
          <p:cNvSpPr/>
          <p:nvPr/>
        </p:nvSpPr>
        <p:spPr>
          <a:xfrm>
            <a:off x="566928" y="1591056"/>
            <a:ext cx="5029200" cy="2139696"/>
          </a:xfrm>
          <a:prstGeom prst="roundRect">
            <a:avLst>
              <a:gd name="adj" fmla="val 2564"/>
            </a:avLst>
          </a:prstGeom>
          <a:solidFill>
            <a:srgbClr val="16233F"/>
          </a:solidFill>
          <a:ln/>
          <a:effectLst>
            <a:outerShdw sx="100000" sy="100000" kx="0" ky="0" algn="bl" rotWithShape="0" blurRad="127000" dist="25400" dir="5400000">
              <a:srgbClr val="8A97AC">
                <a:alpha val="22000"/>
              </a:srgbClr>
            </a:outerShdw>
          </a:effectLst>
        </p:spPr>
      </p:sp>
      <p:sp>
        <p:nvSpPr>
          <p:cNvPr id="7" name="Text 5"/>
          <p:cNvSpPr/>
          <p:nvPr/>
        </p:nvSpPr>
        <p:spPr>
          <a:xfrm>
            <a:off x="950976" y="1792224"/>
            <a:ext cx="4297680" cy="274320"/>
          </a:xfrm>
          <a:prstGeom prst="rect">
            <a:avLst/>
          </a:prstGeom>
          <a:noFill/>
          <a:ln/>
        </p:spPr>
        <p:txBody>
          <a:bodyPr wrap="square" lIns="0" tIns="0" rIns="0" bIns="0" rtlCol="0" anchor="ctr"/>
          <a:lstStyle/>
          <a:p>
            <a:pPr indent="0" marL="0">
              <a:buNone/>
            </a:pPr>
            <a:r>
              <a:rPr lang="en-US" sz="1200" dirty="0">
                <a:solidFill>
                  <a:srgbClr val="9FB0CC"/>
                </a:solidFill>
                <a:latin typeface="Meiryo" pitchFamily="34" charset="0"/>
                <a:ea typeface="Meiryo" pitchFamily="34" charset="-122"/>
                <a:cs typeface="Meiryo" pitchFamily="34" charset="-120"/>
              </a:rPr>
              <a:t>年間の会議コスト（全社140名）</a:t>
            </a:r>
            <a:endParaRPr lang="en-US" sz="1200" dirty="0"/>
          </a:p>
        </p:txBody>
      </p:sp>
      <p:sp>
        <p:nvSpPr>
          <p:cNvPr id="8" name="Text 6"/>
          <p:cNvSpPr/>
          <p:nvPr/>
        </p:nvSpPr>
        <p:spPr>
          <a:xfrm>
            <a:off x="950976" y="2103120"/>
            <a:ext cx="4480560" cy="64008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約2億790万円</a:t>
            </a:r>
            <a:endParaRPr lang="en-US" sz="3400" dirty="0"/>
          </a:p>
        </p:txBody>
      </p:sp>
      <p:sp>
        <p:nvSpPr>
          <p:cNvPr id="9" name="Text 7"/>
          <p:cNvSpPr/>
          <p:nvPr/>
        </p:nvSpPr>
        <p:spPr>
          <a:xfrm>
            <a:off x="950976" y="2798064"/>
            <a:ext cx="4297680" cy="274320"/>
          </a:xfrm>
          <a:prstGeom prst="rect">
            <a:avLst/>
          </a:prstGeom>
          <a:noFill/>
          <a:ln/>
        </p:spPr>
        <p:txBody>
          <a:bodyPr wrap="square" lIns="0" tIns="0" rIns="0" bIns="0" rtlCol="0" anchor="ctr"/>
          <a:lstStyle/>
          <a:p>
            <a:pPr indent="0" marL="0">
              <a:buNone/>
            </a:pPr>
            <a:r>
              <a:rPr lang="en-US" sz="1200" dirty="0">
                <a:solidFill>
                  <a:srgbClr val="9FB0CC"/>
                </a:solidFill>
                <a:latin typeface="Meiryo" pitchFamily="34" charset="0"/>
                <a:ea typeface="Meiryo" pitchFamily="34" charset="-122"/>
                <a:cs typeface="Meiryo" pitchFamily="34" charset="-120"/>
              </a:rPr>
              <a:t>うち目的が曖昧なもの（35%）</a:t>
            </a:r>
            <a:endParaRPr lang="en-US" sz="1200" dirty="0"/>
          </a:p>
        </p:txBody>
      </p:sp>
      <p:sp>
        <p:nvSpPr>
          <p:cNvPr id="10" name="Text 8"/>
          <p:cNvSpPr/>
          <p:nvPr/>
        </p:nvSpPr>
        <p:spPr>
          <a:xfrm>
            <a:off x="950976" y="3072384"/>
            <a:ext cx="4480560" cy="512064"/>
          </a:xfrm>
          <a:prstGeom prst="rect">
            <a:avLst/>
          </a:prstGeom>
          <a:noFill/>
          <a:ln/>
        </p:spPr>
        <p:txBody>
          <a:bodyPr wrap="square" lIns="0" tIns="0" rIns="0" bIns="0" rtlCol="0" anchor="ctr"/>
          <a:lstStyle/>
          <a:p>
            <a:pPr indent="0" marL="0">
              <a:buNone/>
            </a:pPr>
            <a:r>
              <a:rPr lang="en-US" sz="2700" b="1" dirty="0">
                <a:solidFill>
                  <a:srgbClr val="E8A33D"/>
                </a:solidFill>
                <a:latin typeface="Meiryo" pitchFamily="34" charset="0"/>
                <a:ea typeface="Meiryo" pitchFamily="34" charset="-122"/>
                <a:cs typeface="Meiryo" pitchFamily="34" charset="-120"/>
              </a:rPr>
              <a:t>約7,300万円</a:t>
            </a:r>
            <a:endParaRPr lang="en-US" sz="2700" dirty="0"/>
          </a:p>
        </p:txBody>
      </p:sp>
      <p:sp>
        <p:nvSpPr>
          <p:cNvPr id="11" name="Text 9"/>
          <p:cNvSpPr/>
          <p:nvPr/>
        </p:nvSpPr>
        <p:spPr>
          <a:xfrm>
            <a:off x="5961888" y="1627632"/>
            <a:ext cx="5669280" cy="274320"/>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階層別の内訳</a:t>
            </a:r>
            <a:endParaRPr lang="en-US" sz="1300" dirty="0"/>
          </a:p>
        </p:txBody>
      </p:sp>
      <p:sp>
        <p:nvSpPr>
          <p:cNvPr id="12" name="Shape 10"/>
          <p:cNvSpPr/>
          <p:nvPr/>
        </p:nvSpPr>
        <p:spPr>
          <a:xfrm>
            <a:off x="5961888" y="1993392"/>
            <a:ext cx="5669280" cy="530352"/>
          </a:xfrm>
          <a:prstGeom prst="roundRect">
            <a:avLst>
              <a:gd name="adj" fmla="val 8621"/>
            </a:avLst>
          </a:prstGeom>
          <a:solidFill>
            <a:srgbClr val="F1F4F9"/>
          </a:solidFill>
          <a:ln/>
        </p:spPr>
      </p:sp>
      <p:sp>
        <p:nvSpPr>
          <p:cNvPr id="13" name="Text 11"/>
          <p:cNvSpPr/>
          <p:nvPr/>
        </p:nvSpPr>
        <p:spPr>
          <a:xfrm>
            <a:off x="6144768" y="1993392"/>
            <a:ext cx="1371600" cy="530352"/>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MG以上</a:t>
            </a:r>
            <a:endParaRPr lang="en-US" sz="1250" dirty="0"/>
          </a:p>
        </p:txBody>
      </p:sp>
      <p:sp>
        <p:nvSpPr>
          <p:cNvPr id="14" name="Text 12"/>
          <p:cNvSpPr/>
          <p:nvPr/>
        </p:nvSpPr>
        <p:spPr>
          <a:xfrm>
            <a:off x="7424928" y="1993392"/>
            <a:ext cx="914400" cy="530352"/>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20名</a:t>
            </a:r>
            <a:endParaRPr lang="en-US" sz="1200" dirty="0"/>
          </a:p>
        </p:txBody>
      </p:sp>
      <p:sp>
        <p:nvSpPr>
          <p:cNvPr id="15" name="Text 13"/>
          <p:cNvSpPr/>
          <p:nvPr/>
        </p:nvSpPr>
        <p:spPr>
          <a:xfrm>
            <a:off x="8339328" y="1993392"/>
            <a:ext cx="1554480" cy="53035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週22時間</a:t>
            </a:r>
            <a:endParaRPr lang="en-US" sz="1200" dirty="0"/>
          </a:p>
        </p:txBody>
      </p:sp>
      <p:sp>
        <p:nvSpPr>
          <p:cNvPr id="16" name="Text 14"/>
          <p:cNvSpPr/>
          <p:nvPr/>
        </p:nvSpPr>
        <p:spPr>
          <a:xfrm>
            <a:off x="9802368" y="1993392"/>
            <a:ext cx="1691640" cy="530352"/>
          </a:xfrm>
          <a:prstGeom prst="rect">
            <a:avLst/>
          </a:prstGeom>
          <a:noFill/>
          <a:ln/>
        </p:spPr>
        <p:txBody>
          <a:bodyPr wrap="square" lIns="0" tIns="0" rIns="0" bIns="0" rtlCol="0" anchor="ctr"/>
          <a:lstStyle/>
          <a:p>
            <a:pPr algn="r" indent="0" marL="0">
              <a:buNone/>
            </a:pPr>
            <a:r>
              <a:rPr lang="en-US" sz="1250" b="1" dirty="0">
                <a:solidFill>
                  <a:srgbClr val="1F7A6C"/>
                </a:solidFill>
                <a:latin typeface="Meiryo" pitchFamily="34" charset="0"/>
                <a:ea typeface="Meiryo" pitchFamily="34" charset="-122"/>
                <a:cs typeface="Meiryo" pitchFamily="34" charset="-120"/>
              </a:rPr>
              <a:t>5,940万円</a:t>
            </a:r>
            <a:endParaRPr lang="en-US" sz="1250" dirty="0"/>
          </a:p>
        </p:txBody>
      </p:sp>
      <p:sp>
        <p:nvSpPr>
          <p:cNvPr id="17" name="Shape 15"/>
          <p:cNvSpPr/>
          <p:nvPr/>
        </p:nvSpPr>
        <p:spPr>
          <a:xfrm>
            <a:off x="5961888" y="2596896"/>
            <a:ext cx="5669280" cy="530352"/>
          </a:xfrm>
          <a:prstGeom prst="roundRect">
            <a:avLst>
              <a:gd name="adj" fmla="val 8621"/>
            </a:avLst>
          </a:prstGeom>
          <a:solidFill>
            <a:srgbClr val="E4EFEC"/>
          </a:solidFill>
          <a:ln/>
        </p:spPr>
      </p:sp>
      <p:sp>
        <p:nvSpPr>
          <p:cNvPr id="18" name="Text 16"/>
          <p:cNvSpPr/>
          <p:nvPr/>
        </p:nvSpPr>
        <p:spPr>
          <a:xfrm>
            <a:off x="6144768" y="2596896"/>
            <a:ext cx="1371600" cy="530352"/>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リーダー</a:t>
            </a:r>
            <a:endParaRPr lang="en-US" sz="1250" dirty="0"/>
          </a:p>
        </p:txBody>
      </p:sp>
      <p:sp>
        <p:nvSpPr>
          <p:cNvPr id="19" name="Text 17"/>
          <p:cNvSpPr/>
          <p:nvPr/>
        </p:nvSpPr>
        <p:spPr>
          <a:xfrm>
            <a:off x="7424928" y="2596896"/>
            <a:ext cx="914400" cy="530352"/>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40名</a:t>
            </a:r>
            <a:endParaRPr lang="en-US" sz="1200" dirty="0"/>
          </a:p>
        </p:txBody>
      </p:sp>
      <p:sp>
        <p:nvSpPr>
          <p:cNvPr id="20" name="Text 18"/>
          <p:cNvSpPr/>
          <p:nvPr/>
        </p:nvSpPr>
        <p:spPr>
          <a:xfrm>
            <a:off x="8339328" y="2596896"/>
            <a:ext cx="1554480" cy="53035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週17.5時間</a:t>
            </a:r>
            <a:endParaRPr lang="en-US" sz="1200" dirty="0"/>
          </a:p>
        </p:txBody>
      </p:sp>
      <p:sp>
        <p:nvSpPr>
          <p:cNvPr id="21" name="Text 19"/>
          <p:cNvSpPr/>
          <p:nvPr/>
        </p:nvSpPr>
        <p:spPr>
          <a:xfrm>
            <a:off x="9802368" y="2596896"/>
            <a:ext cx="1691640" cy="530352"/>
          </a:xfrm>
          <a:prstGeom prst="rect">
            <a:avLst/>
          </a:prstGeom>
          <a:noFill/>
          <a:ln/>
        </p:spPr>
        <p:txBody>
          <a:bodyPr wrap="square" lIns="0" tIns="0" rIns="0" bIns="0" rtlCol="0" anchor="ctr"/>
          <a:lstStyle/>
          <a:p>
            <a:pPr algn="r" indent="0" marL="0">
              <a:buNone/>
            </a:pPr>
            <a:r>
              <a:rPr lang="en-US" sz="1250" b="1" dirty="0">
                <a:solidFill>
                  <a:srgbClr val="1F7A6C"/>
                </a:solidFill>
                <a:latin typeface="Meiryo" pitchFamily="34" charset="0"/>
                <a:ea typeface="Meiryo" pitchFamily="34" charset="-122"/>
                <a:cs typeface="Meiryo" pitchFamily="34" charset="-120"/>
              </a:rPr>
              <a:t>9,450万円</a:t>
            </a:r>
            <a:endParaRPr lang="en-US" sz="1250" dirty="0"/>
          </a:p>
        </p:txBody>
      </p:sp>
      <p:sp>
        <p:nvSpPr>
          <p:cNvPr id="22" name="Shape 20"/>
          <p:cNvSpPr/>
          <p:nvPr/>
        </p:nvSpPr>
        <p:spPr>
          <a:xfrm>
            <a:off x="5961888" y="3200400"/>
            <a:ext cx="5669280" cy="530352"/>
          </a:xfrm>
          <a:prstGeom prst="roundRect">
            <a:avLst>
              <a:gd name="adj" fmla="val 8621"/>
            </a:avLst>
          </a:prstGeom>
          <a:solidFill>
            <a:srgbClr val="F1F4F9"/>
          </a:solidFill>
          <a:ln/>
        </p:spPr>
      </p:sp>
      <p:sp>
        <p:nvSpPr>
          <p:cNvPr id="23" name="Text 21"/>
          <p:cNvSpPr/>
          <p:nvPr/>
        </p:nvSpPr>
        <p:spPr>
          <a:xfrm>
            <a:off x="6144768" y="3200400"/>
            <a:ext cx="1371600" cy="530352"/>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一般社員</a:t>
            </a:r>
            <a:endParaRPr lang="en-US" sz="1250" dirty="0"/>
          </a:p>
        </p:txBody>
      </p:sp>
      <p:sp>
        <p:nvSpPr>
          <p:cNvPr id="24" name="Text 22"/>
          <p:cNvSpPr/>
          <p:nvPr/>
        </p:nvSpPr>
        <p:spPr>
          <a:xfrm>
            <a:off x="7424928" y="3200400"/>
            <a:ext cx="914400" cy="530352"/>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80名</a:t>
            </a:r>
            <a:endParaRPr lang="en-US" sz="1200" dirty="0"/>
          </a:p>
        </p:txBody>
      </p:sp>
      <p:sp>
        <p:nvSpPr>
          <p:cNvPr id="25" name="Text 23"/>
          <p:cNvSpPr/>
          <p:nvPr/>
        </p:nvSpPr>
        <p:spPr>
          <a:xfrm>
            <a:off x="8339328" y="3200400"/>
            <a:ext cx="1554480" cy="53035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週5時間</a:t>
            </a:r>
            <a:endParaRPr lang="en-US" sz="1200" dirty="0"/>
          </a:p>
        </p:txBody>
      </p:sp>
      <p:sp>
        <p:nvSpPr>
          <p:cNvPr id="26" name="Text 24"/>
          <p:cNvSpPr/>
          <p:nvPr/>
        </p:nvSpPr>
        <p:spPr>
          <a:xfrm>
            <a:off x="9802368" y="3200400"/>
            <a:ext cx="1691640" cy="530352"/>
          </a:xfrm>
          <a:prstGeom prst="rect">
            <a:avLst/>
          </a:prstGeom>
          <a:noFill/>
          <a:ln/>
        </p:spPr>
        <p:txBody>
          <a:bodyPr wrap="square" lIns="0" tIns="0" rIns="0" bIns="0" rtlCol="0" anchor="ctr"/>
          <a:lstStyle/>
          <a:p>
            <a:pPr algn="r" indent="0" marL="0">
              <a:buNone/>
            </a:pPr>
            <a:r>
              <a:rPr lang="en-US" sz="1250" b="1" dirty="0">
                <a:solidFill>
                  <a:srgbClr val="1F7A6C"/>
                </a:solidFill>
                <a:latin typeface="Meiryo" pitchFamily="34" charset="0"/>
                <a:ea typeface="Meiryo" pitchFamily="34" charset="-122"/>
                <a:cs typeface="Meiryo" pitchFamily="34" charset="-120"/>
              </a:rPr>
              <a:t>5,400万円</a:t>
            </a:r>
            <a:endParaRPr lang="en-US" sz="1250" dirty="0"/>
          </a:p>
        </p:txBody>
      </p:sp>
      <p:sp>
        <p:nvSpPr>
          <p:cNvPr id="27" name="Text 25"/>
          <p:cNvSpPr/>
          <p:nvPr/>
        </p:nvSpPr>
        <p:spPr>
          <a:xfrm>
            <a:off x="5961888" y="3877056"/>
            <a:ext cx="5669280" cy="603504"/>
          </a:xfrm>
          <a:prstGeom prst="rect">
            <a:avLst/>
          </a:prstGeom>
          <a:noFill/>
          <a:ln/>
        </p:spPr>
        <p:txBody>
          <a:bodyPr wrap="square" lIns="0" tIns="0" rIns="0" bIns="0" rtlCol="0" anchor="ctr"/>
          <a:lstStyle/>
          <a:p>
            <a:pPr indent="0" marL="0">
              <a:lnSpc>
                <a:spcPts val="1600"/>
              </a:lnSpc>
              <a:buNone/>
            </a:pPr>
            <a:r>
              <a:rPr lang="en-US" sz="1050" dirty="0">
                <a:solidFill>
                  <a:srgbClr val="5A6472"/>
                </a:solidFill>
                <a:latin typeface="Meiryo" pitchFamily="34" charset="0"/>
                <a:ea typeface="Meiryo" pitchFamily="34" charset="-122"/>
                <a:cs typeface="Meiryo" pitchFamily="34" charset="-120"/>
              </a:rPr>
              <a:t>計算式：人数 × 週の会議時間 × 45週 × 時間単価3,000円</a:t>
            </a:r>
            <a:endParaRPr lang="en-US" sz="1050" dirty="0"/>
          </a:p>
          <a:p>
            <a:pPr indent="0" marL="0">
              <a:lnSpc>
                <a:spcPts val="1600"/>
              </a:lnSpc>
              <a:buNone/>
            </a:pPr>
            <a:r>
              <a:rPr lang="en-US" sz="1050" dirty="0">
                <a:solidFill>
                  <a:srgbClr val="5A6472"/>
                </a:solidFill>
                <a:latin typeface="Meiryo" pitchFamily="34" charset="0"/>
                <a:ea typeface="Meiryo" pitchFamily="34" charset="-122"/>
                <a:cs typeface="Meiryo" pitchFamily="34" charset="-120"/>
              </a:rPr>
              <a:t>時間単価＝平均年収450万円 × 1.25 ÷ 1,900時間</a:t>
            </a:r>
            <a:endParaRPr lang="en-US" sz="1050" dirty="0"/>
          </a:p>
        </p:txBody>
      </p:sp>
      <p:sp>
        <p:nvSpPr>
          <p:cNvPr id="28" name="Text 26"/>
          <p:cNvSpPr/>
          <p:nvPr/>
        </p:nvSpPr>
        <p:spPr>
          <a:xfrm>
            <a:off x="566928" y="3950208"/>
            <a:ext cx="5029200" cy="548640"/>
          </a:xfrm>
          <a:prstGeom prst="rect">
            <a:avLst/>
          </a:prstGeom>
          <a:noFill/>
          <a:ln/>
        </p:spPr>
        <p:txBody>
          <a:bodyPr wrap="square" lIns="0" tIns="0" rIns="0" bIns="0" rtlCol="0" anchor="ctr"/>
          <a:lstStyle/>
          <a:p>
            <a:pPr indent="0" marL="0">
              <a:lnSpc>
                <a:spcPts val="1500"/>
              </a:lnSpc>
              <a:buNone/>
            </a:pPr>
            <a:r>
              <a:rPr lang="en-US" sz="1000" dirty="0">
                <a:solidFill>
                  <a:srgbClr val="5A6472"/>
                </a:solidFill>
                <a:latin typeface="Meiryo" pitchFamily="34" charset="0"/>
                <a:ea typeface="Meiryo" pitchFamily="34" charset="-122"/>
                <a:cs typeface="Meiryo" pitchFamily="34" charset="-120"/>
              </a:rPr>
              <a:t>※ リーダー層は実測値（週15〜20時間）。MG以上・一般社員は仮置きのため、実測値で更新が必要</a:t>
            </a:r>
            <a:endParaRPr lang="en-US" sz="1000" dirty="0"/>
          </a:p>
        </p:txBody>
      </p:sp>
      <p:sp>
        <p:nvSpPr>
          <p:cNvPr id="29" name="Shape 27"/>
          <p:cNvSpPr/>
          <p:nvPr/>
        </p:nvSpPr>
        <p:spPr>
          <a:xfrm>
            <a:off x="566928" y="4700016"/>
            <a:ext cx="11057839" cy="841248"/>
          </a:xfrm>
          <a:prstGeom prst="roundRect">
            <a:avLst>
              <a:gd name="adj" fmla="val 6522"/>
            </a:avLst>
          </a:prstGeom>
          <a:solidFill>
            <a:srgbClr val="FBF3E4"/>
          </a:solidFill>
          <a:ln/>
          <a:effectLst>
            <a:outerShdw sx="100000" sy="100000" kx="0" ky="0" algn="bl" rotWithShape="0" blurRad="127000" dist="25400" dir="5400000">
              <a:srgbClr val="8A97AC">
                <a:alpha val="22000"/>
              </a:srgbClr>
            </a:outerShdw>
          </a:effectLst>
        </p:spPr>
      </p:sp>
      <p:sp>
        <p:nvSpPr>
          <p:cNvPr id="30" name="Text 28"/>
          <p:cNvSpPr/>
          <p:nvPr/>
        </p:nvSpPr>
        <p:spPr>
          <a:xfrm>
            <a:off x="950976" y="4700016"/>
            <a:ext cx="10289743" cy="841248"/>
          </a:xfrm>
          <a:prstGeom prst="rect">
            <a:avLst/>
          </a:prstGeom>
          <a:noFill/>
          <a:ln/>
        </p:spPr>
        <p:txBody>
          <a:bodyPr wrap="square" lIns="0" tIns="0" rIns="0" bIns="0" rtlCol="0" anchor="ctr"/>
          <a:lstStyle/>
          <a:p>
            <a:pPr indent="0" marL="0">
              <a:buNone/>
            </a:pPr>
            <a:r>
              <a:rPr lang="en-US" sz="1300" b="1" dirty="0">
                <a:solidFill>
                  <a:srgbClr val="7A5410"/>
                </a:solidFill>
                <a:latin typeface="Meiryo" pitchFamily="34" charset="0"/>
                <a:ea typeface="Meiryo" pitchFamily="34" charset="-122"/>
                <a:cs typeface="Meiryo" pitchFamily="34" charset="-120"/>
              </a:rPr>
              <a:t>削減した時間は、案件対応と提案活動に充てます。人件費の削減を目的とするものではありません。</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課題B：議事録の現状</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議事録は残っているのに、決定事項が追えません</a:t>
            </a:r>
            <a:endParaRPr lang="en-US" sz="2700" dirty="0"/>
          </a:p>
        </p:txBody>
      </p:sp>
      <p:sp>
        <p:nvSpPr>
          <p:cNvPr id="4" name="Shape 2"/>
          <p:cNvSpPr/>
          <p:nvPr/>
        </p:nvSpPr>
        <p:spPr>
          <a:xfrm>
            <a:off x="11064240" y="475488"/>
            <a:ext cx="512064" cy="512064"/>
          </a:xfrm>
          <a:prstGeom prst="ellipse">
            <a:avLst/>
          </a:prstGeom>
          <a:solidFill>
            <a:srgbClr val="1F7A6C"/>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B</a:t>
            </a:r>
            <a:endParaRPr lang="en-US" sz="1700" dirty="0"/>
          </a:p>
        </p:txBody>
      </p:sp>
      <p:sp>
        <p:nvSpPr>
          <p:cNvPr id="6" name="Text 4"/>
          <p:cNvSpPr/>
          <p:nvPr/>
        </p:nvSpPr>
        <p:spPr>
          <a:xfrm>
            <a:off x="566928" y="1572768"/>
            <a:ext cx="11057839" cy="292608"/>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いまの流れ ― 情報が5か所を経由している</a:t>
            </a:r>
            <a:endParaRPr lang="en-US" sz="1300" dirty="0"/>
          </a:p>
        </p:txBody>
      </p:sp>
      <p:sp>
        <p:nvSpPr>
          <p:cNvPr id="7" name="Shape 5"/>
          <p:cNvSpPr/>
          <p:nvPr/>
        </p:nvSpPr>
        <p:spPr>
          <a:xfrm>
            <a:off x="566928" y="1956816"/>
            <a:ext cx="2048256" cy="749808"/>
          </a:xfrm>
          <a:prstGeom prst="roundRect">
            <a:avLst>
              <a:gd name="adj" fmla="val 7317"/>
            </a:avLst>
          </a:prstGeom>
          <a:solidFill>
            <a:srgbClr val="F1F4F9"/>
          </a:solidFill>
          <a:ln/>
        </p:spPr>
      </p:sp>
      <p:sp>
        <p:nvSpPr>
          <p:cNvPr id="8" name="Text 6"/>
          <p:cNvSpPr/>
          <p:nvPr/>
        </p:nvSpPr>
        <p:spPr>
          <a:xfrm>
            <a:off x="640080"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Teams会議</a:t>
            </a:r>
            <a:endParaRPr lang="en-US" sz="1150" dirty="0"/>
          </a:p>
        </p:txBody>
      </p:sp>
      <p:sp>
        <p:nvSpPr>
          <p:cNvPr id="9" name="Shape 7"/>
          <p:cNvSpPr/>
          <p:nvPr/>
        </p:nvSpPr>
        <p:spPr>
          <a:xfrm>
            <a:off x="2642616" y="2231136"/>
            <a:ext cx="137160" cy="201168"/>
          </a:xfrm>
          <a:prstGeom prst="rightArrow">
            <a:avLst/>
          </a:prstGeom>
          <a:solidFill>
            <a:srgbClr val="D5DCE6"/>
          </a:solidFill>
          <a:ln/>
        </p:spPr>
      </p:sp>
      <p:sp>
        <p:nvSpPr>
          <p:cNvPr id="10" name="Shape 8"/>
          <p:cNvSpPr/>
          <p:nvPr/>
        </p:nvSpPr>
        <p:spPr>
          <a:xfrm>
            <a:off x="2798064" y="1956816"/>
            <a:ext cx="2048256" cy="749808"/>
          </a:xfrm>
          <a:prstGeom prst="roundRect">
            <a:avLst>
              <a:gd name="adj" fmla="val 7317"/>
            </a:avLst>
          </a:prstGeom>
          <a:solidFill>
            <a:srgbClr val="F1F4F9"/>
          </a:solidFill>
          <a:ln/>
        </p:spPr>
      </p:sp>
      <p:sp>
        <p:nvSpPr>
          <p:cNvPr id="11" name="Text 9"/>
          <p:cNvSpPr/>
          <p:nvPr/>
        </p:nvSpPr>
        <p:spPr>
          <a:xfrm>
            <a:off x="2871216"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文字起こし</a:t>
            </a:r>
            <a:endParaRPr lang="en-US" sz="1150" dirty="0"/>
          </a:p>
        </p:txBody>
      </p:sp>
      <p:sp>
        <p:nvSpPr>
          <p:cNvPr id="12" name="Shape 10"/>
          <p:cNvSpPr/>
          <p:nvPr/>
        </p:nvSpPr>
        <p:spPr>
          <a:xfrm>
            <a:off x="4873752" y="2231136"/>
            <a:ext cx="137160" cy="201168"/>
          </a:xfrm>
          <a:prstGeom prst="rightArrow">
            <a:avLst/>
          </a:prstGeom>
          <a:solidFill>
            <a:srgbClr val="D5DCE6"/>
          </a:solidFill>
          <a:ln/>
        </p:spPr>
      </p:sp>
      <p:sp>
        <p:nvSpPr>
          <p:cNvPr id="13" name="Shape 11"/>
          <p:cNvSpPr/>
          <p:nvPr/>
        </p:nvSpPr>
        <p:spPr>
          <a:xfrm>
            <a:off x="5029200" y="1956816"/>
            <a:ext cx="2048256" cy="749808"/>
          </a:xfrm>
          <a:prstGeom prst="roundRect">
            <a:avLst>
              <a:gd name="adj" fmla="val 7317"/>
            </a:avLst>
          </a:prstGeom>
          <a:solidFill>
            <a:srgbClr val="F1F4F9"/>
          </a:solidFill>
          <a:ln/>
        </p:spPr>
      </p:sp>
      <p:sp>
        <p:nvSpPr>
          <p:cNvPr id="14" name="Text 12"/>
          <p:cNvSpPr/>
          <p:nvPr/>
        </p:nvSpPr>
        <p:spPr>
          <a:xfrm>
            <a:off x="5102352"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AIで議事録生成</a:t>
            </a:r>
            <a:endParaRPr lang="en-US" sz="1150" dirty="0"/>
          </a:p>
        </p:txBody>
      </p:sp>
      <p:sp>
        <p:nvSpPr>
          <p:cNvPr id="15" name="Shape 13"/>
          <p:cNvSpPr/>
          <p:nvPr/>
        </p:nvSpPr>
        <p:spPr>
          <a:xfrm>
            <a:off x="7104888" y="2231136"/>
            <a:ext cx="137160" cy="201168"/>
          </a:xfrm>
          <a:prstGeom prst="rightArrow">
            <a:avLst/>
          </a:prstGeom>
          <a:solidFill>
            <a:srgbClr val="D5DCE6"/>
          </a:solidFill>
          <a:ln/>
        </p:spPr>
      </p:sp>
      <p:sp>
        <p:nvSpPr>
          <p:cNvPr id="16" name="Shape 14"/>
          <p:cNvSpPr/>
          <p:nvPr/>
        </p:nvSpPr>
        <p:spPr>
          <a:xfrm>
            <a:off x="7260336" y="1956816"/>
            <a:ext cx="2048256" cy="749808"/>
          </a:xfrm>
          <a:prstGeom prst="roundRect">
            <a:avLst>
              <a:gd name="adj" fmla="val 7317"/>
            </a:avLst>
          </a:prstGeom>
          <a:solidFill>
            <a:srgbClr val="F1F4F9"/>
          </a:solidFill>
          <a:ln/>
        </p:spPr>
      </p:sp>
      <p:sp>
        <p:nvSpPr>
          <p:cNvPr id="17" name="Text 15"/>
          <p:cNvSpPr/>
          <p:nvPr/>
        </p:nvSpPr>
        <p:spPr>
          <a:xfrm>
            <a:off x="7333488"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Word / OneNote</a:t>
            </a:r>
            <a:endParaRPr lang="en-US" sz="1150" dirty="0"/>
          </a:p>
        </p:txBody>
      </p:sp>
      <p:sp>
        <p:nvSpPr>
          <p:cNvPr id="18" name="Shape 16"/>
          <p:cNvSpPr/>
          <p:nvPr/>
        </p:nvSpPr>
        <p:spPr>
          <a:xfrm>
            <a:off x="9336024" y="2231136"/>
            <a:ext cx="137160" cy="201168"/>
          </a:xfrm>
          <a:prstGeom prst="rightArrow">
            <a:avLst/>
          </a:prstGeom>
          <a:solidFill>
            <a:srgbClr val="D5DCE6"/>
          </a:solidFill>
          <a:ln/>
        </p:spPr>
      </p:sp>
      <p:sp>
        <p:nvSpPr>
          <p:cNvPr id="19" name="Shape 17"/>
          <p:cNvSpPr/>
          <p:nvPr/>
        </p:nvSpPr>
        <p:spPr>
          <a:xfrm>
            <a:off x="9491472" y="1956816"/>
            <a:ext cx="2048256" cy="749808"/>
          </a:xfrm>
          <a:prstGeom prst="roundRect">
            <a:avLst>
              <a:gd name="adj" fmla="val 7317"/>
            </a:avLst>
          </a:prstGeom>
          <a:solidFill>
            <a:srgbClr val="F7E9E7"/>
          </a:solidFill>
          <a:ln/>
        </p:spPr>
      </p:sp>
      <p:sp>
        <p:nvSpPr>
          <p:cNvPr id="20" name="Text 18"/>
          <p:cNvSpPr/>
          <p:nvPr/>
        </p:nvSpPr>
        <p:spPr>
          <a:xfrm>
            <a:off x="9564624" y="1956816"/>
            <a:ext cx="1901952" cy="749808"/>
          </a:xfrm>
          <a:prstGeom prst="rect">
            <a:avLst/>
          </a:prstGeom>
          <a:noFill/>
          <a:ln/>
        </p:spPr>
        <p:txBody>
          <a:bodyPr wrap="square" lIns="0" tIns="0" rIns="0" bIns="0" rtlCol="0" anchor="ctr"/>
          <a:lstStyle/>
          <a:p>
            <a:pPr algn="ctr" indent="0" marL="0">
              <a:buNone/>
            </a:pPr>
            <a:r>
              <a:rPr lang="en-US" sz="1150" b="1" dirty="0">
                <a:solidFill>
                  <a:srgbClr val="B3423A"/>
                </a:solidFill>
                <a:latin typeface="Meiryo" pitchFamily="34" charset="0"/>
                <a:ea typeface="Meiryo" pitchFamily="34" charset="-122"/>
                <a:cs typeface="Meiryo" pitchFamily="34" charset="-120"/>
              </a:rPr>
              <a:t>リンクをチャットで共有</a:t>
            </a:r>
            <a:endParaRPr lang="en-US" sz="1150" dirty="0"/>
          </a:p>
        </p:txBody>
      </p:sp>
      <p:sp>
        <p:nvSpPr>
          <p:cNvPr id="21" name="Text 19"/>
          <p:cNvSpPr/>
          <p:nvPr/>
        </p:nvSpPr>
        <p:spPr>
          <a:xfrm>
            <a:off x="566928" y="2798064"/>
            <a:ext cx="11057839" cy="29260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保存先が人によって違い、チャットに流れたリンクは時間が経てば遡れない</a:t>
            </a:r>
            <a:endParaRPr lang="en-US" sz="1200" dirty="0"/>
          </a:p>
        </p:txBody>
      </p:sp>
      <p:sp>
        <p:nvSpPr>
          <p:cNvPr id="22" name="Shape 20"/>
          <p:cNvSpPr/>
          <p:nvPr/>
        </p:nvSpPr>
        <p:spPr>
          <a:xfrm>
            <a:off x="566928" y="3310128"/>
            <a:ext cx="3529584"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23" name="Text 21"/>
          <p:cNvSpPr/>
          <p:nvPr/>
        </p:nvSpPr>
        <p:spPr>
          <a:xfrm>
            <a:off x="841248" y="3566160"/>
            <a:ext cx="1828800" cy="274320"/>
          </a:xfrm>
          <a:prstGeom prst="rect">
            <a:avLst/>
          </a:prstGeom>
          <a:noFill/>
          <a:ln/>
        </p:spPr>
        <p:txBody>
          <a:bodyPr wrap="square" lIns="0" tIns="0" rIns="0" bIns="0" rtlCol="0" anchor="ctr"/>
          <a:lstStyle/>
          <a:p>
            <a:pPr indent="0" marL="0">
              <a:buNone/>
            </a:pPr>
            <a:r>
              <a:rPr lang="en-US" sz="1200" b="1" spc="100" kern="0" dirty="0">
                <a:solidFill>
                  <a:srgbClr val="1F7A6C"/>
                </a:solidFill>
                <a:latin typeface="Meiryo" pitchFamily="34" charset="0"/>
                <a:ea typeface="Meiryo" pitchFamily="34" charset="-122"/>
                <a:cs typeface="Meiryo" pitchFamily="34" charset="-120"/>
              </a:rPr>
              <a:t>B-1</a:t>
            </a:r>
            <a:endParaRPr lang="en-US" sz="1200" dirty="0"/>
          </a:p>
        </p:txBody>
      </p:sp>
      <p:sp>
        <p:nvSpPr>
          <p:cNvPr id="24" name="Text 22"/>
          <p:cNvSpPr/>
          <p:nvPr/>
        </p:nvSpPr>
        <p:spPr>
          <a:xfrm>
            <a:off x="841248" y="3877056"/>
            <a:ext cx="2980944" cy="402336"/>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目的が事前に定義されない</a:t>
            </a:r>
            <a:endParaRPr lang="en-US" sz="1500" dirty="0"/>
          </a:p>
        </p:txBody>
      </p:sp>
      <p:sp>
        <p:nvSpPr>
          <p:cNvPr id="25" name="Text 23"/>
          <p:cNvSpPr/>
          <p:nvPr/>
        </p:nvSpPr>
        <p:spPr>
          <a:xfrm>
            <a:off x="841248" y="4443984"/>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5A6472"/>
                </a:solidFill>
                <a:latin typeface="Meiryo" pitchFamily="34" charset="0"/>
                <a:ea typeface="Meiryo" pitchFamily="34" charset="-122"/>
                <a:cs typeface="Meiryo" pitchFamily="34" charset="-120"/>
              </a:rPr>
              <a:t>アジェンダを作る型がないため、「とりあえず集まる」定例が生き残る</a:t>
            </a:r>
            <a:endParaRPr lang="en-US" sz="1150" dirty="0"/>
          </a:p>
        </p:txBody>
      </p:sp>
      <p:sp>
        <p:nvSpPr>
          <p:cNvPr id="26" name="Shape 24"/>
          <p:cNvSpPr/>
          <p:nvPr/>
        </p:nvSpPr>
        <p:spPr>
          <a:xfrm>
            <a:off x="4439412" y="3310128"/>
            <a:ext cx="3529584"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27" name="Text 25"/>
          <p:cNvSpPr/>
          <p:nvPr/>
        </p:nvSpPr>
        <p:spPr>
          <a:xfrm>
            <a:off x="4713732" y="3566160"/>
            <a:ext cx="1828800" cy="274320"/>
          </a:xfrm>
          <a:prstGeom prst="rect">
            <a:avLst/>
          </a:prstGeom>
          <a:noFill/>
          <a:ln/>
        </p:spPr>
        <p:txBody>
          <a:bodyPr wrap="square" lIns="0" tIns="0" rIns="0" bIns="0" rtlCol="0" anchor="ctr"/>
          <a:lstStyle/>
          <a:p>
            <a:pPr indent="0" marL="0">
              <a:buNone/>
            </a:pPr>
            <a:r>
              <a:rPr lang="en-US" sz="1200" b="1" spc="100" kern="0" dirty="0">
                <a:solidFill>
                  <a:srgbClr val="1F7A6C"/>
                </a:solidFill>
                <a:latin typeface="Meiryo" pitchFamily="34" charset="0"/>
                <a:ea typeface="Meiryo" pitchFamily="34" charset="-122"/>
                <a:cs typeface="Meiryo" pitchFamily="34" charset="-120"/>
              </a:rPr>
              <a:t>B-2</a:t>
            </a:r>
            <a:endParaRPr lang="en-US" sz="1200" dirty="0"/>
          </a:p>
        </p:txBody>
      </p:sp>
      <p:sp>
        <p:nvSpPr>
          <p:cNvPr id="28" name="Text 26"/>
          <p:cNvSpPr/>
          <p:nvPr/>
        </p:nvSpPr>
        <p:spPr>
          <a:xfrm>
            <a:off x="4713732" y="3877056"/>
            <a:ext cx="2980944" cy="402336"/>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決定が構造化されない</a:t>
            </a:r>
            <a:endParaRPr lang="en-US" sz="1500" dirty="0"/>
          </a:p>
        </p:txBody>
      </p:sp>
      <p:sp>
        <p:nvSpPr>
          <p:cNvPr id="29" name="Text 27"/>
          <p:cNvSpPr/>
          <p:nvPr/>
        </p:nvSpPr>
        <p:spPr>
          <a:xfrm>
            <a:off x="4713732" y="4443984"/>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5A6472"/>
                </a:solidFill>
                <a:latin typeface="Meiryo" pitchFamily="34" charset="0"/>
                <a:ea typeface="Meiryo" pitchFamily="34" charset="-122"/>
                <a:cs typeface="Meiryo" pitchFamily="34" charset="-120"/>
              </a:rPr>
              <a:t>決定事項・担当・期日が文章の中に埋もれ、検索も集計もできない</a:t>
            </a:r>
            <a:endParaRPr lang="en-US" sz="1150" dirty="0"/>
          </a:p>
        </p:txBody>
      </p:sp>
      <p:sp>
        <p:nvSpPr>
          <p:cNvPr id="30" name="Shape 28"/>
          <p:cNvSpPr/>
          <p:nvPr/>
        </p:nvSpPr>
        <p:spPr>
          <a:xfrm>
            <a:off x="8311896" y="3310128"/>
            <a:ext cx="3529584"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31" name="Text 29"/>
          <p:cNvSpPr/>
          <p:nvPr/>
        </p:nvSpPr>
        <p:spPr>
          <a:xfrm>
            <a:off x="8586216" y="3566160"/>
            <a:ext cx="1828800" cy="274320"/>
          </a:xfrm>
          <a:prstGeom prst="rect">
            <a:avLst/>
          </a:prstGeom>
          <a:noFill/>
          <a:ln/>
        </p:spPr>
        <p:txBody>
          <a:bodyPr wrap="square" lIns="0" tIns="0" rIns="0" bIns="0" rtlCol="0" anchor="ctr"/>
          <a:lstStyle/>
          <a:p>
            <a:pPr indent="0" marL="0">
              <a:buNone/>
            </a:pPr>
            <a:r>
              <a:rPr lang="en-US" sz="1200" b="1" spc="100" kern="0" dirty="0">
                <a:solidFill>
                  <a:srgbClr val="1F7A6C"/>
                </a:solidFill>
                <a:latin typeface="Meiryo" pitchFamily="34" charset="0"/>
                <a:ea typeface="Meiryo" pitchFamily="34" charset="-122"/>
                <a:cs typeface="Meiryo" pitchFamily="34" charset="-120"/>
              </a:rPr>
              <a:t>B-3</a:t>
            </a:r>
            <a:endParaRPr lang="en-US" sz="1200" dirty="0"/>
          </a:p>
        </p:txBody>
      </p:sp>
      <p:sp>
        <p:nvSpPr>
          <p:cNvPr id="32" name="Text 30"/>
          <p:cNvSpPr/>
          <p:nvPr/>
        </p:nvSpPr>
        <p:spPr>
          <a:xfrm>
            <a:off x="8586216" y="3877056"/>
            <a:ext cx="2980944" cy="402336"/>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置き場所が分散する</a:t>
            </a:r>
            <a:endParaRPr lang="en-US" sz="1500" dirty="0"/>
          </a:p>
        </p:txBody>
      </p:sp>
      <p:sp>
        <p:nvSpPr>
          <p:cNvPr id="33" name="Text 31"/>
          <p:cNvSpPr/>
          <p:nvPr/>
        </p:nvSpPr>
        <p:spPr>
          <a:xfrm>
            <a:off x="8586216" y="4443984"/>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5A6472"/>
                </a:solidFill>
                <a:latin typeface="Meiryo" pitchFamily="34" charset="0"/>
                <a:ea typeface="Meiryo" pitchFamily="34" charset="-122"/>
                <a:cs typeface="Meiryo" pitchFamily="34" charset="-120"/>
              </a:rPr>
              <a:t>Word / OneDrive / OneNote / Teams をまたぐたび情報が流れていく</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解決像</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Notionによる解決</a:t>
            </a:r>
            <a:endParaRPr lang="en-US" sz="2700" dirty="0"/>
          </a:p>
        </p:txBody>
      </p:sp>
      <p:sp>
        <p:nvSpPr>
          <p:cNvPr id="4" name="Shape 2"/>
          <p:cNvSpPr/>
          <p:nvPr/>
        </p:nvSpPr>
        <p:spPr>
          <a:xfrm>
            <a:off x="566928" y="1481328"/>
            <a:ext cx="457200" cy="457200"/>
          </a:xfrm>
          <a:prstGeom prst="ellipse">
            <a:avLst/>
          </a:prstGeom>
          <a:solidFill>
            <a:srgbClr val="2C5F8D"/>
          </a:solidFill>
          <a:ln/>
        </p:spPr>
      </p:sp>
      <p:sp>
        <p:nvSpPr>
          <p:cNvPr id="5" name="Text 3"/>
          <p:cNvSpPr/>
          <p:nvPr/>
        </p:nvSpPr>
        <p:spPr>
          <a:xfrm>
            <a:off x="566928" y="1481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A</a:t>
            </a:r>
            <a:endParaRPr lang="en-US" sz="1500" dirty="0"/>
          </a:p>
        </p:txBody>
      </p:sp>
      <p:sp>
        <p:nvSpPr>
          <p:cNvPr id="6" name="Text 4"/>
          <p:cNvSpPr/>
          <p:nvPr/>
        </p:nvSpPr>
        <p:spPr>
          <a:xfrm>
            <a:off x="1170432" y="1463040"/>
            <a:ext cx="4754880" cy="402336"/>
          </a:xfrm>
          <a:prstGeom prst="rect">
            <a:avLst/>
          </a:prstGeom>
          <a:noFill/>
          <a:ln/>
        </p:spPr>
        <p:txBody>
          <a:bodyPr wrap="square" lIns="0" tIns="0" rIns="0" bIns="0" rtlCol="0" anchor="ctr"/>
          <a:lstStyle/>
          <a:p>
            <a:pPr indent="0" marL="0">
              <a:buNone/>
            </a:pPr>
            <a:r>
              <a:rPr lang="en-US" sz="1700" b="1" dirty="0">
                <a:solidFill>
                  <a:srgbClr val="16233F"/>
                </a:solidFill>
                <a:latin typeface="Meiryo" pitchFamily="34" charset="0"/>
                <a:ea typeface="Meiryo" pitchFamily="34" charset="-122"/>
                <a:cs typeface="Meiryo" pitchFamily="34" charset="-120"/>
              </a:rPr>
              <a:t>課題A：案件管理</a:t>
            </a:r>
            <a:endParaRPr lang="en-US" sz="1700" dirty="0"/>
          </a:p>
        </p:txBody>
      </p:sp>
      <p:sp>
        <p:nvSpPr>
          <p:cNvPr id="7" name="Text 5"/>
          <p:cNvSpPr/>
          <p:nvPr/>
        </p:nvSpPr>
        <p:spPr>
          <a:xfrm>
            <a:off x="585216" y="2084832"/>
            <a:ext cx="5486400"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A-1 可視性</a:t>
            </a:r>
            <a:endParaRPr lang="en-US" sz="1050" dirty="0"/>
          </a:p>
        </p:txBody>
      </p:sp>
      <p:sp>
        <p:nvSpPr>
          <p:cNvPr id="8" name="Shape 6"/>
          <p:cNvSpPr/>
          <p:nvPr/>
        </p:nvSpPr>
        <p:spPr>
          <a:xfrm>
            <a:off x="566928" y="2359152"/>
            <a:ext cx="2395728" cy="658368"/>
          </a:xfrm>
          <a:prstGeom prst="roundRect">
            <a:avLst>
              <a:gd name="adj" fmla="val 6944"/>
            </a:avLst>
          </a:prstGeom>
          <a:solidFill>
            <a:srgbClr val="F4F5F7"/>
          </a:solidFill>
          <a:ln/>
        </p:spPr>
      </p:sp>
      <p:sp>
        <p:nvSpPr>
          <p:cNvPr id="9" name="Text 7"/>
          <p:cNvSpPr/>
          <p:nvPr/>
        </p:nvSpPr>
        <p:spPr>
          <a:xfrm>
            <a:off x="694944" y="2359152"/>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招待された人しか見えない</a:t>
            </a:r>
            <a:endParaRPr lang="en-US" sz="1050" dirty="0"/>
          </a:p>
        </p:txBody>
      </p:sp>
      <p:sp>
        <p:nvSpPr>
          <p:cNvPr id="10" name="Shape 8"/>
          <p:cNvSpPr/>
          <p:nvPr/>
        </p:nvSpPr>
        <p:spPr>
          <a:xfrm>
            <a:off x="3054096" y="2615184"/>
            <a:ext cx="164592" cy="164592"/>
          </a:xfrm>
          <a:prstGeom prst="rightArrow">
            <a:avLst/>
          </a:prstGeom>
          <a:solidFill>
            <a:srgbClr val="2C5F8D"/>
          </a:solidFill>
          <a:ln/>
        </p:spPr>
      </p:sp>
      <p:sp>
        <p:nvSpPr>
          <p:cNvPr id="11" name="Shape 9"/>
          <p:cNvSpPr/>
          <p:nvPr/>
        </p:nvSpPr>
        <p:spPr>
          <a:xfrm>
            <a:off x="3310128" y="2359152"/>
            <a:ext cx="2743200" cy="658368"/>
          </a:xfrm>
          <a:prstGeom prst="roundRect">
            <a:avLst>
              <a:gd name="adj" fmla="val 6944"/>
            </a:avLst>
          </a:prstGeom>
          <a:solidFill>
            <a:srgbClr val="2C5F8D"/>
          </a:solidFill>
          <a:ln/>
        </p:spPr>
      </p:sp>
      <p:sp>
        <p:nvSpPr>
          <p:cNvPr id="12" name="Text 10"/>
          <p:cNvSpPr/>
          <p:nvPr/>
        </p:nvSpPr>
        <p:spPr>
          <a:xfrm>
            <a:off x="3438144" y="2359152"/>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全案件が誰からも見える</a:t>
            </a:r>
            <a:endParaRPr lang="en-US" sz="1050" dirty="0"/>
          </a:p>
        </p:txBody>
      </p:sp>
      <p:sp>
        <p:nvSpPr>
          <p:cNvPr id="13" name="Text 11"/>
          <p:cNvSpPr/>
          <p:nvPr/>
        </p:nvSpPr>
        <p:spPr>
          <a:xfrm>
            <a:off x="585216" y="3145536"/>
            <a:ext cx="5486400"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A-2 横断性</a:t>
            </a:r>
            <a:endParaRPr lang="en-US" sz="1050" dirty="0"/>
          </a:p>
        </p:txBody>
      </p:sp>
      <p:sp>
        <p:nvSpPr>
          <p:cNvPr id="14" name="Shape 12"/>
          <p:cNvSpPr/>
          <p:nvPr/>
        </p:nvSpPr>
        <p:spPr>
          <a:xfrm>
            <a:off x="566928" y="3419856"/>
            <a:ext cx="2395728" cy="658368"/>
          </a:xfrm>
          <a:prstGeom prst="roundRect">
            <a:avLst>
              <a:gd name="adj" fmla="val 6944"/>
            </a:avLst>
          </a:prstGeom>
          <a:solidFill>
            <a:srgbClr val="F4F5F7"/>
          </a:solidFill>
          <a:ln/>
        </p:spPr>
      </p:sp>
      <p:sp>
        <p:nvSpPr>
          <p:cNvPr id="15" name="Text 13"/>
          <p:cNvSpPr/>
          <p:nvPr/>
        </p:nvSpPr>
        <p:spPr>
          <a:xfrm>
            <a:off x="694944" y="3419856"/>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Excelがバラバラで集計不能</a:t>
            </a:r>
            <a:endParaRPr lang="en-US" sz="1050" dirty="0"/>
          </a:p>
        </p:txBody>
      </p:sp>
      <p:sp>
        <p:nvSpPr>
          <p:cNvPr id="16" name="Shape 14"/>
          <p:cNvSpPr/>
          <p:nvPr/>
        </p:nvSpPr>
        <p:spPr>
          <a:xfrm>
            <a:off x="3054096" y="3675888"/>
            <a:ext cx="164592" cy="164592"/>
          </a:xfrm>
          <a:prstGeom prst="rightArrow">
            <a:avLst/>
          </a:prstGeom>
          <a:solidFill>
            <a:srgbClr val="2C5F8D"/>
          </a:solidFill>
          <a:ln/>
        </p:spPr>
      </p:sp>
      <p:sp>
        <p:nvSpPr>
          <p:cNvPr id="17" name="Shape 15"/>
          <p:cNvSpPr/>
          <p:nvPr/>
        </p:nvSpPr>
        <p:spPr>
          <a:xfrm>
            <a:off x="3310128" y="3419856"/>
            <a:ext cx="2743200" cy="658368"/>
          </a:xfrm>
          <a:prstGeom prst="roundRect">
            <a:avLst>
              <a:gd name="adj" fmla="val 6944"/>
            </a:avLst>
          </a:prstGeom>
          <a:solidFill>
            <a:srgbClr val="2C5F8D"/>
          </a:solidFill>
          <a:ln/>
        </p:spPr>
      </p:sp>
      <p:sp>
        <p:nvSpPr>
          <p:cNvPr id="18" name="Text 16"/>
          <p:cNvSpPr/>
          <p:nvPr/>
        </p:nvSpPr>
        <p:spPr>
          <a:xfrm>
            <a:off x="3438144" y="3419856"/>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PMOが1画面で700件を俯瞰</a:t>
            </a:r>
            <a:endParaRPr lang="en-US" sz="1050" dirty="0"/>
          </a:p>
        </p:txBody>
      </p:sp>
      <p:sp>
        <p:nvSpPr>
          <p:cNvPr id="19" name="Text 17"/>
          <p:cNvSpPr/>
          <p:nvPr/>
        </p:nvSpPr>
        <p:spPr>
          <a:xfrm>
            <a:off x="585216" y="4206240"/>
            <a:ext cx="5486400"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A-3 管理手法</a:t>
            </a:r>
            <a:endParaRPr lang="en-US" sz="1050" dirty="0"/>
          </a:p>
        </p:txBody>
      </p:sp>
      <p:sp>
        <p:nvSpPr>
          <p:cNvPr id="20" name="Shape 18"/>
          <p:cNvSpPr/>
          <p:nvPr/>
        </p:nvSpPr>
        <p:spPr>
          <a:xfrm>
            <a:off x="566928" y="4480560"/>
            <a:ext cx="2395728" cy="658368"/>
          </a:xfrm>
          <a:prstGeom prst="roundRect">
            <a:avLst>
              <a:gd name="adj" fmla="val 6944"/>
            </a:avLst>
          </a:prstGeom>
          <a:solidFill>
            <a:srgbClr val="F4F5F7"/>
          </a:solidFill>
          <a:ln/>
        </p:spPr>
      </p:sp>
      <p:sp>
        <p:nvSpPr>
          <p:cNvPr id="21" name="Text 19"/>
          <p:cNvSpPr/>
          <p:nvPr/>
        </p:nvSpPr>
        <p:spPr>
          <a:xfrm>
            <a:off x="694944" y="4480560"/>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進捗と依存関係が追えない</a:t>
            </a:r>
            <a:endParaRPr lang="en-US" sz="1050" dirty="0"/>
          </a:p>
        </p:txBody>
      </p:sp>
      <p:sp>
        <p:nvSpPr>
          <p:cNvPr id="22" name="Shape 20"/>
          <p:cNvSpPr/>
          <p:nvPr/>
        </p:nvSpPr>
        <p:spPr>
          <a:xfrm>
            <a:off x="3054096" y="4736592"/>
            <a:ext cx="164592" cy="164592"/>
          </a:xfrm>
          <a:prstGeom prst="rightArrow">
            <a:avLst/>
          </a:prstGeom>
          <a:solidFill>
            <a:srgbClr val="2C5F8D"/>
          </a:solidFill>
          <a:ln/>
        </p:spPr>
      </p:sp>
      <p:sp>
        <p:nvSpPr>
          <p:cNvPr id="23" name="Shape 21"/>
          <p:cNvSpPr/>
          <p:nvPr/>
        </p:nvSpPr>
        <p:spPr>
          <a:xfrm>
            <a:off x="3310128" y="4480560"/>
            <a:ext cx="2743200" cy="658368"/>
          </a:xfrm>
          <a:prstGeom prst="roundRect">
            <a:avLst>
              <a:gd name="adj" fmla="val 6944"/>
            </a:avLst>
          </a:prstGeom>
          <a:solidFill>
            <a:srgbClr val="2C5F8D"/>
          </a:solidFill>
          <a:ln/>
        </p:spPr>
      </p:sp>
      <p:sp>
        <p:nvSpPr>
          <p:cNvPr id="24" name="Text 22"/>
          <p:cNvSpPr/>
          <p:nvPr/>
        </p:nvSpPr>
        <p:spPr>
          <a:xfrm>
            <a:off x="3438144" y="4480560"/>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遅延案件が自動で浮かび上がる</a:t>
            </a:r>
            <a:endParaRPr lang="en-US" sz="1050" dirty="0"/>
          </a:p>
        </p:txBody>
      </p:sp>
      <p:sp>
        <p:nvSpPr>
          <p:cNvPr id="25" name="Shape 23"/>
          <p:cNvSpPr/>
          <p:nvPr/>
        </p:nvSpPr>
        <p:spPr>
          <a:xfrm>
            <a:off x="6373368" y="1481328"/>
            <a:ext cx="457200" cy="457200"/>
          </a:xfrm>
          <a:prstGeom prst="ellipse">
            <a:avLst/>
          </a:prstGeom>
          <a:solidFill>
            <a:srgbClr val="1F7A6C"/>
          </a:solidFill>
          <a:ln/>
        </p:spPr>
      </p:sp>
      <p:sp>
        <p:nvSpPr>
          <p:cNvPr id="26" name="Text 24"/>
          <p:cNvSpPr/>
          <p:nvPr/>
        </p:nvSpPr>
        <p:spPr>
          <a:xfrm>
            <a:off x="6373368" y="1481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B</a:t>
            </a:r>
            <a:endParaRPr lang="en-US" sz="1500" dirty="0"/>
          </a:p>
        </p:txBody>
      </p:sp>
      <p:sp>
        <p:nvSpPr>
          <p:cNvPr id="27" name="Text 25"/>
          <p:cNvSpPr/>
          <p:nvPr/>
        </p:nvSpPr>
        <p:spPr>
          <a:xfrm>
            <a:off x="6976872" y="1463040"/>
            <a:ext cx="4754880" cy="402336"/>
          </a:xfrm>
          <a:prstGeom prst="rect">
            <a:avLst/>
          </a:prstGeom>
          <a:noFill/>
          <a:ln/>
        </p:spPr>
        <p:txBody>
          <a:bodyPr wrap="square" lIns="0" tIns="0" rIns="0" bIns="0" rtlCol="0" anchor="ctr"/>
          <a:lstStyle/>
          <a:p>
            <a:pPr indent="0" marL="0">
              <a:buNone/>
            </a:pPr>
            <a:r>
              <a:rPr lang="en-US" sz="1700" b="1" dirty="0">
                <a:solidFill>
                  <a:srgbClr val="16233F"/>
                </a:solidFill>
                <a:latin typeface="Meiryo" pitchFamily="34" charset="0"/>
                <a:ea typeface="Meiryo" pitchFamily="34" charset="-122"/>
                <a:cs typeface="Meiryo" pitchFamily="34" charset="-120"/>
              </a:rPr>
              <a:t>課題B：会議と議事録</a:t>
            </a:r>
            <a:endParaRPr lang="en-US" sz="1700" dirty="0"/>
          </a:p>
        </p:txBody>
      </p:sp>
      <p:sp>
        <p:nvSpPr>
          <p:cNvPr id="28" name="Text 26"/>
          <p:cNvSpPr/>
          <p:nvPr/>
        </p:nvSpPr>
        <p:spPr>
          <a:xfrm>
            <a:off x="6391656" y="2084832"/>
            <a:ext cx="5486400"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B-1 目的</a:t>
            </a:r>
            <a:endParaRPr lang="en-US" sz="1050" dirty="0"/>
          </a:p>
        </p:txBody>
      </p:sp>
      <p:sp>
        <p:nvSpPr>
          <p:cNvPr id="29" name="Shape 27"/>
          <p:cNvSpPr/>
          <p:nvPr/>
        </p:nvSpPr>
        <p:spPr>
          <a:xfrm>
            <a:off x="6373368" y="2359152"/>
            <a:ext cx="2395728" cy="658368"/>
          </a:xfrm>
          <a:prstGeom prst="roundRect">
            <a:avLst>
              <a:gd name="adj" fmla="val 6944"/>
            </a:avLst>
          </a:prstGeom>
          <a:solidFill>
            <a:srgbClr val="F4F5F7"/>
          </a:solidFill>
          <a:ln/>
        </p:spPr>
      </p:sp>
      <p:sp>
        <p:nvSpPr>
          <p:cNvPr id="30" name="Text 28"/>
          <p:cNvSpPr/>
          <p:nvPr/>
        </p:nvSpPr>
        <p:spPr>
          <a:xfrm>
            <a:off x="6501384" y="2359152"/>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とりあえず集まる定例が残る</a:t>
            </a:r>
            <a:endParaRPr lang="en-US" sz="1050" dirty="0"/>
          </a:p>
        </p:txBody>
      </p:sp>
      <p:sp>
        <p:nvSpPr>
          <p:cNvPr id="31" name="Shape 29"/>
          <p:cNvSpPr/>
          <p:nvPr/>
        </p:nvSpPr>
        <p:spPr>
          <a:xfrm>
            <a:off x="8860536" y="2615184"/>
            <a:ext cx="164592" cy="164592"/>
          </a:xfrm>
          <a:prstGeom prst="rightArrow">
            <a:avLst/>
          </a:prstGeom>
          <a:solidFill>
            <a:srgbClr val="1F7A6C"/>
          </a:solidFill>
          <a:ln/>
        </p:spPr>
      </p:sp>
      <p:sp>
        <p:nvSpPr>
          <p:cNvPr id="32" name="Shape 30"/>
          <p:cNvSpPr/>
          <p:nvPr/>
        </p:nvSpPr>
        <p:spPr>
          <a:xfrm>
            <a:off x="9116568" y="2359152"/>
            <a:ext cx="2743200" cy="658368"/>
          </a:xfrm>
          <a:prstGeom prst="roundRect">
            <a:avLst>
              <a:gd name="adj" fmla="val 6944"/>
            </a:avLst>
          </a:prstGeom>
          <a:solidFill>
            <a:srgbClr val="1F7A6C"/>
          </a:solidFill>
          <a:ln/>
        </p:spPr>
      </p:sp>
      <p:sp>
        <p:nvSpPr>
          <p:cNvPr id="33" name="Text 31"/>
          <p:cNvSpPr/>
          <p:nvPr/>
        </p:nvSpPr>
        <p:spPr>
          <a:xfrm>
            <a:off x="9244584" y="2359152"/>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アジェンダを事前に書くことが型になる</a:t>
            </a:r>
            <a:endParaRPr lang="en-US" sz="1050" dirty="0"/>
          </a:p>
        </p:txBody>
      </p:sp>
      <p:sp>
        <p:nvSpPr>
          <p:cNvPr id="34" name="Text 32"/>
          <p:cNvSpPr/>
          <p:nvPr/>
        </p:nvSpPr>
        <p:spPr>
          <a:xfrm>
            <a:off x="6391656" y="3145536"/>
            <a:ext cx="5486400"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B-2 決定</a:t>
            </a:r>
            <a:endParaRPr lang="en-US" sz="1050" dirty="0"/>
          </a:p>
        </p:txBody>
      </p:sp>
      <p:sp>
        <p:nvSpPr>
          <p:cNvPr id="35" name="Shape 33"/>
          <p:cNvSpPr/>
          <p:nvPr/>
        </p:nvSpPr>
        <p:spPr>
          <a:xfrm>
            <a:off x="6373368" y="3419856"/>
            <a:ext cx="2395728" cy="658368"/>
          </a:xfrm>
          <a:prstGeom prst="roundRect">
            <a:avLst>
              <a:gd name="adj" fmla="val 6944"/>
            </a:avLst>
          </a:prstGeom>
          <a:solidFill>
            <a:srgbClr val="F4F5F7"/>
          </a:solidFill>
          <a:ln/>
        </p:spPr>
      </p:sp>
      <p:sp>
        <p:nvSpPr>
          <p:cNvPr id="36" name="Text 34"/>
          <p:cNvSpPr/>
          <p:nvPr/>
        </p:nvSpPr>
        <p:spPr>
          <a:xfrm>
            <a:off x="6501384" y="3419856"/>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文章に埋もれて追えない</a:t>
            </a:r>
            <a:endParaRPr lang="en-US" sz="1050" dirty="0"/>
          </a:p>
        </p:txBody>
      </p:sp>
      <p:sp>
        <p:nvSpPr>
          <p:cNvPr id="37" name="Shape 35"/>
          <p:cNvSpPr/>
          <p:nvPr/>
        </p:nvSpPr>
        <p:spPr>
          <a:xfrm>
            <a:off x="8860536" y="3675888"/>
            <a:ext cx="164592" cy="164592"/>
          </a:xfrm>
          <a:prstGeom prst="rightArrow">
            <a:avLst/>
          </a:prstGeom>
          <a:solidFill>
            <a:srgbClr val="1F7A6C"/>
          </a:solidFill>
          <a:ln/>
        </p:spPr>
      </p:sp>
      <p:sp>
        <p:nvSpPr>
          <p:cNvPr id="38" name="Shape 36"/>
          <p:cNvSpPr/>
          <p:nvPr/>
        </p:nvSpPr>
        <p:spPr>
          <a:xfrm>
            <a:off x="9116568" y="3419856"/>
            <a:ext cx="2743200" cy="658368"/>
          </a:xfrm>
          <a:prstGeom prst="roundRect">
            <a:avLst>
              <a:gd name="adj" fmla="val 6944"/>
            </a:avLst>
          </a:prstGeom>
          <a:solidFill>
            <a:srgbClr val="1F7A6C"/>
          </a:solidFill>
          <a:ln/>
        </p:spPr>
      </p:sp>
      <p:sp>
        <p:nvSpPr>
          <p:cNvPr id="39" name="Text 37"/>
          <p:cNvSpPr/>
          <p:nvPr/>
        </p:nvSpPr>
        <p:spPr>
          <a:xfrm>
            <a:off x="9244584" y="3419856"/>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決定・担当・期日が項目として残る</a:t>
            </a:r>
            <a:endParaRPr lang="en-US" sz="1050" dirty="0"/>
          </a:p>
        </p:txBody>
      </p:sp>
      <p:sp>
        <p:nvSpPr>
          <p:cNvPr id="40" name="Text 38"/>
          <p:cNvSpPr/>
          <p:nvPr/>
        </p:nvSpPr>
        <p:spPr>
          <a:xfrm>
            <a:off x="6391656" y="4206240"/>
            <a:ext cx="5486400"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B-3 置き場所</a:t>
            </a:r>
            <a:endParaRPr lang="en-US" sz="1050" dirty="0"/>
          </a:p>
        </p:txBody>
      </p:sp>
      <p:sp>
        <p:nvSpPr>
          <p:cNvPr id="41" name="Shape 39"/>
          <p:cNvSpPr/>
          <p:nvPr/>
        </p:nvSpPr>
        <p:spPr>
          <a:xfrm>
            <a:off x="6373368" y="4480560"/>
            <a:ext cx="2395728" cy="658368"/>
          </a:xfrm>
          <a:prstGeom prst="roundRect">
            <a:avLst>
              <a:gd name="adj" fmla="val 6944"/>
            </a:avLst>
          </a:prstGeom>
          <a:solidFill>
            <a:srgbClr val="F4F5F7"/>
          </a:solidFill>
          <a:ln/>
        </p:spPr>
      </p:sp>
      <p:sp>
        <p:nvSpPr>
          <p:cNvPr id="42" name="Text 40"/>
          <p:cNvSpPr/>
          <p:nvPr/>
        </p:nvSpPr>
        <p:spPr>
          <a:xfrm>
            <a:off x="6501384" y="4480560"/>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4つのアプリに分散</a:t>
            </a:r>
            <a:endParaRPr lang="en-US" sz="1050" dirty="0"/>
          </a:p>
        </p:txBody>
      </p:sp>
      <p:sp>
        <p:nvSpPr>
          <p:cNvPr id="43" name="Shape 41"/>
          <p:cNvSpPr/>
          <p:nvPr/>
        </p:nvSpPr>
        <p:spPr>
          <a:xfrm>
            <a:off x="8860536" y="4736592"/>
            <a:ext cx="164592" cy="164592"/>
          </a:xfrm>
          <a:prstGeom prst="rightArrow">
            <a:avLst/>
          </a:prstGeom>
          <a:solidFill>
            <a:srgbClr val="1F7A6C"/>
          </a:solidFill>
          <a:ln/>
        </p:spPr>
      </p:sp>
      <p:sp>
        <p:nvSpPr>
          <p:cNvPr id="44" name="Shape 42"/>
          <p:cNvSpPr/>
          <p:nvPr/>
        </p:nvSpPr>
        <p:spPr>
          <a:xfrm>
            <a:off x="9116568" y="4480560"/>
            <a:ext cx="2743200" cy="658368"/>
          </a:xfrm>
          <a:prstGeom prst="roundRect">
            <a:avLst>
              <a:gd name="adj" fmla="val 6944"/>
            </a:avLst>
          </a:prstGeom>
          <a:solidFill>
            <a:srgbClr val="1F7A6C"/>
          </a:solidFill>
          <a:ln/>
        </p:spPr>
      </p:sp>
      <p:sp>
        <p:nvSpPr>
          <p:cNvPr id="45" name="Text 43"/>
          <p:cNvSpPr/>
          <p:nvPr/>
        </p:nvSpPr>
        <p:spPr>
          <a:xfrm>
            <a:off x="9244584" y="4480560"/>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すべてNotionの1か所に集まる</a:t>
            </a:r>
            <a:endParaRPr lang="en-US" sz="1050" dirty="0"/>
          </a:p>
        </p:txBody>
      </p:sp>
      <p:sp>
        <p:nvSpPr>
          <p:cNvPr id="46" name="Text 44"/>
          <p:cNvSpPr/>
          <p:nvPr/>
        </p:nvSpPr>
        <p:spPr>
          <a:xfrm>
            <a:off x="566928" y="5413248"/>
            <a:ext cx="11057839" cy="402336"/>
          </a:xfrm>
          <a:prstGeom prst="rect">
            <a:avLst/>
          </a:prstGeom>
          <a:noFill/>
          <a:ln/>
        </p:spPr>
        <p:txBody>
          <a:bodyPr wrap="square" lIns="0" tIns="0" rIns="0" bIns="0" rtlCol="0" anchor="ctr"/>
          <a:lstStyle/>
          <a:p>
            <a:pPr indent="0" marL="0">
              <a:buNone/>
            </a:pPr>
            <a:r>
              <a:rPr lang="en-US" sz="1400" b="1" i="1" dirty="0">
                <a:solidFill>
                  <a:srgbClr val="1F7A6C"/>
                </a:solidFill>
                <a:latin typeface="Meiryo" pitchFamily="34" charset="0"/>
                <a:ea typeface="Meiryo" pitchFamily="34" charset="-122"/>
                <a:cs typeface="Meiryo" pitchFamily="34" charset="-120"/>
              </a:rPr>
              <a:t>「アジェンダが書けない会議は、開かれなくなる」 ― 目的のない会議は自然に淘汰されます</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2つの課題が繋がる</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議事録を書くことが、そのまま案件管理になります</a:t>
            </a:r>
            <a:endParaRPr lang="en-US" sz="2700" dirty="0"/>
          </a:p>
        </p:txBody>
      </p:sp>
      <p:sp>
        <p:nvSpPr>
          <p:cNvPr id="4" name="Text 2"/>
          <p:cNvSpPr/>
          <p:nvPr/>
        </p:nvSpPr>
        <p:spPr>
          <a:xfrm>
            <a:off x="566928" y="1627632"/>
            <a:ext cx="3108960" cy="274320"/>
          </a:xfrm>
          <a:prstGeom prst="rect">
            <a:avLst/>
          </a:prstGeom>
          <a:noFill/>
          <a:ln/>
        </p:spPr>
        <p:txBody>
          <a:bodyPr wrap="square" lIns="0" tIns="0" rIns="0" bIns="0" rtlCol="0" anchor="ctr"/>
          <a:lstStyle/>
          <a:p>
            <a:pPr indent="0" marL="0">
              <a:buNone/>
            </a:pPr>
            <a:r>
              <a:rPr lang="en-US" sz="1100" b="1" dirty="0">
                <a:solidFill>
                  <a:srgbClr val="5A6472"/>
                </a:solidFill>
                <a:latin typeface="Meiryo" pitchFamily="34" charset="0"/>
                <a:ea typeface="Meiryo" pitchFamily="34" charset="-122"/>
                <a:cs typeface="Meiryo" pitchFamily="34" charset="-120"/>
              </a:rPr>
              <a:t>会議前</a:t>
            </a:r>
            <a:endParaRPr lang="en-US" sz="1100" dirty="0"/>
          </a:p>
        </p:txBody>
      </p:sp>
      <p:sp>
        <p:nvSpPr>
          <p:cNvPr id="5" name="Shape 3"/>
          <p:cNvSpPr/>
          <p:nvPr/>
        </p:nvSpPr>
        <p:spPr>
          <a:xfrm>
            <a:off x="566928" y="1938528"/>
            <a:ext cx="3108960"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6" name="Text 4"/>
          <p:cNvSpPr/>
          <p:nvPr/>
        </p:nvSpPr>
        <p:spPr>
          <a:xfrm>
            <a:off x="749808" y="2084832"/>
            <a:ext cx="2743200" cy="1097280"/>
          </a:xfrm>
          <a:prstGeom prst="rect">
            <a:avLst/>
          </a:prstGeom>
          <a:noFill/>
          <a:ln/>
        </p:spPr>
        <p:txBody>
          <a:bodyPr wrap="square" lIns="0" tIns="0" rIns="0" bIns="0" rtlCol="0" anchor="ctr"/>
          <a:lstStyle/>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アジェンダを</a:t>
            </a:r>
            <a:endParaRPr lang="en-US" sz="1500" dirty="0"/>
          </a:p>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事前に作る</a:t>
            </a:r>
            <a:endParaRPr lang="en-US" sz="1500" dirty="0"/>
          </a:p>
        </p:txBody>
      </p:sp>
      <p:sp>
        <p:nvSpPr>
          <p:cNvPr id="7" name="Text 5"/>
          <p:cNvSpPr/>
          <p:nvPr/>
        </p:nvSpPr>
        <p:spPr>
          <a:xfrm>
            <a:off x="749808" y="3255264"/>
            <a:ext cx="2743200" cy="274320"/>
          </a:xfrm>
          <a:prstGeom prst="rect">
            <a:avLst/>
          </a:prstGeom>
          <a:noFill/>
          <a:ln/>
        </p:spPr>
        <p:txBody>
          <a:bodyPr wrap="square" lIns="0" tIns="0" rIns="0" bIns="0" rtlCol="0" anchor="ctr"/>
          <a:lstStyle/>
          <a:p>
            <a:pPr algn="ctr" indent="0" marL="0">
              <a:buNone/>
            </a:pPr>
            <a:r>
              <a:rPr lang="en-US" sz="1050" b="1" dirty="0">
                <a:solidFill>
                  <a:srgbClr val="1F7A6C"/>
                </a:solidFill>
                <a:latin typeface="Meiryo" pitchFamily="34" charset="0"/>
                <a:ea typeface="Meiryo" pitchFamily="34" charset="-122"/>
                <a:cs typeface="Meiryo" pitchFamily="34" charset="-120"/>
              </a:rPr>
              <a:t>課題B の解決</a:t>
            </a:r>
            <a:endParaRPr lang="en-US" sz="1050" dirty="0"/>
          </a:p>
        </p:txBody>
      </p:sp>
      <p:sp>
        <p:nvSpPr>
          <p:cNvPr id="8" name="Text 6"/>
          <p:cNvSpPr/>
          <p:nvPr/>
        </p:nvSpPr>
        <p:spPr>
          <a:xfrm>
            <a:off x="4224528" y="1627632"/>
            <a:ext cx="3108960" cy="274320"/>
          </a:xfrm>
          <a:prstGeom prst="rect">
            <a:avLst/>
          </a:prstGeom>
          <a:noFill/>
          <a:ln/>
        </p:spPr>
        <p:txBody>
          <a:bodyPr wrap="square" lIns="0" tIns="0" rIns="0" bIns="0" rtlCol="0" anchor="ctr"/>
          <a:lstStyle/>
          <a:p>
            <a:pPr indent="0" marL="0">
              <a:buNone/>
            </a:pPr>
            <a:r>
              <a:rPr lang="en-US" sz="1100" b="1" dirty="0">
                <a:solidFill>
                  <a:srgbClr val="5A6472"/>
                </a:solidFill>
                <a:latin typeface="Meiryo" pitchFamily="34" charset="0"/>
                <a:ea typeface="Meiryo" pitchFamily="34" charset="-122"/>
                <a:cs typeface="Meiryo" pitchFamily="34" charset="-120"/>
              </a:rPr>
              <a:t>会議中・会議後</a:t>
            </a:r>
            <a:endParaRPr lang="en-US" sz="1100" dirty="0"/>
          </a:p>
        </p:txBody>
      </p:sp>
      <p:sp>
        <p:nvSpPr>
          <p:cNvPr id="9" name="Shape 7"/>
          <p:cNvSpPr/>
          <p:nvPr/>
        </p:nvSpPr>
        <p:spPr>
          <a:xfrm>
            <a:off x="4224528" y="1938528"/>
            <a:ext cx="3108960"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10" name="Text 8"/>
          <p:cNvSpPr/>
          <p:nvPr/>
        </p:nvSpPr>
        <p:spPr>
          <a:xfrm>
            <a:off x="4407408" y="2084832"/>
            <a:ext cx="2743200" cy="1097280"/>
          </a:xfrm>
          <a:prstGeom prst="rect">
            <a:avLst/>
          </a:prstGeom>
          <a:noFill/>
          <a:ln/>
        </p:spPr>
        <p:txBody>
          <a:bodyPr wrap="square" lIns="0" tIns="0" rIns="0" bIns="0" rtlCol="0" anchor="ctr"/>
          <a:lstStyle/>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議事録を書き</a:t>
            </a:r>
            <a:endParaRPr lang="en-US" sz="1500" dirty="0"/>
          </a:p>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決定事項・ToDoを</a:t>
            </a:r>
            <a:endParaRPr lang="en-US" sz="1500" dirty="0"/>
          </a:p>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項目として登録</a:t>
            </a:r>
            <a:endParaRPr lang="en-US" sz="1500" dirty="0"/>
          </a:p>
        </p:txBody>
      </p:sp>
      <p:sp>
        <p:nvSpPr>
          <p:cNvPr id="11" name="Text 9"/>
          <p:cNvSpPr/>
          <p:nvPr/>
        </p:nvSpPr>
        <p:spPr>
          <a:xfrm>
            <a:off x="4407408" y="3255264"/>
            <a:ext cx="2743200" cy="274320"/>
          </a:xfrm>
          <a:prstGeom prst="rect">
            <a:avLst/>
          </a:prstGeom>
          <a:noFill/>
          <a:ln/>
        </p:spPr>
        <p:txBody>
          <a:bodyPr wrap="square" lIns="0" tIns="0" rIns="0" bIns="0" rtlCol="0" anchor="ctr"/>
          <a:lstStyle/>
          <a:p>
            <a:pPr algn="ctr" indent="0" marL="0">
              <a:buNone/>
            </a:pPr>
            <a:r>
              <a:rPr lang="en-US" sz="1050" b="1" dirty="0">
                <a:solidFill>
                  <a:srgbClr val="1F7A6C"/>
                </a:solidFill>
                <a:latin typeface="Meiryo" pitchFamily="34" charset="0"/>
                <a:ea typeface="Meiryo" pitchFamily="34" charset="-122"/>
                <a:cs typeface="Meiryo" pitchFamily="34" charset="-120"/>
              </a:rPr>
              <a:t>課題B の解決</a:t>
            </a:r>
            <a:endParaRPr lang="en-US" sz="1050" dirty="0"/>
          </a:p>
        </p:txBody>
      </p:sp>
      <p:sp>
        <p:nvSpPr>
          <p:cNvPr id="12" name="Shape 10"/>
          <p:cNvSpPr/>
          <p:nvPr/>
        </p:nvSpPr>
        <p:spPr>
          <a:xfrm>
            <a:off x="3785616" y="2670048"/>
            <a:ext cx="329184" cy="274320"/>
          </a:xfrm>
          <a:prstGeom prst="rightArrow">
            <a:avLst/>
          </a:prstGeom>
          <a:solidFill>
            <a:srgbClr val="D5DCE6"/>
          </a:solidFill>
          <a:ln/>
        </p:spPr>
      </p:sp>
      <p:sp>
        <p:nvSpPr>
          <p:cNvPr id="13" name="Shape 11"/>
          <p:cNvSpPr/>
          <p:nvPr/>
        </p:nvSpPr>
        <p:spPr>
          <a:xfrm>
            <a:off x="7443216" y="2670048"/>
            <a:ext cx="329184" cy="274320"/>
          </a:xfrm>
          <a:prstGeom prst="rightArrow">
            <a:avLst/>
          </a:prstGeom>
          <a:solidFill>
            <a:srgbClr val="D5DCE6"/>
          </a:solidFill>
          <a:ln/>
        </p:spPr>
      </p:sp>
      <p:sp>
        <p:nvSpPr>
          <p:cNvPr id="14" name="Text 12"/>
          <p:cNvSpPr/>
          <p:nvPr/>
        </p:nvSpPr>
        <p:spPr>
          <a:xfrm>
            <a:off x="7882128" y="1627632"/>
            <a:ext cx="3749040" cy="274320"/>
          </a:xfrm>
          <a:prstGeom prst="rect">
            <a:avLst/>
          </a:prstGeom>
          <a:noFill/>
          <a:ln/>
        </p:spPr>
        <p:txBody>
          <a:bodyPr wrap="square" lIns="0" tIns="0" rIns="0" bIns="0" rtlCol="0" anchor="ctr"/>
          <a:lstStyle/>
          <a:p>
            <a:pPr indent="0" marL="0">
              <a:buNone/>
            </a:pPr>
            <a:r>
              <a:rPr lang="en-US" sz="1100" b="1" dirty="0">
                <a:solidFill>
                  <a:srgbClr val="5A6472"/>
                </a:solidFill>
                <a:latin typeface="Meiryo" pitchFamily="34" charset="0"/>
                <a:ea typeface="Meiryo" pitchFamily="34" charset="-122"/>
                <a:cs typeface="Meiryo" pitchFamily="34" charset="-120"/>
              </a:rPr>
              <a:t>自動的に現れる場所</a:t>
            </a:r>
            <a:endParaRPr lang="en-US" sz="1100" dirty="0"/>
          </a:p>
        </p:txBody>
      </p:sp>
      <p:sp>
        <p:nvSpPr>
          <p:cNvPr id="15" name="Shape 13"/>
          <p:cNvSpPr/>
          <p:nvPr/>
        </p:nvSpPr>
        <p:spPr>
          <a:xfrm>
            <a:off x="7882128" y="1938528"/>
            <a:ext cx="3749040" cy="512064"/>
          </a:xfrm>
          <a:prstGeom prst="roundRect">
            <a:avLst>
              <a:gd name="adj" fmla="val 8929"/>
            </a:avLst>
          </a:prstGeom>
          <a:solidFill>
            <a:srgbClr val="2C5F8D"/>
          </a:solidFill>
          <a:ln/>
        </p:spPr>
      </p:sp>
      <p:sp>
        <p:nvSpPr>
          <p:cNvPr id="16" name="Text 14"/>
          <p:cNvSpPr/>
          <p:nvPr/>
        </p:nvSpPr>
        <p:spPr>
          <a:xfrm>
            <a:off x="8065008" y="1938528"/>
            <a:ext cx="3383280" cy="512064"/>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① 案件ページ</a:t>
            </a:r>
            <a:endParaRPr lang="en-US" sz="1250" dirty="0"/>
          </a:p>
        </p:txBody>
      </p:sp>
      <p:sp>
        <p:nvSpPr>
          <p:cNvPr id="17" name="Shape 15"/>
          <p:cNvSpPr/>
          <p:nvPr/>
        </p:nvSpPr>
        <p:spPr>
          <a:xfrm>
            <a:off x="7882128" y="2551176"/>
            <a:ext cx="3749040" cy="512064"/>
          </a:xfrm>
          <a:prstGeom prst="roundRect">
            <a:avLst>
              <a:gd name="adj" fmla="val 8929"/>
            </a:avLst>
          </a:prstGeom>
          <a:solidFill>
            <a:srgbClr val="2C5F8D"/>
          </a:solidFill>
          <a:ln/>
        </p:spPr>
      </p:sp>
      <p:sp>
        <p:nvSpPr>
          <p:cNvPr id="18" name="Text 16"/>
          <p:cNvSpPr/>
          <p:nvPr/>
        </p:nvSpPr>
        <p:spPr>
          <a:xfrm>
            <a:off x="8065008" y="2551176"/>
            <a:ext cx="3383280" cy="512064"/>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② 担当者のToDo一覧</a:t>
            </a:r>
            <a:endParaRPr lang="en-US" sz="1250" dirty="0"/>
          </a:p>
        </p:txBody>
      </p:sp>
      <p:sp>
        <p:nvSpPr>
          <p:cNvPr id="19" name="Shape 17"/>
          <p:cNvSpPr/>
          <p:nvPr/>
        </p:nvSpPr>
        <p:spPr>
          <a:xfrm>
            <a:off x="7882128" y="3163824"/>
            <a:ext cx="3749040" cy="512064"/>
          </a:xfrm>
          <a:prstGeom prst="roundRect">
            <a:avLst>
              <a:gd name="adj" fmla="val 8929"/>
            </a:avLst>
          </a:prstGeom>
          <a:solidFill>
            <a:srgbClr val="2C5F8D"/>
          </a:solidFill>
          <a:ln/>
        </p:spPr>
      </p:sp>
      <p:sp>
        <p:nvSpPr>
          <p:cNvPr id="20" name="Text 18"/>
          <p:cNvSpPr/>
          <p:nvPr/>
        </p:nvSpPr>
        <p:spPr>
          <a:xfrm>
            <a:off x="8065008" y="3163824"/>
            <a:ext cx="3383280" cy="512064"/>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③ PMOの全案件ビュー</a:t>
            </a:r>
            <a:endParaRPr lang="en-US" sz="1250" dirty="0"/>
          </a:p>
        </p:txBody>
      </p:sp>
      <p:sp>
        <p:nvSpPr>
          <p:cNvPr id="21" name="Text 19"/>
          <p:cNvSpPr/>
          <p:nvPr/>
        </p:nvSpPr>
        <p:spPr>
          <a:xfrm>
            <a:off x="7882128" y="3785616"/>
            <a:ext cx="3749040" cy="274320"/>
          </a:xfrm>
          <a:prstGeom prst="rect">
            <a:avLst/>
          </a:prstGeom>
          <a:noFill/>
          <a:ln/>
        </p:spPr>
        <p:txBody>
          <a:bodyPr wrap="square" lIns="0" tIns="0" rIns="0" bIns="0" rtlCol="0" anchor="ctr"/>
          <a:lstStyle/>
          <a:p>
            <a:pPr algn="ctr" indent="0" marL="0">
              <a:buNone/>
            </a:pPr>
            <a:r>
              <a:rPr lang="en-US" sz="1050" b="1" dirty="0">
                <a:solidFill>
                  <a:srgbClr val="2C5F8D"/>
                </a:solidFill>
                <a:latin typeface="Meiryo" pitchFamily="34" charset="0"/>
                <a:ea typeface="Meiryo" pitchFamily="34" charset="-122"/>
                <a:cs typeface="Meiryo" pitchFamily="34" charset="-120"/>
              </a:rPr>
              <a:t>課題A の解決</a:t>
            </a:r>
            <a:endParaRPr lang="en-US" sz="1050" dirty="0"/>
          </a:p>
        </p:txBody>
      </p:sp>
      <p:sp>
        <p:nvSpPr>
          <p:cNvPr id="22" name="Shape 20"/>
          <p:cNvSpPr/>
          <p:nvPr/>
        </p:nvSpPr>
        <p:spPr>
          <a:xfrm>
            <a:off x="566928" y="4498848"/>
            <a:ext cx="11057839" cy="1463040"/>
          </a:xfrm>
          <a:prstGeom prst="roundRect">
            <a:avLst>
              <a:gd name="adj" fmla="val 3750"/>
            </a:avLst>
          </a:prstGeom>
          <a:solidFill>
            <a:srgbClr val="16233F"/>
          </a:solidFill>
          <a:ln/>
          <a:effectLst>
            <a:outerShdw sx="100000" sy="100000" kx="0" ky="0" algn="bl" rotWithShape="0" blurRad="127000" dist="25400" dir="5400000">
              <a:srgbClr val="8A97AC">
                <a:alpha val="22000"/>
              </a:srgbClr>
            </a:outerShdw>
          </a:effectLst>
        </p:spPr>
      </p:sp>
      <p:sp>
        <p:nvSpPr>
          <p:cNvPr id="23" name="Text 21"/>
          <p:cNvSpPr/>
          <p:nvPr/>
        </p:nvSpPr>
        <p:spPr>
          <a:xfrm>
            <a:off x="1024128" y="4498848"/>
            <a:ext cx="10143439" cy="146304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会議で決まったToDoは、転記せずにそのまま案件のタスクになります。二重入力は発生しません。</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058400" y="4023360"/>
            <a:ext cx="3291840" cy="3291840"/>
          </a:xfrm>
          <a:prstGeom prst="ellipse">
            <a:avLst/>
          </a:prstGeom>
          <a:solidFill>
            <a:srgbClr val="1F7A6C">
              <a:alpha val="32000"/>
            </a:srgbClr>
          </a:solidFill>
          <a:ln/>
        </p:spPr>
      </p:sp>
      <p:sp>
        <p:nvSpPr>
          <p:cNvPr id="3" name="Shape 1"/>
          <p:cNvSpPr/>
          <p:nvPr/>
        </p:nvSpPr>
        <p:spPr>
          <a:xfrm>
            <a:off x="566928" y="2432304"/>
            <a:ext cx="896112" cy="896112"/>
          </a:xfrm>
          <a:prstGeom prst="ellipse">
            <a:avLst/>
          </a:prstGeom>
          <a:solidFill>
            <a:srgbClr val="1F7A6C"/>
          </a:solidFill>
          <a:ln/>
        </p:spPr>
      </p:sp>
      <p:sp>
        <p:nvSpPr>
          <p:cNvPr id="4" name="Text 2"/>
          <p:cNvSpPr/>
          <p:nvPr/>
        </p:nvSpPr>
        <p:spPr>
          <a:xfrm>
            <a:off x="566928" y="2432304"/>
            <a:ext cx="896112" cy="896112"/>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2</a:t>
            </a:r>
            <a:endParaRPr lang="en-US" sz="3000" dirty="0"/>
          </a:p>
        </p:txBody>
      </p:sp>
      <p:sp>
        <p:nvSpPr>
          <p:cNvPr id="5" name="Text 3"/>
          <p:cNvSpPr/>
          <p:nvPr/>
        </p:nvSpPr>
        <p:spPr>
          <a:xfrm>
            <a:off x="1792224" y="2395728"/>
            <a:ext cx="8412480" cy="658368"/>
          </a:xfrm>
          <a:prstGeom prst="rect">
            <a:avLst/>
          </a:prstGeom>
          <a:noFill/>
          <a:ln/>
        </p:spPr>
        <p:txBody>
          <a:bodyPr wrap="square" lIns="0" tIns="0" rIns="0" bIns="0" rtlCol="0" anchor="ctr"/>
          <a:lstStyle/>
          <a:p>
            <a:pPr indent="0" marL="0">
              <a:buNone/>
            </a:pPr>
            <a:r>
              <a:rPr lang="en-US" sz="3300" b="1" dirty="0">
                <a:solidFill>
                  <a:srgbClr val="FFFFFF"/>
                </a:solidFill>
                <a:latin typeface="Meiryo" pitchFamily="34" charset="0"/>
                <a:ea typeface="Meiryo" pitchFamily="34" charset="-122"/>
                <a:cs typeface="Meiryo" pitchFamily="34" charset="-120"/>
              </a:rPr>
              <a:t>なぜNotionなのか</a:t>
            </a:r>
            <a:endParaRPr lang="en-US" sz="3300" dirty="0"/>
          </a:p>
        </p:txBody>
      </p:sp>
      <p:sp>
        <p:nvSpPr>
          <p:cNvPr id="6" name="Text 4"/>
          <p:cNvSpPr/>
          <p:nvPr/>
        </p:nvSpPr>
        <p:spPr>
          <a:xfrm>
            <a:off x="1792224" y="3127248"/>
            <a:ext cx="8412480" cy="365760"/>
          </a:xfrm>
          <a:prstGeom prst="rect">
            <a:avLst/>
          </a:prstGeom>
          <a:noFill/>
          <a:ln/>
        </p:spPr>
        <p:txBody>
          <a:bodyPr wrap="square" lIns="0" tIns="0" rIns="0" bIns="0" rtlCol="0" anchor="ctr"/>
          <a:lstStyle/>
          <a:p>
            <a:pPr indent="0" marL="0">
              <a:buNone/>
            </a:pPr>
            <a:r>
              <a:rPr lang="en-US" sz="1400" dirty="0">
                <a:solidFill>
                  <a:srgbClr val="9FB0CC"/>
                </a:solidFill>
                <a:latin typeface="Meiryo" pitchFamily="34" charset="0"/>
                <a:ea typeface="Meiryo" pitchFamily="34" charset="-122"/>
                <a:cs typeface="Meiryo" pitchFamily="34" charset="-120"/>
              </a:rPr>
              <a:t>既存ツールで代替できない理由</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検討の経緯</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一部はMicrosoft 365で対応します。残りが本日のご相談です</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91056"/>
          <a:ext cx="11057839" cy="914400"/>
        </p:xfrm>
        <a:graphic>
          <a:graphicData uri="http://schemas.openxmlformats.org/drawingml/2006/table">
            <a:tbl>
              <a:tblPr/>
              <a:tblGrid>
                <a:gridCol w="3200400"/>
                <a:gridCol w="3566160"/>
                <a:gridCol w="4306824"/>
              </a:tblGrid>
              <a:tr h="457200">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やりたいこと</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Microsoft 365 での解</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判断</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チャットの可視化</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Teamsのパブリックチーム／チャネル</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E7D5B"/>
                          </a:solidFill>
                          <a:latin typeface="Meiryo" pitchFamily="34" charset="0"/>
                          <a:ea typeface="Meiryo" pitchFamily="34" charset="-122"/>
                          <a:cs typeface="Meiryo" pitchFamily="34" charset="-120"/>
                        </a:rPr>
                        <a:t>Notionは不要。この方針で実施します</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タスク・WBS・ガント（課題A）</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Planner（上位機能は追加ライセンス）</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案件情報・議事録と別の場所に持つことになる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ストック情報・議事録（課題B）</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Loop / SharePoint / OneNote</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文書であってデータではない。集計・横断が困難</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案件の一覧・台帳（課題A）</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Lists</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議事録・ドキュメントと連動しない</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4334256"/>
            <a:ext cx="11057839" cy="1133856"/>
          </a:xfrm>
          <a:prstGeom prst="roundRect">
            <a:avLst>
              <a:gd name="adj" fmla="val 4839"/>
            </a:avLst>
          </a:prstGeom>
          <a:solidFill>
            <a:srgbClr val="F7E9E7"/>
          </a:solidFill>
          <a:ln/>
          <a:effectLst>
            <a:outerShdw sx="100000" sy="100000" kx="0" ky="0" algn="bl" rotWithShape="0" blurRad="127000" dist="25400" dir="5400000">
              <a:srgbClr val="8A97AC">
                <a:alpha val="22000"/>
              </a:srgbClr>
            </a:outerShdw>
          </a:effectLst>
        </p:spPr>
      </p:sp>
      <p:sp>
        <p:nvSpPr>
          <p:cNvPr id="6" name="Text 3"/>
          <p:cNvSpPr/>
          <p:nvPr/>
        </p:nvSpPr>
        <p:spPr>
          <a:xfrm>
            <a:off x="969264" y="4443984"/>
            <a:ext cx="10253167" cy="365760"/>
          </a:xfrm>
          <a:prstGeom prst="rect">
            <a:avLst/>
          </a:prstGeom>
          <a:noFill/>
          <a:ln/>
        </p:spPr>
        <p:txBody>
          <a:bodyPr wrap="square" lIns="0" tIns="0" rIns="0" bIns="0" rtlCol="0" anchor="ctr"/>
          <a:lstStyle/>
          <a:p>
            <a:pPr indent="0" marL="0">
              <a:buNone/>
            </a:pPr>
            <a:r>
              <a:rPr lang="en-US" sz="1400" b="1" dirty="0">
                <a:solidFill>
                  <a:srgbClr val="B3423A"/>
                </a:solidFill>
                <a:latin typeface="Meiryo" pitchFamily="34" charset="0"/>
                <a:ea typeface="Meiryo" pitchFamily="34" charset="-122"/>
                <a:cs typeface="Meiryo" pitchFamily="34" charset="-120"/>
              </a:rPr>
              <a:t>すべてを満たそうとすると Planner ＋ Lists ＋ Loop ＋ SharePoint の併用になります。</a:t>
            </a:r>
            <a:endParaRPr lang="en-US" sz="1400" dirty="0"/>
          </a:p>
        </p:txBody>
      </p:sp>
      <p:sp>
        <p:nvSpPr>
          <p:cNvPr id="7" name="Text 4"/>
          <p:cNvSpPr/>
          <p:nvPr/>
        </p:nvSpPr>
        <p:spPr>
          <a:xfrm>
            <a:off x="969264" y="4828032"/>
            <a:ext cx="10253167" cy="512064"/>
          </a:xfrm>
          <a:prstGeom prst="rect">
            <a:avLst/>
          </a:prstGeom>
          <a:noFill/>
          <a:ln/>
        </p:spPr>
        <p:txBody>
          <a:bodyPr wrap="square" lIns="0" tIns="0" rIns="0" bIns="0" rtlCol="0" anchor="ctr"/>
          <a:lstStyle/>
          <a:p>
            <a:pPr indent="0" marL="0">
              <a:lnSpc>
                <a:spcPts val="1800"/>
              </a:lnSpc>
              <a:buNone/>
            </a:pPr>
            <a:r>
              <a:rPr lang="en-US" sz="1200" dirty="0">
                <a:solidFill>
                  <a:srgbClr val="7A3A34"/>
                </a:solidFill>
                <a:latin typeface="Meiryo" pitchFamily="34" charset="0"/>
                <a:ea typeface="Meiryo" pitchFamily="34" charset="-122"/>
                <a:cs typeface="Meiryo" pitchFamily="34" charset="-120"/>
              </a:rPr>
              <a:t>同じ情報を複数箇所に入力する二重管理が生まれ、どれが最新か分からなくなる。いま解決したい「分散」を、別の形で作り直すことになります。</a:t>
            </a:r>
            <a:endParaRPr lang="en-US" sz="1200" dirty="0"/>
          </a:p>
        </p:txBody>
      </p:sp>
      <p:sp>
        <p:nvSpPr>
          <p:cNvPr id="8" name="Shape 5"/>
          <p:cNvSpPr/>
          <p:nvPr/>
        </p:nvSpPr>
        <p:spPr>
          <a:xfrm>
            <a:off x="566928" y="5632704"/>
            <a:ext cx="11057839" cy="822960"/>
          </a:xfrm>
          <a:prstGeom prst="roundRect">
            <a:avLst>
              <a:gd name="adj" fmla="val 6667"/>
            </a:avLst>
          </a:prstGeom>
          <a:solidFill>
            <a:srgbClr val="16233F"/>
          </a:solidFill>
          <a:ln/>
          <a:effectLst>
            <a:outerShdw sx="100000" sy="100000" kx="0" ky="0" algn="bl" rotWithShape="0" blurRad="127000" dist="25400" dir="5400000">
              <a:srgbClr val="8A97AC">
                <a:alpha val="22000"/>
              </a:srgbClr>
            </a:outerShdw>
          </a:effectLst>
        </p:spPr>
      </p:sp>
      <p:sp>
        <p:nvSpPr>
          <p:cNvPr id="9" name="Text 6"/>
          <p:cNvSpPr/>
          <p:nvPr/>
        </p:nvSpPr>
        <p:spPr>
          <a:xfrm>
            <a:off x="969264" y="5632704"/>
            <a:ext cx="10253167" cy="82296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Microsoft 365 ＝ 保管・伝達　／　Notion ＝ 構造化された実行管理　― M365は継続利用し、置き換えません</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選定理由</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違いは一点。議事録が「文書」ではなく「データ」であること</a:t>
            </a:r>
            <a:endParaRPr lang="en-US" sz="2700" dirty="0"/>
          </a:p>
        </p:txBody>
      </p:sp>
      <p:sp>
        <p:nvSpPr>
          <p:cNvPr id="4" name="Shape 2"/>
          <p:cNvSpPr/>
          <p:nvPr/>
        </p:nvSpPr>
        <p:spPr>
          <a:xfrm>
            <a:off x="566928" y="1554480"/>
            <a:ext cx="5486400" cy="3529584"/>
          </a:xfrm>
          <a:prstGeom prst="roundRect">
            <a:avLst>
              <a:gd name="adj" fmla="val 1554"/>
            </a:avLst>
          </a:prstGeom>
          <a:solidFill>
            <a:srgbClr val="F4F5F7"/>
          </a:solidFill>
          <a:ln/>
          <a:effectLst>
            <a:outerShdw sx="100000" sy="100000" kx="0" ky="0" algn="bl" rotWithShape="0" blurRad="127000" dist="25400" dir="5400000">
              <a:srgbClr val="8A97AC">
                <a:alpha val="22000"/>
              </a:srgbClr>
            </a:outerShdw>
          </a:effectLst>
        </p:spPr>
      </p:sp>
      <p:sp>
        <p:nvSpPr>
          <p:cNvPr id="5" name="Text 3"/>
          <p:cNvSpPr/>
          <p:nvPr/>
        </p:nvSpPr>
        <p:spPr>
          <a:xfrm>
            <a:off x="896112" y="1773936"/>
            <a:ext cx="4828032" cy="402336"/>
          </a:xfrm>
          <a:prstGeom prst="rect">
            <a:avLst/>
          </a:prstGeom>
          <a:noFill/>
          <a:ln/>
        </p:spPr>
        <p:txBody>
          <a:bodyPr wrap="square" lIns="0" tIns="0" rIns="0" bIns="0" rtlCol="0" anchor="ctr"/>
          <a:lstStyle/>
          <a:p>
            <a:pPr indent="0" marL="0">
              <a:buNone/>
            </a:pPr>
            <a:r>
              <a:rPr lang="en-US" sz="1900" b="1" dirty="0">
                <a:solidFill>
                  <a:srgbClr val="1A1F2B"/>
                </a:solidFill>
                <a:latin typeface="Meiryo" pitchFamily="34" charset="0"/>
                <a:ea typeface="Meiryo" pitchFamily="34" charset="-122"/>
                <a:cs typeface="Meiryo" pitchFamily="34" charset="-120"/>
              </a:rPr>
              <a:t>Word / OneNote / Loop</a:t>
            </a:r>
            <a:endParaRPr lang="en-US" sz="1900" dirty="0"/>
          </a:p>
        </p:txBody>
      </p:sp>
      <p:sp>
        <p:nvSpPr>
          <p:cNvPr id="6" name="Text 4"/>
          <p:cNvSpPr/>
          <p:nvPr/>
        </p:nvSpPr>
        <p:spPr>
          <a:xfrm>
            <a:off x="896112" y="2212848"/>
            <a:ext cx="4828032"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議事録の正体：文書</a:t>
            </a:r>
            <a:endParaRPr lang="en-US" sz="1150" dirty="0"/>
          </a:p>
        </p:txBody>
      </p:sp>
      <p:sp>
        <p:nvSpPr>
          <p:cNvPr id="7" name="Text 5"/>
          <p:cNvSpPr/>
          <p:nvPr/>
        </p:nvSpPr>
        <p:spPr>
          <a:xfrm>
            <a:off x="896112" y="2615184"/>
            <a:ext cx="4828032" cy="548640"/>
          </a:xfrm>
          <a:prstGeom prst="rect">
            <a:avLst/>
          </a:prstGeom>
          <a:noFill/>
          <a:ln/>
        </p:spPr>
        <p:txBody>
          <a:bodyPr wrap="square" lIns="0" tIns="0" rIns="0" bIns="0" rtlCol="0" anchor="ctr"/>
          <a:lstStyle/>
          <a:p>
            <a:pPr indent="0" marL="0">
              <a:lnSpc>
                <a:spcPts val="2000"/>
              </a:lnSpc>
              <a:buNone/>
            </a:pPr>
            <a:r>
              <a:rPr lang="en-US" sz="1250" dirty="0">
                <a:solidFill>
                  <a:srgbClr val="5A6472"/>
                </a:solidFill>
                <a:latin typeface="Meiryo" pitchFamily="34" charset="0"/>
                <a:ea typeface="Meiryo" pitchFamily="34" charset="-122"/>
                <a:cs typeface="Meiryo" pitchFamily="34" charset="-120"/>
              </a:rPr>
              <a:t>決定事項もToDoも、文中に埋まった「文字」でしかない。</a:t>
            </a:r>
            <a:endParaRPr lang="en-US" sz="1250" dirty="0"/>
          </a:p>
        </p:txBody>
      </p:sp>
      <p:sp>
        <p:nvSpPr>
          <p:cNvPr id="8" name="Text 6"/>
          <p:cNvSpPr/>
          <p:nvPr/>
        </p:nvSpPr>
        <p:spPr>
          <a:xfrm>
            <a:off x="896112" y="3602736"/>
            <a:ext cx="4828032" cy="1097280"/>
          </a:xfrm>
          <a:prstGeom prst="rect">
            <a:avLst/>
          </a:prstGeom>
          <a:noFill/>
          <a:ln/>
        </p:spPr>
        <p:txBody>
          <a:bodyPr wrap="square" lIns="0" tIns="0" rIns="0" bIns="0" rtlCol="0" anchor="ctr"/>
          <a:lstStyle/>
          <a:p>
            <a:pPr indent="0" marL="0">
              <a:lnSpc>
                <a:spcPts val="2600"/>
              </a:lnSpc>
              <a:buNone/>
            </a:pPr>
            <a:r>
              <a:rPr lang="en-US" sz="1500" b="1" dirty="0">
                <a:solidFill>
                  <a:srgbClr val="1A1F2B"/>
                </a:solidFill>
                <a:latin typeface="Meiryo" pitchFamily="34" charset="0"/>
                <a:ea typeface="Meiryo" pitchFamily="34" charset="-122"/>
                <a:cs typeface="Meiryo" pitchFamily="34" charset="-120"/>
              </a:rPr>
              <a:t>転記しなければ管理に使えない。</a:t>
            </a:r>
            <a:endParaRPr lang="en-US" sz="1500" dirty="0"/>
          </a:p>
          <a:p>
            <a:pPr indent="0" marL="0">
              <a:lnSpc>
                <a:spcPts val="2600"/>
              </a:lnSpc>
              <a:buNone/>
            </a:pPr>
            <a:r>
              <a:rPr lang="en-US" sz="1500" b="1" dirty="0">
                <a:solidFill>
                  <a:srgbClr val="1A1F2B"/>
                </a:solidFill>
                <a:latin typeface="Meiryo" pitchFamily="34" charset="0"/>
                <a:ea typeface="Meiryo" pitchFamily="34" charset="-122"/>
                <a:cs typeface="Meiryo" pitchFamily="34" charset="-120"/>
              </a:rPr>
              <a:t>転記されなければ、消える。</a:t>
            </a:r>
            <a:endParaRPr lang="en-US" sz="1500" dirty="0"/>
          </a:p>
        </p:txBody>
      </p:sp>
      <p:sp>
        <p:nvSpPr>
          <p:cNvPr id="9" name="Shape 7"/>
          <p:cNvSpPr/>
          <p:nvPr/>
        </p:nvSpPr>
        <p:spPr>
          <a:xfrm>
            <a:off x="6373368" y="1554480"/>
            <a:ext cx="5486400" cy="3529584"/>
          </a:xfrm>
          <a:prstGeom prst="roundRect">
            <a:avLst>
              <a:gd name="adj" fmla="val 1554"/>
            </a:avLst>
          </a:prstGeom>
          <a:solidFill>
            <a:srgbClr val="16233F"/>
          </a:solidFill>
          <a:ln/>
          <a:effectLst>
            <a:outerShdw sx="100000" sy="100000" kx="0" ky="0" algn="bl" rotWithShape="0" blurRad="127000" dist="25400" dir="5400000">
              <a:srgbClr val="8A97AC">
                <a:alpha val="22000"/>
              </a:srgbClr>
            </a:outerShdw>
          </a:effectLst>
        </p:spPr>
      </p:sp>
      <p:sp>
        <p:nvSpPr>
          <p:cNvPr id="10" name="Text 8"/>
          <p:cNvSpPr/>
          <p:nvPr/>
        </p:nvSpPr>
        <p:spPr>
          <a:xfrm>
            <a:off x="6702552" y="1773936"/>
            <a:ext cx="4828032" cy="402336"/>
          </a:xfrm>
          <a:prstGeom prst="rect">
            <a:avLst/>
          </a:prstGeom>
          <a:noFill/>
          <a:ln/>
        </p:spPr>
        <p:txBody>
          <a:bodyPr wrap="square" lIns="0" tIns="0" rIns="0" bIns="0" rtlCol="0" anchor="ctr"/>
          <a:lstStyle/>
          <a:p>
            <a:pPr indent="0" marL="0">
              <a:buNone/>
            </a:pPr>
            <a:r>
              <a:rPr lang="en-US" sz="1900" b="1" dirty="0">
                <a:solidFill>
                  <a:srgbClr val="FFFFFF"/>
                </a:solidFill>
                <a:latin typeface="Meiryo" pitchFamily="34" charset="0"/>
                <a:ea typeface="Meiryo" pitchFamily="34" charset="-122"/>
                <a:cs typeface="Meiryo" pitchFamily="34" charset="-120"/>
              </a:rPr>
              <a:t>Notion</a:t>
            </a:r>
            <a:endParaRPr lang="en-US" sz="1900" dirty="0"/>
          </a:p>
        </p:txBody>
      </p:sp>
      <p:sp>
        <p:nvSpPr>
          <p:cNvPr id="11" name="Text 9"/>
          <p:cNvSpPr/>
          <p:nvPr/>
        </p:nvSpPr>
        <p:spPr>
          <a:xfrm>
            <a:off x="6702552" y="2212848"/>
            <a:ext cx="4828032" cy="274320"/>
          </a:xfrm>
          <a:prstGeom prst="rect">
            <a:avLst/>
          </a:prstGeom>
          <a:noFill/>
          <a:ln/>
        </p:spPr>
        <p:txBody>
          <a:bodyPr wrap="square" lIns="0" tIns="0" rIns="0" bIns="0" rtlCol="0" anchor="ctr"/>
          <a:lstStyle/>
          <a:p>
            <a:pPr indent="0" marL="0">
              <a:buNone/>
            </a:pPr>
            <a:r>
              <a:rPr lang="en-US" sz="1150" b="1" dirty="0">
                <a:solidFill>
                  <a:srgbClr val="E8A33D"/>
                </a:solidFill>
                <a:latin typeface="Meiryo" pitchFamily="34" charset="0"/>
                <a:ea typeface="Meiryo" pitchFamily="34" charset="-122"/>
                <a:cs typeface="Meiryo" pitchFamily="34" charset="-120"/>
              </a:rPr>
              <a:t>議事録の正体：データベースのレコード</a:t>
            </a:r>
            <a:endParaRPr lang="en-US" sz="1150" dirty="0"/>
          </a:p>
        </p:txBody>
      </p:sp>
      <p:sp>
        <p:nvSpPr>
          <p:cNvPr id="12" name="Text 10"/>
          <p:cNvSpPr/>
          <p:nvPr/>
        </p:nvSpPr>
        <p:spPr>
          <a:xfrm>
            <a:off x="6702552" y="2615184"/>
            <a:ext cx="4828032" cy="548640"/>
          </a:xfrm>
          <a:prstGeom prst="rect">
            <a:avLst/>
          </a:prstGeom>
          <a:noFill/>
          <a:ln/>
        </p:spPr>
        <p:txBody>
          <a:bodyPr wrap="square" lIns="0" tIns="0" rIns="0" bIns="0" rtlCol="0" anchor="ctr"/>
          <a:lstStyle/>
          <a:p>
            <a:pPr indent="0" marL="0">
              <a:lnSpc>
                <a:spcPts val="2000"/>
              </a:lnSpc>
              <a:buNone/>
            </a:pPr>
            <a:r>
              <a:rPr lang="en-US" sz="1250" dirty="0">
                <a:solidFill>
                  <a:srgbClr val="C3CEE0"/>
                </a:solidFill>
                <a:latin typeface="Meiryo" pitchFamily="34" charset="0"/>
                <a:ea typeface="Meiryo" pitchFamily="34" charset="-122"/>
                <a:cs typeface="Meiryo" pitchFamily="34" charset="-120"/>
              </a:rPr>
              <a:t>ToDoは、案件に紐づいたタスクそのもの。</a:t>
            </a:r>
            <a:endParaRPr lang="en-US" sz="1250" dirty="0"/>
          </a:p>
        </p:txBody>
      </p:sp>
      <p:sp>
        <p:nvSpPr>
          <p:cNvPr id="13" name="Text 11"/>
          <p:cNvSpPr/>
          <p:nvPr/>
        </p:nvSpPr>
        <p:spPr>
          <a:xfrm>
            <a:off x="6702552" y="3602736"/>
            <a:ext cx="4828032" cy="1097280"/>
          </a:xfrm>
          <a:prstGeom prst="rect">
            <a:avLst/>
          </a:prstGeom>
          <a:noFill/>
          <a:ln/>
        </p:spPr>
        <p:txBody>
          <a:bodyPr wrap="square" lIns="0" tIns="0" rIns="0" bIns="0" rtlCol="0" anchor="ctr"/>
          <a:lstStyle/>
          <a:p>
            <a:pPr indent="0" marL="0">
              <a:lnSpc>
                <a:spcPts val="2600"/>
              </a:lnSpc>
              <a:buNone/>
            </a:pPr>
            <a:r>
              <a:rPr lang="en-US" sz="1500" b="1" dirty="0">
                <a:solidFill>
                  <a:srgbClr val="FFFFFF"/>
                </a:solidFill>
                <a:latin typeface="Meiryo" pitchFamily="34" charset="0"/>
                <a:ea typeface="Meiryo" pitchFamily="34" charset="-122"/>
                <a:cs typeface="Meiryo" pitchFamily="34" charset="-120"/>
              </a:rPr>
              <a:t>議事録を書いた時点で、</a:t>
            </a:r>
            <a:endParaRPr lang="en-US" sz="1500" dirty="0"/>
          </a:p>
          <a:p>
            <a:pPr indent="0" marL="0">
              <a:lnSpc>
                <a:spcPts val="2600"/>
              </a:lnSpc>
              <a:buNone/>
            </a:pPr>
            <a:r>
              <a:rPr lang="en-US" sz="1500" b="1" dirty="0">
                <a:solidFill>
                  <a:srgbClr val="FFFFFF"/>
                </a:solidFill>
                <a:latin typeface="Meiryo" pitchFamily="34" charset="0"/>
                <a:ea typeface="Meiryo" pitchFamily="34" charset="-122"/>
                <a:cs typeface="Meiryo" pitchFamily="34" charset="-120"/>
              </a:rPr>
              <a:t>管理の入力が完了している。</a:t>
            </a:r>
            <a:endParaRPr lang="en-US" sz="1500" dirty="0"/>
          </a:p>
        </p:txBody>
      </p:sp>
      <p:sp>
        <p:nvSpPr>
          <p:cNvPr id="14" name="Text 12"/>
          <p:cNvSpPr/>
          <p:nvPr/>
        </p:nvSpPr>
        <p:spPr>
          <a:xfrm>
            <a:off x="566928" y="5321808"/>
            <a:ext cx="11057839" cy="329184"/>
          </a:xfrm>
          <a:prstGeom prst="rect">
            <a:avLst/>
          </a:prstGeom>
          <a:noFill/>
          <a:ln/>
        </p:spPr>
        <p:txBody>
          <a:bodyPr wrap="square" lIns="0" tIns="0" rIns="0" bIns="0" rtlCol="0" anchor="ctr"/>
          <a:lstStyle/>
          <a:p>
            <a:pPr indent="0" marL="0">
              <a:buNone/>
            </a:pPr>
            <a:r>
              <a:rPr lang="en-US" sz="1400" b="1" dirty="0">
                <a:solidFill>
                  <a:srgbClr val="16233F"/>
                </a:solidFill>
                <a:latin typeface="Meiryo" pitchFamily="34" charset="0"/>
                <a:ea typeface="Meiryo" pitchFamily="34" charset="-122"/>
                <a:cs typeface="Meiryo" pitchFamily="34" charset="-120"/>
              </a:rPr>
              <a:t>「ドキュメントを書く機能」と「データベース機能」が同じ製品の中で繋がっていること。</a:t>
            </a:r>
            <a:endParaRPr lang="en-US" sz="1400" dirty="0"/>
          </a:p>
        </p:txBody>
      </p:sp>
      <p:sp>
        <p:nvSpPr>
          <p:cNvPr id="15" name="Text 13"/>
          <p:cNvSpPr/>
          <p:nvPr/>
        </p:nvSpPr>
        <p:spPr>
          <a:xfrm>
            <a:off x="566928" y="5687568"/>
            <a:ext cx="11057839"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案件 ⇔ 議事録 ⇔ タスクのリレーションと、立場別のビュー（営業／運営／講師管理／PMO）が、1つの実体の上に成立します。</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他ツールとの比較</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専用ツールも検討しましたが、今回の要件には合いません</a:t>
            </a:r>
            <a:endParaRPr lang="en-US" sz="2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591056"/>
          <a:ext cx="11057839" cy="914400"/>
        </p:xfrm>
        <a:graphic>
          <a:graphicData uri="http://schemas.openxmlformats.org/drawingml/2006/table">
            <a:tbl>
              <a:tblPr/>
              <a:tblGrid>
                <a:gridCol w="3017520"/>
                <a:gridCol w="2688336"/>
                <a:gridCol w="3017520"/>
                <a:gridCol w="2350008"/>
              </a:tblGrid>
              <a:tr h="457200">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評価軸</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Microsoft 365</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専用PM管理ツール</a:t>
                      </a:r>
                      <a:endParaRPr lang="en-US" sz="1150" dirty="0">
                        <a:latin typeface="Meiryo" charset="0"/>
                        <a:ea typeface="Meiryo" charset="0"/>
                        <a:cs typeface="Meiryo" charset="0"/>
                      </a:endParaRPr>
                    </a:p>
                    <a:p>
                      <a:pPr indent="0" marL="0">
                        <a:buNone/>
                      </a:pPr>
                      <a:r>
                        <a:rPr lang="en-US" sz="1150" b="1" dirty="0">
                          <a:solidFill>
                            <a:srgbClr val="FFFFFF"/>
                          </a:solidFill>
                          <a:latin typeface="Meiryo" pitchFamily="34" charset="0"/>
                          <a:ea typeface="Meiryo" pitchFamily="34" charset="-122"/>
                          <a:cs typeface="Meiryo" pitchFamily="34" charset="-120"/>
                        </a:rPr>
                        <a:t>（Asana / monday.com 等）</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Notion</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案件管理（課題A）</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Plannerで一部</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得意領域</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実務水準を満たす</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議事録との統合（課題B）</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別アプリになる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ドキュメント機能が弱い</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同一製品内で連結</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ナレッジ蓄積</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SharePoint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不得意</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得意領域</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全社員が使えるか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既に全員が保有</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管理者向けの設計が多い</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学習容易</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課題A・Bを1つで満たすか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bl>
          </a:graphicData>
        </a:graphic>
      </p:graphicFrame>
      <p:sp>
        <p:nvSpPr>
          <p:cNvPr id="5" name="Shape 2"/>
          <p:cNvSpPr/>
          <p:nvPr/>
        </p:nvSpPr>
        <p:spPr>
          <a:xfrm>
            <a:off x="566928" y="4791456"/>
            <a:ext cx="11057839" cy="1371600"/>
          </a:xfrm>
          <a:prstGeom prst="roundRect">
            <a:avLst>
              <a:gd name="adj" fmla="val 4000"/>
            </a:avLst>
          </a:prstGeom>
          <a:solidFill>
            <a:srgbClr val="F1F4F9"/>
          </a:solidFill>
          <a:ln/>
          <a:effectLst>
            <a:outerShdw sx="100000" sy="100000" kx="0" ky="0" algn="bl" rotWithShape="0" blurRad="127000" dist="25400" dir="5400000">
              <a:srgbClr val="8A97AC">
                <a:alpha val="22000"/>
              </a:srgbClr>
            </a:outerShdw>
          </a:effectLst>
        </p:spPr>
      </p:sp>
      <p:sp>
        <p:nvSpPr>
          <p:cNvPr id="6" name="Text 3"/>
          <p:cNvSpPr/>
          <p:nvPr/>
        </p:nvSpPr>
        <p:spPr>
          <a:xfrm>
            <a:off x="969264" y="4937760"/>
            <a:ext cx="10253167" cy="365760"/>
          </a:xfrm>
          <a:prstGeom prst="rect">
            <a:avLst/>
          </a:prstGeom>
          <a:noFill/>
          <a:ln/>
        </p:spPr>
        <p:txBody>
          <a:bodyPr wrap="square" lIns="0" tIns="0" rIns="0" bIns="0" rtlCol="0" anchor="ctr"/>
          <a:lstStyle/>
          <a:p>
            <a:pPr indent="0" marL="0">
              <a:buNone/>
            </a:pPr>
            <a:r>
              <a:rPr lang="en-US" sz="1300" dirty="0">
                <a:solidFill>
                  <a:srgbClr val="1A1F2B"/>
                </a:solidFill>
                <a:latin typeface="Meiryo" pitchFamily="34" charset="0"/>
                <a:ea typeface="Meiryo" pitchFamily="34" charset="-122"/>
                <a:cs typeface="Meiryo" pitchFamily="34" charset="-120"/>
              </a:rPr>
              <a:t>専用PMツールは案件管理単体では優れていますが、議事録・ナレッジと分離するため課題Bが解決しません。</a:t>
            </a:r>
            <a:endParaRPr lang="en-US" sz="1300" dirty="0"/>
          </a:p>
        </p:txBody>
      </p:sp>
      <p:sp>
        <p:nvSpPr>
          <p:cNvPr id="7" name="Text 4"/>
          <p:cNvSpPr/>
          <p:nvPr/>
        </p:nvSpPr>
        <p:spPr>
          <a:xfrm>
            <a:off x="969264" y="5394960"/>
            <a:ext cx="10253167" cy="457200"/>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課題AとBを1つの基盤で解くという要件を満たすのは、Notionのみです。</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デモンストレーション</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実際の画面</a:t>
            </a:r>
            <a:endParaRPr lang="en-US" sz="2700" dirty="0"/>
          </a:p>
        </p:txBody>
      </p:sp>
      <p:sp>
        <p:nvSpPr>
          <p:cNvPr id="4" name="Shape 2"/>
          <p:cNvSpPr/>
          <p:nvPr/>
        </p:nvSpPr>
        <p:spPr>
          <a:xfrm>
            <a:off x="566928" y="1609344"/>
            <a:ext cx="2688336" cy="2286000"/>
          </a:xfrm>
          <a:prstGeom prst="roundRect">
            <a:avLst>
              <a:gd name="adj" fmla="val 2400"/>
            </a:avLst>
          </a:prstGeom>
          <a:solidFill>
            <a:srgbClr val="F1F4F9"/>
          </a:solidFill>
          <a:ln w="12700">
            <a:solidFill>
              <a:srgbClr val="D5DCE6"/>
            </a:solidFill>
            <a:prstDash val="dash"/>
          </a:ln>
        </p:spPr>
      </p:sp>
      <p:sp>
        <p:nvSpPr>
          <p:cNvPr id="5" name="Text 3"/>
          <p:cNvSpPr/>
          <p:nvPr/>
        </p:nvSpPr>
        <p:spPr>
          <a:xfrm>
            <a:off x="694944"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6" name="Shape 4"/>
          <p:cNvSpPr/>
          <p:nvPr/>
        </p:nvSpPr>
        <p:spPr>
          <a:xfrm>
            <a:off x="566928" y="4023360"/>
            <a:ext cx="402336" cy="402336"/>
          </a:xfrm>
          <a:prstGeom prst="ellipse">
            <a:avLst/>
          </a:prstGeom>
          <a:solidFill>
            <a:srgbClr val="16233F"/>
          </a:solidFill>
          <a:ln/>
        </p:spPr>
      </p:sp>
      <p:sp>
        <p:nvSpPr>
          <p:cNvPr id="7" name="Text 5"/>
          <p:cNvSpPr/>
          <p:nvPr/>
        </p:nvSpPr>
        <p:spPr>
          <a:xfrm>
            <a:off x="566928"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8" name="Text 6"/>
          <p:cNvSpPr/>
          <p:nvPr/>
        </p:nvSpPr>
        <p:spPr>
          <a:xfrm>
            <a:off x="1097280"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会議ページ</a:t>
            </a:r>
            <a:endParaRPr lang="en-US" sz="1350" dirty="0"/>
          </a:p>
        </p:txBody>
      </p:sp>
      <p:sp>
        <p:nvSpPr>
          <p:cNvPr id="9" name="Text 7"/>
          <p:cNvSpPr/>
          <p:nvPr/>
        </p:nvSpPr>
        <p:spPr>
          <a:xfrm>
            <a:off x="566928"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アジェンダ → 議事録 → 決定事項</a:t>
            </a:r>
            <a:endParaRPr lang="en-US" sz="1100" dirty="0"/>
          </a:p>
        </p:txBody>
      </p:sp>
      <p:sp>
        <p:nvSpPr>
          <p:cNvPr id="10" name="Shape 8"/>
          <p:cNvSpPr/>
          <p:nvPr/>
        </p:nvSpPr>
        <p:spPr>
          <a:xfrm>
            <a:off x="3520440" y="1609344"/>
            <a:ext cx="2688336" cy="2286000"/>
          </a:xfrm>
          <a:prstGeom prst="roundRect">
            <a:avLst>
              <a:gd name="adj" fmla="val 2400"/>
            </a:avLst>
          </a:prstGeom>
          <a:solidFill>
            <a:srgbClr val="F1F4F9"/>
          </a:solidFill>
          <a:ln w="12700">
            <a:solidFill>
              <a:srgbClr val="D5DCE6"/>
            </a:solidFill>
            <a:prstDash val="dash"/>
          </a:ln>
        </p:spPr>
      </p:sp>
      <p:sp>
        <p:nvSpPr>
          <p:cNvPr id="11" name="Text 9"/>
          <p:cNvSpPr/>
          <p:nvPr/>
        </p:nvSpPr>
        <p:spPr>
          <a:xfrm>
            <a:off x="3648456"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12" name="Shape 10"/>
          <p:cNvSpPr/>
          <p:nvPr/>
        </p:nvSpPr>
        <p:spPr>
          <a:xfrm>
            <a:off x="3520440" y="4023360"/>
            <a:ext cx="402336" cy="402336"/>
          </a:xfrm>
          <a:prstGeom prst="ellipse">
            <a:avLst/>
          </a:prstGeom>
          <a:solidFill>
            <a:srgbClr val="16233F"/>
          </a:solidFill>
          <a:ln/>
        </p:spPr>
      </p:sp>
      <p:sp>
        <p:nvSpPr>
          <p:cNvPr id="13" name="Text 11"/>
          <p:cNvSpPr/>
          <p:nvPr/>
        </p:nvSpPr>
        <p:spPr>
          <a:xfrm>
            <a:off x="3520440"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Text 12"/>
          <p:cNvSpPr/>
          <p:nvPr/>
        </p:nvSpPr>
        <p:spPr>
          <a:xfrm>
            <a:off x="4050792"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生成されたタスク</a:t>
            </a:r>
            <a:endParaRPr lang="en-US" sz="1350" dirty="0"/>
          </a:p>
        </p:txBody>
      </p:sp>
      <p:sp>
        <p:nvSpPr>
          <p:cNvPr id="15" name="Text 13"/>
          <p:cNvSpPr/>
          <p:nvPr/>
        </p:nvSpPr>
        <p:spPr>
          <a:xfrm>
            <a:off x="3520440"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決定事項がそのままタスクに</a:t>
            </a:r>
            <a:endParaRPr lang="en-US" sz="1100" dirty="0"/>
          </a:p>
        </p:txBody>
      </p:sp>
      <p:sp>
        <p:nvSpPr>
          <p:cNvPr id="16" name="Shape 14"/>
          <p:cNvSpPr/>
          <p:nvPr/>
        </p:nvSpPr>
        <p:spPr>
          <a:xfrm>
            <a:off x="6473952" y="1609344"/>
            <a:ext cx="2688336" cy="2286000"/>
          </a:xfrm>
          <a:prstGeom prst="roundRect">
            <a:avLst>
              <a:gd name="adj" fmla="val 2400"/>
            </a:avLst>
          </a:prstGeom>
          <a:solidFill>
            <a:srgbClr val="F1F4F9"/>
          </a:solidFill>
          <a:ln w="12700">
            <a:solidFill>
              <a:srgbClr val="D5DCE6"/>
            </a:solidFill>
            <a:prstDash val="dash"/>
          </a:ln>
        </p:spPr>
      </p:sp>
      <p:sp>
        <p:nvSpPr>
          <p:cNvPr id="17" name="Text 15"/>
          <p:cNvSpPr/>
          <p:nvPr/>
        </p:nvSpPr>
        <p:spPr>
          <a:xfrm>
            <a:off x="6601968"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18" name="Shape 16"/>
          <p:cNvSpPr/>
          <p:nvPr/>
        </p:nvSpPr>
        <p:spPr>
          <a:xfrm>
            <a:off x="6473952" y="4023360"/>
            <a:ext cx="402336" cy="402336"/>
          </a:xfrm>
          <a:prstGeom prst="ellipse">
            <a:avLst/>
          </a:prstGeom>
          <a:solidFill>
            <a:srgbClr val="16233F"/>
          </a:solidFill>
          <a:ln/>
        </p:spPr>
      </p:sp>
      <p:sp>
        <p:nvSpPr>
          <p:cNvPr id="19" name="Text 17"/>
          <p:cNvSpPr/>
          <p:nvPr/>
        </p:nvSpPr>
        <p:spPr>
          <a:xfrm>
            <a:off x="6473952"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20" name="Text 18"/>
          <p:cNvSpPr/>
          <p:nvPr/>
        </p:nvSpPr>
        <p:spPr>
          <a:xfrm>
            <a:off x="7004304"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案件ページ</a:t>
            </a:r>
            <a:endParaRPr lang="en-US" sz="1350" dirty="0"/>
          </a:p>
        </p:txBody>
      </p:sp>
      <p:sp>
        <p:nvSpPr>
          <p:cNvPr id="21" name="Text 19"/>
          <p:cNvSpPr/>
          <p:nvPr/>
        </p:nvSpPr>
        <p:spPr>
          <a:xfrm>
            <a:off x="6473952"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タスクが案件に紐づいた状態</a:t>
            </a:r>
            <a:endParaRPr lang="en-US" sz="1100" dirty="0"/>
          </a:p>
        </p:txBody>
      </p:sp>
      <p:sp>
        <p:nvSpPr>
          <p:cNvPr id="22" name="Shape 20"/>
          <p:cNvSpPr/>
          <p:nvPr/>
        </p:nvSpPr>
        <p:spPr>
          <a:xfrm>
            <a:off x="9427464" y="1609344"/>
            <a:ext cx="2688336" cy="2286000"/>
          </a:xfrm>
          <a:prstGeom prst="roundRect">
            <a:avLst>
              <a:gd name="adj" fmla="val 2400"/>
            </a:avLst>
          </a:prstGeom>
          <a:solidFill>
            <a:srgbClr val="F1F4F9"/>
          </a:solidFill>
          <a:ln w="12700">
            <a:solidFill>
              <a:srgbClr val="D5DCE6"/>
            </a:solidFill>
            <a:prstDash val="dash"/>
          </a:ln>
        </p:spPr>
      </p:sp>
      <p:sp>
        <p:nvSpPr>
          <p:cNvPr id="23" name="Text 21"/>
          <p:cNvSpPr/>
          <p:nvPr/>
        </p:nvSpPr>
        <p:spPr>
          <a:xfrm>
            <a:off x="9555480"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24" name="Shape 22"/>
          <p:cNvSpPr/>
          <p:nvPr/>
        </p:nvSpPr>
        <p:spPr>
          <a:xfrm>
            <a:off x="9427464" y="4023360"/>
            <a:ext cx="402336" cy="402336"/>
          </a:xfrm>
          <a:prstGeom prst="ellipse">
            <a:avLst/>
          </a:prstGeom>
          <a:solidFill>
            <a:srgbClr val="16233F"/>
          </a:solidFill>
          <a:ln/>
        </p:spPr>
      </p:sp>
      <p:sp>
        <p:nvSpPr>
          <p:cNvPr id="25" name="Text 23"/>
          <p:cNvSpPr/>
          <p:nvPr/>
        </p:nvSpPr>
        <p:spPr>
          <a:xfrm>
            <a:off x="9427464"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6" name="Text 24"/>
          <p:cNvSpPr/>
          <p:nvPr/>
        </p:nvSpPr>
        <p:spPr>
          <a:xfrm>
            <a:off x="9957816"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PMOの横断ビュー</a:t>
            </a:r>
            <a:endParaRPr lang="en-US" sz="1350" dirty="0"/>
          </a:p>
        </p:txBody>
      </p:sp>
      <p:sp>
        <p:nvSpPr>
          <p:cNvPr id="27" name="Text 25"/>
          <p:cNvSpPr/>
          <p:nvPr/>
        </p:nvSpPr>
        <p:spPr>
          <a:xfrm>
            <a:off x="9427464"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全案件の進捗とガント</a:t>
            </a:r>
            <a:endParaRPr lang="en-US" sz="1100" dirty="0"/>
          </a:p>
        </p:txBody>
      </p:sp>
      <p:sp>
        <p:nvSpPr>
          <p:cNvPr id="28" name="Shape 26"/>
          <p:cNvSpPr/>
          <p:nvPr/>
        </p:nvSpPr>
        <p:spPr>
          <a:xfrm>
            <a:off x="566928" y="5230368"/>
            <a:ext cx="11057839" cy="749808"/>
          </a:xfrm>
          <a:prstGeom prst="roundRect">
            <a:avLst>
              <a:gd name="adj" fmla="val 7317"/>
            </a:avLst>
          </a:prstGeom>
          <a:solidFill>
            <a:srgbClr val="FBF3E4"/>
          </a:solidFill>
          <a:ln/>
          <a:effectLst>
            <a:outerShdw sx="100000" sy="100000" kx="0" ky="0" algn="bl" rotWithShape="0" blurRad="127000" dist="25400" dir="5400000">
              <a:srgbClr val="8A97AC">
                <a:alpha val="22000"/>
              </a:srgbClr>
            </a:outerShdw>
          </a:effectLst>
        </p:spPr>
      </p:sp>
      <p:sp>
        <p:nvSpPr>
          <p:cNvPr id="29" name="Text 27"/>
          <p:cNvSpPr/>
          <p:nvPr/>
        </p:nvSpPr>
        <p:spPr>
          <a:xfrm>
            <a:off x="950976" y="5230368"/>
            <a:ext cx="10289743" cy="749808"/>
          </a:xfrm>
          <a:prstGeom prst="rect">
            <a:avLst/>
          </a:prstGeom>
          <a:noFill/>
          <a:ln/>
        </p:spPr>
        <p:txBody>
          <a:bodyPr wrap="square" lIns="0" tIns="0" rIns="0" bIns="0" rtlCol="0" anchor="ctr"/>
          <a:lstStyle/>
          <a:p>
            <a:pPr indent="0" marL="0">
              <a:buNone/>
            </a:pPr>
            <a:r>
              <a:rPr lang="en-US" sz="1250" b="1" dirty="0">
                <a:solidFill>
                  <a:srgbClr val="7A5410"/>
                </a:solidFill>
                <a:latin typeface="Meiryo" pitchFamily="34" charset="0"/>
                <a:ea typeface="Meiryo" pitchFamily="34" charset="-122"/>
                <a:cs typeface="Meiryo" pitchFamily="34" charset="-120"/>
              </a:rPr>
              <a:t>要準備：架空の研修案件で、アジェンダ → 議事録 → タスク → ガントが繋がった状態を作っておくこと</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058400" y="4023360"/>
            <a:ext cx="3291840" cy="3291840"/>
          </a:xfrm>
          <a:prstGeom prst="ellipse">
            <a:avLst/>
          </a:prstGeom>
          <a:solidFill>
            <a:srgbClr val="E8A33D">
              <a:alpha val="32000"/>
            </a:srgbClr>
          </a:solidFill>
          <a:ln/>
        </p:spPr>
      </p:sp>
      <p:sp>
        <p:nvSpPr>
          <p:cNvPr id="3" name="Shape 1"/>
          <p:cNvSpPr/>
          <p:nvPr/>
        </p:nvSpPr>
        <p:spPr>
          <a:xfrm>
            <a:off x="566928" y="2432304"/>
            <a:ext cx="896112" cy="896112"/>
          </a:xfrm>
          <a:prstGeom prst="ellipse">
            <a:avLst/>
          </a:prstGeom>
          <a:solidFill>
            <a:srgbClr val="E8A33D"/>
          </a:solidFill>
          <a:ln/>
        </p:spPr>
      </p:sp>
      <p:sp>
        <p:nvSpPr>
          <p:cNvPr id="4" name="Text 2"/>
          <p:cNvSpPr/>
          <p:nvPr/>
        </p:nvSpPr>
        <p:spPr>
          <a:xfrm>
            <a:off x="566928" y="2432304"/>
            <a:ext cx="896112" cy="896112"/>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3</a:t>
            </a:r>
            <a:endParaRPr lang="en-US" sz="3000" dirty="0"/>
          </a:p>
        </p:txBody>
      </p:sp>
      <p:sp>
        <p:nvSpPr>
          <p:cNvPr id="5" name="Text 3"/>
          <p:cNvSpPr/>
          <p:nvPr/>
        </p:nvSpPr>
        <p:spPr>
          <a:xfrm>
            <a:off x="1792224" y="2395728"/>
            <a:ext cx="8412480" cy="658368"/>
          </a:xfrm>
          <a:prstGeom prst="rect">
            <a:avLst/>
          </a:prstGeom>
          <a:noFill/>
          <a:ln/>
        </p:spPr>
        <p:txBody>
          <a:bodyPr wrap="square" lIns="0" tIns="0" rIns="0" bIns="0" rtlCol="0" anchor="ctr"/>
          <a:lstStyle/>
          <a:p>
            <a:pPr indent="0" marL="0">
              <a:buNone/>
            </a:pPr>
            <a:r>
              <a:rPr lang="en-US" sz="3300" b="1" dirty="0">
                <a:solidFill>
                  <a:srgbClr val="FFFFFF"/>
                </a:solidFill>
                <a:latin typeface="Meiryo" pitchFamily="34" charset="0"/>
                <a:ea typeface="Meiryo" pitchFamily="34" charset="-122"/>
                <a:cs typeface="Meiryo" pitchFamily="34" charset="-120"/>
              </a:rPr>
              <a:t>導入判断の材料</a:t>
            </a:r>
            <a:endParaRPr lang="en-US" sz="3300" dirty="0"/>
          </a:p>
        </p:txBody>
      </p:sp>
      <p:sp>
        <p:nvSpPr>
          <p:cNvPr id="6" name="Text 4"/>
          <p:cNvSpPr/>
          <p:nvPr/>
        </p:nvSpPr>
        <p:spPr>
          <a:xfrm>
            <a:off x="1792224" y="3127248"/>
            <a:ext cx="8412480" cy="365760"/>
          </a:xfrm>
          <a:prstGeom prst="rect">
            <a:avLst/>
          </a:prstGeom>
          <a:noFill/>
          <a:ln/>
        </p:spPr>
        <p:txBody>
          <a:bodyPr wrap="square" lIns="0" tIns="0" rIns="0" bIns="0" rtlCol="0" anchor="ctr"/>
          <a:lstStyle/>
          <a:p>
            <a:pPr indent="0" marL="0">
              <a:buNone/>
            </a:pPr>
            <a:r>
              <a:rPr lang="en-US" sz="1400" dirty="0">
                <a:solidFill>
                  <a:srgbClr val="9FB0CC"/>
                </a:solidFill>
                <a:latin typeface="Meiryo" pitchFamily="34" charset="0"/>
                <a:ea typeface="Meiryo" pitchFamily="34" charset="-122"/>
                <a:cs typeface="Meiryo" pitchFamily="34" charset="-120"/>
              </a:rPr>
              <a:t>プラン・費用・効果・リスク・進め方</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プラン比較</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3案を比較し、Businessプランの全社導入を推奨します</a:t>
            </a:r>
            <a:endParaRPr lang="en-US" sz="2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554480"/>
          <a:ext cx="11057839" cy="914400"/>
        </p:xfrm>
        <a:graphic>
          <a:graphicData uri="http://schemas.openxmlformats.org/drawingml/2006/table">
            <a:tbl>
              <a:tblPr/>
              <a:tblGrid>
                <a:gridCol w="3200400"/>
                <a:gridCol w="2468880"/>
                <a:gridCol w="2743200"/>
                <a:gridCol w="2660904"/>
              </a:tblGrid>
              <a:tr h="420624">
                <a:tc>
                  <a:txBody>
                    <a:bodyPr/>
                    <a:lstStyle/>
                    <a:p>
                      <a:pPr indent="0" marL="0">
                        <a:buNone/>
                      </a:pP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案1：Plus 全社</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案2：Business 全社</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案3：Business 上層部のみ</a:t>
                      </a:r>
                      <a:endParaRPr lang="en-US" sz="1200" dirty="0">
                        <a:latin typeface="Meiryo" charset="0"/>
                        <a:ea typeface="Meiryo" charset="0"/>
                        <a:cs typeface="Meiryo" charset="0"/>
                      </a:endParaRPr>
                    </a:p>
                    <a:p>
                      <a:pPr indent="0" marL="0">
                        <a:buNone/>
                      </a:pPr>
                      <a:r>
                        <a:rPr lang="en-US" sz="1200" b="1" dirty="0">
                          <a:solidFill>
                            <a:srgbClr val="FFFFFF"/>
                          </a:solidFill>
                          <a:latin typeface="Meiryo" pitchFamily="34" charset="0"/>
                          <a:ea typeface="Meiryo" pitchFamily="34" charset="-122"/>
                          <a:cs typeface="Meiryo" pitchFamily="34" charset="-120"/>
                        </a:rPr>
                        <a:t>＋一般社員はゲスト</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年間費用（140名・年払い）</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277.2万円</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529.2万円</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見かけ上は最小</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SAML SSO（M365連携）</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○（対象者のみ）</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全社員の横断ビュー</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監査ログ / SCIM</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判定</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EFF3"/>
                    </a:solidFill>
                  </a:tcPr>
                </a:tc>
                <a:tc>
                  <a:txBody>
                    <a:bodyPr/>
                    <a:lstStyle/>
                    <a:p>
                      <a:pPr indent="0" marL="0">
                        <a:buNone/>
                      </a:pPr>
                      <a:r>
                        <a:rPr lang="en-US" sz="1200" b="1" dirty="0">
                          <a:solidFill>
                            <a:srgbClr val="B3423A"/>
                          </a:solidFill>
                          <a:latin typeface="Meiryo" pitchFamily="34" charset="0"/>
                          <a:ea typeface="Meiryo" pitchFamily="34" charset="-122"/>
                          <a:cs typeface="Meiryo" pitchFamily="34" charset="-120"/>
                        </a:rPr>
                        <a:t>却下</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EFF3"/>
                    </a:solidFill>
                  </a:tcPr>
                </a:tc>
                <a:tc>
                  <a:txBody>
                    <a:bodyPr/>
                    <a:lstStyle/>
                    <a:p>
                      <a:pPr indent="0" marL="0">
                        <a:buNone/>
                      </a:pPr>
                      <a:r>
                        <a:rPr lang="en-US" sz="1200" b="1" dirty="0">
                          <a:solidFill>
                            <a:srgbClr val="2E7D5B"/>
                          </a:solidFill>
                          <a:latin typeface="Meiryo" pitchFamily="34" charset="0"/>
                          <a:ea typeface="Meiryo" pitchFamily="34" charset="-122"/>
                          <a:cs typeface="Meiryo" pitchFamily="34" charset="-120"/>
                        </a:rPr>
                        <a:t>推奨</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b="1" dirty="0">
                          <a:solidFill>
                            <a:srgbClr val="B3423A"/>
                          </a:solidFill>
                          <a:latin typeface="Meiryo" pitchFamily="34" charset="0"/>
                          <a:ea typeface="Meiryo" pitchFamily="34" charset="-122"/>
                          <a:cs typeface="Meiryo" pitchFamily="34" charset="-120"/>
                        </a:rPr>
                        <a:t>実現不可</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EFF3"/>
                    </a:solidFill>
                  </a:tcPr>
                </a:tc>
              </a:tr>
            </a:tbl>
          </a:graphicData>
        </a:graphic>
      </p:graphicFrame>
      <p:sp>
        <p:nvSpPr>
          <p:cNvPr id="5" name="Shape 2"/>
          <p:cNvSpPr/>
          <p:nvPr/>
        </p:nvSpPr>
        <p:spPr>
          <a:xfrm>
            <a:off x="566928" y="4517136"/>
            <a:ext cx="5486400" cy="1463040"/>
          </a:xfrm>
          <a:prstGeom prst="roundRect">
            <a:avLst>
              <a:gd name="adj" fmla="val 3750"/>
            </a:avLst>
          </a:prstGeom>
          <a:solidFill>
            <a:srgbClr val="F1F4F9"/>
          </a:solidFill>
          <a:ln/>
          <a:effectLst>
            <a:outerShdw sx="100000" sy="100000" kx="0" ky="0" algn="bl" rotWithShape="0" blurRad="127000" dist="25400" dir="5400000">
              <a:srgbClr val="8A97AC">
                <a:alpha val="22000"/>
              </a:srgbClr>
            </a:outerShdw>
          </a:effectLst>
        </p:spPr>
      </p:sp>
      <p:sp>
        <p:nvSpPr>
          <p:cNvPr id="6" name="Shape 3"/>
          <p:cNvSpPr/>
          <p:nvPr/>
        </p:nvSpPr>
        <p:spPr>
          <a:xfrm>
            <a:off x="841248" y="4700016"/>
            <a:ext cx="365760" cy="365760"/>
          </a:xfrm>
          <a:prstGeom prst="ellipse">
            <a:avLst/>
          </a:prstGeom>
          <a:solidFill>
            <a:srgbClr val="B3423A"/>
          </a:solidFill>
          <a:ln/>
        </p:spPr>
      </p:sp>
      <p:sp>
        <p:nvSpPr>
          <p:cNvPr id="7" name="Text 4"/>
          <p:cNvSpPr/>
          <p:nvPr/>
        </p:nvSpPr>
        <p:spPr>
          <a:xfrm>
            <a:off x="841248" y="47000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a:t>
            </a:r>
            <a:endParaRPr lang="en-US" sz="1200" dirty="0"/>
          </a:p>
        </p:txBody>
      </p:sp>
      <p:sp>
        <p:nvSpPr>
          <p:cNvPr id="8" name="Text 5"/>
          <p:cNvSpPr/>
          <p:nvPr/>
        </p:nvSpPr>
        <p:spPr>
          <a:xfrm>
            <a:off x="1316736" y="4681728"/>
            <a:ext cx="4480560" cy="384048"/>
          </a:xfrm>
          <a:prstGeom prst="rect">
            <a:avLst/>
          </a:prstGeom>
          <a:noFill/>
          <a:ln/>
        </p:spPr>
        <p:txBody>
          <a:bodyPr wrap="square" lIns="0" tIns="0" rIns="0" bIns="0" rtlCol="0" anchor="ctr"/>
          <a:lstStyle/>
          <a:p>
            <a:pPr indent="0" marL="0">
              <a:buNone/>
            </a:pPr>
            <a:r>
              <a:rPr lang="en-US" sz="1300" b="1" dirty="0">
                <a:solidFill>
                  <a:srgbClr val="B3423A"/>
                </a:solidFill>
                <a:latin typeface="Meiryo" pitchFamily="34" charset="0"/>
                <a:ea typeface="Meiryo" pitchFamily="34" charset="-122"/>
                <a:cs typeface="Meiryo" pitchFamily="34" charset="-120"/>
              </a:rPr>
              <a:t>案1を却下する理由</a:t>
            </a:r>
            <a:endParaRPr lang="en-US" sz="1300" dirty="0"/>
          </a:p>
        </p:txBody>
      </p:sp>
      <p:sp>
        <p:nvSpPr>
          <p:cNvPr id="9" name="Text 6"/>
          <p:cNvSpPr/>
          <p:nvPr/>
        </p:nvSpPr>
        <p:spPr>
          <a:xfrm>
            <a:off x="841248" y="5138928"/>
            <a:ext cx="4937760" cy="731520"/>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SAML SSOが使えず、Microsoft 365アカウントと連携できない。退職者のアカウント停止が手作業となり、親会社のセキュリティ審査を通せない可能性が高い</a:t>
            </a:r>
            <a:endParaRPr lang="en-US" sz="1100" dirty="0"/>
          </a:p>
        </p:txBody>
      </p:sp>
      <p:sp>
        <p:nvSpPr>
          <p:cNvPr id="10" name="Shape 7"/>
          <p:cNvSpPr/>
          <p:nvPr/>
        </p:nvSpPr>
        <p:spPr>
          <a:xfrm>
            <a:off x="6373368" y="4517136"/>
            <a:ext cx="5486400" cy="1463040"/>
          </a:xfrm>
          <a:prstGeom prst="roundRect">
            <a:avLst>
              <a:gd name="adj" fmla="val 3750"/>
            </a:avLst>
          </a:prstGeom>
          <a:solidFill>
            <a:srgbClr val="F1F4F9"/>
          </a:solidFill>
          <a:ln/>
          <a:effectLst>
            <a:outerShdw sx="100000" sy="100000" kx="0" ky="0" algn="bl" rotWithShape="0" blurRad="127000" dist="25400" dir="5400000">
              <a:srgbClr val="8A97AC">
                <a:alpha val="22000"/>
              </a:srgbClr>
            </a:outerShdw>
          </a:effectLst>
        </p:spPr>
      </p:sp>
      <p:sp>
        <p:nvSpPr>
          <p:cNvPr id="11" name="Shape 8"/>
          <p:cNvSpPr/>
          <p:nvPr/>
        </p:nvSpPr>
        <p:spPr>
          <a:xfrm>
            <a:off x="6647688" y="4700016"/>
            <a:ext cx="365760" cy="365760"/>
          </a:xfrm>
          <a:prstGeom prst="ellipse">
            <a:avLst/>
          </a:prstGeom>
          <a:solidFill>
            <a:srgbClr val="B3423A"/>
          </a:solidFill>
          <a:ln/>
        </p:spPr>
      </p:sp>
      <p:sp>
        <p:nvSpPr>
          <p:cNvPr id="12" name="Text 9"/>
          <p:cNvSpPr/>
          <p:nvPr/>
        </p:nvSpPr>
        <p:spPr>
          <a:xfrm>
            <a:off x="6647688" y="47000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a:t>
            </a:r>
            <a:endParaRPr lang="en-US" sz="1200" dirty="0"/>
          </a:p>
        </p:txBody>
      </p:sp>
      <p:sp>
        <p:nvSpPr>
          <p:cNvPr id="13" name="Text 10"/>
          <p:cNvSpPr/>
          <p:nvPr/>
        </p:nvSpPr>
        <p:spPr>
          <a:xfrm>
            <a:off x="7123176" y="4681728"/>
            <a:ext cx="4480560" cy="384048"/>
          </a:xfrm>
          <a:prstGeom prst="rect">
            <a:avLst/>
          </a:prstGeom>
          <a:noFill/>
          <a:ln/>
        </p:spPr>
        <p:txBody>
          <a:bodyPr wrap="square" lIns="0" tIns="0" rIns="0" bIns="0" rtlCol="0" anchor="ctr"/>
          <a:lstStyle/>
          <a:p>
            <a:pPr indent="0" marL="0">
              <a:buNone/>
            </a:pPr>
            <a:r>
              <a:rPr lang="en-US" sz="1300" b="1" dirty="0">
                <a:solidFill>
                  <a:srgbClr val="B3423A"/>
                </a:solidFill>
                <a:latin typeface="Meiryo" pitchFamily="34" charset="0"/>
                <a:ea typeface="Meiryo" pitchFamily="34" charset="-122"/>
                <a:cs typeface="Meiryo" pitchFamily="34" charset="-120"/>
              </a:rPr>
              <a:t>案3が成立しない理由</a:t>
            </a:r>
            <a:endParaRPr lang="en-US" sz="1300" dirty="0"/>
          </a:p>
        </p:txBody>
      </p:sp>
      <p:sp>
        <p:nvSpPr>
          <p:cNvPr id="14" name="Text 11"/>
          <p:cNvSpPr/>
          <p:nvPr/>
        </p:nvSpPr>
        <p:spPr>
          <a:xfrm>
            <a:off x="6647688" y="5138928"/>
            <a:ext cx="4937760" cy="731520"/>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ゲストは招待されたページしか見られず、横断ビューを持てない。課題A-1（可視性）とA-2（横断性）が解決せず、導入目的そのものが失われる</a:t>
            </a:r>
            <a:endParaRPr lang="en-US" sz="1100" dirty="0"/>
          </a:p>
        </p:txBody>
      </p:sp>
      <p:sp>
        <p:nvSpPr>
          <p:cNvPr id="15" name="Text 12"/>
          <p:cNvSpPr/>
          <p:nvPr/>
        </p:nvSpPr>
        <p:spPr>
          <a:xfrm>
            <a:off x="566928" y="6126480"/>
            <a:ext cx="11057839" cy="274320"/>
          </a:xfrm>
          <a:prstGeom prst="rect">
            <a:avLst/>
          </a:prstGeom>
          <a:noFill/>
          <a:ln/>
        </p:spPr>
        <p:txBody>
          <a:bodyPr wrap="square" lIns="0" tIns="0" rIns="0" bIns="0" rtlCol="0" anchor="ctr"/>
          <a:lstStyle/>
          <a:p>
            <a:pPr indent="0" marL="0">
              <a:buNone/>
            </a:pPr>
            <a:r>
              <a:rPr lang="en-US" sz="1000" dirty="0">
                <a:solidFill>
                  <a:srgbClr val="5A6472"/>
                </a:solidFill>
                <a:latin typeface="Meiryo" pitchFamily="34" charset="0"/>
                <a:ea typeface="Meiryo" pitchFamily="34" charset="-122"/>
                <a:cs typeface="Meiryo" pitchFamily="34" charset="-120"/>
              </a:rPr>
              <a:t>※ 2026年8月時点の公表価格。監査ログまたは国内データ保管が必須要件となる場合はEnterprise（約911万円／年）への切替が必要</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投資額</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費用</a:t>
            </a:r>
            <a:endParaRPr lang="en-US" sz="2700" dirty="0"/>
          </a:p>
        </p:txBody>
      </p:sp>
      <p:sp>
        <p:nvSpPr>
          <p:cNvPr id="4" name="Shape 2"/>
          <p:cNvSpPr/>
          <p:nvPr/>
        </p:nvSpPr>
        <p:spPr>
          <a:xfrm>
            <a:off x="566928" y="1591056"/>
            <a:ext cx="5852160" cy="2377440"/>
          </a:xfrm>
          <a:prstGeom prst="roundRect">
            <a:avLst>
              <a:gd name="adj" fmla="val 2308"/>
            </a:avLst>
          </a:prstGeom>
          <a:solidFill>
            <a:srgbClr val="16233F"/>
          </a:solidFill>
          <a:ln/>
          <a:effectLst>
            <a:outerShdw sx="100000" sy="100000" kx="0" ky="0" algn="bl" rotWithShape="0" blurRad="127000" dist="25400" dir="5400000">
              <a:srgbClr val="8A97AC">
                <a:alpha val="22000"/>
              </a:srgbClr>
            </a:outerShdw>
          </a:effectLst>
        </p:spPr>
      </p:sp>
      <p:sp>
        <p:nvSpPr>
          <p:cNvPr id="5" name="Text 3"/>
          <p:cNvSpPr/>
          <p:nvPr/>
        </p:nvSpPr>
        <p:spPr>
          <a:xfrm>
            <a:off x="969264" y="1810512"/>
            <a:ext cx="5029200" cy="274320"/>
          </a:xfrm>
          <a:prstGeom prst="rect">
            <a:avLst/>
          </a:prstGeom>
          <a:noFill/>
          <a:ln/>
        </p:spPr>
        <p:txBody>
          <a:bodyPr wrap="square" lIns="0" tIns="0" rIns="0" bIns="0" rtlCol="0" anchor="ctr"/>
          <a:lstStyle/>
          <a:p>
            <a:pPr indent="0" marL="0">
              <a:buNone/>
            </a:pPr>
            <a:r>
              <a:rPr lang="en-US" sz="1200" dirty="0">
                <a:solidFill>
                  <a:srgbClr val="9FB0CC"/>
                </a:solidFill>
                <a:latin typeface="Meiryo" pitchFamily="34" charset="0"/>
                <a:ea typeface="Meiryo" pitchFamily="34" charset="-122"/>
                <a:cs typeface="Meiryo" pitchFamily="34" charset="-120"/>
              </a:rPr>
              <a:t>年間ライセンス費用</a:t>
            </a:r>
            <a:endParaRPr lang="en-US" sz="1200" dirty="0"/>
          </a:p>
        </p:txBody>
      </p:sp>
      <p:sp>
        <p:nvSpPr>
          <p:cNvPr id="6" name="Text 4"/>
          <p:cNvSpPr/>
          <p:nvPr/>
        </p:nvSpPr>
        <p:spPr>
          <a:xfrm>
            <a:off x="969264" y="2194560"/>
            <a:ext cx="5029200" cy="749808"/>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529.2万円</a:t>
            </a:r>
            <a:endParaRPr lang="en-US" sz="4000" dirty="0"/>
          </a:p>
        </p:txBody>
      </p:sp>
      <p:sp>
        <p:nvSpPr>
          <p:cNvPr id="7" name="Text 5"/>
          <p:cNvSpPr/>
          <p:nvPr/>
        </p:nvSpPr>
        <p:spPr>
          <a:xfrm>
            <a:off x="969264" y="3127248"/>
            <a:ext cx="5029200" cy="292608"/>
          </a:xfrm>
          <a:prstGeom prst="rect">
            <a:avLst/>
          </a:prstGeom>
          <a:noFill/>
          <a:ln/>
        </p:spPr>
        <p:txBody>
          <a:bodyPr wrap="square" lIns="0" tIns="0" rIns="0" bIns="0" rtlCol="0" anchor="ctr"/>
          <a:lstStyle/>
          <a:p>
            <a:pPr indent="0" marL="0">
              <a:buNone/>
            </a:pPr>
            <a:r>
              <a:rPr lang="en-US" sz="1200" dirty="0">
                <a:solidFill>
                  <a:srgbClr val="C3CEE0"/>
                </a:solidFill>
                <a:latin typeface="Meiryo" pitchFamily="34" charset="0"/>
                <a:ea typeface="Meiryo" pitchFamily="34" charset="-122"/>
                <a:cs typeface="Meiryo" pitchFamily="34" charset="-120"/>
              </a:rPr>
              <a:t>Business 年払い　3,150円 × 140名 × 12か月</a:t>
            </a:r>
            <a:endParaRPr lang="en-US" sz="1200" dirty="0"/>
          </a:p>
        </p:txBody>
      </p:sp>
      <p:sp>
        <p:nvSpPr>
          <p:cNvPr id="8" name="Shape 6"/>
          <p:cNvSpPr/>
          <p:nvPr/>
        </p:nvSpPr>
        <p:spPr>
          <a:xfrm>
            <a:off x="6739128" y="1591056"/>
            <a:ext cx="5120640" cy="2377440"/>
          </a:xfrm>
          <a:prstGeom prst="roundRect">
            <a:avLst>
              <a:gd name="adj" fmla="val 2308"/>
            </a:avLst>
          </a:prstGeom>
          <a:solidFill>
            <a:srgbClr val="F1F4F9"/>
          </a:solidFill>
          <a:ln/>
          <a:effectLst>
            <a:outerShdw sx="100000" sy="100000" kx="0" ky="0" algn="bl" rotWithShape="0" blurRad="127000" dist="25400" dir="5400000">
              <a:srgbClr val="8A97AC">
                <a:alpha val="22000"/>
              </a:srgbClr>
            </a:outerShdw>
          </a:effectLst>
        </p:spPr>
      </p:sp>
      <p:sp>
        <p:nvSpPr>
          <p:cNvPr id="9" name="Text 7"/>
          <p:cNvSpPr/>
          <p:nvPr/>
        </p:nvSpPr>
        <p:spPr>
          <a:xfrm>
            <a:off x="7050024" y="1792224"/>
            <a:ext cx="4480560" cy="292608"/>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社内工数（現金支出なし）</a:t>
            </a:r>
            <a:endParaRPr lang="en-US" sz="1250" dirty="0"/>
          </a:p>
        </p:txBody>
      </p:sp>
      <p:sp>
        <p:nvSpPr>
          <p:cNvPr id="10" name="Text 8"/>
          <p:cNvSpPr/>
          <p:nvPr/>
        </p:nvSpPr>
        <p:spPr>
          <a:xfrm>
            <a:off x="7050024" y="2212848"/>
            <a:ext cx="3383280" cy="512064"/>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初期構築（テンプレート設計・DB構築）</a:t>
            </a:r>
            <a:endParaRPr lang="en-US" sz="1100" dirty="0"/>
          </a:p>
        </p:txBody>
      </p:sp>
      <p:sp>
        <p:nvSpPr>
          <p:cNvPr id="11" name="Text 9"/>
          <p:cNvSpPr/>
          <p:nvPr/>
        </p:nvSpPr>
        <p:spPr>
          <a:xfrm>
            <a:off x="10442448" y="2212848"/>
            <a:ext cx="1097280" cy="512064"/>
          </a:xfrm>
          <a:prstGeom prst="rect">
            <a:avLst/>
          </a:prstGeom>
          <a:noFill/>
          <a:ln/>
        </p:spPr>
        <p:txBody>
          <a:bodyPr wrap="square" lIns="0" tIns="0" rIns="0" bIns="0" rtlCol="0" anchor="ctr"/>
          <a:lstStyle/>
          <a:p>
            <a:pPr algn="r" indent="0" marL="0">
              <a:buNone/>
            </a:pPr>
            <a:r>
              <a:rPr lang="en-US" sz="1300" b="1" dirty="0">
                <a:solidFill>
                  <a:srgbClr val="16233F"/>
                </a:solidFill>
                <a:latin typeface="Meiryo" pitchFamily="34" charset="0"/>
                <a:ea typeface="Meiryo" pitchFamily="34" charset="-122"/>
                <a:cs typeface="Meiryo" pitchFamily="34" charset="-120"/>
              </a:rPr>
              <a:t>◯人月</a:t>
            </a:r>
            <a:endParaRPr lang="en-US" sz="1300" dirty="0"/>
          </a:p>
        </p:txBody>
      </p:sp>
      <p:sp>
        <p:nvSpPr>
          <p:cNvPr id="12" name="Text 10"/>
          <p:cNvSpPr/>
          <p:nvPr/>
        </p:nvSpPr>
        <p:spPr>
          <a:xfrm>
            <a:off x="7050024" y="2779776"/>
            <a:ext cx="3383280" cy="512064"/>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教育・定着支援（説明会・3か月伴走）</a:t>
            </a:r>
            <a:endParaRPr lang="en-US" sz="1100" dirty="0"/>
          </a:p>
        </p:txBody>
      </p:sp>
      <p:sp>
        <p:nvSpPr>
          <p:cNvPr id="13" name="Text 11"/>
          <p:cNvSpPr/>
          <p:nvPr/>
        </p:nvSpPr>
        <p:spPr>
          <a:xfrm>
            <a:off x="10442448" y="2779776"/>
            <a:ext cx="1097280" cy="512064"/>
          </a:xfrm>
          <a:prstGeom prst="rect">
            <a:avLst/>
          </a:prstGeom>
          <a:noFill/>
          <a:ln/>
        </p:spPr>
        <p:txBody>
          <a:bodyPr wrap="square" lIns="0" tIns="0" rIns="0" bIns="0" rtlCol="0" anchor="ctr"/>
          <a:lstStyle/>
          <a:p>
            <a:pPr algn="r" indent="0" marL="0">
              <a:buNone/>
            </a:pPr>
            <a:r>
              <a:rPr lang="en-US" sz="1300" b="1" dirty="0">
                <a:solidFill>
                  <a:srgbClr val="16233F"/>
                </a:solidFill>
                <a:latin typeface="Meiryo" pitchFamily="34" charset="0"/>
                <a:ea typeface="Meiryo" pitchFamily="34" charset="-122"/>
                <a:cs typeface="Meiryo" pitchFamily="34" charset="-120"/>
              </a:rPr>
              <a:t>◯人月</a:t>
            </a:r>
            <a:endParaRPr lang="en-US" sz="1300" dirty="0"/>
          </a:p>
        </p:txBody>
      </p:sp>
      <p:sp>
        <p:nvSpPr>
          <p:cNvPr id="14" name="Text 12"/>
          <p:cNvSpPr/>
          <p:nvPr/>
        </p:nvSpPr>
        <p:spPr>
          <a:xfrm>
            <a:off x="7050024" y="3438144"/>
            <a:ext cx="4480560" cy="457200"/>
          </a:xfrm>
          <a:prstGeom prst="rect">
            <a:avLst/>
          </a:prstGeom>
          <a:noFill/>
          <a:ln/>
        </p:spPr>
        <p:txBody>
          <a:bodyPr wrap="square" lIns="0" tIns="0" rIns="0" bIns="0" rtlCol="0" anchor="ctr"/>
          <a:lstStyle/>
          <a:p>
            <a:pPr indent="0" marL="0">
              <a:lnSpc>
                <a:spcPts val="1500"/>
              </a:lnSpc>
              <a:buNone/>
            </a:pPr>
            <a:r>
              <a:rPr lang="en-US" sz="1050" dirty="0">
                <a:solidFill>
                  <a:srgbClr val="5A6472"/>
                </a:solidFill>
                <a:latin typeface="Meiryo" pitchFamily="34" charset="0"/>
                <a:ea typeface="Meiryo" pitchFamily="34" charset="-122"/>
                <a:cs typeface="Meiryo" pitchFamily="34" charset="-120"/>
              </a:rPr>
              <a:t>いずれも内製。PMO・人事組織の立ち上げ業務の一部として実施し、新規採用は行いません。</a:t>
            </a:r>
            <a:endParaRPr lang="en-US" sz="1050" dirty="0"/>
          </a:p>
        </p:txBody>
      </p:sp>
      <p:sp>
        <p:nvSpPr>
          <p:cNvPr id="15" name="Shape 13"/>
          <p:cNvSpPr/>
          <p:nvPr/>
        </p:nvSpPr>
        <p:spPr>
          <a:xfrm>
            <a:off x="566928" y="4206240"/>
            <a:ext cx="11057839" cy="914400"/>
          </a:xfrm>
          <a:prstGeom prst="roundRect">
            <a:avLst>
              <a:gd name="adj" fmla="val 6000"/>
            </a:avLst>
          </a:prstGeom>
          <a:solidFill>
            <a:srgbClr val="F1F4F9"/>
          </a:solidFill>
          <a:ln/>
          <a:effectLst>
            <a:outerShdw sx="100000" sy="100000" kx="0" ky="0" algn="bl" rotWithShape="0" blurRad="127000" dist="25400" dir="5400000">
              <a:srgbClr val="8A97AC">
                <a:alpha val="22000"/>
              </a:srgbClr>
            </a:outerShdw>
          </a:effectLst>
        </p:spPr>
      </p:sp>
      <p:sp>
        <p:nvSpPr>
          <p:cNvPr id="16" name="Text 14"/>
          <p:cNvSpPr/>
          <p:nvPr/>
        </p:nvSpPr>
        <p:spPr>
          <a:xfrm>
            <a:off x="969264" y="4206240"/>
            <a:ext cx="2743200" cy="914400"/>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削減できる既存コスト</a:t>
            </a:r>
            <a:endParaRPr lang="en-US" sz="1250" dirty="0"/>
          </a:p>
        </p:txBody>
      </p:sp>
      <p:sp>
        <p:nvSpPr>
          <p:cNvPr id="17" name="Text 15"/>
          <p:cNvSpPr/>
          <p:nvPr/>
        </p:nvSpPr>
        <p:spPr>
          <a:xfrm>
            <a:off x="3767328" y="4206240"/>
            <a:ext cx="7680960" cy="914400"/>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現在はMicrosoft 365に含まれるツールを使用しているため、直接的なライセンス削減は発生しません。</a:t>
            </a:r>
            <a:endParaRPr lang="en-US" sz="1200" dirty="0"/>
          </a:p>
        </p:txBody>
      </p:sp>
      <p:sp>
        <p:nvSpPr>
          <p:cNvPr id="18" name="Shape 16"/>
          <p:cNvSpPr/>
          <p:nvPr/>
        </p:nvSpPr>
        <p:spPr>
          <a:xfrm>
            <a:off x="566928" y="5321808"/>
            <a:ext cx="11057839" cy="914400"/>
          </a:xfrm>
          <a:prstGeom prst="roundRect">
            <a:avLst>
              <a:gd name="adj" fmla="val 6000"/>
            </a:avLst>
          </a:prstGeom>
          <a:solidFill>
            <a:srgbClr val="FBF3E4"/>
          </a:solidFill>
          <a:ln/>
          <a:effectLst>
            <a:outerShdw sx="100000" sy="100000" kx="0" ky="0" algn="bl" rotWithShape="0" blurRad="127000" dist="25400" dir="5400000">
              <a:srgbClr val="8A97AC">
                <a:alpha val="22000"/>
              </a:srgbClr>
            </a:outerShdw>
          </a:effectLst>
        </p:spPr>
      </p:sp>
      <p:sp>
        <p:nvSpPr>
          <p:cNvPr id="19" name="Text 17"/>
          <p:cNvSpPr/>
          <p:nvPr/>
        </p:nvSpPr>
        <p:spPr>
          <a:xfrm>
            <a:off x="969264" y="5321808"/>
            <a:ext cx="10253167" cy="914400"/>
          </a:xfrm>
          <a:prstGeom prst="rect">
            <a:avLst/>
          </a:prstGeom>
          <a:noFill/>
          <a:ln/>
        </p:spPr>
        <p:txBody>
          <a:bodyPr wrap="square" lIns="0" tIns="0" rIns="0" bIns="0" rtlCol="0" anchor="ctr"/>
          <a:lstStyle/>
          <a:p>
            <a:pPr indent="0" marL="0">
              <a:buNone/>
            </a:pPr>
            <a:r>
              <a:rPr lang="en-US" sz="1250" b="1" dirty="0">
                <a:solidFill>
                  <a:srgbClr val="7A5410"/>
                </a:solidFill>
                <a:latin typeface="Meiryo" pitchFamily="34" charset="0"/>
                <a:ea typeface="Meiryo" pitchFamily="34" charset="-122"/>
                <a:cs typeface="Meiryo" pitchFamily="34" charset="-120"/>
              </a:rPr>
              <a:t>参考：監査ログまたは国内データ保管が必須要件となった場合は Enterprise 約911万円／年（要見積）</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想定効果</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会議時間の削減だけで、投資額の約4倍の効果を見込みます</a:t>
            </a:r>
            <a:endParaRPr lang="en-US" sz="2700" dirty="0"/>
          </a:p>
        </p:txBody>
      </p:sp>
      <p:sp>
        <p:nvSpPr>
          <p:cNvPr id="4" name="Shape 2"/>
          <p:cNvSpPr/>
          <p:nvPr/>
        </p:nvSpPr>
        <p:spPr>
          <a:xfrm>
            <a:off x="566928" y="1591056"/>
            <a:ext cx="3529584"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5" name="Text 3"/>
          <p:cNvSpPr/>
          <p:nvPr/>
        </p:nvSpPr>
        <p:spPr>
          <a:xfrm>
            <a:off x="841248" y="1755648"/>
            <a:ext cx="2980944"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投資額</a:t>
            </a:r>
            <a:endParaRPr lang="en-US" sz="1150" dirty="0"/>
          </a:p>
        </p:txBody>
      </p:sp>
      <p:sp>
        <p:nvSpPr>
          <p:cNvPr id="6" name="Text 4"/>
          <p:cNvSpPr/>
          <p:nvPr/>
        </p:nvSpPr>
        <p:spPr>
          <a:xfrm>
            <a:off x="841248" y="2066544"/>
            <a:ext cx="2980944" cy="658368"/>
          </a:xfrm>
          <a:prstGeom prst="rect">
            <a:avLst/>
          </a:prstGeom>
          <a:noFill/>
          <a:ln/>
        </p:spPr>
        <p:txBody>
          <a:bodyPr wrap="square" lIns="0" tIns="0" rIns="0" bIns="0" rtlCol="0" anchor="ctr"/>
          <a:lstStyle/>
          <a:p>
            <a:pPr indent="0" marL="0">
              <a:buNone/>
            </a:pPr>
            <a:r>
              <a:rPr lang="en-US" sz="3000" b="1" dirty="0">
                <a:solidFill>
                  <a:srgbClr val="16233F"/>
                </a:solidFill>
                <a:latin typeface="Meiryo" pitchFamily="34" charset="0"/>
                <a:ea typeface="Meiryo" pitchFamily="34" charset="-122"/>
                <a:cs typeface="Meiryo" pitchFamily="34" charset="-120"/>
              </a:rPr>
              <a:t>529.2万円</a:t>
            </a:r>
            <a:endParaRPr lang="en-US" sz="3000" dirty="0"/>
          </a:p>
        </p:txBody>
      </p:sp>
      <p:sp>
        <p:nvSpPr>
          <p:cNvPr id="7" name="Text 5"/>
          <p:cNvSpPr/>
          <p:nvPr/>
        </p:nvSpPr>
        <p:spPr>
          <a:xfrm>
            <a:off x="841248" y="2779776"/>
            <a:ext cx="2980944" cy="402336"/>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年間ライセンス費用</a:t>
            </a:r>
            <a:endParaRPr lang="en-US" sz="1100" dirty="0"/>
          </a:p>
        </p:txBody>
      </p:sp>
      <p:sp>
        <p:nvSpPr>
          <p:cNvPr id="8" name="Shape 6"/>
          <p:cNvSpPr/>
          <p:nvPr/>
        </p:nvSpPr>
        <p:spPr>
          <a:xfrm>
            <a:off x="4439412" y="1591056"/>
            <a:ext cx="3529584"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9" name="Text 7"/>
          <p:cNvSpPr/>
          <p:nvPr/>
        </p:nvSpPr>
        <p:spPr>
          <a:xfrm>
            <a:off x="4713732" y="1755648"/>
            <a:ext cx="2980944"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効果（会議のみ）</a:t>
            </a:r>
            <a:endParaRPr lang="en-US" sz="1150" dirty="0"/>
          </a:p>
        </p:txBody>
      </p:sp>
      <p:sp>
        <p:nvSpPr>
          <p:cNvPr id="10" name="Text 8"/>
          <p:cNvSpPr/>
          <p:nvPr/>
        </p:nvSpPr>
        <p:spPr>
          <a:xfrm>
            <a:off x="4713732" y="2066544"/>
            <a:ext cx="2980944" cy="658368"/>
          </a:xfrm>
          <a:prstGeom prst="rect">
            <a:avLst/>
          </a:prstGeom>
          <a:noFill/>
          <a:ln/>
        </p:spPr>
        <p:txBody>
          <a:bodyPr wrap="square" lIns="0" tIns="0" rIns="0" bIns="0" rtlCol="0" anchor="ctr"/>
          <a:lstStyle/>
          <a:p>
            <a:pPr indent="0" marL="0">
              <a:buNone/>
            </a:pPr>
            <a:r>
              <a:rPr lang="en-US" sz="2800" b="1" dirty="0">
                <a:solidFill>
                  <a:srgbClr val="1F7A6C"/>
                </a:solidFill>
                <a:latin typeface="Meiryo" pitchFamily="34" charset="0"/>
                <a:ea typeface="Meiryo" pitchFamily="34" charset="-122"/>
                <a:cs typeface="Meiryo" pitchFamily="34" charset="-120"/>
              </a:rPr>
              <a:t>約2,180万円</a:t>
            </a:r>
            <a:endParaRPr lang="en-US" sz="2800" dirty="0"/>
          </a:p>
        </p:txBody>
      </p:sp>
      <p:sp>
        <p:nvSpPr>
          <p:cNvPr id="11" name="Text 9"/>
          <p:cNvSpPr/>
          <p:nvPr/>
        </p:nvSpPr>
        <p:spPr>
          <a:xfrm>
            <a:off x="4713732" y="2779776"/>
            <a:ext cx="2980944" cy="402336"/>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目的が曖昧な会議の3割を削減</a:t>
            </a:r>
            <a:endParaRPr lang="en-US" sz="1100" dirty="0"/>
          </a:p>
        </p:txBody>
      </p:sp>
      <p:sp>
        <p:nvSpPr>
          <p:cNvPr id="12" name="Shape 10"/>
          <p:cNvSpPr/>
          <p:nvPr/>
        </p:nvSpPr>
        <p:spPr>
          <a:xfrm>
            <a:off x="8311896" y="1591056"/>
            <a:ext cx="3529584" cy="1737360"/>
          </a:xfrm>
          <a:prstGeom prst="roundRect">
            <a:avLst>
              <a:gd name="adj" fmla="val 3158"/>
            </a:avLst>
          </a:prstGeom>
          <a:solidFill>
            <a:srgbClr val="16233F"/>
          </a:solidFill>
          <a:ln/>
          <a:effectLst>
            <a:outerShdw sx="100000" sy="100000" kx="0" ky="0" algn="bl" rotWithShape="0" blurRad="127000" dist="25400" dir="5400000">
              <a:srgbClr val="8A97AC">
                <a:alpha val="22000"/>
              </a:srgbClr>
            </a:outerShdw>
          </a:effectLst>
        </p:spPr>
      </p:sp>
      <p:sp>
        <p:nvSpPr>
          <p:cNvPr id="13" name="Text 11"/>
          <p:cNvSpPr/>
          <p:nvPr/>
        </p:nvSpPr>
        <p:spPr>
          <a:xfrm>
            <a:off x="8586216" y="1755648"/>
            <a:ext cx="2980944" cy="274320"/>
          </a:xfrm>
          <a:prstGeom prst="rect">
            <a:avLst/>
          </a:prstGeom>
          <a:noFill/>
          <a:ln/>
        </p:spPr>
        <p:txBody>
          <a:bodyPr wrap="square" lIns="0" tIns="0" rIns="0" bIns="0" rtlCol="0" anchor="ctr"/>
          <a:lstStyle/>
          <a:p>
            <a:pPr indent="0" marL="0">
              <a:buNone/>
            </a:pPr>
            <a:r>
              <a:rPr lang="en-US" sz="1150" b="1" dirty="0">
                <a:solidFill>
                  <a:srgbClr val="9FB0CC"/>
                </a:solidFill>
                <a:latin typeface="Meiryo" pitchFamily="34" charset="0"/>
                <a:ea typeface="Meiryo" pitchFamily="34" charset="-122"/>
                <a:cs typeface="Meiryo" pitchFamily="34" charset="-120"/>
              </a:rPr>
              <a:t>倍率</a:t>
            </a:r>
            <a:endParaRPr lang="en-US" sz="1150" dirty="0"/>
          </a:p>
        </p:txBody>
      </p:sp>
      <p:sp>
        <p:nvSpPr>
          <p:cNvPr id="14" name="Text 12"/>
          <p:cNvSpPr/>
          <p:nvPr/>
        </p:nvSpPr>
        <p:spPr>
          <a:xfrm>
            <a:off x="8586216" y="2066544"/>
            <a:ext cx="2980944" cy="658368"/>
          </a:xfrm>
          <a:prstGeom prst="rect">
            <a:avLst/>
          </a:prstGeom>
          <a:noFill/>
          <a:ln/>
        </p:spPr>
        <p:txBody>
          <a:bodyPr wrap="square" lIns="0" tIns="0" rIns="0" bIns="0" rtlCol="0" anchor="ctr"/>
          <a:lstStyle/>
          <a:p>
            <a:pPr indent="0" marL="0">
              <a:buNone/>
            </a:pPr>
            <a:r>
              <a:rPr lang="en-US" sz="3000" b="1" dirty="0">
                <a:solidFill>
                  <a:srgbClr val="E8A33D"/>
                </a:solidFill>
                <a:latin typeface="Meiryo" pitchFamily="34" charset="0"/>
                <a:ea typeface="Meiryo" pitchFamily="34" charset="-122"/>
                <a:cs typeface="Meiryo" pitchFamily="34" charset="-120"/>
              </a:rPr>
              <a:t>約4倍</a:t>
            </a:r>
            <a:endParaRPr lang="en-US" sz="3000" dirty="0"/>
          </a:p>
        </p:txBody>
      </p:sp>
      <p:sp>
        <p:nvSpPr>
          <p:cNvPr id="15" name="Text 13"/>
          <p:cNvSpPr/>
          <p:nvPr/>
        </p:nvSpPr>
        <p:spPr>
          <a:xfrm>
            <a:off x="8586216" y="2779776"/>
            <a:ext cx="2980944" cy="402336"/>
          </a:xfrm>
          <a:prstGeom prst="rect">
            <a:avLst/>
          </a:prstGeom>
          <a:noFill/>
          <a:ln/>
        </p:spPr>
        <p:txBody>
          <a:bodyPr wrap="square" lIns="0" tIns="0" rIns="0" bIns="0" rtlCol="0" anchor="ctr"/>
          <a:lstStyle/>
          <a:p>
            <a:pPr indent="0" marL="0">
              <a:lnSpc>
                <a:spcPts val="1600"/>
              </a:lnSpc>
              <a:buNone/>
            </a:pPr>
            <a:r>
              <a:rPr lang="en-US" sz="1100" dirty="0">
                <a:solidFill>
                  <a:srgbClr val="C3CEE0"/>
                </a:solidFill>
                <a:latin typeface="Meiryo" pitchFamily="34" charset="0"/>
                <a:ea typeface="Meiryo" pitchFamily="34" charset="-122"/>
                <a:cs typeface="Meiryo" pitchFamily="34" charset="-120"/>
              </a:rPr>
              <a:t>会議削減効果 ÷ 投資額</a:t>
            </a:r>
            <a:endParaRPr lang="en-US" sz="1100" dirty="0"/>
          </a:p>
        </p:txBody>
      </p:sp>
      <p:sp>
        <p:nvSpPr>
          <p:cNvPr id="16" name="Text 14"/>
          <p:cNvSpPr/>
          <p:nvPr/>
        </p:nvSpPr>
        <p:spPr>
          <a:xfrm>
            <a:off x="566928" y="3602736"/>
            <a:ext cx="11057839" cy="292608"/>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その他の効果（今回は金額に算入していません）</a:t>
            </a:r>
            <a:endParaRPr lang="en-US" sz="1300" dirty="0"/>
          </a:p>
        </p:txBody>
      </p:sp>
      <p:sp>
        <p:nvSpPr>
          <p:cNvPr id="17" name="Shape 15"/>
          <p:cNvSpPr/>
          <p:nvPr/>
        </p:nvSpPr>
        <p:spPr>
          <a:xfrm>
            <a:off x="566928" y="3986784"/>
            <a:ext cx="11057839" cy="438912"/>
          </a:xfrm>
          <a:prstGeom prst="roundRect">
            <a:avLst>
              <a:gd name="adj" fmla="val 8333"/>
            </a:avLst>
          </a:prstGeom>
          <a:solidFill>
            <a:srgbClr val="FFFFFF"/>
          </a:solidFill>
          <a:ln w="12700">
            <a:solidFill>
              <a:srgbClr val="D5DCE6"/>
            </a:solidFill>
            <a:prstDash val="solid"/>
          </a:ln>
        </p:spPr>
      </p:sp>
      <p:sp>
        <p:nvSpPr>
          <p:cNvPr id="18" name="Shape 16"/>
          <p:cNvSpPr/>
          <p:nvPr/>
        </p:nvSpPr>
        <p:spPr>
          <a:xfrm>
            <a:off x="713232" y="4069080"/>
            <a:ext cx="274320" cy="274320"/>
          </a:xfrm>
          <a:prstGeom prst="ellipse">
            <a:avLst/>
          </a:prstGeom>
          <a:solidFill>
            <a:srgbClr val="2C5F8D"/>
          </a:solidFill>
          <a:ln/>
        </p:spPr>
      </p:sp>
      <p:sp>
        <p:nvSpPr>
          <p:cNvPr id="19" name="Text 17"/>
          <p:cNvSpPr/>
          <p:nvPr/>
        </p:nvSpPr>
        <p:spPr>
          <a:xfrm>
            <a:off x="713232" y="40690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a:t>
            </a:r>
            <a:endParaRPr lang="en-US" sz="1000" dirty="0"/>
          </a:p>
        </p:txBody>
      </p:sp>
      <p:sp>
        <p:nvSpPr>
          <p:cNvPr id="20" name="Text 18"/>
          <p:cNvSpPr/>
          <p:nvPr/>
        </p:nvSpPr>
        <p:spPr>
          <a:xfrm>
            <a:off x="1133856" y="3986784"/>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手戻り・遅延の削減</a:t>
            </a:r>
            <a:endParaRPr lang="en-US" sz="1200" dirty="0"/>
          </a:p>
        </p:txBody>
      </p:sp>
      <p:sp>
        <p:nvSpPr>
          <p:cNvPr id="21" name="Text 19"/>
          <p:cNvSpPr/>
          <p:nvPr/>
        </p:nvSpPr>
        <p:spPr>
          <a:xfrm>
            <a:off x="9436608" y="3986784"/>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実測後に算定</a:t>
            </a:r>
            <a:endParaRPr lang="en-US" sz="1100" dirty="0"/>
          </a:p>
        </p:txBody>
      </p:sp>
      <p:sp>
        <p:nvSpPr>
          <p:cNvPr id="22" name="Shape 20"/>
          <p:cNvSpPr/>
          <p:nvPr/>
        </p:nvSpPr>
        <p:spPr>
          <a:xfrm>
            <a:off x="566928" y="4498848"/>
            <a:ext cx="11057839" cy="438912"/>
          </a:xfrm>
          <a:prstGeom prst="roundRect">
            <a:avLst>
              <a:gd name="adj" fmla="val 8333"/>
            </a:avLst>
          </a:prstGeom>
          <a:solidFill>
            <a:srgbClr val="FFFFFF"/>
          </a:solidFill>
          <a:ln w="12700">
            <a:solidFill>
              <a:srgbClr val="D5DCE6"/>
            </a:solidFill>
            <a:prstDash val="solid"/>
          </a:ln>
        </p:spPr>
      </p:sp>
      <p:sp>
        <p:nvSpPr>
          <p:cNvPr id="23" name="Shape 21"/>
          <p:cNvSpPr/>
          <p:nvPr/>
        </p:nvSpPr>
        <p:spPr>
          <a:xfrm>
            <a:off x="713232" y="4581144"/>
            <a:ext cx="274320" cy="274320"/>
          </a:xfrm>
          <a:prstGeom prst="ellipse">
            <a:avLst/>
          </a:prstGeom>
          <a:solidFill>
            <a:srgbClr val="2C5F8D"/>
          </a:solidFill>
          <a:ln/>
        </p:spPr>
      </p:sp>
      <p:sp>
        <p:nvSpPr>
          <p:cNvPr id="24" name="Text 22"/>
          <p:cNvSpPr/>
          <p:nvPr/>
        </p:nvSpPr>
        <p:spPr>
          <a:xfrm>
            <a:off x="713232" y="458114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a:t>
            </a:r>
            <a:endParaRPr lang="en-US" sz="1000" dirty="0"/>
          </a:p>
        </p:txBody>
      </p:sp>
      <p:sp>
        <p:nvSpPr>
          <p:cNvPr id="25" name="Text 23"/>
          <p:cNvSpPr/>
          <p:nvPr/>
        </p:nvSpPr>
        <p:spPr>
          <a:xfrm>
            <a:off x="1133856" y="4498848"/>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PMOが全案件のリスクを事前に検知できる</a:t>
            </a:r>
            <a:endParaRPr lang="en-US" sz="1200" dirty="0"/>
          </a:p>
        </p:txBody>
      </p:sp>
      <p:sp>
        <p:nvSpPr>
          <p:cNvPr id="26" name="Text 24"/>
          <p:cNvSpPr/>
          <p:nvPr/>
        </p:nvSpPr>
        <p:spPr>
          <a:xfrm>
            <a:off x="9436608" y="4498848"/>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定性</a:t>
            </a:r>
            <a:endParaRPr lang="en-US" sz="1100" dirty="0"/>
          </a:p>
        </p:txBody>
      </p:sp>
      <p:sp>
        <p:nvSpPr>
          <p:cNvPr id="27" name="Shape 25"/>
          <p:cNvSpPr/>
          <p:nvPr/>
        </p:nvSpPr>
        <p:spPr>
          <a:xfrm>
            <a:off x="566928" y="5010912"/>
            <a:ext cx="11057839" cy="438912"/>
          </a:xfrm>
          <a:prstGeom prst="roundRect">
            <a:avLst>
              <a:gd name="adj" fmla="val 8333"/>
            </a:avLst>
          </a:prstGeom>
          <a:solidFill>
            <a:srgbClr val="FFFFFF"/>
          </a:solidFill>
          <a:ln w="12700">
            <a:solidFill>
              <a:srgbClr val="D5DCE6"/>
            </a:solidFill>
            <a:prstDash val="solid"/>
          </a:ln>
        </p:spPr>
      </p:sp>
      <p:sp>
        <p:nvSpPr>
          <p:cNvPr id="28" name="Shape 26"/>
          <p:cNvSpPr/>
          <p:nvPr/>
        </p:nvSpPr>
        <p:spPr>
          <a:xfrm>
            <a:off x="713232" y="5093208"/>
            <a:ext cx="274320" cy="274320"/>
          </a:xfrm>
          <a:prstGeom prst="ellipse">
            <a:avLst/>
          </a:prstGeom>
          <a:solidFill>
            <a:srgbClr val="1F7A6C"/>
          </a:solidFill>
          <a:ln/>
        </p:spPr>
      </p:sp>
      <p:sp>
        <p:nvSpPr>
          <p:cNvPr id="29" name="Text 27"/>
          <p:cNvSpPr/>
          <p:nvPr/>
        </p:nvSpPr>
        <p:spPr>
          <a:xfrm>
            <a:off x="713232" y="5093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B</a:t>
            </a:r>
            <a:endParaRPr lang="en-US" sz="1000" dirty="0"/>
          </a:p>
        </p:txBody>
      </p:sp>
      <p:sp>
        <p:nvSpPr>
          <p:cNvPr id="30" name="Text 28"/>
          <p:cNvSpPr/>
          <p:nvPr/>
        </p:nvSpPr>
        <p:spPr>
          <a:xfrm>
            <a:off x="1133856" y="5010912"/>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属人化の解消。異動・退職時の引き継ぎコスト低減</a:t>
            </a:r>
            <a:endParaRPr lang="en-US" sz="1200" dirty="0"/>
          </a:p>
        </p:txBody>
      </p:sp>
      <p:sp>
        <p:nvSpPr>
          <p:cNvPr id="31" name="Text 29"/>
          <p:cNvSpPr/>
          <p:nvPr/>
        </p:nvSpPr>
        <p:spPr>
          <a:xfrm>
            <a:off x="9436608" y="5010912"/>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定性</a:t>
            </a:r>
            <a:endParaRPr lang="en-US" sz="1100" dirty="0"/>
          </a:p>
        </p:txBody>
      </p:sp>
      <p:sp>
        <p:nvSpPr>
          <p:cNvPr id="32" name="Shape 30"/>
          <p:cNvSpPr/>
          <p:nvPr/>
        </p:nvSpPr>
        <p:spPr>
          <a:xfrm>
            <a:off x="566928" y="5522976"/>
            <a:ext cx="11057839" cy="438912"/>
          </a:xfrm>
          <a:prstGeom prst="roundRect">
            <a:avLst>
              <a:gd name="adj" fmla="val 8333"/>
            </a:avLst>
          </a:prstGeom>
          <a:solidFill>
            <a:srgbClr val="FFFFFF"/>
          </a:solidFill>
          <a:ln w="12700">
            <a:solidFill>
              <a:srgbClr val="D5DCE6"/>
            </a:solidFill>
            <a:prstDash val="solid"/>
          </a:ln>
        </p:spPr>
      </p:sp>
      <p:sp>
        <p:nvSpPr>
          <p:cNvPr id="33" name="Shape 31"/>
          <p:cNvSpPr/>
          <p:nvPr/>
        </p:nvSpPr>
        <p:spPr>
          <a:xfrm>
            <a:off x="713232" y="5605272"/>
            <a:ext cx="274320" cy="274320"/>
          </a:xfrm>
          <a:prstGeom prst="ellipse">
            <a:avLst/>
          </a:prstGeom>
          <a:solidFill>
            <a:srgbClr val="2C5F8D"/>
          </a:solidFill>
          <a:ln/>
        </p:spPr>
      </p:sp>
      <p:sp>
        <p:nvSpPr>
          <p:cNvPr id="34" name="Text 32"/>
          <p:cNvSpPr/>
          <p:nvPr/>
        </p:nvSpPr>
        <p:spPr>
          <a:xfrm>
            <a:off x="713232" y="560527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a:t>
            </a:r>
            <a:endParaRPr lang="en-US" sz="1000" dirty="0"/>
          </a:p>
        </p:txBody>
      </p:sp>
      <p:sp>
        <p:nvSpPr>
          <p:cNvPr id="35" name="Text 33"/>
          <p:cNvSpPr/>
          <p:nvPr/>
        </p:nvSpPr>
        <p:spPr>
          <a:xfrm>
            <a:off x="1133856" y="5522976"/>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顧客への納期遵守率向上による信用の維持</a:t>
            </a:r>
            <a:endParaRPr lang="en-US" sz="1200" dirty="0"/>
          </a:p>
        </p:txBody>
      </p:sp>
      <p:sp>
        <p:nvSpPr>
          <p:cNvPr id="36" name="Text 34"/>
          <p:cNvSpPr/>
          <p:nvPr/>
        </p:nvSpPr>
        <p:spPr>
          <a:xfrm>
            <a:off x="9436608" y="5522976"/>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定性</a:t>
            </a:r>
            <a:endParaRPr lang="en-US" sz="1100" dirty="0"/>
          </a:p>
        </p:txBody>
      </p:sp>
      <p:sp>
        <p:nvSpPr>
          <p:cNvPr id="37" name="Text 35"/>
          <p:cNvSpPr/>
          <p:nvPr/>
        </p:nvSpPr>
        <p:spPr>
          <a:xfrm>
            <a:off x="566928" y="6089904"/>
            <a:ext cx="11057839" cy="274320"/>
          </a:xfrm>
          <a:prstGeom prst="rect">
            <a:avLst/>
          </a:prstGeom>
          <a:noFill/>
          <a:ln/>
        </p:spPr>
        <p:txBody>
          <a:bodyPr wrap="square" lIns="0" tIns="0" rIns="0" bIns="0" rtlCol="0" anchor="ctr"/>
          <a:lstStyle/>
          <a:p>
            <a:pPr indent="0" marL="0">
              <a:buNone/>
            </a:pPr>
            <a:r>
              <a:rPr lang="en-US" sz="1000" dirty="0">
                <a:solidFill>
                  <a:srgbClr val="5A6472"/>
                </a:solidFill>
                <a:latin typeface="Meiryo" pitchFamily="34" charset="0"/>
                <a:ea typeface="Meiryo" pitchFamily="34" charset="-122"/>
                <a:cs typeface="Meiryo" pitchFamily="34" charset="-120"/>
              </a:rPr>
              <a:t>※ 削減率3割は意図的に控えめな設定です</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リスクと対策</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想定されるリスクは3つ。すべて対策があります</a:t>
            </a:r>
            <a:endParaRPr lang="en-US" sz="2700" dirty="0"/>
          </a:p>
        </p:txBody>
      </p:sp>
      <p:sp>
        <p:nvSpPr>
          <p:cNvPr id="4" name="Shape 2"/>
          <p:cNvSpPr/>
          <p:nvPr/>
        </p:nvSpPr>
        <p:spPr>
          <a:xfrm>
            <a:off x="566928" y="1591056"/>
            <a:ext cx="3529584" cy="4114800"/>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841248" y="1810512"/>
            <a:ext cx="402336" cy="402336"/>
          </a:xfrm>
          <a:prstGeom prst="ellipse">
            <a:avLst/>
          </a:prstGeom>
          <a:solidFill>
            <a:srgbClr val="B3423A"/>
          </a:solidFill>
          <a:ln/>
        </p:spPr>
      </p:sp>
      <p:sp>
        <p:nvSpPr>
          <p:cNvPr id="6" name="Text 4"/>
          <p:cNvSpPr/>
          <p:nvPr/>
        </p:nvSpPr>
        <p:spPr>
          <a:xfrm>
            <a:off x="841248" y="1810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7" name="Text 5"/>
          <p:cNvSpPr/>
          <p:nvPr/>
        </p:nvSpPr>
        <p:spPr>
          <a:xfrm>
            <a:off x="1353312" y="1792224"/>
            <a:ext cx="2523744" cy="43891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定着しない</a:t>
            </a:r>
            <a:endParaRPr lang="en-US" sz="1500" dirty="0"/>
          </a:p>
        </p:txBody>
      </p:sp>
      <p:sp>
        <p:nvSpPr>
          <p:cNvPr id="8" name="Text 6"/>
          <p:cNvSpPr/>
          <p:nvPr/>
        </p:nvSpPr>
        <p:spPr>
          <a:xfrm>
            <a:off x="841248" y="2322576"/>
            <a:ext cx="2980944" cy="603504"/>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一部の人しか使わず、結局チャットに戻る</a:t>
            </a:r>
            <a:endParaRPr lang="en-US" sz="1100" dirty="0"/>
          </a:p>
        </p:txBody>
      </p:sp>
      <p:sp>
        <p:nvSpPr>
          <p:cNvPr id="9" name="Text 7"/>
          <p:cNvSpPr/>
          <p:nvPr/>
        </p:nvSpPr>
        <p:spPr>
          <a:xfrm>
            <a:off x="841248" y="2980944"/>
            <a:ext cx="1371600" cy="256032"/>
          </a:xfrm>
          <a:prstGeom prst="rect">
            <a:avLst/>
          </a:prstGeom>
          <a:noFill/>
          <a:ln/>
        </p:spPr>
        <p:txBody>
          <a:bodyPr wrap="square" lIns="0" tIns="0" rIns="0" bIns="0" rtlCol="0" anchor="ctr"/>
          <a:lstStyle/>
          <a:p>
            <a:pPr indent="0" marL="0">
              <a:buNone/>
            </a:pPr>
            <a:r>
              <a:rPr lang="en-US" sz="1050" b="1" dirty="0">
                <a:solidFill>
                  <a:srgbClr val="2E7D5B"/>
                </a:solidFill>
                <a:latin typeface="Meiryo" pitchFamily="34" charset="0"/>
                <a:ea typeface="Meiryo" pitchFamily="34" charset="-122"/>
                <a:cs typeface="Meiryo" pitchFamily="34" charset="-120"/>
              </a:rPr>
              <a:t>対策</a:t>
            </a:r>
            <a:endParaRPr lang="en-US" sz="1050" dirty="0"/>
          </a:p>
        </p:txBody>
      </p:sp>
      <p:sp>
        <p:nvSpPr>
          <p:cNvPr id="10" name="Shape 8"/>
          <p:cNvSpPr/>
          <p:nvPr/>
        </p:nvSpPr>
        <p:spPr>
          <a:xfrm>
            <a:off x="859536" y="3374136"/>
            <a:ext cx="109728" cy="109728"/>
          </a:xfrm>
          <a:prstGeom prst="ellipse">
            <a:avLst/>
          </a:prstGeom>
          <a:solidFill>
            <a:srgbClr val="2E7D5B"/>
          </a:solidFill>
          <a:ln/>
        </p:spPr>
      </p:sp>
      <p:sp>
        <p:nvSpPr>
          <p:cNvPr id="11" name="Text 9"/>
          <p:cNvSpPr/>
          <p:nvPr/>
        </p:nvSpPr>
        <p:spPr>
          <a:xfrm>
            <a:off x="1097280" y="329184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経営層で3か月試行済み</a:t>
            </a:r>
            <a:endParaRPr lang="en-US" sz="1100" dirty="0"/>
          </a:p>
        </p:txBody>
      </p:sp>
      <p:sp>
        <p:nvSpPr>
          <p:cNvPr id="12" name="Shape 10"/>
          <p:cNvSpPr/>
          <p:nvPr/>
        </p:nvSpPr>
        <p:spPr>
          <a:xfrm>
            <a:off x="859536" y="3922776"/>
            <a:ext cx="109728" cy="109728"/>
          </a:xfrm>
          <a:prstGeom prst="ellipse">
            <a:avLst/>
          </a:prstGeom>
          <a:solidFill>
            <a:srgbClr val="2E7D5B"/>
          </a:solidFill>
          <a:ln/>
        </p:spPr>
      </p:sp>
      <p:sp>
        <p:nvSpPr>
          <p:cNvPr id="13" name="Text 11"/>
          <p:cNvSpPr/>
          <p:nvPr/>
        </p:nvSpPr>
        <p:spPr>
          <a:xfrm>
            <a:off x="1097280" y="384048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テンプレート・ミニマニュアルを整備</a:t>
            </a:r>
            <a:endParaRPr lang="en-US" sz="1100" dirty="0"/>
          </a:p>
        </p:txBody>
      </p:sp>
      <p:sp>
        <p:nvSpPr>
          <p:cNvPr id="14" name="Shape 12"/>
          <p:cNvSpPr/>
          <p:nvPr/>
        </p:nvSpPr>
        <p:spPr>
          <a:xfrm>
            <a:off x="859536" y="4471416"/>
            <a:ext cx="109728" cy="109728"/>
          </a:xfrm>
          <a:prstGeom prst="ellipse">
            <a:avLst/>
          </a:prstGeom>
          <a:solidFill>
            <a:srgbClr val="2E7D5B"/>
          </a:solidFill>
          <a:ln/>
        </p:spPr>
      </p:sp>
      <p:sp>
        <p:nvSpPr>
          <p:cNvPr id="15" name="Text 13"/>
          <p:cNvSpPr/>
          <p:nvPr/>
        </p:nvSpPr>
        <p:spPr>
          <a:xfrm>
            <a:off x="1097280" y="438912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PMOが運用ルールの管理責任を持つ</a:t>
            </a:r>
            <a:endParaRPr lang="en-US" sz="1100" dirty="0"/>
          </a:p>
        </p:txBody>
      </p:sp>
      <p:sp>
        <p:nvSpPr>
          <p:cNvPr id="16" name="Shape 14"/>
          <p:cNvSpPr/>
          <p:nvPr/>
        </p:nvSpPr>
        <p:spPr>
          <a:xfrm>
            <a:off x="859536" y="5020056"/>
            <a:ext cx="109728" cy="109728"/>
          </a:xfrm>
          <a:prstGeom prst="ellipse">
            <a:avLst/>
          </a:prstGeom>
          <a:solidFill>
            <a:srgbClr val="2E7D5B"/>
          </a:solidFill>
          <a:ln/>
        </p:spPr>
      </p:sp>
      <p:sp>
        <p:nvSpPr>
          <p:cNvPr id="17" name="Text 15"/>
          <p:cNvSpPr/>
          <p:nvPr/>
        </p:nvSpPr>
        <p:spPr>
          <a:xfrm>
            <a:off x="1097280" y="493776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導入後3か月は人事組織が伴走</a:t>
            </a:r>
            <a:endParaRPr lang="en-US" sz="1100" dirty="0"/>
          </a:p>
        </p:txBody>
      </p:sp>
      <p:sp>
        <p:nvSpPr>
          <p:cNvPr id="18" name="Shape 16"/>
          <p:cNvSpPr/>
          <p:nvPr/>
        </p:nvSpPr>
        <p:spPr>
          <a:xfrm>
            <a:off x="4439412" y="1591056"/>
            <a:ext cx="3529584" cy="4114800"/>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19" name="Shape 17"/>
          <p:cNvSpPr/>
          <p:nvPr/>
        </p:nvSpPr>
        <p:spPr>
          <a:xfrm>
            <a:off x="4713732" y="1810512"/>
            <a:ext cx="402336" cy="402336"/>
          </a:xfrm>
          <a:prstGeom prst="ellipse">
            <a:avLst/>
          </a:prstGeom>
          <a:solidFill>
            <a:srgbClr val="B3423A"/>
          </a:solidFill>
          <a:ln/>
        </p:spPr>
      </p:sp>
      <p:sp>
        <p:nvSpPr>
          <p:cNvPr id="20" name="Text 18"/>
          <p:cNvSpPr/>
          <p:nvPr/>
        </p:nvSpPr>
        <p:spPr>
          <a:xfrm>
            <a:off x="4713732" y="1810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21" name="Text 19"/>
          <p:cNvSpPr/>
          <p:nvPr/>
        </p:nvSpPr>
        <p:spPr>
          <a:xfrm>
            <a:off x="5225796" y="1792224"/>
            <a:ext cx="2523744" cy="43891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情報の置き場所が分散する</a:t>
            </a:r>
            <a:endParaRPr lang="en-US" sz="1500" dirty="0"/>
          </a:p>
        </p:txBody>
      </p:sp>
      <p:sp>
        <p:nvSpPr>
          <p:cNvPr id="22" name="Text 20"/>
          <p:cNvSpPr/>
          <p:nvPr/>
        </p:nvSpPr>
        <p:spPr>
          <a:xfrm>
            <a:off x="4713732" y="2322576"/>
            <a:ext cx="2980944" cy="603504"/>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Teams・Notion・SharePointのどこに何があるか分からなくなる</a:t>
            </a:r>
            <a:endParaRPr lang="en-US" sz="1100" dirty="0"/>
          </a:p>
        </p:txBody>
      </p:sp>
      <p:sp>
        <p:nvSpPr>
          <p:cNvPr id="23" name="Text 21"/>
          <p:cNvSpPr/>
          <p:nvPr/>
        </p:nvSpPr>
        <p:spPr>
          <a:xfrm>
            <a:off x="4713732" y="2980944"/>
            <a:ext cx="1371600" cy="256032"/>
          </a:xfrm>
          <a:prstGeom prst="rect">
            <a:avLst/>
          </a:prstGeom>
          <a:noFill/>
          <a:ln/>
        </p:spPr>
        <p:txBody>
          <a:bodyPr wrap="square" lIns="0" tIns="0" rIns="0" bIns="0" rtlCol="0" anchor="ctr"/>
          <a:lstStyle/>
          <a:p>
            <a:pPr indent="0" marL="0">
              <a:buNone/>
            </a:pPr>
            <a:r>
              <a:rPr lang="en-US" sz="1050" b="1" dirty="0">
                <a:solidFill>
                  <a:srgbClr val="2E7D5B"/>
                </a:solidFill>
                <a:latin typeface="Meiryo" pitchFamily="34" charset="0"/>
                <a:ea typeface="Meiryo" pitchFamily="34" charset="-122"/>
                <a:cs typeface="Meiryo" pitchFamily="34" charset="-120"/>
              </a:rPr>
              <a:t>対策</a:t>
            </a:r>
            <a:endParaRPr lang="en-US" sz="1050" dirty="0"/>
          </a:p>
        </p:txBody>
      </p:sp>
      <p:sp>
        <p:nvSpPr>
          <p:cNvPr id="24" name="Shape 22"/>
          <p:cNvSpPr/>
          <p:nvPr/>
        </p:nvSpPr>
        <p:spPr>
          <a:xfrm>
            <a:off x="4732020" y="3374136"/>
            <a:ext cx="109728" cy="109728"/>
          </a:xfrm>
          <a:prstGeom prst="ellipse">
            <a:avLst/>
          </a:prstGeom>
          <a:solidFill>
            <a:srgbClr val="2E7D5B"/>
          </a:solidFill>
          <a:ln/>
        </p:spPr>
      </p:sp>
      <p:sp>
        <p:nvSpPr>
          <p:cNvPr id="25" name="Text 23"/>
          <p:cNvSpPr/>
          <p:nvPr/>
        </p:nvSpPr>
        <p:spPr>
          <a:xfrm>
            <a:off x="4969764" y="329184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役割分担を1枚の図で定義し全社に周知</a:t>
            </a:r>
            <a:endParaRPr lang="en-US" sz="1100" dirty="0"/>
          </a:p>
        </p:txBody>
      </p:sp>
      <p:sp>
        <p:nvSpPr>
          <p:cNvPr id="26" name="Shape 24"/>
          <p:cNvSpPr/>
          <p:nvPr/>
        </p:nvSpPr>
        <p:spPr>
          <a:xfrm>
            <a:off x="4732020" y="3922776"/>
            <a:ext cx="109728" cy="109728"/>
          </a:xfrm>
          <a:prstGeom prst="ellipse">
            <a:avLst/>
          </a:prstGeom>
          <a:solidFill>
            <a:srgbClr val="2E7D5B"/>
          </a:solidFill>
          <a:ln/>
        </p:spPr>
      </p:sp>
      <p:sp>
        <p:nvSpPr>
          <p:cNvPr id="27" name="Text 25"/>
          <p:cNvSpPr/>
          <p:nvPr/>
        </p:nvSpPr>
        <p:spPr>
          <a:xfrm>
            <a:off x="4969764" y="384048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「会話はTeams、記録はNotion」を徹底</a:t>
            </a:r>
            <a:endParaRPr lang="en-US" sz="1100" dirty="0"/>
          </a:p>
        </p:txBody>
      </p:sp>
      <p:sp>
        <p:nvSpPr>
          <p:cNvPr id="28" name="Shape 26"/>
          <p:cNvSpPr/>
          <p:nvPr/>
        </p:nvSpPr>
        <p:spPr>
          <a:xfrm>
            <a:off x="4732020" y="4471416"/>
            <a:ext cx="109728" cy="109728"/>
          </a:xfrm>
          <a:prstGeom prst="ellipse">
            <a:avLst/>
          </a:prstGeom>
          <a:solidFill>
            <a:srgbClr val="2E7D5B"/>
          </a:solidFill>
          <a:ln/>
        </p:spPr>
      </p:sp>
      <p:sp>
        <p:nvSpPr>
          <p:cNvPr id="29" name="Text 27"/>
          <p:cNvSpPr/>
          <p:nvPr/>
        </p:nvSpPr>
        <p:spPr>
          <a:xfrm>
            <a:off x="4969764" y="438912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SharePointは当面そのまま併存</a:t>
            </a:r>
            <a:endParaRPr lang="en-US" sz="1100" dirty="0"/>
          </a:p>
        </p:txBody>
      </p:sp>
      <p:sp>
        <p:nvSpPr>
          <p:cNvPr id="30" name="Shape 28"/>
          <p:cNvSpPr/>
          <p:nvPr/>
        </p:nvSpPr>
        <p:spPr>
          <a:xfrm>
            <a:off x="8311896" y="1591056"/>
            <a:ext cx="3529584" cy="4114800"/>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31" name="Shape 29"/>
          <p:cNvSpPr/>
          <p:nvPr/>
        </p:nvSpPr>
        <p:spPr>
          <a:xfrm>
            <a:off x="8586216" y="1810512"/>
            <a:ext cx="402336" cy="402336"/>
          </a:xfrm>
          <a:prstGeom prst="ellipse">
            <a:avLst/>
          </a:prstGeom>
          <a:solidFill>
            <a:srgbClr val="B3423A"/>
          </a:solidFill>
          <a:ln/>
        </p:spPr>
      </p:sp>
      <p:sp>
        <p:nvSpPr>
          <p:cNvPr id="32" name="Text 30"/>
          <p:cNvSpPr/>
          <p:nvPr/>
        </p:nvSpPr>
        <p:spPr>
          <a:xfrm>
            <a:off x="8586216" y="1810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33" name="Text 31"/>
          <p:cNvSpPr/>
          <p:nvPr/>
        </p:nvSpPr>
        <p:spPr>
          <a:xfrm>
            <a:off x="9098280" y="1792224"/>
            <a:ext cx="2523744" cy="43891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セキュリティ</a:t>
            </a:r>
            <a:endParaRPr lang="en-US" sz="1500" dirty="0"/>
          </a:p>
        </p:txBody>
      </p:sp>
      <p:sp>
        <p:nvSpPr>
          <p:cNvPr id="34" name="Text 32"/>
          <p:cNvSpPr/>
          <p:nvPr/>
        </p:nvSpPr>
        <p:spPr>
          <a:xfrm>
            <a:off x="8586216" y="2322576"/>
            <a:ext cx="2980944" cy="603504"/>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親会社の基準を満たせない</a:t>
            </a:r>
            <a:endParaRPr lang="en-US" sz="1100" dirty="0"/>
          </a:p>
        </p:txBody>
      </p:sp>
      <p:sp>
        <p:nvSpPr>
          <p:cNvPr id="35" name="Text 33"/>
          <p:cNvSpPr/>
          <p:nvPr/>
        </p:nvSpPr>
        <p:spPr>
          <a:xfrm>
            <a:off x="8586216" y="2980944"/>
            <a:ext cx="1371600" cy="256032"/>
          </a:xfrm>
          <a:prstGeom prst="rect">
            <a:avLst/>
          </a:prstGeom>
          <a:noFill/>
          <a:ln/>
        </p:spPr>
        <p:txBody>
          <a:bodyPr wrap="square" lIns="0" tIns="0" rIns="0" bIns="0" rtlCol="0" anchor="ctr"/>
          <a:lstStyle/>
          <a:p>
            <a:pPr indent="0" marL="0">
              <a:buNone/>
            </a:pPr>
            <a:r>
              <a:rPr lang="en-US" sz="1050" b="1" dirty="0">
                <a:solidFill>
                  <a:srgbClr val="2E7D5B"/>
                </a:solidFill>
                <a:latin typeface="Meiryo" pitchFamily="34" charset="0"/>
                <a:ea typeface="Meiryo" pitchFamily="34" charset="-122"/>
                <a:cs typeface="Meiryo" pitchFamily="34" charset="-120"/>
              </a:rPr>
              <a:t>対策</a:t>
            </a:r>
            <a:endParaRPr lang="en-US" sz="1050" dirty="0"/>
          </a:p>
        </p:txBody>
      </p:sp>
      <p:sp>
        <p:nvSpPr>
          <p:cNvPr id="36" name="Shape 34"/>
          <p:cNvSpPr/>
          <p:nvPr/>
        </p:nvSpPr>
        <p:spPr>
          <a:xfrm>
            <a:off x="8604504" y="3374136"/>
            <a:ext cx="109728" cy="109728"/>
          </a:xfrm>
          <a:prstGeom prst="ellipse">
            <a:avLst/>
          </a:prstGeom>
          <a:solidFill>
            <a:srgbClr val="2E7D5B"/>
          </a:solidFill>
          <a:ln/>
        </p:spPr>
      </p:sp>
      <p:sp>
        <p:nvSpPr>
          <p:cNvPr id="37" name="Text 35"/>
          <p:cNvSpPr/>
          <p:nvPr/>
        </p:nvSpPr>
        <p:spPr>
          <a:xfrm>
            <a:off x="8842248" y="329184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SOC 2 Type II・ISO 27001 等を取得済み</a:t>
            </a:r>
            <a:endParaRPr lang="en-US" sz="1100" dirty="0"/>
          </a:p>
        </p:txBody>
      </p:sp>
      <p:sp>
        <p:nvSpPr>
          <p:cNvPr id="38" name="Shape 36"/>
          <p:cNvSpPr/>
          <p:nvPr/>
        </p:nvSpPr>
        <p:spPr>
          <a:xfrm>
            <a:off x="8604504" y="3922776"/>
            <a:ext cx="109728" cy="109728"/>
          </a:xfrm>
          <a:prstGeom prst="ellipse">
            <a:avLst/>
          </a:prstGeom>
          <a:solidFill>
            <a:srgbClr val="2E7D5B"/>
          </a:solidFill>
          <a:ln/>
        </p:spPr>
      </p:sp>
      <p:sp>
        <p:nvSpPr>
          <p:cNvPr id="39" name="Text 37"/>
          <p:cNvSpPr/>
          <p:nvPr/>
        </p:nvSpPr>
        <p:spPr>
          <a:xfrm>
            <a:off x="8842248" y="384048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SAML SSOでMicrosoft 365と統合</a:t>
            </a:r>
            <a:endParaRPr lang="en-US" sz="1100" dirty="0"/>
          </a:p>
        </p:txBody>
      </p:sp>
      <p:sp>
        <p:nvSpPr>
          <p:cNvPr id="40" name="Shape 38"/>
          <p:cNvSpPr/>
          <p:nvPr/>
        </p:nvSpPr>
        <p:spPr>
          <a:xfrm>
            <a:off x="8604504" y="4471416"/>
            <a:ext cx="109728" cy="109728"/>
          </a:xfrm>
          <a:prstGeom prst="ellipse">
            <a:avLst/>
          </a:prstGeom>
          <a:solidFill>
            <a:srgbClr val="2E7D5B"/>
          </a:solidFill>
          <a:ln/>
        </p:spPr>
      </p:sp>
      <p:sp>
        <p:nvSpPr>
          <p:cNvPr id="41" name="Text 39"/>
          <p:cNvSpPr/>
          <p:nvPr/>
        </p:nvSpPr>
        <p:spPr>
          <a:xfrm>
            <a:off x="8842248" y="438912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機微情報は置かない運用とする</a:t>
            </a:r>
            <a:endParaRPr lang="en-US" sz="1100" dirty="0"/>
          </a:p>
        </p:txBody>
      </p:sp>
      <p:sp>
        <p:nvSpPr>
          <p:cNvPr id="42" name="Shape 40"/>
          <p:cNvSpPr/>
          <p:nvPr/>
        </p:nvSpPr>
        <p:spPr>
          <a:xfrm>
            <a:off x="8604504" y="5020056"/>
            <a:ext cx="109728" cy="109728"/>
          </a:xfrm>
          <a:prstGeom prst="ellipse">
            <a:avLst/>
          </a:prstGeom>
          <a:solidFill>
            <a:srgbClr val="2E7D5B"/>
          </a:solidFill>
          <a:ln/>
        </p:spPr>
      </p:sp>
      <p:sp>
        <p:nvSpPr>
          <p:cNvPr id="43" name="Text 41"/>
          <p:cNvSpPr/>
          <p:nvPr/>
        </p:nvSpPr>
        <p:spPr>
          <a:xfrm>
            <a:off x="8842248" y="493776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詳細は別添にて説明</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進め方</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ライセンスは全社、業務の移行は段階的に行います</a:t>
            </a:r>
            <a:endParaRPr lang="en-US" sz="2700" dirty="0"/>
          </a:p>
        </p:txBody>
      </p:sp>
      <p:sp>
        <p:nvSpPr>
          <p:cNvPr id="4" name="Shape 2"/>
          <p:cNvSpPr/>
          <p:nvPr/>
        </p:nvSpPr>
        <p:spPr>
          <a:xfrm>
            <a:off x="566928"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5" name="Text 3"/>
          <p:cNvSpPr/>
          <p:nvPr/>
        </p:nvSpPr>
        <p:spPr>
          <a:xfrm>
            <a:off x="804672" y="1901952"/>
            <a:ext cx="2212848" cy="329184"/>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Phase 0</a:t>
            </a:r>
            <a:endParaRPr lang="en-US" sz="1500" dirty="0"/>
          </a:p>
        </p:txBody>
      </p:sp>
      <p:sp>
        <p:nvSpPr>
          <p:cNvPr id="6" name="Text 4"/>
          <p:cNvSpPr/>
          <p:nvPr/>
        </p:nvSpPr>
        <p:spPr>
          <a:xfrm>
            <a:off x="804672"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承認後すぐ</a:t>
            </a:r>
            <a:endParaRPr lang="en-US" sz="1050" dirty="0"/>
          </a:p>
        </p:txBody>
      </p:sp>
      <p:sp>
        <p:nvSpPr>
          <p:cNvPr id="7" name="Text 5"/>
          <p:cNvSpPr/>
          <p:nvPr/>
        </p:nvSpPr>
        <p:spPr>
          <a:xfrm>
            <a:off x="804672"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情シスへの申請</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セキュリティ審査</a:t>
            </a:r>
            <a:endParaRPr lang="en-US" sz="1200" dirty="0"/>
          </a:p>
        </p:txBody>
      </p:sp>
      <p:sp>
        <p:nvSpPr>
          <p:cNvPr id="8" name="Shape 6"/>
          <p:cNvSpPr/>
          <p:nvPr/>
        </p:nvSpPr>
        <p:spPr>
          <a:xfrm>
            <a:off x="3310128" y="2871216"/>
            <a:ext cx="155448" cy="201168"/>
          </a:xfrm>
          <a:prstGeom prst="rightArrow">
            <a:avLst/>
          </a:prstGeom>
          <a:solidFill>
            <a:srgbClr val="D5DCE6"/>
          </a:solidFill>
          <a:ln/>
        </p:spPr>
      </p:sp>
      <p:sp>
        <p:nvSpPr>
          <p:cNvPr id="9" name="Shape 7"/>
          <p:cNvSpPr/>
          <p:nvPr/>
        </p:nvSpPr>
        <p:spPr>
          <a:xfrm>
            <a:off x="3520440"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10" name="Text 8"/>
          <p:cNvSpPr/>
          <p:nvPr/>
        </p:nvSpPr>
        <p:spPr>
          <a:xfrm>
            <a:off x="3758184" y="1901952"/>
            <a:ext cx="2212848" cy="329184"/>
          </a:xfrm>
          <a:prstGeom prst="rect">
            <a:avLst/>
          </a:prstGeom>
          <a:noFill/>
          <a:ln/>
        </p:spPr>
        <p:txBody>
          <a:bodyPr wrap="square" lIns="0" tIns="0" rIns="0" bIns="0" rtlCol="0" anchor="ctr"/>
          <a:lstStyle/>
          <a:p>
            <a:pPr indent="0" marL="0">
              <a:buNone/>
            </a:pPr>
            <a:r>
              <a:rPr lang="en-US" sz="1500" b="1" dirty="0">
                <a:solidFill>
                  <a:srgbClr val="1F7A6C"/>
                </a:solidFill>
                <a:latin typeface="Meiryo" pitchFamily="34" charset="0"/>
                <a:ea typeface="Meiryo" pitchFamily="34" charset="-122"/>
                <a:cs typeface="Meiryo" pitchFamily="34" charset="-120"/>
              </a:rPr>
              <a:t>Phase 1</a:t>
            </a:r>
            <a:endParaRPr lang="en-US" sz="1500" dirty="0"/>
          </a:p>
        </p:txBody>
      </p:sp>
      <p:sp>
        <p:nvSpPr>
          <p:cNvPr id="11" name="Text 9"/>
          <p:cNvSpPr/>
          <p:nvPr/>
        </p:nvSpPr>
        <p:spPr>
          <a:xfrm>
            <a:off x="3758184"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審査通過後 1〜2か月</a:t>
            </a:r>
            <a:endParaRPr lang="en-US" sz="1050" dirty="0"/>
          </a:p>
        </p:txBody>
      </p:sp>
      <p:sp>
        <p:nvSpPr>
          <p:cNvPr id="12" name="Text 10"/>
          <p:cNvSpPr/>
          <p:nvPr/>
        </p:nvSpPr>
        <p:spPr>
          <a:xfrm>
            <a:off x="3758184"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会議運用から開始</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アジェンダ・議事録の標準化</a:t>
            </a:r>
            <a:endParaRPr lang="en-US" sz="1200" dirty="0"/>
          </a:p>
        </p:txBody>
      </p:sp>
      <p:sp>
        <p:nvSpPr>
          <p:cNvPr id="13" name="Shape 11"/>
          <p:cNvSpPr/>
          <p:nvPr/>
        </p:nvSpPr>
        <p:spPr>
          <a:xfrm>
            <a:off x="3758184" y="3712464"/>
            <a:ext cx="1060704" cy="310896"/>
          </a:xfrm>
          <a:prstGeom prst="roundRect">
            <a:avLst>
              <a:gd name="adj" fmla="val 14706"/>
            </a:avLst>
          </a:prstGeom>
          <a:solidFill>
            <a:srgbClr val="1F7A6C"/>
          </a:solidFill>
          <a:ln/>
        </p:spPr>
      </p:sp>
      <p:sp>
        <p:nvSpPr>
          <p:cNvPr id="14" name="Text 12"/>
          <p:cNvSpPr/>
          <p:nvPr/>
        </p:nvSpPr>
        <p:spPr>
          <a:xfrm>
            <a:off x="3758184" y="3712464"/>
            <a:ext cx="1060704"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課題B</a:t>
            </a:r>
            <a:endParaRPr lang="en-US" sz="1050" dirty="0"/>
          </a:p>
        </p:txBody>
      </p:sp>
      <p:sp>
        <p:nvSpPr>
          <p:cNvPr id="15" name="Shape 13"/>
          <p:cNvSpPr/>
          <p:nvPr/>
        </p:nvSpPr>
        <p:spPr>
          <a:xfrm>
            <a:off x="6263640" y="2871216"/>
            <a:ext cx="155448" cy="201168"/>
          </a:xfrm>
          <a:prstGeom prst="rightArrow">
            <a:avLst/>
          </a:prstGeom>
          <a:solidFill>
            <a:srgbClr val="D5DCE6"/>
          </a:solidFill>
          <a:ln/>
        </p:spPr>
      </p:sp>
      <p:sp>
        <p:nvSpPr>
          <p:cNvPr id="16" name="Shape 14"/>
          <p:cNvSpPr/>
          <p:nvPr/>
        </p:nvSpPr>
        <p:spPr>
          <a:xfrm>
            <a:off x="6473952"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17" name="Text 15"/>
          <p:cNvSpPr/>
          <p:nvPr/>
        </p:nvSpPr>
        <p:spPr>
          <a:xfrm>
            <a:off x="6711696" y="1901952"/>
            <a:ext cx="2212848" cy="329184"/>
          </a:xfrm>
          <a:prstGeom prst="rect">
            <a:avLst/>
          </a:prstGeom>
          <a:noFill/>
          <a:ln/>
        </p:spPr>
        <p:txBody>
          <a:bodyPr wrap="square" lIns="0" tIns="0" rIns="0" bIns="0" rtlCol="0" anchor="ctr"/>
          <a:lstStyle/>
          <a:p>
            <a:pPr indent="0" marL="0">
              <a:buNone/>
            </a:pPr>
            <a:r>
              <a:rPr lang="en-US" sz="1500" b="1" dirty="0">
                <a:solidFill>
                  <a:srgbClr val="2C5F8D"/>
                </a:solidFill>
                <a:latin typeface="Meiryo" pitchFamily="34" charset="0"/>
                <a:ea typeface="Meiryo" pitchFamily="34" charset="-122"/>
                <a:cs typeface="Meiryo" pitchFamily="34" charset="-120"/>
              </a:rPr>
              <a:t>Phase 2</a:t>
            </a:r>
            <a:endParaRPr lang="en-US" sz="1500" dirty="0"/>
          </a:p>
        </p:txBody>
      </p:sp>
      <p:sp>
        <p:nvSpPr>
          <p:cNvPr id="18" name="Text 16"/>
          <p:cNvSpPr/>
          <p:nvPr/>
        </p:nvSpPr>
        <p:spPr>
          <a:xfrm>
            <a:off x="6711696"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3〜4か月目</a:t>
            </a:r>
            <a:endParaRPr lang="en-US" sz="1050" dirty="0"/>
          </a:p>
        </p:txBody>
      </p:sp>
      <p:sp>
        <p:nvSpPr>
          <p:cNvPr id="19" name="Text 17"/>
          <p:cNvSpPr/>
          <p:nvPr/>
        </p:nvSpPr>
        <p:spPr>
          <a:xfrm>
            <a:off x="6711696"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案件管理を1部門で先行運用</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テンプレートを実案件で検証</a:t>
            </a:r>
            <a:endParaRPr lang="en-US" sz="1200" dirty="0"/>
          </a:p>
        </p:txBody>
      </p:sp>
      <p:sp>
        <p:nvSpPr>
          <p:cNvPr id="20" name="Shape 18"/>
          <p:cNvSpPr/>
          <p:nvPr/>
        </p:nvSpPr>
        <p:spPr>
          <a:xfrm>
            <a:off x="6711696" y="3712464"/>
            <a:ext cx="1060704" cy="310896"/>
          </a:xfrm>
          <a:prstGeom prst="roundRect">
            <a:avLst>
              <a:gd name="adj" fmla="val 14706"/>
            </a:avLst>
          </a:prstGeom>
          <a:solidFill>
            <a:srgbClr val="2C5F8D"/>
          </a:solidFill>
          <a:ln/>
        </p:spPr>
      </p:sp>
      <p:sp>
        <p:nvSpPr>
          <p:cNvPr id="21" name="Text 19"/>
          <p:cNvSpPr/>
          <p:nvPr/>
        </p:nvSpPr>
        <p:spPr>
          <a:xfrm>
            <a:off x="6711696" y="3712464"/>
            <a:ext cx="1060704"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課題A</a:t>
            </a:r>
            <a:endParaRPr lang="en-US" sz="1050" dirty="0"/>
          </a:p>
        </p:txBody>
      </p:sp>
      <p:sp>
        <p:nvSpPr>
          <p:cNvPr id="22" name="Shape 20"/>
          <p:cNvSpPr/>
          <p:nvPr/>
        </p:nvSpPr>
        <p:spPr>
          <a:xfrm>
            <a:off x="9217152" y="2871216"/>
            <a:ext cx="155448" cy="201168"/>
          </a:xfrm>
          <a:prstGeom prst="rightArrow">
            <a:avLst/>
          </a:prstGeom>
          <a:solidFill>
            <a:srgbClr val="D5DCE6"/>
          </a:solidFill>
          <a:ln/>
        </p:spPr>
      </p:sp>
      <p:sp>
        <p:nvSpPr>
          <p:cNvPr id="23" name="Shape 21"/>
          <p:cNvSpPr/>
          <p:nvPr/>
        </p:nvSpPr>
        <p:spPr>
          <a:xfrm>
            <a:off x="9427464"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24" name="Text 22"/>
          <p:cNvSpPr/>
          <p:nvPr/>
        </p:nvSpPr>
        <p:spPr>
          <a:xfrm>
            <a:off x="9665208" y="1901952"/>
            <a:ext cx="2212848" cy="329184"/>
          </a:xfrm>
          <a:prstGeom prst="rect">
            <a:avLst/>
          </a:prstGeom>
          <a:noFill/>
          <a:ln/>
        </p:spPr>
        <p:txBody>
          <a:bodyPr wrap="square" lIns="0" tIns="0" rIns="0" bIns="0" rtlCol="0" anchor="ctr"/>
          <a:lstStyle/>
          <a:p>
            <a:pPr indent="0" marL="0">
              <a:buNone/>
            </a:pPr>
            <a:r>
              <a:rPr lang="en-US" sz="1500" b="1" dirty="0">
                <a:solidFill>
                  <a:srgbClr val="2C5F8D"/>
                </a:solidFill>
                <a:latin typeface="Meiryo" pitchFamily="34" charset="0"/>
                <a:ea typeface="Meiryo" pitchFamily="34" charset="-122"/>
                <a:cs typeface="Meiryo" pitchFamily="34" charset="-120"/>
              </a:rPr>
              <a:t>Phase 3</a:t>
            </a:r>
            <a:endParaRPr lang="en-US" sz="1500" dirty="0"/>
          </a:p>
        </p:txBody>
      </p:sp>
      <p:sp>
        <p:nvSpPr>
          <p:cNvPr id="25" name="Text 23"/>
          <p:cNvSpPr/>
          <p:nvPr/>
        </p:nvSpPr>
        <p:spPr>
          <a:xfrm>
            <a:off x="9665208"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5か月目以降</a:t>
            </a:r>
            <a:endParaRPr lang="en-US" sz="1050" dirty="0"/>
          </a:p>
        </p:txBody>
      </p:sp>
      <p:sp>
        <p:nvSpPr>
          <p:cNvPr id="26" name="Text 24"/>
          <p:cNvSpPr/>
          <p:nvPr/>
        </p:nvSpPr>
        <p:spPr>
          <a:xfrm>
            <a:off x="9665208"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全案件へ展開</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PMOの横断ビュー稼働</a:t>
            </a:r>
            <a:endParaRPr lang="en-US" sz="1200" dirty="0"/>
          </a:p>
        </p:txBody>
      </p:sp>
      <p:sp>
        <p:nvSpPr>
          <p:cNvPr id="27" name="Shape 25"/>
          <p:cNvSpPr/>
          <p:nvPr/>
        </p:nvSpPr>
        <p:spPr>
          <a:xfrm>
            <a:off x="9665208" y="3712464"/>
            <a:ext cx="1060704" cy="310896"/>
          </a:xfrm>
          <a:prstGeom prst="roundRect">
            <a:avLst>
              <a:gd name="adj" fmla="val 14706"/>
            </a:avLst>
          </a:prstGeom>
          <a:solidFill>
            <a:srgbClr val="2C5F8D"/>
          </a:solidFill>
          <a:ln/>
        </p:spPr>
      </p:sp>
      <p:sp>
        <p:nvSpPr>
          <p:cNvPr id="28" name="Text 26"/>
          <p:cNvSpPr/>
          <p:nvPr/>
        </p:nvSpPr>
        <p:spPr>
          <a:xfrm>
            <a:off x="9665208" y="3712464"/>
            <a:ext cx="1060704"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課題A</a:t>
            </a:r>
            <a:endParaRPr lang="en-US" sz="1050" dirty="0"/>
          </a:p>
        </p:txBody>
      </p:sp>
      <p:sp>
        <p:nvSpPr>
          <p:cNvPr id="29" name="Shape 27"/>
          <p:cNvSpPr/>
          <p:nvPr/>
        </p:nvSpPr>
        <p:spPr>
          <a:xfrm>
            <a:off x="566928" y="4572000"/>
            <a:ext cx="5532120" cy="1243584"/>
          </a:xfrm>
          <a:prstGeom prst="roundRect">
            <a:avLst>
              <a:gd name="adj" fmla="val 4412"/>
            </a:avLst>
          </a:prstGeom>
          <a:solidFill>
            <a:srgbClr val="F1F4F9"/>
          </a:solidFill>
          <a:ln/>
          <a:effectLst>
            <a:outerShdw sx="100000" sy="100000" kx="0" ky="0" algn="bl" rotWithShape="0" blurRad="127000" dist="25400" dir="5400000">
              <a:srgbClr val="8A97AC">
                <a:alpha val="22000"/>
              </a:srgbClr>
            </a:outerShdw>
          </a:effectLst>
        </p:spPr>
      </p:sp>
      <p:sp>
        <p:nvSpPr>
          <p:cNvPr id="30" name="Text 28"/>
          <p:cNvSpPr/>
          <p:nvPr/>
        </p:nvSpPr>
        <p:spPr>
          <a:xfrm>
            <a:off x="877824" y="4700016"/>
            <a:ext cx="4937760" cy="274320"/>
          </a:xfrm>
          <a:prstGeom prst="rect">
            <a:avLst/>
          </a:prstGeom>
          <a:noFill/>
          <a:ln/>
        </p:spPr>
        <p:txBody>
          <a:bodyPr wrap="square" lIns="0" tIns="0" rIns="0" bIns="0" rtlCol="0" anchor="ctr"/>
          <a:lstStyle/>
          <a:p>
            <a:pPr indent="0" marL="0">
              <a:buNone/>
            </a:pPr>
            <a:r>
              <a:rPr lang="en-US" sz="1200" b="1" dirty="0">
                <a:solidFill>
                  <a:srgbClr val="1F7A6C"/>
                </a:solidFill>
                <a:latin typeface="Meiryo" pitchFamily="34" charset="0"/>
                <a:ea typeface="Meiryo" pitchFamily="34" charset="-122"/>
                <a:cs typeface="Meiryo" pitchFamily="34" charset="-120"/>
              </a:rPr>
              <a:t>なぜ会議運用から始めるのか</a:t>
            </a:r>
            <a:endParaRPr lang="en-US" sz="1200" dirty="0"/>
          </a:p>
        </p:txBody>
      </p:sp>
      <p:sp>
        <p:nvSpPr>
          <p:cNvPr id="31" name="Text 29"/>
          <p:cNvSpPr/>
          <p:nvPr/>
        </p:nvSpPr>
        <p:spPr>
          <a:xfrm>
            <a:off x="877824" y="4992624"/>
            <a:ext cx="4937760" cy="694944"/>
          </a:xfrm>
          <a:prstGeom prst="rect">
            <a:avLst/>
          </a:prstGeom>
          <a:noFill/>
          <a:ln/>
        </p:spPr>
        <p:txBody>
          <a:bodyPr wrap="square" lIns="0" tIns="0" rIns="0" bIns="0" rtlCol="0" anchor="ctr"/>
          <a:lstStyle/>
          <a:p>
            <a:pPr indent="0" marL="0">
              <a:lnSpc>
                <a:spcPts val="1700"/>
              </a:lnSpc>
              <a:buNone/>
            </a:pPr>
            <a:r>
              <a:rPr lang="en-US" sz="1150" dirty="0">
                <a:solidFill>
                  <a:srgbClr val="5A6472"/>
                </a:solidFill>
                <a:latin typeface="Meiryo" pitchFamily="34" charset="0"/>
                <a:ea typeface="Meiryo" pitchFamily="34" charset="-122"/>
                <a:cs typeface="Meiryo" pitchFamily="34" charset="-120"/>
              </a:rPr>
              <a:t>習得が容易で全社員が即日使え、効果が早く見える。操作に慣れた状態で案件管理に進むほうが定着率が高い。</a:t>
            </a:r>
            <a:endParaRPr lang="en-US" sz="1150" dirty="0"/>
          </a:p>
        </p:txBody>
      </p:sp>
      <p:sp>
        <p:nvSpPr>
          <p:cNvPr id="32" name="Shape 30"/>
          <p:cNvSpPr/>
          <p:nvPr/>
        </p:nvSpPr>
        <p:spPr>
          <a:xfrm>
            <a:off x="6419088" y="4572000"/>
            <a:ext cx="5440680" cy="1243584"/>
          </a:xfrm>
          <a:prstGeom prst="roundRect">
            <a:avLst>
              <a:gd name="adj" fmla="val 4412"/>
            </a:avLst>
          </a:prstGeom>
          <a:solidFill>
            <a:srgbClr val="16233F"/>
          </a:solidFill>
          <a:ln/>
          <a:effectLst>
            <a:outerShdw sx="100000" sy="100000" kx="0" ky="0" algn="bl" rotWithShape="0" blurRad="127000" dist="25400" dir="5400000">
              <a:srgbClr val="8A97AC">
                <a:alpha val="22000"/>
              </a:srgbClr>
            </a:outerShdw>
          </a:effectLst>
        </p:spPr>
      </p:sp>
      <p:sp>
        <p:nvSpPr>
          <p:cNvPr id="33" name="Text 31"/>
          <p:cNvSpPr/>
          <p:nvPr/>
        </p:nvSpPr>
        <p:spPr>
          <a:xfrm>
            <a:off x="6729984" y="4700016"/>
            <a:ext cx="4846320" cy="274320"/>
          </a:xfrm>
          <a:prstGeom prst="rect">
            <a:avLst/>
          </a:prstGeom>
          <a:noFill/>
          <a:ln/>
        </p:spPr>
        <p:txBody>
          <a:bodyPr wrap="square" lIns="0" tIns="0" rIns="0" bIns="0" rtlCol="0" anchor="ctr"/>
          <a:lstStyle/>
          <a:p>
            <a:pPr indent="0" marL="0">
              <a:buNone/>
            </a:pPr>
            <a:r>
              <a:rPr lang="en-US" sz="1200" b="1" dirty="0">
                <a:solidFill>
                  <a:srgbClr val="E8A33D"/>
                </a:solidFill>
                <a:latin typeface="Meiryo" pitchFamily="34" charset="0"/>
                <a:ea typeface="Meiryo" pitchFamily="34" charset="-122"/>
                <a:cs typeface="Meiryo" pitchFamily="34" charset="-120"/>
              </a:rPr>
              <a:t>なぜライセンスは全社なのか</a:t>
            </a:r>
            <a:endParaRPr lang="en-US" sz="1200" dirty="0"/>
          </a:p>
        </p:txBody>
      </p:sp>
      <p:sp>
        <p:nvSpPr>
          <p:cNvPr id="34" name="Text 32"/>
          <p:cNvSpPr/>
          <p:nvPr/>
        </p:nvSpPr>
        <p:spPr>
          <a:xfrm>
            <a:off x="6729984" y="4992624"/>
            <a:ext cx="4846320" cy="694944"/>
          </a:xfrm>
          <a:prstGeom prst="rect">
            <a:avLst/>
          </a:prstGeom>
          <a:noFill/>
          <a:ln/>
        </p:spPr>
        <p:txBody>
          <a:bodyPr wrap="square" lIns="0" tIns="0" rIns="0" bIns="0" rtlCol="0" anchor="ctr"/>
          <a:lstStyle/>
          <a:p>
            <a:pPr indent="0" marL="0">
              <a:lnSpc>
                <a:spcPts val="1700"/>
              </a:lnSpc>
              <a:buNone/>
            </a:pPr>
            <a:r>
              <a:rPr lang="en-US" sz="1150" dirty="0">
                <a:solidFill>
                  <a:srgbClr val="C3CEE0"/>
                </a:solidFill>
                <a:latin typeface="Meiryo" pitchFamily="34" charset="0"/>
                <a:ea typeface="Meiryo" pitchFamily="34" charset="-122"/>
                <a:cs typeface="Meiryo" pitchFamily="34" charset="-120"/>
              </a:rPr>
              <a:t>案件は部門をまたいで進むため、一部の部署だけでは外側とチャット連絡が残り、二重管理が生まれる。</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中長期の構想</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今後の展望 ― ただし、今回は範囲を絞ります</a:t>
            </a:r>
            <a:endParaRPr lang="en-US" sz="2700" dirty="0"/>
          </a:p>
        </p:txBody>
      </p:sp>
      <p:sp>
        <p:nvSpPr>
          <p:cNvPr id="4" name="Text 2"/>
          <p:cNvSpPr/>
          <p:nvPr/>
        </p:nvSpPr>
        <p:spPr>
          <a:xfrm>
            <a:off x="566928" y="1609344"/>
            <a:ext cx="4937760" cy="274320"/>
          </a:xfrm>
          <a:prstGeom prst="rect">
            <a:avLst/>
          </a:prstGeom>
          <a:noFill/>
          <a:ln/>
        </p:spPr>
        <p:txBody>
          <a:bodyPr wrap="square" lIns="0" tIns="0" rIns="0" bIns="0" rtlCol="0" anchor="ctr"/>
          <a:lstStyle/>
          <a:p>
            <a:pPr indent="0" marL="0">
              <a:buNone/>
            </a:pPr>
            <a:r>
              <a:rPr lang="en-US" sz="1150" b="1" dirty="0">
                <a:solidFill>
                  <a:srgbClr val="E8A33D"/>
                </a:solidFill>
                <a:latin typeface="Meiryo" pitchFamily="34" charset="0"/>
                <a:ea typeface="Meiryo" pitchFamily="34" charset="-122"/>
                <a:cs typeface="Meiryo" pitchFamily="34" charset="-120"/>
              </a:rPr>
              <a:t>今回のスコープ</a:t>
            </a:r>
            <a:endParaRPr lang="en-US" sz="1150" dirty="0"/>
          </a:p>
        </p:txBody>
      </p:sp>
      <p:sp>
        <p:nvSpPr>
          <p:cNvPr id="5" name="Shape 3"/>
          <p:cNvSpPr/>
          <p:nvPr/>
        </p:nvSpPr>
        <p:spPr>
          <a:xfrm>
            <a:off x="566928" y="1938528"/>
            <a:ext cx="4114800" cy="786384"/>
          </a:xfrm>
          <a:prstGeom prst="roundRect">
            <a:avLst>
              <a:gd name="adj" fmla="val 6977"/>
            </a:avLst>
          </a:prstGeom>
          <a:solidFill>
            <a:srgbClr val="2C5F8D"/>
          </a:solidFill>
          <a:ln/>
          <a:effectLst>
            <a:outerShdw sx="100000" sy="100000" kx="0" ky="0" algn="bl" rotWithShape="0" blurRad="127000" dist="25400" dir="5400000">
              <a:srgbClr val="8A97AC">
                <a:alpha val="22000"/>
              </a:srgbClr>
            </a:outerShdw>
          </a:effectLst>
        </p:spPr>
      </p:sp>
      <p:sp>
        <p:nvSpPr>
          <p:cNvPr id="6" name="Text 4"/>
          <p:cNvSpPr/>
          <p:nvPr/>
        </p:nvSpPr>
        <p:spPr>
          <a:xfrm>
            <a:off x="877824" y="1938528"/>
            <a:ext cx="3657600" cy="786384"/>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①　案件管理</a:t>
            </a:r>
            <a:endParaRPr lang="en-US" sz="1700" dirty="0"/>
          </a:p>
        </p:txBody>
      </p:sp>
      <p:sp>
        <p:nvSpPr>
          <p:cNvPr id="7" name="Shape 5"/>
          <p:cNvSpPr/>
          <p:nvPr/>
        </p:nvSpPr>
        <p:spPr>
          <a:xfrm>
            <a:off x="566928" y="2834640"/>
            <a:ext cx="4114800" cy="786384"/>
          </a:xfrm>
          <a:prstGeom prst="roundRect">
            <a:avLst>
              <a:gd name="adj" fmla="val 6977"/>
            </a:avLst>
          </a:prstGeom>
          <a:solidFill>
            <a:srgbClr val="1F7A6C"/>
          </a:solidFill>
          <a:ln/>
          <a:effectLst>
            <a:outerShdw sx="100000" sy="100000" kx="0" ky="0" algn="bl" rotWithShape="0" blurRad="127000" dist="25400" dir="5400000">
              <a:srgbClr val="8A97AC">
                <a:alpha val="22000"/>
              </a:srgbClr>
            </a:outerShdw>
          </a:effectLst>
        </p:spPr>
      </p:sp>
      <p:sp>
        <p:nvSpPr>
          <p:cNvPr id="8" name="Text 6"/>
          <p:cNvSpPr/>
          <p:nvPr/>
        </p:nvSpPr>
        <p:spPr>
          <a:xfrm>
            <a:off x="877824" y="2834640"/>
            <a:ext cx="3657600" cy="786384"/>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②　議事録・会議</a:t>
            </a:r>
            <a:endParaRPr lang="en-US" sz="1700" dirty="0"/>
          </a:p>
        </p:txBody>
      </p:sp>
      <p:sp>
        <p:nvSpPr>
          <p:cNvPr id="9" name="Text 7"/>
          <p:cNvSpPr/>
          <p:nvPr/>
        </p:nvSpPr>
        <p:spPr>
          <a:xfrm>
            <a:off x="566928" y="3749040"/>
            <a:ext cx="4114800" cy="274320"/>
          </a:xfrm>
          <a:prstGeom prst="rect">
            <a:avLst/>
          </a:prstGeom>
          <a:noFill/>
          <a:ln/>
        </p:spPr>
        <p:txBody>
          <a:bodyPr wrap="square" lIns="0" tIns="0" rIns="0" bIns="0" rtlCol="0" anchor="ctr"/>
          <a:lstStyle/>
          <a:p>
            <a:pPr algn="ctr" indent="0" marL="0">
              <a:buNone/>
            </a:pPr>
            <a:r>
              <a:rPr lang="en-US" sz="1100" b="1" dirty="0">
                <a:solidFill>
                  <a:srgbClr val="5A6472"/>
                </a:solidFill>
                <a:latin typeface="Meiryo" pitchFamily="34" charset="0"/>
                <a:ea typeface="Meiryo" pitchFamily="34" charset="-122"/>
                <a:cs typeface="Meiryo" pitchFamily="34" charset="-120"/>
              </a:rPr>
              <a:t>まずここだけ</a:t>
            </a:r>
            <a:endParaRPr lang="en-US" sz="1100" dirty="0"/>
          </a:p>
        </p:txBody>
      </p:sp>
      <p:sp>
        <p:nvSpPr>
          <p:cNvPr id="10" name="Shape 8"/>
          <p:cNvSpPr/>
          <p:nvPr/>
        </p:nvSpPr>
        <p:spPr>
          <a:xfrm>
            <a:off x="4937760" y="2542032"/>
            <a:ext cx="457200" cy="310896"/>
          </a:xfrm>
          <a:prstGeom prst="rightArrow">
            <a:avLst/>
          </a:prstGeom>
          <a:solidFill>
            <a:srgbClr val="D5DCE6"/>
          </a:solidFill>
          <a:ln/>
        </p:spPr>
      </p:sp>
      <p:sp>
        <p:nvSpPr>
          <p:cNvPr id="11" name="Text 9"/>
          <p:cNvSpPr/>
          <p:nvPr/>
        </p:nvSpPr>
        <p:spPr>
          <a:xfrm>
            <a:off x="5687568" y="1609344"/>
            <a:ext cx="4937760"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将来の構想</a:t>
            </a:r>
            <a:endParaRPr lang="en-US" sz="1150" dirty="0"/>
          </a:p>
        </p:txBody>
      </p:sp>
      <p:sp>
        <p:nvSpPr>
          <p:cNvPr id="12" name="Shape 10"/>
          <p:cNvSpPr/>
          <p:nvPr/>
        </p:nvSpPr>
        <p:spPr>
          <a:xfrm>
            <a:off x="5687568" y="1938528"/>
            <a:ext cx="6172200" cy="1682496"/>
          </a:xfrm>
          <a:prstGeom prst="roundRect">
            <a:avLst>
              <a:gd name="adj" fmla="val 3261"/>
            </a:avLst>
          </a:prstGeom>
          <a:solidFill>
            <a:srgbClr val="FFFFFF"/>
          </a:solidFill>
          <a:ln w="19050">
            <a:solidFill>
              <a:srgbClr val="D5DCE6"/>
            </a:solidFill>
            <a:prstDash val="dash"/>
          </a:ln>
        </p:spPr>
      </p:sp>
      <p:sp>
        <p:nvSpPr>
          <p:cNvPr id="13" name="Text 11"/>
          <p:cNvSpPr/>
          <p:nvPr/>
        </p:nvSpPr>
        <p:spPr>
          <a:xfrm>
            <a:off x="5998464" y="2157984"/>
            <a:ext cx="5577840" cy="384048"/>
          </a:xfrm>
          <a:prstGeom prst="rect">
            <a:avLst/>
          </a:prstGeom>
          <a:noFill/>
          <a:ln/>
        </p:spPr>
        <p:txBody>
          <a:bodyPr wrap="square" lIns="0" tIns="0" rIns="0" bIns="0" rtlCol="0" anchor="ctr"/>
          <a:lstStyle/>
          <a:p>
            <a:pPr indent="0" marL="0">
              <a:buNone/>
            </a:pPr>
            <a:r>
              <a:rPr lang="en-US" sz="1700" b="1" dirty="0">
                <a:solidFill>
                  <a:srgbClr val="5A6472"/>
                </a:solidFill>
                <a:latin typeface="Meiryo" pitchFamily="34" charset="0"/>
                <a:ea typeface="Meiryo" pitchFamily="34" charset="-122"/>
                <a:cs typeface="Meiryo" pitchFamily="34" charset="-120"/>
              </a:rPr>
              <a:t>③　社内ナレッジの移行</a:t>
            </a:r>
            <a:endParaRPr lang="en-US" sz="1700" dirty="0"/>
          </a:p>
        </p:txBody>
      </p:sp>
      <p:sp>
        <p:nvSpPr>
          <p:cNvPr id="14" name="Text 12"/>
          <p:cNvSpPr/>
          <p:nvPr/>
        </p:nvSpPr>
        <p:spPr>
          <a:xfrm>
            <a:off x="5998464" y="2615184"/>
            <a:ext cx="5577840" cy="768096"/>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現在SharePointに集約しているナレッジをNotionに統合し、</a:t>
            </a:r>
            <a:endParaRPr lang="en-US" sz="1200" dirty="0"/>
          </a:p>
          <a:p>
            <a:pPr indent="0" marL="0">
              <a:lnSpc>
                <a:spcPts val="2000"/>
              </a:lnSpc>
              <a:buNone/>
            </a:pPr>
            <a:r>
              <a:rPr lang="en-US" sz="1200" dirty="0">
                <a:solidFill>
                  <a:srgbClr val="5A6472"/>
                </a:solidFill>
                <a:latin typeface="Meiryo" pitchFamily="34" charset="0"/>
                <a:ea typeface="Meiryo" pitchFamily="34" charset="-122"/>
                <a:cs typeface="Meiryo" pitchFamily="34" charset="-120"/>
              </a:rPr>
              <a:t>案件・議事録・ナレッジが1か所で繋がる状態を目指したい。</a:t>
            </a:r>
            <a:endParaRPr lang="en-US" sz="1200" dirty="0"/>
          </a:p>
        </p:txBody>
      </p:sp>
      <p:sp>
        <p:nvSpPr>
          <p:cNvPr id="15" name="Text 13"/>
          <p:cNvSpPr/>
          <p:nvPr/>
        </p:nvSpPr>
        <p:spPr>
          <a:xfrm>
            <a:off x="5687568" y="3749040"/>
            <a:ext cx="6172200" cy="274320"/>
          </a:xfrm>
          <a:prstGeom prst="rect">
            <a:avLst/>
          </a:prstGeom>
          <a:noFill/>
          <a:ln/>
        </p:spPr>
        <p:txBody>
          <a:bodyPr wrap="square" lIns="0" tIns="0" rIns="0" bIns="0" rtlCol="0" anchor="ctr"/>
          <a:lstStyle/>
          <a:p>
            <a:pPr algn="ctr" indent="0" marL="0">
              <a:buNone/>
            </a:pPr>
            <a:r>
              <a:rPr lang="en-US" sz="1100" b="1" dirty="0">
                <a:solidFill>
                  <a:srgbClr val="5A6472"/>
                </a:solidFill>
                <a:latin typeface="Meiryo" pitchFamily="34" charset="0"/>
                <a:ea typeface="Meiryo" pitchFamily="34" charset="-122"/>
                <a:cs typeface="Meiryo" pitchFamily="34" charset="-120"/>
              </a:rPr>
              <a:t>今回は実施しません</a:t>
            </a:r>
            <a:endParaRPr lang="en-US" sz="1100" dirty="0"/>
          </a:p>
        </p:txBody>
      </p:sp>
      <p:sp>
        <p:nvSpPr>
          <p:cNvPr id="16" name="Text 14"/>
          <p:cNvSpPr/>
          <p:nvPr/>
        </p:nvSpPr>
        <p:spPr>
          <a:xfrm>
            <a:off x="566928" y="4224528"/>
            <a:ext cx="11057839" cy="274320"/>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なぜ絞るのか</a:t>
            </a:r>
            <a:endParaRPr lang="en-US" sz="1250" dirty="0"/>
          </a:p>
        </p:txBody>
      </p:sp>
      <p:sp>
        <p:nvSpPr>
          <p:cNvPr id="17" name="Shape 15"/>
          <p:cNvSpPr/>
          <p:nvPr/>
        </p:nvSpPr>
        <p:spPr>
          <a:xfrm>
            <a:off x="566928" y="4553712"/>
            <a:ext cx="3529584" cy="1261872"/>
          </a:xfrm>
          <a:prstGeom prst="roundRect">
            <a:avLst>
              <a:gd name="adj" fmla="val 4348"/>
            </a:avLst>
          </a:prstGeom>
          <a:solidFill>
            <a:srgbClr val="F1F4F9"/>
          </a:solidFill>
          <a:ln/>
          <a:effectLst>
            <a:outerShdw sx="100000" sy="100000" kx="0" ky="0" algn="bl" rotWithShape="0" blurRad="127000" dist="25400" dir="5400000">
              <a:srgbClr val="8A97AC">
                <a:alpha val="22000"/>
              </a:srgbClr>
            </a:outerShdw>
          </a:effectLst>
        </p:spPr>
      </p:sp>
      <p:sp>
        <p:nvSpPr>
          <p:cNvPr id="18" name="Text 16"/>
          <p:cNvSpPr/>
          <p:nvPr/>
        </p:nvSpPr>
        <p:spPr>
          <a:xfrm>
            <a:off x="822960" y="4700016"/>
            <a:ext cx="3017520" cy="310896"/>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撤退可能性の確保</a:t>
            </a:r>
            <a:endParaRPr lang="en-US" sz="1300" dirty="0"/>
          </a:p>
        </p:txBody>
      </p:sp>
      <p:sp>
        <p:nvSpPr>
          <p:cNvPr id="19" name="Text 17"/>
          <p:cNvSpPr/>
          <p:nvPr/>
        </p:nvSpPr>
        <p:spPr>
          <a:xfrm>
            <a:off x="822960" y="5029200"/>
            <a:ext cx="3017520" cy="64008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思うような成果が得られなかった場合に、やめられる状態を保つ</a:t>
            </a:r>
            <a:endParaRPr lang="en-US" sz="1100" dirty="0"/>
          </a:p>
        </p:txBody>
      </p:sp>
      <p:sp>
        <p:nvSpPr>
          <p:cNvPr id="20" name="Shape 18"/>
          <p:cNvSpPr/>
          <p:nvPr/>
        </p:nvSpPr>
        <p:spPr>
          <a:xfrm>
            <a:off x="4439412" y="4553712"/>
            <a:ext cx="3529584" cy="1261872"/>
          </a:xfrm>
          <a:prstGeom prst="roundRect">
            <a:avLst>
              <a:gd name="adj" fmla="val 4348"/>
            </a:avLst>
          </a:prstGeom>
          <a:solidFill>
            <a:srgbClr val="F1F4F9"/>
          </a:solidFill>
          <a:ln/>
          <a:effectLst>
            <a:outerShdw sx="100000" sy="100000" kx="0" ky="0" algn="bl" rotWithShape="0" blurRad="127000" dist="25400" dir="5400000">
              <a:srgbClr val="8A97AC">
                <a:alpha val="22000"/>
              </a:srgbClr>
            </a:outerShdw>
          </a:effectLst>
        </p:spPr>
      </p:sp>
      <p:sp>
        <p:nvSpPr>
          <p:cNvPr id="21" name="Text 19"/>
          <p:cNvSpPr/>
          <p:nvPr/>
        </p:nvSpPr>
        <p:spPr>
          <a:xfrm>
            <a:off x="4695444" y="4700016"/>
            <a:ext cx="3017520" cy="310896"/>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移行コストの回避</a:t>
            </a:r>
            <a:endParaRPr lang="en-US" sz="1300" dirty="0"/>
          </a:p>
        </p:txBody>
      </p:sp>
      <p:sp>
        <p:nvSpPr>
          <p:cNvPr id="22" name="Text 20"/>
          <p:cNvSpPr/>
          <p:nvPr/>
        </p:nvSpPr>
        <p:spPr>
          <a:xfrm>
            <a:off x="4695444" y="5029200"/>
            <a:ext cx="3017520" cy="64008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SharePointの既存資産を移行すると、後戻りが困難になる</a:t>
            </a:r>
            <a:endParaRPr lang="en-US" sz="1100" dirty="0"/>
          </a:p>
        </p:txBody>
      </p:sp>
      <p:sp>
        <p:nvSpPr>
          <p:cNvPr id="23" name="Shape 21"/>
          <p:cNvSpPr/>
          <p:nvPr/>
        </p:nvSpPr>
        <p:spPr>
          <a:xfrm>
            <a:off x="8311896" y="4553712"/>
            <a:ext cx="3529584" cy="1261872"/>
          </a:xfrm>
          <a:prstGeom prst="roundRect">
            <a:avLst>
              <a:gd name="adj" fmla="val 4348"/>
            </a:avLst>
          </a:prstGeom>
          <a:solidFill>
            <a:srgbClr val="F1F4F9"/>
          </a:solidFill>
          <a:ln/>
          <a:effectLst>
            <a:outerShdw sx="100000" sy="100000" kx="0" ky="0" algn="bl" rotWithShape="0" blurRad="127000" dist="25400" dir="5400000">
              <a:srgbClr val="8A97AC">
                <a:alpha val="22000"/>
              </a:srgbClr>
            </a:outerShdw>
          </a:effectLst>
        </p:spPr>
      </p:sp>
      <p:sp>
        <p:nvSpPr>
          <p:cNvPr id="24" name="Text 22"/>
          <p:cNvSpPr/>
          <p:nvPr/>
        </p:nvSpPr>
        <p:spPr>
          <a:xfrm>
            <a:off x="8567928" y="4700016"/>
            <a:ext cx="3017520" cy="310896"/>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効果検証の明確化</a:t>
            </a:r>
            <a:endParaRPr lang="en-US" sz="1300" dirty="0"/>
          </a:p>
        </p:txBody>
      </p:sp>
      <p:sp>
        <p:nvSpPr>
          <p:cNvPr id="25" name="Text 23"/>
          <p:cNvSpPr/>
          <p:nvPr/>
        </p:nvSpPr>
        <p:spPr>
          <a:xfrm>
            <a:off x="8567928" y="5029200"/>
            <a:ext cx="3017520" cy="64008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範囲が狭いほど、効果が出たかどうかを判定しやすい</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成功指標と撤退基準</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効果が出なければ、1年で見直します</a:t>
            </a:r>
            <a:endParaRPr lang="en-US" sz="2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591056"/>
          <a:ext cx="11057839" cy="914400"/>
        </p:xfrm>
        <a:graphic>
          <a:graphicData uri="http://schemas.openxmlformats.org/drawingml/2006/table">
            <a:tbl>
              <a:tblPr/>
              <a:tblGrid>
                <a:gridCol w="502920"/>
                <a:gridCol w="5486400"/>
                <a:gridCol w="2377440"/>
                <a:gridCol w="2706624"/>
              </a:tblGrid>
              <a:tr h="475488">
                <a:tc>
                  <a:txBody>
                    <a:bodyPr/>
                    <a:lstStyle/>
                    <a:p>
                      <a:pPr indent="0" marL="0">
                        <a:buNone/>
                      </a:pP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指標</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現状</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目標</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A</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案件の期日遵守率</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未計測</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計測開始 → ◯%</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A</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案件情報がNotionに登録されている割合</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95% 以上</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B</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F7A6C"/>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1人あたり週の会議時間</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実測中</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B</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F7A6C"/>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議事録が残っている会議の割合</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実測中</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90% 以上</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4169664"/>
            <a:ext cx="11057839" cy="1371600"/>
          </a:xfrm>
          <a:prstGeom prst="roundRect">
            <a:avLst>
              <a:gd name="adj" fmla="val 4000"/>
            </a:avLst>
          </a:prstGeom>
          <a:solidFill>
            <a:srgbClr val="16233F"/>
          </a:solidFill>
          <a:ln/>
          <a:effectLst>
            <a:outerShdw sx="100000" sy="100000" kx="0" ky="0" algn="bl" rotWithShape="0" blurRad="127000" dist="25400" dir="5400000">
              <a:srgbClr val="8A97AC">
                <a:alpha val="22000"/>
              </a:srgbClr>
            </a:outerShdw>
          </a:effectLst>
        </p:spPr>
      </p:sp>
      <p:sp>
        <p:nvSpPr>
          <p:cNvPr id="6" name="Text 3"/>
          <p:cNvSpPr/>
          <p:nvPr/>
        </p:nvSpPr>
        <p:spPr>
          <a:xfrm>
            <a:off x="1024128" y="4352544"/>
            <a:ext cx="2743200" cy="310896"/>
          </a:xfrm>
          <a:prstGeom prst="rect">
            <a:avLst/>
          </a:prstGeom>
          <a:noFill/>
          <a:ln/>
        </p:spPr>
        <p:txBody>
          <a:bodyPr wrap="square" lIns="0" tIns="0" rIns="0" bIns="0" rtlCol="0" anchor="ctr"/>
          <a:lstStyle/>
          <a:p>
            <a:pPr indent="0" marL="0">
              <a:buNone/>
            </a:pPr>
            <a:r>
              <a:rPr lang="en-US" sz="1300" b="1" dirty="0">
                <a:solidFill>
                  <a:srgbClr val="E8A33D"/>
                </a:solidFill>
                <a:latin typeface="Meiryo" pitchFamily="34" charset="0"/>
                <a:ea typeface="Meiryo" pitchFamily="34" charset="-122"/>
                <a:cs typeface="Meiryo" pitchFamily="34" charset="-120"/>
              </a:rPr>
              <a:t>撤退基準</a:t>
            </a:r>
            <a:endParaRPr lang="en-US" sz="1300" dirty="0"/>
          </a:p>
        </p:txBody>
      </p:sp>
      <p:sp>
        <p:nvSpPr>
          <p:cNvPr id="7" name="Text 4"/>
          <p:cNvSpPr/>
          <p:nvPr/>
        </p:nvSpPr>
        <p:spPr>
          <a:xfrm>
            <a:off x="1024128" y="4700016"/>
            <a:ext cx="10143439" cy="36576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導入12か月後、上記KPIが未達の場合は翌年度の契約更新を見送ります。</a:t>
            </a:r>
            <a:endParaRPr lang="en-US" sz="1700" dirty="0"/>
          </a:p>
        </p:txBody>
      </p:sp>
      <p:sp>
        <p:nvSpPr>
          <p:cNvPr id="8" name="Text 5"/>
          <p:cNvSpPr/>
          <p:nvPr/>
        </p:nvSpPr>
        <p:spPr>
          <a:xfrm>
            <a:off x="1024128" y="5102352"/>
            <a:ext cx="10143439" cy="310896"/>
          </a:xfrm>
          <a:prstGeom prst="rect">
            <a:avLst/>
          </a:prstGeom>
          <a:noFill/>
          <a:ln/>
        </p:spPr>
        <p:txBody>
          <a:bodyPr wrap="square" lIns="0" tIns="0" rIns="0" bIns="0" rtlCol="0" anchor="ctr"/>
          <a:lstStyle/>
          <a:p>
            <a:pPr indent="0" marL="0">
              <a:buNone/>
            </a:pPr>
            <a:r>
              <a:rPr lang="en-US" sz="1200" dirty="0">
                <a:solidFill>
                  <a:srgbClr val="C3CEE0"/>
                </a:solidFill>
                <a:latin typeface="Meiryo" pitchFamily="34" charset="0"/>
                <a:ea typeface="Meiryo" pitchFamily="34" charset="-122"/>
                <a:cs typeface="Meiryo" pitchFamily="34" charset="-120"/>
              </a:rPr>
              <a:t>対象範囲を①案件管理・②議事録に限定しているため、撤退時の影響は限定的です。</a:t>
            </a:r>
            <a:endParaRPr lang="en-US" sz="1200" dirty="0"/>
          </a:p>
        </p:txBody>
      </p:sp>
      <p:sp>
        <p:nvSpPr>
          <p:cNvPr id="9" name="Text 6"/>
          <p:cNvSpPr/>
          <p:nvPr/>
        </p:nvSpPr>
        <p:spPr>
          <a:xfrm>
            <a:off x="566928" y="5760720"/>
            <a:ext cx="11057839" cy="29260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測定時期：導入6か月後（中間）／12か月後（判定）</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424160" y="4572000"/>
            <a:ext cx="3108960" cy="3108960"/>
          </a:xfrm>
          <a:prstGeom prst="ellipse">
            <a:avLst/>
          </a:prstGeom>
          <a:solidFill>
            <a:srgbClr val="2C5F8D">
              <a:alpha val="34000"/>
            </a:srgbClr>
          </a:solidFill>
          <a:ln/>
        </p:spPr>
      </p:sp>
      <p:sp>
        <p:nvSpPr>
          <p:cNvPr id="3" name="Text 1"/>
          <p:cNvSpPr/>
          <p:nvPr/>
        </p:nvSpPr>
        <p:spPr>
          <a:xfrm>
            <a:off x="566928" y="658368"/>
            <a:ext cx="11057839" cy="548640"/>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改めて、お願いする3点</a:t>
            </a:r>
            <a:endParaRPr lang="en-US" sz="2800" dirty="0"/>
          </a:p>
        </p:txBody>
      </p:sp>
      <p:sp>
        <p:nvSpPr>
          <p:cNvPr id="4" name="Shape 2"/>
          <p:cNvSpPr/>
          <p:nvPr/>
        </p:nvSpPr>
        <p:spPr>
          <a:xfrm>
            <a:off x="566928" y="1572768"/>
            <a:ext cx="11057839" cy="896112"/>
          </a:xfrm>
          <a:prstGeom prst="roundRect">
            <a:avLst>
              <a:gd name="adj" fmla="val 6122"/>
            </a:avLst>
          </a:prstGeom>
          <a:solidFill>
            <a:srgbClr val="24365C"/>
          </a:solidFill>
          <a:ln/>
        </p:spPr>
      </p:sp>
      <p:sp>
        <p:nvSpPr>
          <p:cNvPr id="5" name="Shape 3"/>
          <p:cNvSpPr/>
          <p:nvPr/>
        </p:nvSpPr>
        <p:spPr>
          <a:xfrm>
            <a:off x="877824" y="1783080"/>
            <a:ext cx="475488" cy="475488"/>
          </a:xfrm>
          <a:prstGeom prst="ellipse">
            <a:avLst/>
          </a:prstGeom>
          <a:solidFill>
            <a:srgbClr val="E8A33D"/>
          </a:solidFill>
          <a:ln/>
        </p:spPr>
      </p:sp>
      <p:sp>
        <p:nvSpPr>
          <p:cNvPr id="6" name="Text 4"/>
          <p:cNvSpPr/>
          <p:nvPr/>
        </p:nvSpPr>
        <p:spPr>
          <a:xfrm>
            <a:off x="877824" y="17830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1</a:t>
            </a:r>
            <a:endParaRPr lang="en-US" sz="1500" dirty="0"/>
          </a:p>
        </p:txBody>
      </p:sp>
      <p:sp>
        <p:nvSpPr>
          <p:cNvPr id="7" name="Text 5"/>
          <p:cNvSpPr/>
          <p:nvPr/>
        </p:nvSpPr>
        <p:spPr>
          <a:xfrm>
            <a:off x="1591056" y="1572768"/>
            <a:ext cx="9686239" cy="896112"/>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全社（140名）へのNotion導入のご承認</a:t>
            </a:r>
            <a:endParaRPr lang="en-US" sz="1700" dirty="0"/>
          </a:p>
        </p:txBody>
      </p:sp>
      <p:sp>
        <p:nvSpPr>
          <p:cNvPr id="8" name="Shape 6"/>
          <p:cNvSpPr/>
          <p:nvPr/>
        </p:nvSpPr>
        <p:spPr>
          <a:xfrm>
            <a:off x="566928" y="2615184"/>
            <a:ext cx="11057839" cy="896112"/>
          </a:xfrm>
          <a:prstGeom prst="roundRect">
            <a:avLst>
              <a:gd name="adj" fmla="val 6122"/>
            </a:avLst>
          </a:prstGeom>
          <a:solidFill>
            <a:srgbClr val="24365C"/>
          </a:solidFill>
          <a:ln/>
        </p:spPr>
      </p:sp>
      <p:sp>
        <p:nvSpPr>
          <p:cNvPr id="9" name="Shape 7"/>
          <p:cNvSpPr/>
          <p:nvPr/>
        </p:nvSpPr>
        <p:spPr>
          <a:xfrm>
            <a:off x="877824" y="2825496"/>
            <a:ext cx="475488" cy="475488"/>
          </a:xfrm>
          <a:prstGeom prst="ellipse">
            <a:avLst/>
          </a:prstGeom>
          <a:solidFill>
            <a:srgbClr val="E8A33D"/>
          </a:solidFill>
          <a:ln/>
        </p:spPr>
      </p:sp>
      <p:sp>
        <p:nvSpPr>
          <p:cNvPr id="10" name="Text 8"/>
          <p:cNvSpPr/>
          <p:nvPr/>
        </p:nvSpPr>
        <p:spPr>
          <a:xfrm>
            <a:off x="877824" y="282549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2</a:t>
            </a:r>
            <a:endParaRPr lang="en-US" sz="1500" dirty="0"/>
          </a:p>
        </p:txBody>
      </p:sp>
      <p:sp>
        <p:nvSpPr>
          <p:cNvPr id="11" name="Text 9"/>
          <p:cNvSpPr/>
          <p:nvPr/>
        </p:nvSpPr>
        <p:spPr>
          <a:xfrm>
            <a:off x="1591056" y="2615184"/>
            <a:ext cx="9686239" cy="896112"/>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年間費用 529.2万円 のご承認（Business・年払い）</a:t>
            </a:r>
            <a:endParaRPr lang="en-US" sz="1700" dirty="0"/>
          </a:p>
        </p:txBody>
      </p:sp>
      <p:sp>
        <p:nvSpPr>
          <p:cNvPr id="12" name="Shape 10"/>
          <p:cNvSpPr/>
          <p:nvPr/>
        </p:nvSpPr>
        <p:spPr>
          <a:xfrm>
            <a:off x="566928" y="3657600"/>
            <a:ext cx="11057839" cy="896112"/>
          </a:xfrm>
          <a:prstGeom prst="roundRect">
            <a:avLst>
              <a:gd name="adj" fmla="val 6122"/>
            </a:avLst>
          </a:prstGeom>
          <a:solidFill>
            <a:srgbClr val="24365C"/>
          </a:solidFill>
          <a:ln/>
        </p:spPr>
      </p:sp>
      <p:sp>
        <p:nvSpPr>
          <p:cNvPr id="13" name="Shape 11"/>
          <p:cNvSpPr/>
          <p:nvPr/>
        </p:nvSpPr>
        <p:spPr>
          <a:xfrm>
            <a:off x="877824" y="3867912"/>
            <a:ext cx="475488" cy="475488"/>
          </a:xfrm>
          <a:prstGeom prst="ellipse">
            <a:avLst/>
          </a:prstGeom>
          <a:solidFill>
            <a:srgbClr val="E8A33D"/>
          </a:solidFill>
          <a:ln/>
        </p:spPr>
      </p:sp>
      <p:sp>
        <p:nvSpPr>
          <p:cNvPr id="14" name="Text 12"/>
          <p:cNvSpPr/>
          <p:nvPr/>
        </p:nvSpPr>
        <p:spPr>
          <a:xfrm>
            <a:off x="877824" y="386791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3</a:t>
            </a:r>
            <a:endParaRPr lang="en-US" sz="1500" dirty="0"/>
          </a:p>
        </p:txBody>
      </p:sp>
      <p:sp>
        <p:nvSpPr>
          <p:cNvPr id="15" name="Text 13"/>
          <p:cNvSpPr/>
          <p:nvPr/>
        </p:nvSpPr>
        <p:spPr>
          <a:xfrm>
            <a:off x="1591056" y="3657600"/>
            <a:ext cx="9686239" cy="896112"/>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ホールディングスへの導入申請着手のご許可</a:t>
            </a:r>
            <a:endParaRPr lang="en-US" sz="1700" dirty="0"/>
          </a:p>
        </p:txBody>
      </p:sp>
      <p:sp>
        <p:nvSpPr>
          <p:cNvPr id="16" name="Text 14"/>
          <p:cNvSpPr/>
          <p:nvPr/>
        </p:nvSpPr>
        <p:spPr>
          <a:xfrm>
            <a:off x="566928" y="4846320"/>
            <a:ext cx="11057839" cy="292608"/>
          </a:xfrm>
          <a:prstGeom prst="rect">
            <a:avLst/>
          </a:prstGeom>
          <a:noFill/>
          <a:ln/>
        </p:spPr>
        <p:txBody>
          <a:bodyPr wrap="square" lIns="0" tIns="0" rIns="0" bIns="0" rtlCol="0" anchor="ctr"/>
          <a:lstStyle/>
          <a:p>
            <a:pPr indent="0" marL="0">
              <a:buNone/>
            </a:pPr>
            <a:r>
              <a:rPr lang="en-US" sz="1150" b="1" dirty="0">
                <a:solidFill>
                  <a:srgbClr val="E8A33D"/>
                </a:solidFill>
                <a:latin typeface="Meiryo" pitchFamily="34" charset="0"/>
                <a:ea typeface="Meiryo" pitchFamily="34" charset="-122"/>
                <a:cs typeface="Meiryo" pitchFamily="34" charset="-120"/>
              </a:rPr>
              <a:t>承認後ただちに着手すること</a:t>
            </a:r>
            <a:endParaRPr lang="en-US" sz="1150" dirty="0"/>
          </a:p>
        </p:txBody>
      </p:sp>
      <p:sp>
        <p:nvSpPr>
          <p:cNvPr id="17" name="Shape 15"/>
          <p:cNvSpPr/>
          <p:nvPr/>
        </p:nvSpPr>
        <p:spPr>
          <a:xfrm>
            <a:off x="603504" y="5285232"/>
            <a:ext cx="118872" cy="118872"/>
          </a:xfrm>
          <a:prstGeom prst="ellipse">
            <a:avLst/>
          </a:prstGeom>
          <a:solidFill>
            <a:srgbClr val="8FA0BC"/>
          </a:solidFill>
          <a:ln/>
        </p:spPr>
      </p:sp>
      <p:sp>
        <p:nvSpPr>
          <p:cNvPr id="18" name="Text 16"/>
          <p:cNvSpPr/>
          <p:nvPr/>
        </p:nvSpPr>
        <p:spPr>
          <a:xfrm>
            <a:off x="877824" y="5193792"/>
            <a:ext cx="10058400" cy="292608"/>
          </a:xfrm>
          <a:prstGeom prst="rect">
            <a:avLst/>
          </a:prstGeom>
          <a:noFill/>
          <a:ln/>
        </p:spPr>
        <p:txBody>
          <a:bodyPr wrap="square" lIns="0" tIns="0" rIns="0" bIns="0" rtlCol="0" anchor="ctr"/>
          <a:lstStyle/>
          <a:p>
            <a:pPr indent="0" marL="0">
              <a:buNone/>
            </a:pPr>
            <a:r>
              <a:rPr lang="en-US" sz="1250" dirty="0">
                <a:solidFill>
                  <a:srgbClr val="C3CEE0"/>
                </a:solidFill>
                <a:latin typeface="Meiryo" pitchFamily="34" charset="0"/>
                <a:ea typeface="Meiryo" pitchFamily="34" charset="-122"/>
                <a:cs typeface="Meiryo" pitchFamily="34" charset="-120"/>
              </a:rPr>
              <a:t>情シスへのセキュリティ要件のヒアリング</a:t>
            </a:r>
            <a:endParaRPr lang="en-US" sz="1250" dirty="0"/>
          </a:p>
        </p:txBody>
      </p:sp>
      <p:sp>
        <p:nvSpPr>
          <p:cNvPr id="19" name="Shape 17"/>
          <p:cNvSpPr/>
          <p:nvPr/>
        </p:nvSpPr>
        <p:spPr>
          <a:xfrm>
            <a:off x="603504" y="5650992"/>
            <a:ext cx="118872" cy="118872"/>
          </a:xfrm>
          <a:prstGeom prst="ellipse">
            <a:avLst/>
          </a:prstGeom>
          <a:solidFill>
            <a:srgbClr val="8FA0BC"/>
          </a:solidFill>
          <a:ln/>
        </p:spPr>
      </p:sp>
      <p:sp>
        <p:nvSpPr>
          <p:cNvPr id="20" name="Text 18"/>
          <p:cNvSpPr/>
          <p:nvPr/>
        </p:nvSpPr>
        <p:spPr>
          <a:xfrm>
            <a:off x="877824" y="5559552"/>
            <a:ext cx="10058400" cy="292608"/>
          </a:xfrm>
          <a:prstGeom prst="rect">
            <a:avLst/>
          </a:prstGeom>
          <a:noFill/>
          <a:ln/>
        </p:spPr>
        <p:txBody>
          <a:bodyPr wrap="square" lIns="0" tIns="0" rIns="0" bIns="0" rtlCol="0" anchor="ctr"/>
          <a:lstStyle/>
          <a:p>
            <a:pPr indent="0" marL="0">
              <a:buNone/>
            </a:pPr>
            <a:r>
              <a:rPr lang="en-US" sz="1250" dirty="0">
                <a:solidFill>
                  <a:srgbClr val="C3CEE0"/>
                </a:solidFill>
                <a:latin typeface="Meiryo" pitchFamily="34" charset="0"/>
                <a:ea typeface="Meiryo" pitchFamily="34" charset="-122"/>
                <a:cs typeface="Meiryo" pitchFamily="34" charset="-120"/>
              </a:rPr>
              <a:t>ホールディングスへの申請書類の作成</a:t>
            </a:r>
            <a:endParaRPr lang="en-US" sz="1250" dirty="0"/>
          </a:p>
        </p:txBody>
      </p:sp>
      <p:sp>
        <p:nvSpPr>
          <p:cNvPr id="21" name="Shape 19"/>
          <p:cNvSpPr/>
          <p:nvPr/>
        </p:nvSpPr>
        <p:spPr>
          <a:xfrm>
            <a:off x="603504" y="6016752"/>
            <a:ext cx="118872" cy="118872"/>
          </a:xfrm>
          <a:prstGeom prst="ellipse">
            <a:avLst/>
          </a:prstGeom>
          <a:solidFill>
            <a:srgbClr val="8FA0BC"/>
          </a:solidFill>
          <a:ln/>
        </p:spPr>
      </p:sp>
      <p:sp>
        <p:nvSpPr>
          <p:cNvPr id="22" name="Text 20"/>
          <p:cNvSpPr/>
          <p:nvPr/>
        </p:nvSpPr>
        <p:spPr>
          <a:xfrm>
            <a:off x="877824" y="5925312"/>
            <a:ext cx="10058400" cy="292608"/>
          </a:xfrm>
          <a:prstGeom prst="rect">
            <a:avLst/>
          </a:prstGeom>
          <a:noFill/>
          <a:ln/>
        </p:spPr>
        <p:txBody>
          <a:bodyPr wrap="square" lIns="0" tIns="0" rIns="0" bIns="0" rtlCol="0" anchor="ctr"/>
          <a:lstStyle/>
          <a:p>
            <a:pPr indent="0" marL="0">
              <a:buNone/>
            </a:pPr>
            <a:r>
              <a:rPr lang="en-US" sz="1250" dirty="0">
                <a:solidFill>
                  <a:srgbClr val="C3CEE0"/>
                </a:solidFill>
                <a:latin typeface="Meiryo" pitchFamily="34" charset="0"/>
                <a:ea typeface="Meiryo" pitchFamily="34" charset="-122"/>
                <a:cs typeface="Meiryo" pitchFamily="34" charset="-120"/>
              </a:rPr>
              <a:t>テンプレート設計とPMO運用ルールの策定</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案件管理と会議運営の標準化</dc:title>
  <dc:subject>PptxGenJS Presentation</dc:subject>
  <dc:creator>人事組織</dc:creator>
  <cp:lastModifiedBy>人事組織</cp:lastModifiedBy>
  <cp:revision>1</cp:revision>
  <dcterms:created xsi:type="dcterms:W3CDTF">2026-08-19T18:04:02Z</dcterms:created>
  <dcterms:modified xsi:type="dcterms:W3CDTF">2026-08-19T18:04:02Z</dcterms:modified>
</cp:coreProperties>
</file>