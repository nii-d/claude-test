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タイトルに「Notion導入」と書かない。「標準化」と書くことで、聞き手は『ツールの良し悪し』ではなく『組織の話』として聞く体勢に入る。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3番目を冒頭に出しておくと、「で、親会社はOKなの？」という質問を後半まで先送りできる。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本編で最も効く一行。反論の対象がNotionではなく『PMOという意思決定そのもの』になるため、誰も反対できない構図をつくる。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資料全体の骨格。2つの課題を最初に並べて宣言することで、以降のスライドがどちらの話かが明確になる。色分け（A=青／B=緑）は最後まで一貫させる。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部署名・個人名は絶対に出さない。「担当者が見逃した」ではなく「見逃せてしまう仕組みだった」と、主語を必ず仕組みに置くこと。この資料は社内に回覧される。関与者が増えるという事実は、チャットとExcelでの管理が今後さらに苦しくなることの裏づけ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「では人を減らせるのか」と必ず聞かれる。人件費が浮くとは絶対に言わないこと。言えば人員削減の話にすり替わり、現場の協力を失う。
【数字の根拠を問われたら】Outlookの予定表から抽出することは可能だが、150名分の集計に相応の工数がかかるため、今回は各階層へのヒアリングによる概算としている。精緻な数字が必要であれば別途集計する、と答える。
【補足として言えること】導入後はNotion上の会議記録から、集計の手間なく実数を把握できるようになる。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B-1の「書けない会議は開かれなくなる」がこの提案の思想を最もよく表す。ツールが会議を減らすのではなく、アジェンダを書く行為が目的のない会議を淘汰する。口頭で強調する。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順番が重要。先に2つの課題を並べ、それぞれの解決を示した上で、ここで初めて『実は1つの仕組みだった』と繋げる。最初から統合して語ると、聞き手はどちらの課題の話かを見失う。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「M365で済む部分は済ませます」と正直に認めている点がこのスライドの価値。全否定すると売り込みに見える。一部を譲ることで残りの主張の信頼性が上がる。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「一元化したい」だけでは理由にならない（OneNoteに一元化すればタダ、と返される）。『文書ではなくデータになる』の一点に絞ることで、初めて他ツールとの差が説明できる。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「Notionが全部で一番」とは言わない。個別項目では他ツールが勝ることを正直に認めた上で、『2つの課題を1つで解く』という要件で選んでいると説明する。この誠実さが説得力になる。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このスライドの準備の有無が提案の成否を分ける。文字10枚より画面4枚のほうが伝わる。PoC環境で必ず作っておくこと。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狙いは「一番高いプランを買おうとしているわけではない」と示すこと。上位プランの機能を自分から並べ、それを使わない理由まで説明することで、価格交渉ではなく要件で選んでいる姿勢が伝わる。情シスが監査ログや国内保管を必須とした場合は、この表がそのままEnterprise切替の根拠資料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案3は費用面だけ見ると魅力的に映るため、上層部から必ず提案される。「金額ではなく、目的が達成できないため不可」と即答すること。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工数を人月で示さず内製である旨の記述に留めたのは、見積もれていない数字を空欄で出すと準備不足に見えるため。「タダでできる」と誤解されないことだけを担保している。
税区分は公式ページに明記がないため税別として扱っている。契約時に必ず確認すること。承認額が約53万円変わる。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「展望」ではなく「やらないこと」を明示するスライド。上層部が最も嫌うのは『気づいたら引き返せなくなっていた』状態なので、それを先回りして潰す。
資料保管のルールはSharePointのドキュメントセット化・タグ運用として別途検討が進行中であり、Notionへ移すかどうかは決まっていない。この提案がそちらの選択肢を狭めないことを明示するため、ここではNotionという語を使わない。
「では資料はどうするのか」と聞かれたら、別プロジェクトとして検討中であり本提案とは切り離している、と答える。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撤退基準を自分から示すのがこの資料で最も効く技術。「効果がなければやめます」と言える提案者は信頼される。前スライドの展望とセットで、『構想はあるが暴走はしない』という印象をつくる。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206240" cy="4206240"/>
          </a:xfrm>
          <a:prstGeom prst="ellipse">
            <a:avLst/>
          </a:prstGeom>
          <a:solidFill>
            <a:srgbClr val="24365C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663440"/>
            <a:ext cx="2560320" cy="2560320"/>
          </a:xfrm>
          <a:prstGeom prst="ellipse">
            <a:avLst/>
          </a:prstGeom>
          <a:solidFill>
            <a:srgbClr val="2C5F8D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ご提案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1883664"/>
            <a:ext cx="85953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案件管理と会議運営の</a:t>
            </a:r>
            <a:endParaRPr lang="en-US" sz="40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標準化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71246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PMO立ち上げに合わせた全社基盤の整備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4133088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 実行基盤としての Notion 全社導入について 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576072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2026年◯月◯日　人事組織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本日のお願い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本日、決めていただきたいこと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57839" cy="1207008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0976" y="1901952"/>
            <a:ext cx="548640" cy="548640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6" name="Text 4"/>
          <p:cNvSpPr/>
          <p:nvPr/>
        </p:nvSpPr>
        <p:spPr>
          <a:xfrm>
            <a:off x="950976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737360" y="18105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全社（140名）へのNotion導入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37360" y="2231136"/>
            <a:ext cx="9326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案件管理と会議運営の標準化を、PMO発足と同時に開始する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11057839" cy="1207008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50976" y="3273552"/>
            <a:ext cx="548640" cy="548640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3273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737360" y="31821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年間費用 529.2万円（税別）のご承認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37360" y="3602736"/>
            <a:ext cx="9326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Businessプラン・年払い（プラン比較は後半でご説明）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315968"/>
            <a:ext cx="11057839" cy="1207008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50976" y="4645152"/>
            <a:ext cx="548640" cy="548640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6" name="Text 14"/>
          <p:cNvSpPr/>
          <p:nvPr/>
        </p:nvSpPr>
        <p:spPr>
          <a:xfrm>
            <a:off x="950976" y="4645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737360" y="45537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ホールディングスへの申請着手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737360" y="4974336"/>
            <a:ext cx="9326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セキュリティ審査の事前相談を開始する許可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588873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稼働目標：PMO発足と同時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AGENDA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本日の流れ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3529584" cy="3346704"/>
          </a:xfrm>
          <a:prstGeom prst="roundRect">
            <a:avLst>
              <a:gd name="adj" fmla="val 1639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02536" y="2395728"/>
            <a:ext cx="658368" cy="658368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6" name="Text 4"/>
          <p:cNvSpPr/>
          <p:nvPr/>
        </p:nvSpPr>
        <p:spPr>
          <a:xfrm>
            <a:off x="2002536" y="23957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49808" y="3346704"/>
            <a:ext cx="3163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なぜ必要か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86384" y="3895344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弊社が抱える2つの課題と、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その解決像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39412" y="1828800"/>
            <a:ext cx="3529584" cy="3346704"/>
          </a:xfrm>
          <a:prstGeom prst="roundRect">
            <a:avLst>
              <a:gd name="adj" fmla="val 1639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875020" y="2395728"/>
            <a:ext cx="658368" cy="658368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1" name="Text 9"/>
          <p:cNvSpPr/>
          <p:nvPr/>
        </p:nvSpPr>
        <p:spPr>
          <a:xfrm>
            <a:off x="5875020" y="23957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22292" y="3346704"/>
            <a:ext cx="3163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なぜNotionか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58868" y="3895344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既存ツールで代替できない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311896" y="1828800"/>
            <a:ext cx="3529584" cy="3346704"/>
          </a:xfrm>
          <a:prstGeom prst="roundRect">
            <a:avLst>
              <a:gd name="adj" fmla="val 1639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747504" y="2395728"/>
            <a:ext cx="658368" cy="658368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6" name="Text 14"/>
          <p:cNvSpPr/>
          <p:nvPr/>
        </p:nvSpPr>
        <p:spPr>
          <a:xfrm>
            <a:off x="9747504" y="23957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494776" y="3346704"/>
            <a:ext cx="3163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導入判断の材料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531352" y="3895344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プラン・費用・効果・リスク・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本日は 1 と 3 を中心に、20分でご説明します。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4023360"/>
            <a:ext cx="3291840" cy="3291840"/>
          </a:xfrm>
          <a:prstGeom prst="ellipse">
            <a:avLst/>
          </a:prstGeom>
          <a:solidFill>
            <a:srgbClr val="2C5F8D">
              <a:alpha val="3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2432304"/>
            <a:ext cx="896112" cy="896112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2432304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792224" y="2395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なぜ必要か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792224" y="31272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弊社が抱える2つの課題と、その解決像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なぜ今なのか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PMOが立ち上がる今が、仕組みを整えるタイミングです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486400" cy="1975104"/>
          </a:xfrm>
          <a:prstGeom prst="roundRect">
            <a:avLst>
              <a:gd name="adj" fmla="val 277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938528"/>
            <a:ext cx="493776" cy="493776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9385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72768" y="19202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決まっていること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2542032"/>
            <a:ext cx="4754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PMO部署と人事組織が新設される。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案件管理と会議運営を、組織として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標準化する転機を迎えている。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73368" y="1627632"/>
            <a:ext cx="5486400" cy="1975104"/>
          </a:xfrm>
          <a:prstGeom prst="roundRect">
            <a:avLst>
              <a:gd name="adj" fmla="val 277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739128" y="1938528"/>
            <a:ext cx="493776" cy="493776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11" name="Text 9"/>
          <p:cNvSpPr/>
          <p:nvPr/>
        </p:nvSpPr>
        <p:spPr>
          <a:xfrm>
            <a:off x="6739128" y="19385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79208" y="19202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足りていないこと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39128" y="2542032"/>
            <a:ext cx="4754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PMOが使う「管制塔」が存在しない。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案件の状況を一望できる場所が、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現在どこにもない。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041648"/>
            <a:ext cx="11057839" cy="1828800"/>
          </a:xfrm>
          <a:prstGeom prst="roundRect">
            <a:avLst>
              <a:gd name="adj" fmla="val 300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115568" y="4041648"/>
            <a:ext cx="996055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器のないままPMOを作れば、PMOは各部署に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チャットと電話で状況を聞いて回る係になります。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課題の全体像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弊社の課題は、2つあります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4224528"/>
          </a:xfrm>
          <a:prstGeom prst="roundRect">
            <a:avLst>
              <a:gd name="adj" fmla="val 1299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10512"/>
            <a:ext cx="566928" cy="566928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1810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554480" y="17922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54480" y="204825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案件管理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77824" y="2761488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何が起きているか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3017520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年間700件の研修案件が部門をまたいで進むのに、進捗を一望する場所がない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7824" y="3749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現在の管理方法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4005072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Teamsのグループチャット ＋ 各自オリジナルのExcel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7824" y="4736592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放置するとどうなるか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7824" y="4992624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納期遅延と手戻りが再発し、顧客の信用を損なう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73368" y="1572768"/>
            <a:ext cx="5486400" cy="4224528"/>
          </a:xfrm>
          <a:prstGeom prst="roundRect">
            <a:avLst>
              <a:gd name="adj" fmla="val 1299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84264" y="1810512"/>
            <a:ext cx="566928" cy="566928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7" name="Text 15"/>
          <p:cNvSpPr/>
          <p:nvPr/>
        </p:nvSpPr>
        <p:spPr>
          <a:xfrm>
            <a:off x="6684264" y="1810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360920" y="17922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課題B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60920" y="204825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会議と議事録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684264" y="2761488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何が起きているか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684264" y="3017520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会議が多く、目的が曖昧なまま設定され、決定事項が後から追えない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84264" y="3749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現在の管理方法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84264" y="4005072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AI議事録をWord・OneNoteに保存し、リンクをチャットで共有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84264" y="4736592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放置するとどうなるか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84264" y="4992624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意思決定が遅れ、同じ議論が繰り返される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" y="599846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この2つは、1つの仕組みで解決できます（後半でご説明します）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課題A：案件管理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案件に関わる人は、これからさらに増えます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064240" y="475488"/>
            <a:ext cx="512064" cy="512064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5" name="Text 3"/>
          <p:cNvSpPr/>
          <p:nvPr/>
        </p:nvSpPr>
        <p:spPr>
          <a:xfrm>
            <a:off x="11064240" y="475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029200" cy="4114800"/>
          </a:xfrm>
          <a:prstGeom prst="roundRect">
            <a:avLst>
              <a:gd name="adj" fmla="val 1333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41248" y="173736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1案件に関わる人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41248" y="21214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77824" y="2551176"/>
            <a:ext cx="109728" cy="109728"/>
          </a:xfrm>
          <a:prstGeom prst="ellipse">
            <a:avLst/>
          </a:prstGeom>
          <a:solidFill>
            <a:srgbClr val="5A6472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24688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  1〜2名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77824" y="2862072"/>
            <a:ext cx="109728" cy="109728"/>
          </a:xfrm>
          <a:prstGeom prst="ellipse">
            <a:avLst/>
          </a:prstGeom>
          <a:solidFill>
            <a:srgbClr val="5A6472"/>
          </a:solidFill>
          <a:ln/>
        </p:spPr>
      </p:sp>
      <p:sp>
        <p:nvSpPr>
          <p:cNvPr id="12" name="Text 10"/>
          <p:cNvSpPr/>
          <p:nvPr/>
        </p:nvSpPr>
        <p:spPr>
          <a:xfrm>
            <a:off x="1078992" y="2779776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  1〜2名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7824" y="3172968"/>
            <a:ext cx="109728" cy="109728"/>
          </a:xfrm>
          <a:prstGeom prst="ellipse">
            <a:avLst/>
          </a:prstGeom>
          <a:solidFill>
            <a:srgbClr val="5A6472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309067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講師管理  1名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77824" y="3483864"/>
            <a:ext cx="109728" cy="109728"/>
          </a:xfrm>
          <a:prstGeom prst="ellipse">
            <a:avLst/>
          </a:prstGeom>
          <a:solidFill>
            <a:srgbClr val="5A6472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3401568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  1〜2名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41248" y="37124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教材担当部門と連携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41248" y="4023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コンテンツ作成部門と連携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41248" y="490118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のべ 4〜7名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264408" y="21214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今後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300984" y="2551176"/>
            <a:ext cx="109728" cy="109728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22" name="Text 20"/>
          <p:cNvSpPr/>
          <p:nvPr/>
        </p:nvSpPr>
        <p:spPr>
          <a:xfrm>
            <a:off x="3502152" y="24688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  1〜2名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300984" y="2862072"/>
            <a:ext cx="109728" cy="109728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24" name="Text 22"/>
          <p:cNvSpPr/>
          <p:nvPr/>
        </p:nvSpPr>
        <p:spPr>
          <a:xfrm>
            <a:off x="3502152" y="2779776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  1〜2名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00984" y="3172968"/>
            <a:ext cx="109728" cy="109728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26" name="Text 24"/>
          <p:cNvSpPr/>
          <p:nvPr/>
        </p:nvSpPr>
        <p:spPr>
          <a:xfrm>
            <a:off x="3502152" y="309067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講師管理  1名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300984" y="3483864"/>
            <a:ext cx="109728" cy="109728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28" name="Text 26"/>
          <p:cNvSpPr/>
          <p:nvPr/>
        </p:nvSpPr>
        <p:spPr>
          <a:xfrm>
            <a:off x="3502152" y="3401568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  1〜2名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00984" y="3794760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0" name="Text 28"/>
          <p:cNvSpPr/>
          <p:nvPr/>
        </p:nvSpPr>
        <p:spPr>
          <a:xfrm>
            <a:off x="3502152" y="371246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  1名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00984" y="4105656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Text 30"/>
          <p:cNvSpPr/>
          <p:nvPr/>
        </p:nvSpPr>
        <p:spPr>
          <a:xfrm>
            <a:off x="3502152" y="402336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コンテンツ制作担当  1〜2名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300984" y="4416552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4" name="Text 32"/>
          <p:cNvSpPr/>
          <p:nvPr/>
        </p:nvSpPr>
        <p:spPr>
          <a:xfrm>
            <a:off x="3502152" y="4334256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システム担当  1名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64408" y="490118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のべ 7〜11名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2944368" y="2157984"/>
            <a:ext cx="219456" cy="201168"/>
          </a:xfrm>
          <a:prstGeom prst="rightArrow">
            <a:avLst/>
          </a:prstGeom>
          <a:solidFill>
            <a:srgbClr val="D5DCE6"/>
          </a:solidFill>
          <a:ln/>
        </p:spPr>
      </p:sp>
      <p:sp>
        <p:nvSpPr>
          <p:cNvPr id="37" name="Text 35"/>
          <p:cNvSpPr/>
          <p:nvPr/>
        </p:nvSpPr>
        <p:spPr>
          <a:xfrm>
            <a:off x="841248" y="532180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PMO・コンテンツ制作・システム担当が加わり、関係者はさらに増える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961888" y="1572768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700</a:t>
            </a:r>
            <a:endParaRPr lang="en-US" sz="5400" dirty="0"/>
          </a:p>
        </p:txBody>
      </p:sp>
      <p:sp>
        <p:nvSpPr>
          <p:cNvPr id="39" name="Text 37"/>
          <p:cNvSpPr/>
          <p:nvPr/>
        </p:nvSpPr>
        <p:spPr>
          <a:xfrm>
            <a:off x="7653528" y="195681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 ／ 年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961888" y="261518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現に起きたこと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961888" y="3054096"/>
            <a:ext cx="566928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81344" y="3127248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チャットでの依頼を見逃し、期日が守られなかった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181344" y="343814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失われたもの： 納期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961888" y="3931920"/>
            <a:ext cx="566928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81344" y="400507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教材開発の成果物が、期日になっても出てこない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181344" y="431596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失われたもの： 納期・部門間の信頼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961888" y="4809744"/>
            <a:ext cx="566928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81344" y="488289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講師選定が遅れ、機材準備が間に合わなかった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181344" y="519379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失われたもの： 実施品質・顧客信用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課題A：なぜ起きるのか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原因は能力ではなく、3つの構造にあります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064240" y="475488"/>
            <a:ext cx="512064" cy="512064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5" name="Text 3"/>
          <p:cNvSpPr/>
          <p:nvPr/>
        </p:nvSpPr>
        <p:spPr>
          <a:xfrm>
            <a:off x="11064240" y="475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3529584" cy="3602736"/>
          </a:xfrm>
          <a:prstGeom prst="roundRect">
            <a:avLst>
              <a:gd name="adj" fmla="val 1554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1031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A-1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9536" y="2523744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可視性がない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59536" y="3419856"/>
            <a:ext cx="29443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グループチャットは招待された人しか見られない。招待漏れは、そのまま情報からの遮断を意味する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9412" y="1700784"/>
            <a:ext cx="3529584" cy="3602736"/>
          </a:xfrm>
          <a:prstGeom prst="roundRect">
            <a:avLst>
              <a:gd name="adj" fmla="val 1554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32020" y="21031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A-2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32020" y="2523744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横断して見えない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32020" y="3419856"/>
            <a:ext cx="29443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Excelが各自バラバラの形式。案件間の比較も、全体の集計も物理的に不可能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11896" y="1700784"/>
            <a:ext cx="3529584" cy="3602736"/>
          </a:xfrm>
          <a:prstGeom prst="roundRect">
            <a:avLst>
              <a:gd name="adj" fmla="val 1554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04504" y="21031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A-3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04504" y="2523744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管理手法がない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04504" y="3419856"/>
            <a:ext cx="29443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WBS・ガントが標準装備されておらず、進捗と作業の依存関係を追えない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614416"/>
            <a:ext cx="110578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いずれも「誰が、いつまでに、何をするのか」が一箇所にまとまっていないことから生じています。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課題B：会議のコスト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目的が曖昧な会議に、年間約4,700万円を投じています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064240" y="475488"/>
            <a:ext cx="512064" cy="51206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5" name="Text 3"/>
          <p:cNvSpPr/>
          <p:nvPr/>
        </p:nvSpPr>
        <p:spPr>
          <a:xfrm>
            <a:off x="11064240" y="475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029200" cy="2139696"/>
          </a:xfrm>
          <a:prstGeom prst="roundRect">
            <a:avLst>
              <a:gd name="adj" fmla="val 2564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50976" y="17922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年間の会議コスト（全社140名）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0976" y="21031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約1億8,900万円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50976" y="27980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うち目的が曖昧なもの（25%）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50976" y="3072384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約4,700万円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5961888" y="16276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階層別の内訳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61888" y="1993392"/>
            <a:ext cx="5669280" cy="530352"/>
          </a:xfrm>
          <a:prstGeom prst="roundRect">
            <a:avLst>
              <a:gd name="adj" fmla="val 8621"/>
            </a:avLst>
          </a:prstGeom>
          <a:solidFill>
            <a:srgbClr val="F1F4F9"/>
          </a:solidFill>
          <a:ln/>
        </p:spPr>
      </p:sp>
      <p:sp>
        <p:nvSpPr>
          <p:cNvPr id="13" name="Text 11"/>
          <p:cNvSpPr/>
          <p:nvPr/>
        </p:nvSpPr>
        <p:spPr>
          <a:xfrm>
            <a:off x="6144768" y="1993392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MG以上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24928" y="1993392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20名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39328" y="1993392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週20時間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802368" y="1993392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5,400万円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61888" y="2596896"/>
            <a:ext cx="5669280" cy="530352"/>
          </a:xfrm>
          <a:prstGeom prst="roundRect">
            <a:avLst>
              <a:gd name="adj" fmla="val 8621"/>
            </a:avLst>
          </a:prstGeom>
          <a:solidFill>
            <a:srgbClr val="E4EFEC"/>
          </a:solidFill>
          <a:ln/>
        </p:spPr>
      </p:sp>
      <p:sp>
        <p:nvSpPr>
          <p:cNvPr id="18" name="Text 16"/>
          <p:cNvSpPr/>
          <p:nvPr/>
        </p:nvSpPr>
        <p:spPr>
          <a:xfrm>
            <a:off x="6144768" y="2596896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424928" y="259689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40名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339328" y="2596896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週15時間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02368" y="2596896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8,100万円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961888" y="3200400"/>
            <a:ext cx="5669280" cy="530352"/>
          </a:xfrm>
          <a:prstGeom prst="roundRect">
            <a:avLst>
              <a:gd name="adj" fmla="val 8621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6144768" y="320040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一般社員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424928" y="32004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80名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339328" y="3200400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週5時間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802368" y="320040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5,400万円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961888" y="3877056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計算式：人数 × 週の会議時間 × 45週 × 時間単価3,000円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時間単価＝平均年収450万円 × 1.25 ÷ 1,900時間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913632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会議時間は各階層へのヒアリングにもとづく概算です。厳密な集計は行っていないため、規模感としてご覧ください。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4700016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BF3E4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50976" y="4700016"/>
            <a:ext cx="1028974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削減した時間は、案件対応と提案活動に充てます。人件費の削減を目的とするものではありません。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課題B：議事録の現状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議事録は残っているのに、決定事項が追えません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064240" y="475488"/>
            <a:ext cx="512064" cy="51206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5" name="Text 3"/>
          <p:cNvSpPr/>
          <p:nvPr/>
        </p:nvSpPr>
        <p:spPr>
          <a:xfrm>
            <a:off x="11064240" y="475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66928" y="157276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いまの流れ ― 情報が5か所を経由している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048256" cy="749808"/>
          </a:xfrm>
          <a:prstGeom prst="roundRect">
            <a:avLst>
              <a:gd name="adj" fmla="val 7317"/>
            </a:avLst>
          </a:prstGeom>
          <a:solidFill>
            <a:srgbClr val="F1F4F9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56816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Teams会議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642616" y="2231136"/>
            <a:ext cx="137160" cy="201168"/>
          </a:xfrm>
          <a:prstGeom prst="rightArrow">
            <a:avLst/>
          </a:prstGeom>
          <a:solidFill>
            <a:srgbClr val="D5DCE6"/>
          </a:solidFill>
          <a:ln/>
        </p:spPr>
      </p:sp>
      <p:sp>
        <p:nvSpPr>
          <p:cNvPr id="10" name="Shape 8"/>
          <p:cNvSpPr/>
          <p:nvPr/>
        </p:nvSpPr>
        <p:spPr>
          <a:xfrm>
            <a:off x="2798064" y="1956816"/>
            <a:ext cx="2048256" cy="749808"/>
          </a:xfrm>
          <a:prstGeom prst="roundRect">
            <a:avLst>
              <a:gd name="adj" fmla="val 7317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2871216" y="1956816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文字起こし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873752" y="2231136"/>
            <a:ext cx="137160" cy="201168"/>
          </a:xfrm>
          <a:prstGeom prst="rightArrow">
            <a:avLst/>
          </a:prstGeom>
          <a:solidFill>
            <a:srgbClr val="D5DCE6"/>
          </a:solidFill>
          <a:ln/>
        </p:spPr>
      </p:sp>
      <p:sp>
        <p:nvSpPr>
          <p:cNvPr id="13" name="Shape 11"/>
          <p:cNvSpPr/>
          <p:nvPr/>
        </p:nvSpPr>
        <p:spPr>
          <a:xfrm>
            <a:off x="5029200" y="1956816"/>
            <a:ext cx="2048256" cy="749808"/>
          </a:xfrm>
          <a:prstGeom prst="roundRect">
            <a:avLst>
              <a:gd name="adj" fmla="val 7317"/>
            </a:avLst>
          </a:prstGeom>
          <a:solidFill>
            <a:srgbClr val="F1F4F9"/>
          </a:solidFill>
          <a:ln/>
        </p:spPr>
      </p:sp>
      <p:sp>
        <p:nvSpPr>
          <p:cNvPr id="14" name="Text 12"/>
          <p:cNvSpPr/>
          <p:nvPr/>
        </p:nvSpPr>
        <p:spPr>
          <a:xfrm>
            <a:off x="5102352" y="1956816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AIで議事録生成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04888" y="2231136"/>
            <a:ext cx="137160" cy="201168"/>
          </a:xfrm>
          <a:prstGeom prst="rightArrow">
            <a:avLst/>
          </a:prstGeom>
          <a:solidFill>
            <a:srgbClr val="D5DCE6"/>
          </a:solidFill>
          <a:ln/>
        </p:spPr>
      </p:sp>
      <p:sp>
        <p:nvSpPr>
          <p:cNvPr id="16" name="Shape 14"/>
          <p:cNvSpPr/>
          <p:nvPr/>
        </p:nvSpPr>
        <p:spPr>
          <a:xfrm>
            <a:off x="7260336" y="1956816"/>
            <a:ext cx="2048256" cy="749808"/>
          </a:xfrm>
          <a:prstGeom prst="roundRect">
            <a:avLst>
              <a:gd name="adj" fmla="val 7317"/>
            </a:avLst>
          </a:prstGeom>
          <a:solidFill>
            <a:srgbClr val="F1F4F9"/>
          </a:solidFill>
          <a:ln/>
        </p:spPr>
      </p:sp>
      <p:sp>
        <p:nvSpPr>
          <p:cNvPr id="17" name="Text 15"/>
          <p:cNvSpPr/>
          <p:nvPr/>
        </p:nvSpPr>
        <p:spPr>
          <a:xfrm>
            <a:off x="7333488" y="1956816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Teams上のWord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OneNote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336024" y="2231136"/>
            <a:ext cx="137160" cy="201168"/>
          </a:xfrm>
          <a:prstGeom prst="rightArrow">
            <a:avLst/>
          </a:prstGeom>
          <a:solidFill>
            <a:srgbClr val="D5DCE6"/>
          </a:solidFill>
          <a:ln/>
        </p:spPr>
      </p:sp>
      <p:sp>
        <p:nvSpPr>
          <p:cNvPr id="19" name="Shape 17"/>
          <p:cNvSpPr/>
          <p:nvPr/>
        </p:nvSpPr>
        <p:spPr>
          <a:xfrm>
            <a:off x="9491472" y="1956816"/>
            <a:ext cx="2048256" cy="749808"/>
          </a:xfrm>
          <a:prstGeom prst="roundRect">
            <a:avLst>
              <a:gd name="adj" fmla="val 7317"/>
            </a:avLst>
          </a:prstGeom>
          <a:solidFill>
            <a:srgbClr val="F7E9E7"/>
          </a:solidFill>
          <a:ln/>
        </p:spPr>
      </p:sp>
      <p:sp>
        <p:nvSpPr>
          <p:cNvPr id="20" name="Text 18"/>
          <p:cNvSpPr/>
          <p:nvPr/>
        </p:nvSpPr>
        <p:spPr>
          <a:xfrm>
            <a:off x="9564624" y="1956816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リンクをチャットで共有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66928" y="2798064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保存先が人によって違い、チャットに流れたリンクは時間が経てば遡れない。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310128"/>
            <a:ext cx="3529584" cy="2615184"/>
          </a:xfrm>
          <a:prstGeom prst="roundRect">
            <a:avLst>
              <a:gd name="adj" fmla="val 209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41248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B-1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41248" y="3877056"/>
            <a:ext cx="2980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目的が事前に定義されない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1248" y="4443984"/>
            <a:ext cx="29809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アジェンダを作る型がないため、「とりあえず集まる」定例が生き残る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439412" y="3310128"/>
            <a:ext cx="3529584" cy="2615184"/>
          </a:xfrm>
          <a:prstGeom prst="roundRect">
            <a:avLst>
              <a:gd name="adj" fmla="val 209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13732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B-2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13732" y="3877056"/>
            <a:ext cx="2980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決定が構造化されない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713732" y="4443984"/>
            <a:ext cx="29809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決定事項・担当・期日が文章の中に埋もれ、検索も集計もできない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311896" y="3310128"/>
            <a:ext cx="3529584" cy="2615184"/>
          </a:xfrm>
          <a:prstGeom prst="roundRect">
            <a:avLst>
              <a:gd name="adj" fmla="val 209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586216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B-3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86216" y="3877056"/>
            <a:ext cx="2980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置き場所が分散する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86216" y="4443984"/>
            <a:ext cx="29809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議事録がTeams上のWordとOneNoteに分かれ、どこに何があるか分からなくなる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解決像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Notionによる解決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457200" cy="457200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70432" y="146304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課題A：案件管理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85216" y="20848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A-1 可視性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59152"/>
            <a:ext cx="2395728" cy="658368"/>
          </a:xfrm>
          <a:prstGeom prst="roundRect">
            <a:avLst>
              <a:gd name="adj" fmla="val 6944"/>
            </a:avLst>
          </a:prstGeom>
          <a:solidFill>
            <a:srgbClr val="F4F5F7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2359152"/>
            <a:ext cx="21396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招待された人しか見えない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054096" y="2615184"/>
            <a:ext cx="164592" cy="164592"/>
          </a:xfrm>
          <a:prstGeom prst="rightArrow">
            <a:avLst/>
          </a:prstGeom>
          <a:solidFill>
            <a:srgbClr val="2C5F8D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2359152"/>
            <a:ext cx="2743200" cy="658368"/>
          </a:xfrm>
          <a:prstGeom prst="roundRect">
            <a:avLst>
              <a:gd name="adj" fmla="val 6944"/>
            </a:avLst>
          </a:prstGeom>
          <a:solidFill>
            <a:srgbClr val="2C5F8D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2359152"/>
            <a:ext cx="2487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全案件が誰からも見える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5216" y="31455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A-2 横断性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419856"/>
            <a:ext cx="2395728" cy="658368"/>
          </a:xfrm>
          <a:prstGeom prst="roundRect">
            <a:avLst>
              <a:gd name="adj" fmla="val 6944"/>
            </a:avLst>
          </a:prstGeom>
          <a:solidFill>
            <a:srgbClr val="F4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" y="3419856"/>
            <a:ext cx="21396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Excelがバラバラで集計不能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54096" y="3675888"/>
            <a:ext cx="164592" cy="164592"/>
          </a:xfrm>
          <a:prstGeom prst="rightArrow">
            <a:avLst/>
          </a:prstGeom>
          <a:solidFill>
            <a:srgbClr val="2C5F8D"/>
          </a:solidFill>
          <a:ln/>
        </p:spPr>
      </p:sp>
      <p:sp>
        <p:nvSpPr>
          <p:cNvPr id="17" name="Shape 15"/>
          <p:cNvSpPr/>
          <p:nvPr/>
        </p:nvSpPr>
        <p:spPr>
          <a:xfrm>
            <a:off x="3310128" y="3419856"/>
            <a:ext cx="2743200" cy="658368"/>
          </a:xfrm>
          <a:prstGeom prst="roundRect">
            <a:avLst>
              <a:gd name="adj" fmla="val 6944"/>
            </a:avLst>
          </a:prstGeom>
          <a:solidFill>
            <a:srgbClr val="2C5F8D"/>
          </a:solidFill>
          <a:ln/>
        </p:spPr>
      </p:sp>
      <p:sp>
        <p:nvSpPr>
          <p:cNvPr id="18" name="Text 16"/>
          <p:cNvSpPr/>
          <p:nvPr/>
        </p:nvSpPr>
        <p:spPr>
          <a:xfrm>
            <a:off x="3438144" y="3419856"/>
            <a:ext cx="2487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PMOが1画面で700件を俯瞰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85216" y="4206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A-3 管理手法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480560"/>
            <a:ext cx="2395728" cy="658368"/>
          </a:xfrm>
          <a:prstGeom prst="roundRect">
            <a:avLst>
              <a:gd name="adj" fmla="val 6944"/>
            </a:avLst>
          </a:prstGeom>
          <a:solidFill>
            <a:srgbClr val="F4F5F7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4480560"/>
            <a:ext cx="21396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進捗と依存関係が追えない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054096" y="4736592"/>
            <a:ext cx="164592" cy="164592"/>
          </a:xfrm>
          <a:prstGeom prst="rightArrow">
            <a:avLst/>
          </a:prstGeom>
          <a:solidFill>
            <a:srgbClr val="2C5F8D"/>
          </a:solidFill>
          <a:ln/>
        </p:spPr>
      </p:sp>
      <p:sp>
        <p:nvSpPr>
          <p:cNvPr id="23" name="Shape 21"/>
          <p:cNvSpPr/>
          <p:nvPr/>
        </p:nvSpPr>
        <p:spPr>
          <a:xfrm>
            <a:off x="3310128" y="4480560"/>
            <a:ext cx="2743200" cy="658368"/>
          </a:xfrm>
          <a:prstGeom prst="roundRect">
            <a:avLst>
              <a:gd name="adj" fmla="val 6944"/>
            </a:avLst>
          </a:prstGeom>
          <a:solidFill>
            <a:srgbClr val="2C5F8D"/>
          </a:solidFill>
          <a:ln/>
        </p:spPr>
      </p:sp>
      <p:sp>
        <p:nvSpPr>
          <p:cNvPr id="24" name="Text 22"/>
          <p:cNvSpPr/>
          <p:nvPr/>
        </p:nvSpPr>
        <p:spPr>
          <a:xfrm>
            <a:off x="3438144" y="4480560"/>
            <a:ext cx="2487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遅延案件が自動で浮かび上がる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73368" y="1481328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26" name="Text 24"/>
          <p:cNvSpPr/>
          <p:nvPr/>
        </p:nvSpPr>
        <p:spPr>
          <a:xfrm>
            <a:off x="6373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76872" y="146304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課題B：会議と議事録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391656" y="20848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B-1 目的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73368" y="2359152"/>
            <a:ext cx="2395728" cy="658368"/>
          </a:xfrm>
          <a:prstGeom prst="roundRect">
            <a:avLst>
              <a:gd name="adj" fmla="val 6944"/>
            </a:avLst>
          </a:prstGeom>
          <a:solidFill>
            <a:srgbClr val="F4F5F7"/>
          </a:solidFill>
          <a:ln/>
        </p:spPr>
      </p:sp>
      <p:sp>
        <p:nvSpPr>
          <p:cNvPr id="30" name="Text 28"/>
          <p:cNvSpPr/>
          <p:nvPr/>
        </p:nvSpPr>
        <p:spPr>
          <a:xfrm>
            <a:off x="6501384" y="2359152"/>
            <a:ext cx="21396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とりあえず集まる定例が残る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860536" y="2615184"/>
            <a:ext cx="164592" cy="164592"/>
          </a:xfrm>
          <a:prstGeom prst="rightArrow">
            <a:avLst/>
          </a:prstGeom>
          <a:solidFill>
            <a:srgbClr val="1F7A6C"/>
          </a:solidFill>
          <a:ln/>
        </p:spPr>
      </p:sp>
      <p:sp>
        <p:nvSpPr>
          <p:cNvPr id="32" name="Shape 30"/>
          <p:cNvSpPr/>
          <p:nvPr/>
        </p:nvSpPr>
        <p:spPr>
          <a:xfrm>
            <a:off x="9116568" y="2359152"/>
            <a:ext cx="2743200" cy="658368"/>
          </a:xfrm>
          <a:prstGeom prst="roundRect">
            <a:avLst>
              <a:gd name="adj" fmla="val 6944"/>
            </a:avLst>
          </a:prstGeom>
          <a:solidFill>
            <a:srgbClr val="1F7A6C"/>
          </a:solidFill>
          <a:ln/>
        </p:spPr>
      </p:sp>
      <p:sp>
        <p:nvSpPr>
          <p:cNvPr id="33" name="Text 31"/>
          <p:cNvSpPr/>
          <p:nvPr/>
        </p:nvSpPr>
        <p:spPr>
          <a:xfrm>
            <a:off x="9244584" y="2359152"/>
            <a:ext cx="2487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アジェンダを事前に書くことが型になる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391656" y="31455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B-2 決定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73368" y="3419856"/>
            <a:ext cx="2395728" cy="658368"/>
          </a:xfrm>
          <a:prstGeom prst="roundRect">
            <a:avLst>
              <a:gd name="adj" fmla="val 6944"/>
            </a:avLst>
          </a:prstGeom>
          <a:solidFill>
            <a:srgbClr val="F4F5F7"/>
          </a:solidFill>
          <a:ln/>
        </p:spPr>
      </p:sp>
      <p:sp>
        <p:nvSpPr>
          <p:cNvPr id="36" name="Text 34"/>
          <p:cNvSpPr/>
          <p:nvPr/>
        </p:nvSpPr>
        <p:spPr>
          <a:xfrm>
            <a:off x="6501384" y="3419856"/>
            <a:ext cx="21396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文章に埋もれて追えない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860536" y="3675888"/>
            <a:ext cx="164592" cy="164592"/>
          </a:xfrm>
          <a:prstGeom prst="rightArrow">
            <a:avLst/>
          </a:prstGeom>
          <a:solidFill>
            <a:srgbClr val="1F7A6C"/>
          </a:solidFill>
          <a:ln/>
        </p:spPr>
      </p:sp>
      <p:sp>
        <p:nvSpPr>
          <p:cNvPr id="38" name="Shape 36"/>
          <p:cNvSpPr/>
          <p:nvPr/>
        </p:nvSpPr>
        <p:spPr>
          <a:xfrm>
            <a:off x="9116568" y="3419856"/>
            <a:ext cx="2743200" cy="658368"/>
          </a:xfrm>
          <a:prstGeom prst="roundRect">
            <a:avLst>
              <a:gd name="adj" fmla="val 6944"/>
            </a:avLst>
          </a:prstGeom>
          <a:solidFill>
            <a:srgbClr val="1F7A6C"/>
          </a:solidFill>
          <a:ln/>
        </p:spPr>
      </p:sp>
      <p:sp>
        <p:nvSpPr>
          <p:cNvPr id="39" name="Text 37"/>
          <p:cNvSpPr/>
          <p:nvPr/>
        </p:nvSpPr>
        <p:spPr>
          <a:xfrm>
            <a:off x="9244584" y="3419856"/>
            <a:ext cx="2487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決定・担当・期日が項目として残る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391656" y="4206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B-3 置き場所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73368" y="4480560"/>
            <a:ext cx="2395728" cy="658368"/>
          </a:xfrm>
          <a:prstGeom prst="roundRect">
            <a:avLst>
              <a:gd name="adj" fmla="val 6944"/>
            </a:avLst>
          </a:prstGeom>
          <a:solidFill>
            <a:srgbClr val="F4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6501384" y="4480560"/>
            <a:ext cx="21396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4つのアプリに分散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860536" y="4736592"/>
            <a:ext cx="164592" cy="164592"/>
          </a:xfrm>
          <a:prstGeom prst="rightArrow">
            <a:avLst/>
          </a:prstGeom>
          <a:solidFill>
            <a:srgbClr val="1F7A6C"/>
          </a:solidFill>
          <a:ln/>
        </p:spPr>
      </p:sp>
      <p:sp>
        <p:nvSpPr>
          <p:cNvPr id="44" name="Shape 42"/>
          <p:cNvSpPr/>
          <p:nvPr/>
        </p:nvSpPr>
        <p:spPr>
          <a:xfrm>
            <a:off x="9116568" y="4480560"/>
            <a:ext cx="2743200" cy="658368"/>
          </a:xfrm>
          <a:prstGeom prst="roundRect">
            <a:avLst>
              <a:gd name="adj" fmla="val 6944"/>
            </a:avLst>
          </a:prstGeom>
          <a:solidFill>
            <a:srgbClr val="1F7A6C"/>
          </a:solidFill>
          <a:ln/>
        </p:spPr>
      </p:sp>
      <p:sp>
        <p:nvSpPr>
          <p:cNvPr id="45" name="Text 43"/>
          <p:cNvSpPr/>
          <p:nvPr/>
        </p:nvSpPr>
        <p:spPr>
          <a:xfrm>
            <a:off x="9244584" y="4480560"/>
            <a:ext cx="2487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すべてNotionの1か所に集まる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66928" y="541324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「アジェンダが書けない会議は、開かれなくなる」 ― 目的のない会議は自然に淘汰されます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2つの課題が繋がる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議事録を書くことが、そのまま案件管理になります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627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会議前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38528"/>
            <a:ext cx="3108960" cy="1737360"/>
          </a:xfrm>
          <a:prstGeom prst="roundRect">
            <a:avLst>
              <a:gd name="adj" fmla="val 315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084832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アジェンダを</a:t>
            </a:r>
            <a:endParaRPr lang="en-US" sz="15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事前に作る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32552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課題B の解決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224528" y="1627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会議中・会議後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24528" y="1938528"/>
            <a:ext cx="3108960" cy="1737360"/>
          </a:xfrm>
          <a:prstGeom prst="roundRect">
            <a:avLst>
              <a:gd name="adj" fmla="val 315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07408" y="2084832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議事録を書き</a:t>
            </a:r>
            <a:endParaRPr lang="en-US" sz="15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決定事項・ToDoを</a:t>
            </a:r>
            <a:endParaRPr lang="en-US" sz="15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項目として登録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07408" y="32552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課題B の解決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785616" y="2670048"/>
            <a:ext cx="329184" cy="274320"/>
          </a:xfrm>
          <a:prstGeom prst="rightArrow">
            <a:avLst/>
          </a:prstGeom>
          <a:solidFill>
            <a:srgbClr val="D5DCE6"/>
          </a:solidFill>
          <a:ln/>
        </p:spPr>
      </p:sp>
      <p:sp>
        <p:nvSpPr>
          <p:cNvPr id="13" name="Shape 11"/>
          <p:cNvSpPr/>
          <p:nvPr/>
        </p:nvSpPr>
        <p:spPr>
          <a:xfrm>
            <a:off x="7443216" y="2670048"/>
            <a:ext cx="329184" cy="274320"/>
          </a:xfrm>
          <a:prstGeom prst="rightArrow">
            <a:avLst/>
          </a:prstGeom>
          <a:solidFill>
            <a:srgbClr val="D5DCE6"/>
          </a:solidFill>
          <a:ln/>
        </p:spPr>
      </p:sp>
      <p:sp>
        <p:nvSpPr>
          <p:cNvPr id="14" name="Text 12"/>
          <p:cNvSpPr/>
          <p:nvPr/>
        </p:nvSpPr>
        <p:spPr>
          <a:xfrm>
            <a:off x="7882128" y="1627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自動的に現れる場所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882128" y="1938528"/>
            <a:ext cx="3749040" cy="512064"/>
          </a:xfrm>
          <a:prstGeom prst="roundRect">
            <a:avLst>
              <a:gd name="adj" fmla="val 8929"/>
            </a:avLst>
          </a:prstGeom>
          <a:solidFill>
            <a:srgbClr val="2C5F8D"/>
          </a:solidFill>
          <a:ln/>
        </p:spPr>
      </p:sp>
      <p:sp>
        <p:nvSpPr>
          <p:cNvPr id="16" name="Text 14"/>
          <p:cNvSpPr/>
          <p:nvPr/>
        </p:nvSpPr>
        <p:spPr>
          <a:xfrm>
            <a:off x="8065008" y="193852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案件ページ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882128" y="2551176"/>
            <a:ext cx="3749040" cy="512064"/>
          </a:xfrm>
          <a:prstGeom prst="roundRect">
            <a:avLst>
              <a:gd name="adj" fmla="val 8929"/>
            </a:avLst>
          </a:prstGeom>
          <a:solidFill>
            <a:srgbClr val="2C5F8D"/>
          </a:solidFill>
          <a:ln/>
        </p:spPr>
      </p:sp>
      <p:sp>
        <p:nvSpPr>
          <p:cNvPr id="18" name="Text 16"/>
          <p:cNvSpPr/>
          <p:nvPr/>
        </p:nvSpPr>
        <p:spPr>
          <a:xfrm>
            <a:off x="8065008" y="255117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担当者のToDo一覧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82128" y="3163824"/>
            <a:ext cx="3749040" cy="512064"/>
          </a:xfrm>
          <a:prstGeom prst="roundRect">
            <a:avLst>
              <a:gd name="adj" fmla="val 8929"/>
            </a:avLst>
          </a:prstGeom>
          <a:solidFill>
            <a:srgbClr val="2C5F8D"/>
          </a:solidFill>
          <a:ln/>
        </p:spPr>
      </p:sp>
      <p:sp>
        <p:nvSpPr>
          <p:cNvPr id="20" name="Text 18"/>
          <p:cNvSpPr/>
          <p:nvPr/>
        </p:nvSpPr>
        <p:spPr>
          <a:xfrm>
            <a:off x="8065008" y="316382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PMOの全案件ビュー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882128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課題A の解決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498848"/>
            <a:ext cx="11057839" cy="1463040"/>
          </a:xfrm>
          <a:prstGeom prst="roundRect">
            <a:avLst>
              <a:gd name="adj" fmla="val 375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24128" y="4498848"/>
            <a:ext cx="1014343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会議で決まったToDoは、転記せずにそのまま案件のタスクになります。二重入力は発生しません。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4023360"/>
            <a:ext cx="3291840" cy="3291840"/>
          </a:xfrm>
          <a:prstGeom prst="ellipse">
            <a:avLst/>
          </a:prstGeom>
          <a:solidFill>
            <a:srgbClr val="1F7A6C">
              <a:alpha val="3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2432304"/>
            <a:ext cx="896112" cy="896112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2432304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792224" y="2395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なぜNotionなのか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792224" y="31272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既存ツールで代替できない理由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検討の経緯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一部はMicrosoft 365で対応します。残りが本日のご相談です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91056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566160"/>
                <a:gridCol w="430682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Microsoft 365 での解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判断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チャットの可視化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Teamsのパブリックチーム／チャネル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Notionは不要。この方針で実施します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タスク・WBS・ガント（課題A）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Planner（上位機能は追加ライセンス）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案件情報・議事録と別の場所に持つことになる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ストック情報・議事録（課題B）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Loop / SharePoint / OneNote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文書であってデータではない。集計・横断が困難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案件の一覧・台帳（課題A）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Lists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議事録・ドキュメントと連動しない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334256"/>
            <a:ext cx="11057839" cy="1133856"/>
          </a:xfrm>
          <a:prstGeom prst="roundRect">
            <a:avLst>
              <a:gd name="adj" fmla="val 4839"/>
            </a:avLst>
          </a:prstGeom>
          <a:solidFill>
            <a:srgbClr val="F7E9E7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69264" y="4443984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すべてを満たそうとすると Planner ＋ Lists ＋ Loop ＋ SharePoint の併用になります。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69264" y="4828032"/>
            <a:ext cx="1025316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A3A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同じ情報を複数箇所に入力する二重管理が生まれ、どれが最新か分からなくなる。いま解決したい「分散」を、別の形で作り直すことになります。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5632704"/>
            <a:ext cx="11057839" cy="822960"/>
          </a:xfrm>
          <a:prstGeom prst="roundRect">
            <a:avLst>
              <a:gd name="adj" fmla="val 6667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69264" y="5632704"/>
            <a:ext cx="102531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365 ＝ 保管・伝達　／　Notion ＝ 構造化された実行管理　― M365は継続利用し、置き換えません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選定理由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違いは一点。議事録が「文書」ではなく「データ」であること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486400" cy="3529584"/>
          </a:xfrm>
          <a:prstGeom prst="roundRect">
            <a:avLst>
              <a:gd name="adj" fmla="val 1554"/>
            </a:avLst>
          </a:prstGeom>
          <a:solidFill>
            <a:srgbClr val="F4F5F7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773936"/>
            <a:ext cx="4828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 / OneNote / Loop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96112" y="2212848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議事録の正体：文書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96112" y="2615184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決定事項もToDoも、文中に埋まった「文字」でしかない。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3602736"/>
            <a:ext cx="4828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転記しなければ管理に使えない。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転記されなければ、消える。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73368" y="1554480"/>
            <a:ext cx="5486400" cy="3529584"/>
          </a:xfrm>
          <a:prstGeom prst="roundRect">
            <a:avLst>
              <a:gd name="adj" fmla="val 1554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02552" y="1773936"/>
            <a:ext cx="4828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702552" y="2212848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議事録の正体：データベースのレコード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702552" y="2615184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ToDoは、案件に紐づいたタスクそのもの。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702552" y="3602736"/>
            <a:ext cx="4828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議事録を書いた時点で、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管理の入力が完了している。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5321808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「ドキュメントを書く機能」と「データベース機能」が同じ製品の中で繋がっていること。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" y="5687568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 ⇔ 議事録 ⇔ タスクのリレーションと、立場別のビュー（営業／運営／講師管理／PMO）が、1つの実体の上に成立します。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他ツールとの比較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専用ツールも検討しましたが、今回の要件には合いません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91056"/>
          <a:ext cx="11057839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88336"/>
                <a:gridCol w="3017520"/>
                <a:gridCol w="23500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評価軸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Microsoft 365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専用PM管理ツール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（Asana / monday.com 等）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Notion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案件管理（課題A）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　Plannerで一部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　得意領域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　実務水準を満たす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議事録との統合（課題B）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　別アプリになる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　ドキュメント機能が弱い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　同一製品内で連結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ナレッジ蓄積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　SharePoint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　不得意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　得意領域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全社員が使えるか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　既に全員が保有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　管理者向けの設計が多い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　学習容易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課題A・Bを1つで満たすか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791456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69264" y="4937760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専用PMツールは案件管理単体では優れていますが、議事録・ナレッジと分離するため課題Bが解決しません。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69264" y="5394960"/>
            <a:ext cx="102531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課題AとBを1つの基盤で解くという要件を満たすのは、Notionのみです。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デモンストレーション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2688336" cy="2286000"/>
          </a:xfrm>
          <a:prstGeom prst="roundRect">
            <a:avLst>
              <a:gd name="adj" fmla="val 2400"/>
            </a:avLst>
          </a:prstGeom>
          <a:solidFill>
            <a:srgbClr val="F1F4F9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94944" y="1609344"/>
            <a:ext cx="24323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スクリーンショット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（差し込み）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4023360"/>
            <a:ext cx="402336" cy="402336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400507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会議ページ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4498848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アジェンダ → 議事録 → 決定事項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20440" y="1609344"/>
            <a:ext cx="2688336" cy="2286000"/>
          </a:xfrm>
          <a:prstGeom prst="roundRect">
            <a:avLst>
              <a:gd name="adj" fmla="val 2400"/>
            </a:avLst>
          </a:prstGeom>
          <a:solidFill>
            <a:srgbClr val="F1F4F9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648456" y="1609344"/>
            <a:ext cx="24323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スクリーンショット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（差し込み）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520440" y="4023360"/>
            <a:ext cx="402336" cy="402336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50792" y="400507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生成されたタスク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520440" y="4498848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決定事項がそのままタスクに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73952" y="1609344"/>
            <a:ext cx="2688336" cy="2286000"/>
          </a:xfrm>
          <a:prstGeom prst="roundRect">
            <a:avLst>
              <a:gd name="adj" fmla="val 2400"/>
            </a:avLst>
          </a:prstGeom>
          <a:solidFill>
            <a:srgbClr val="F1F4F9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601968" y="1609344"/>
            <a:ext cx="24323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スクリーンショット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（差し込み）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73952" y="4023360"/>
            <a:ext cx="402336" cy="402336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9" name="Text 17"/>
          <p:cNvSpPr/>
          <p:nvPr/>
        </p:nvSpPr>
        <p:spPr>
          <a:xfrm>
            <a:off x="6473952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04304" y="400507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案件ページ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73952" y="4498848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タスクが案件に紐づいた状態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27464" y="1609344"/>
            <a:ext cx="2688336" cy="2286000"/>
          </a:xfrm>
          <a:prstGeom prst="roundRect">
            <a:avLst>
              <a:gd name="adj" fmla="val 2400"/>
            </a:avLst>
          </a:prstGeom>
          <a:solidFill>
            <a:srgbClr val="F1F4F9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9555480" y="1609344"/>
            <a:ext cx="24323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スクリーンショット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（差し込み）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427464" y="4023360"/>
            <a:ext cx="402336" cy="402336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25" name="Text 23"/>
          <p:cNvSpPr/>
          <p:nvPr/>
        </p:nvSpPr>
        <p:spPr>
          <a:xfrm>
            <a:off x="9427464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57816" y="400507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PMOの横断ビュー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427464" y="4498848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全案件の進捗とガント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5230368"/>
            <a:ext cx="11057839" cy="749808"/>
          </a:xfrm>
          <a:prstGeom prst="roundRect">
            <a:avLst>
              <a:gd name="adj" fmla="val 7317"/>
            </a:avLst>
          </a:prstGeom>
          <a:solidFill>
            <a:srgbClr val="FBF3E4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50976" y="5230368"/>
            <a:ext cx="1028974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要準備：架空の研修案件で、アジェンダ → 議事録 → タスク → ガントが繋がった状態を作っておくこと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4023360"/>
            <a:ext cx="3291840" cy="3291840"/>
          </a:xfrm>
          <a:prstGeom prst="ellipse">
            <a:avLst/>
          </a:prstGeom>
          <a:solidFill>
            <a:srgbClr val="E8A33D">
              <a:alpha val="3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2432304"/>
            <a:ext cx="896112" cy="89611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2432304"/>
            <a:ext cx="8961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792224" y="2395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導入判断の材料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792224" y="31272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プラン・費用・効果・リスク・進め方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プラン別 機能比較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要件を満たす最小構成は、Businessプランです</a:t>
            </a:r>
            <a:endParaRPr lang="en-US" sz="2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743200"/>
                <a:gridCol w="238658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Plus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Business（推奨）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Enterprise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月額（1人・年払い／税別）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1,650円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3,150円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要見積（約5,425円）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年間費用（140名／税別）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277.2万円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529.2万円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約911.4万円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SAML SSO（Microsoft 365連携）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プライベートチームスペース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ページ履歴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30日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90日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SCIM（アカウント自動削除）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3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監査ログ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3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データの国内保管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3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○（追加費用なし）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ゲスト上限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250名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250名〜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50468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69264" y="5504688"/>
            <a:ext cx="102531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監査ログ・SCIM・国内データ保管はEnterpriseの機能です（差額は年間約382万円）。今回のスコープでは機微情報を置かない運用で代替し、Businessを選択します。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プラン比較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3案を比較し、Businessプランの全社導入を推奨します</a:t>
            </a:r>
            <a:endParaRPr lang="en-US" sz="2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  <a:gridCol w="266090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案1：Plus 全社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案2：Business 全社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案3：Business 上層部のみ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＋一般社員はゲスト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年間費用（140名・年払い／税別）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277.2万円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529.2万円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見かけ上は最小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SAML SSO（M365連携）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○（対象者のみ）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全社員の横断ビュー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監査ログ / SCIM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判定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342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却下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推奨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342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実現不可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3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517136"/>
            <a:ext cx="5486400" cy="1463040"/>
          </a:xfrm>
          <a:prstGeom prst="roundRect">
            <a:avLst>
              <a:gd name="adj" fmla="val 375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1248" y="4700016"/>
            <a:ext cx="365760" cy="365760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7" name="Text 4"/>
          <p:cNvSpPr/>
          <p:nvPr/>
        </p:nvSpPr>
        <p:spPr>
          <a:xfrm>
            <a:off x="841248" y="4700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316736" y="46817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案1を却下する理由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41248" y="513892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SAML SSOが使えず、Microsoft 365アカウントと連携できない。退職者のアカウント停止が手作業となり、親会社のセキュリティ審査を通せない可能性が高い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73368" y="4517136"/>
            <a:ext cx="5486400" cy="1463040"/>
          </a:xfrm>
          <a:prstGeom prst="roundRect">
            <a:avLst>
              <a:gd name="adj" fmla="val 375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7688" y="4700016"/>
            <a:ext cx="365760" cy="365760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12" name="Text 9"/>
          <p:cNvSpPr/>
          <p:nvPr/>
        </p:nvSpPr>
        <p:spPr>
          <a:xfrm>
            <a:off x="6647688" y="4700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123176" y="46817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案3が成立しない理由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647688" y="513892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ゲストは招待されたページしか見られず、横断ビューを持てない。課題A-1（可視性）とA-2（横断性）が解決せず、導入目的そのものが失われる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66928" y="61264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2026年8月時点の公表価格。監査ログまたは国内データ保管が必須要件となる場合はEnterprise（約911万円／年）への切替が必要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投資額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5852160" cy="2377440"/>
          </a:xfrm>
          <a:prstGeom prst="roundRect">
            <a:avLst>
              <a:gd name="adj" fmla="val 2308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9264" y="17922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年間ライセンス費用（税別）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9264" y="2139696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529.2万円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69264" y="29626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Business 年払い　3,150円 × 140名 × 12か月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9264" y="3310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消費税10%を加えた場合　582.1万円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39128" y="1591056"/>
            <a:ext cx="5120640" cy="2377440"/>
          </a:xfrm>
          <a:prstGeom prst="roundRect">
            <a:avLst>
              <a:gd name="adj" fmla="val 230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050024" y="17922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実施体制（現金支出なし）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086600" y="2331720"/>
            <a:ext cx="109728" cy="109728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12" name="Text 10"/>
          <p:cNvSpPr/>
          <p:nvPr/>
        </p:nvSpPr>
        <p:spPr>
          <a:xfrm>
            <a:off x="7324344" y="223113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初期構築（テンプレート設計・データベース構築）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086600" y="2734056"/>
            <a:ext cx="109728" cy="109728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14" name="Text 12"/>
          <p:cNvSpPr/>
          <p:nvPr/>
        </p:nvSpPr>
        <p:spPr>
          <a:xfrm>
            <a:off x="7324344" y="263347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教育・定着支援（説明会・マニュアル・3か月の伴走）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050024" y="31272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いずれも人事組織とPMOが内製で担当します。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新規採用は行いません。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206240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9264" y="42062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削減できる既存コスト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767328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現在はMicrosoft 365に含まれるツールを使用しているため、直接的なライセンス削減は発生しません。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32180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9264" y="5321808"/>
            <a:ext cx="102531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参考：監査ログまたは国内データ保管が必須要件となった場合は Enterprise 約911万円／年（要見積）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想定効果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会議時間の削減だけで、投資額の約2.7倍の効果を見込みます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3529584" cy="1737360"/>
          </a:xfrm>
          <a:prstGeom prst="roundRect">
            <a:avLst>
              <a:gd name="adj" fmla="val 315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55648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投資額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41248" y="206654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529.2万円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41248" y="2779776"/>
            <a:ext cx="2980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年間ライセンス費用（税別）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9412" y="1591056"/>
            <a:ext cx="3529584" cy="1737360"/>
          </a:xfrm>
          <a:prstGeom prst="roundRect">
            <a:avLst>
              <a:gd name="adj" fmla="val 315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13732" y="1755648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効果（会議のみ）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13732" y="206654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約1,420万円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713732" y="2779776"/>
            <a:ext cx="2980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目的が曖昧な会議の3割を削減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11896" y="1591056"/>
            <a:ext cx="3529584" cy="1737360"/>
          </a:xfrm>
          <a:prstGeom prst="roundRect">
            <a:avLst>
              <a:gd name="adj" fmla="val 3158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586216" y="1755648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倍率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86216" y="206654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約2.7倍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586216" y="2779776"/>
            <a:ext cx="2980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会議削減効果 ÷ 投資額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360273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その他の効果（今回は金額に算入していません）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3986784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4069080"/>
            <a:ext cx="274320" cy="274320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33856" y="398678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手戻り・遅延の削減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436608" y="398678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実測後に算定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498848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4581144"/>
            <a:ext cx="274320" cy="274320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4581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33856" y="4498848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PMOが全案件のリスクを事前に検知できる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436608" y="4498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定性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5010912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" y="5093208"/>
            <a:ext cx="274320" cy="27432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29" name="Text 27"/>
          <p:cNvSpPr/>
          <p:nvPr/>
        </p:nvSpPr>
        <p:spPr>
          <a:xfrm>
            <a:off x="713232" y="5093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33856" y="5010912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属人化の解消。異動・退職時の引き継ぎコスト低減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436608" y="501091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定性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5522976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3232" y="5605272"/>
            <a:ext cx="274320" cy="274320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34" name="Text 32"/>
          <p:cNvSpPr/>
          <p:nvPr/>
        </p:nvSpPr>
        <p:spPr>
          <a:xfrm>
            <a:off x="713232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33856" y="552297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顧客への納期遵守率向上による信用の維持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436608" y="552297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608990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削減率3割は意図的に控えめな設定です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リスクと対策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想定されるリスクは3つ。すべて対策があります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3529584" cy="4114800"/>
          </a:xfrm>
          <a:prstGeom prst="roundRect">
            <a:avLst>
              <a:gd name="adj" fmla="val 1554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10512"/>
            <a:ext cx="402336" cy="402336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53312" y="1792224"/>
            <a:ext cx="2523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定着しない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322576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一部の人しか使わず、結局チャットに戻る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29809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9536" y="3374136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29184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経営層で3か月試行済み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9536" y="3922776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840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テンプレート・ミニマニュアルを整備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9536" y="4471416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4389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PMOが運用ルールの管理責任を持つ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9536" y="5020056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9377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導入後3か月は人事組織が伴走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39412" y="1591056"/>
            <a:ext cx="3529584" cy="4114800"/>
          </a:xfrm>
          <a:prstGeom prst="roundRect">
            <a:avLst>
              <a:gd name="adj" fmla="val 1554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13732" y="1810512"/>
            <a:ext cx="402336" cy="402336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20" name="Text 18"/>
          <p:cNvSpPr/>
          <p:nvPr/>
        </p:nvSpPr>
        <p:spPr>
          <a:xfrm>
            <a:off x="4713732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25796" y="1792224"/>
            <a:ext cx="2523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情報の置き場所が分散する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13732" y="2322576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Teams・Notion・SharePointのどこに何があるか分からなくなる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13732" y="29809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32020" y="3374136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4969764" y="329184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役割分担を1枚の図で定義し全社に周知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32020" y="3922776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7" name="Text 25"/>
          <p:cNvSpPr/>
          <p:nvPr/>
        </p:nvSpPr>
        <p:spPr>
          <a:xfrm>
            <a:off x="4969764" y="3840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「会話はTeams、記録はNotion」を徹底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32020" y="4471416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9" name="Text 27"/>
          <p:cNvSpPr/>
          <p:nvPr/>
        </p:nvSpPr>
        <p:spPr>
          <a:xfrm>
            <a:off x="4969764" y="4389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SharePointは当面そのまま併存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11896" y="1591056"/>
            <a:ext cx="3529584" cy="4114800"/>
          </a:xfrm>
          <a:prstGeom prst="roundRect">
            <a:avLst>
              <a:gd name="adj" fmla="val 1554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586216" y="1810512"/>
            <a:ext cx="402336" cy="402336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32" name="Text 30"/>
          <p:cNvSpPr/>
          <p:nvPr/>
        </p:nvSpPr>
        <p:spPr>
          <a:xfrm>
            <a:off x="8586216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098280" y="1792224"/>
            <a:ext cx="2523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586216" y="2322576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親会社の基準を満たせない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86216" y="29809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604504" y="3374136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7" name="Text 35"/>
          <p:cNvSpPr/>
          <p:nvPr/>
        </p:nvSpPr>
        <p:spPr>
          <a:xfrm>
            <a:off x="8842248" y="329184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SOC 2 Type II・ISO 27001 等を取得済み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604504" y="3922776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9" name="Text 37"/>
          <p:cNvSpPr/>
          <p:nvPr/>
        </p:nvSpPr>
        <p:spPr>
          <a:xfrm>
            <a:off x="8842248" y="3840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SAML SSOでMicrosoft 365と統合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604504" y="4471416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41" name="Text 39"/>
          <p:cNvSpPr/>
          <p:nvPr/>
        </p:nvSpPr>
        <p:spPr>
          <a:xfrm>
            <a:off x="8842248" y="4389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機微情報は置かない運用とする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604504" y="5020056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43" name="Text 41"/>
          <p:cNvSpPr/>
          <p:nvPr/>
        </p:nvSpPr>
        <p:spPr>
          <a:xfrm>
            <a:off x="8842248" y="49377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詳細は別添にて説明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ライセンスは全社、業務の移行は段階的に行います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2688336" cy="2615184"/>
          </a:xfrm>
          <a:prstGeom prst="roundRect">
            <a:avLst>
              <a:gd name="adj" fmla="val 209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90195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0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22494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承認後すぐ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633472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情シスへの申請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セキュリティ審査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10128" y="2871216"/>
            <a:ext cx="155448" cy="201168"/>
          </a:xfrm>
          <a:prstGeom prst="rightArrow">
            <a:avLst/>
          </a:prstGeom>
          <a:solidFill>
            <a:srgbClr val="D5DCE6"/>
          </a:solidFill>
          <a:ln/>
        </p:spPr>
      </p:sp>
      <p:sp>
        <p:nvSpPr>
          <p:cNvPr id="9" name="Shape 7"/>
          <p:cNvSpPr/>
          <p:nvPr/>
        </p:nvSpPr>
        <p:spPr>
          <a:xfrm>
            <a:off x="3520440" y="1700784"/>
            <a:ext cx="2688336" cy="2615184"/>
          </a:xfrm>
          <a:prstGeom prst="roundRect">
            <a:avLst>
              <a:gd name="adj" fmla="val 209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758184" y="190195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58184" y="22494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審査通過後 1〜2か月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58184" y="2633472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会議運用から開始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アジェンダ・議事録の標準化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58184" y="3712464"/>
            <a:ext cx="1060704" cy="310896"/>
          </a:xfrm>
          <a:prstGeom prst="roundRect">
            <a:avLst>
              <a:gd name="adj" fmla="val 14706"/>
            </a:avLst>
          </a:prstGeom>
          <a:solidFill>
            <a:srgbClr val="1F7A6C"/>
          </a:solidFill>
          <a:ln/>
        </p:spPr>
      </p:sp>
      <p:sp>
        <p:nvSpPr>
          <p:cNvPr id="14" name="Text 12"/>
          <p:cNvSpPr/>
          <p:nvPr/>
        </p:nvSpPr>
        <p:spPr>
          <a:xfrm>
            <a:off x="3758184" y="3712464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課題B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63640" y="2871216"/>
            <a:ext cx="155448" cy="201168"/>
          </a:xfrm>
          <a:prstGeom prst="rightArrow">
            <a:avLst/>
          </a:prstGeom>
          <a:solidFill>
            <a:srgbClr val="D5DCE6"/>
          </a:solidFill>
          <a:ln/>
        </p:spPr>
      </p:sp>
      <p:sp>
        <p:nvSpPr>
          <p:cNvPr id="16" name="Shape 14"/>
          <p:cNvSpPr/>
          <p:nvPr/>
        </p:nvSpPr>
        <p:spPr>
          <a:xfrm>
            <a:off x="6473952" y="1700784"/>
            <a:ext cx="2688336" cy="2615184"/>
          </a:xfrm>
          <a:prstGeom prst="roundRect">
            <a:avLst>
              <a:gd name="adj" fmla="val 209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11696" y="190195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711696" y="22494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3〜4か月目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711696" y="2633472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案件管理を1部門で先行運用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テンプレートを実案件で検証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11696" y="3712464"/>
            <a:ext cx="1060704" cy="310896"/>
          </a:xfrm>
          <a:prstGeom prst="roundRect">
            <a:avLst>
              <a:gd name="adj" fmla="val 14706"/>
            </a:avLst>
          </a:prstGeom>
          <a:solidFill>
            <a:srgbClr val="2C5F8D"/>
          </a:solidFill>
          <a:ln/>
        </p:spPr>
      </p:sp>
      <p:sp>
        <p:nvSpPr>
          <p:cNvPr id="21" name="Text 19"/>
          <p:cNvSpPr/>
          <p:nvPr/>
        </p:nvSpPr>
        <p:spPr>
          <a:xfrm>
            <a:off x="6711696" y="3712464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217152" y="2871216"/>
            <a:ext cx="155448" cy="201168"/>
          </a:xfrm>
          <a:prstGeom prst="rightArrow">
            <a:avLst/>
          </a:prstGeom>
          <a:solidFill>
            <a:srgbClr val="D5DCE6"/>
          </a:solidFill>
          <a:ln/>
        </p:spPr>
      </p:sp>
      <p:sp>
        <p:nvSpPr>
          <p:cNvPr id="23" name="Shape 21"/>
          <p:cNvSpPr/>
          <p:nvPr/>
        </p:nvSpPr>
        <p:spPr>
          <a:xfrm>
            <a:off x="9427464" y="1700784"/>
            <a:ext cx="2688336" cy="2615184"/>
          </a:xfrm>
          <a:prstGeom prst="roundRect">
            <a:avLst>
              <a:gd name="adj" fmla="val 209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65208" y="190195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65208" y="22494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5か月目以降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65208" y="2633472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全案件へ展開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PMOの横断ビュー稼働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665208" y="3712464"/>
            <a:ext cx="1060704" cy="310896"/>
          </a:xfrm>
          <a:prstGeom prst="roundRect">
            <a:avLst>
              <a:gd name="adj" fmla="val 14706"/>
            </a:avLst>
          </a:prstGeom>
          <a:solidFill>
            <a:srgbClr val="2C5F8D"/>
          </a:solidFill>
          <a:ln/>
        </p:spPr>
      </p:sp>
      <p:sp>
        <p:nvSpPr>
          <p:cNvPr id="28" name="Text 26"/>
          <p:cNvSpPr/>
          <p:nvPr/>
        </p:nvSpPr>
        <p:spPr>
          <a:xfrm>
            <a:off x="9665208" y="3712464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課題A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572000"/>
            <a:ext cx="5532120" cy="1243584"/>
          </a:xfrm>
          <a:prstGeom prst="roundRect">
            <a:avLst>
              <a:gd name="adj" fmla="val 4412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77824" y="47000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なぜ会議運用から始めるのか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77824" y="4992624"/>
            <a:ext cx="4937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習得が容易で全社員が即日使え、効果が早く見える。操作に慣れた状態で案件管理に進むほうが定着率が高い。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19088" y="4572000"/>
            <a:ext cx="5440680" cy="1243584"/>
          </a:xfrm>
          <a:prstGeom prst="roundRect">
            <a:avLst>
              <a:gd name="adj" fmla="val 4412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729984" y="47000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なぜライセンスは全社なのか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729984" y="4992624"/>
            <a:ext cx="4846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案件は部門をまたいで進むため、一部の部署だけでは外側とチャット連絡が残り、二重管理が生まれる。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対象範囲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今回のスコープ ― やること／やらないこと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6093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今回ご承認いただきたい範囲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938528"/>
            <a:ext cx="4480560" cy="786384"/>
          </a:xfrm>
          <a:prstGeom prst="roundRect">
            <a:avLst>
              <a:gd name="adj" fmla="val 6977"/>
            </a:avLst>
          </a:prstGeom>
          <a:solidFill>
            <a:srgbClr val="2C5F8D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　案件管理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66928" y="2834640"/>
            <a:ext cx="4480560" cy="786384"/>
          </a:xfrm>
          <a:prstGeom prst="roundRect">
            <a:avLst>
              <a:gd name="adj" fmla="val 6977"/>
            </a:avLst>
          </a:prstGeom>
          <a:solidFill>
            <a:srgbClr val="1F7A6C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77824" y="283464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　議事録・会議運営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66928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87568" y="1609344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今回は対象に含めないもの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87568" y="1938528"/>
            <a:ext cx="6172200" cy="1682496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98464" y="2157984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　研修資料・ナレッジの保管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98464" y="2615184"/>
            <a:ext cx="5577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SharePointでの管理方法（ドキュメントセット化・タグ運用）を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別途検討中です。本提案とは切り離して進めます。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87568" y="374904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やらないこと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42245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なぜ範囲を絞るのか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3529584" cy="1261872"/>
          </a:xfrm>
          <a:prstGeom prst="roundRect">
            <a:avLst>
              <a:gd name="adj" fmla="val 434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46817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撤退可能性の確保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502920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思うような成果が得られなかった場合に、やめられる状態を保つ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39412" y="4553712"/>
            <a:ext cx="3529584" cy="1261872"/>
          </a:xfrm>
          <a:prstGeom prst="roundRect">
            <a:avLst>
              <a:gd name="adj" fmla="val 434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95444" y="46817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進行中の検討と干渉しない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95444" y="502920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資料保管のルールは別軸で検討中。今回の判断がそちらを縛らないようにする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11896" y="4553712"/>
            <a:ext cx="3529584" cy="1261872"/>
          </a:xfrm>
          <a:prstGeom prst="roundRect">
            <a:avLst>
              <a:gd name="adj" fmla="val 434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67928" y="46817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効果検証の明確化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67928" y="502920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範囲が狭いほど、効果が出たかどうかを判定しやすい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成功指標と撤退基準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効果が出なければ、1年で見直します</a:t>
            </a:r>
            <a:endParaRPr lang="en-US" sz="27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9105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5486400"/>
                <a:gridCol w="2377440"/>
                <a:gridCol w="270662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現状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案件の期日遵守率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未計測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計測開始 → ◯%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案件情報がNotionに登録されている割合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95% 以上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1人あたり週の会議時間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実測中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▲◯%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議事録が残っている会議の割合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実測中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90% 以上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16966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24128" y="435254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撤退基準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24128" y="4700016"/>
            <a:ext cx="10143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導入12か月後、上記KPIが未達の場合は翌年度の契約更新を見送ります。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24128" y="5102352"/>
            <a:ext cx="101434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対象範囲を①案件管理・②議事録に限定しているため、撤退時の影響は限定的です。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66928" y="576072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測定時期：導入6か月後（中間）／12か月後（判定）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4572000"/>
            <a:ext cx="3108960" cy="3108960"/>
          </a:xfrm>
          <a:prstGeom prst="ellipse">
            <a:avLst/>
          </a:prstGeom>
          <a:solidFill>
            <a:srgbClr val="2C5F8D">
              <a:alpha val="3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65836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改めて、お願いする3点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57839" cy="896112"/>
          </a:xfrm>
          <a:prstGeom prst="roundRect">
            <a:avLst>
              <a:gd name="adj" fmla="val 6122"/>
            </a:avLst>
          </a:prstGeom>
          <a:solidFill>
            <a:srgbClr val="24365C"/>
          </a:solidFill>
          <a:ln/>
        </p:spPr>
      </p:sp>
      <p:sp>
        <p:nvSpPr>
          <p:cNvPr id="5" name="Shape 3"/>
          <p:cNvSpPr/>
          <p:nvPr/>
        </p:nvSpPr>
        <p:spPr>
          <a:xfrm>
            <a:off x="877824" y="178308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91056" y="1572768"/>
            <a:ext cx="968623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全社（140名）へのNotion導入のご承認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6928" y="2615184"/>
            <a:ext cx="11057839" cy="896112"/>
          </a:xfrm>
          <a:prstGeom prst="roundRect">
            <a:avLst>
              <a:gd name="adj" fmla="val 6122"/>
            </a:avLst>
          </a:prstGeom>
          <a:solidFill>
            <a:srgbClr val="24365C"/>
          </a:solidFill>
          <a:ln/>
        </p:spPr>
      </p:sp>
      <p:sp>
        <p:nvSpPr>
          <p:cNvPr id="9" name="Shape 7"/>
          <p:cNvSpPr/>
          <p:nvPr/>
        </p:nvSpPr>
        <p:spPr>
          <a:xfrm>
            <a:off x="877824" y="2825496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2825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91056" y="2615184"/>
            <a:ext cx="968623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年間費用 529.2万円（税別）のご承認（Business・年払い）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657600"/>
            <a:ext cx="11057839" cy="896112"/>
          </a:xfrm>
          <a:prstGeom prst="roundRect">
            <a:avLst>
              <a:gd name="adj" fmla="val 6122"/>
            </a:avLst>
          </a:prstGeom>
          <a:solidFill>
            <a:srgbClr val="24365C"/>
          </a:solidFill>
          <a:ln/>
        </p:spPr>
      </p:sp>
      <p:sp>
        <p:nvSpPr>
          <p:cNvPr id="13" name="Shape 11"/>
          <p:cNvSpPr/>
          <p:nvPr/>
        </p:nvSpPr>
        <p:spPr>
          <a:xfrm>
            <a:off x="877824" y="3867912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3867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91056" y="3657600"/>
            <a:ext cx="968623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ホールディングスへの導入申請着手のご許可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66928" y="484632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承認後ただちに着手すること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" y="5285232"/>
            <a:ext cx="118872" cy="118872"/>
          </a:xfrm>
          <a:prstGeom prst="ellipse">
            <a:avLst/>
          </a:prstGeom>
          <a:solidFill>
            <a:srgbClr val="8FA0BC"/>
          </a:solidFill>
          <a:ln/>
        </p:spPr>
      </p:sp>
      <p:sp>
        <p:nvSpPr>
          <p:cNvPr id="18" name="Text 16"/>
          <p:cNvSpPr/>
          <p:nvPr/>
        </p:nvSpPr>
        <p:spPr>
          <a:xfrm>
            <a:off x="877824" y="519379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情シスへのセキュリティ要件のヒアリング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03504" y="5650992"/>
            <a:ext cx="118872" cy="118872"/>
          </a:xfrm>
          <a:prstGeom prst="ellipse">
            <a:avLst/>
          </a:prstGeom>
          <a:solidFill>
            <a:srgbClr val="8FA0BC"/>
          </a:solidFill>
          <a:ln/>
        </p:spPr>
      </p:sp>
      <p:sp>
        <p:nvSpPr>
          <p:cNvPr id="20" name="Text 18"/>
          <p:cNvSpPr/>
          <p:nvPr/>
        </p:nvSpPr>
        <p:spPr>
          <a:xfrm>
            <a:off x="877824" y="55595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ホールディングスへの申請書類の作成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03504" y="6016752"/>
            <a:ext cx="118872" cy="118872"/>
          </a:xfrm>
          <a:prstGeom prst="ellipse">
            <a:avLst/>
          </a:prstGeom>
          <a:solidFill>
            <a:srgbClr val="8FA0BC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592531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テンプレート設計とPMO運用ルールの策定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案件管理と会議運営の標準化</dc:title>
  <dc:subject>PptxGenJS Presentation</dc:subject>
  <dc:creator>人事組織</dc:creator>
  <cp:lastModifiedBy>人事組織</cp:lastModifiedBy>
  <cp:revision>1</cp:revision>
  <dcterms:created xsi:type="dcterms:W3CDTF">2026-08-20T01:59:01Z</dcterms:created>
  <dcterms:modified xsi:type="dcterms:W3CDTF">2026-08-20T01:59:01Z</dcterms:modified>
</cp:coreProperties>
</file>