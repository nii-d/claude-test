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THDへの説明は仲川。実物デモを併用する。本日ご承認いただきたいのは、①②に限定した正式導入・Businessプラン契約・コスト上限の3点。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冒頭30秒で全体像を示す。THDが最初に気にするセキュリティを4番目に置き、この後の第6章で詳述することを予告する。金額は上限としての提示であり、実際の調達は実人数でTrue-upする旨を口頭で補足。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この章では課題に踏み込まず、再建フェーズという前提だけを共有する。実行管理の巧拙が業績に直結するという一点に絞る。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会議の質や進め方の話はここでは触れない（第7章で別軸として扱う）。この章は「器が無い」という一点に絞る。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要件を先に固定することが重要。ツールありきに見せないため、この章では製品名を出さない。SSO・権限は深追いせず第6章に送る。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コストをかけない＝安全ではなく、統制されていない無料利用こそが危険、という逆転の論法。コストを払う理由をガバナンス側から正当化し、第6章への橋渡しにする。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THDが必ず問う最大の論点。「機能が足りない」ではなく「組み合わせること自体が課題の再生産」という論理で消す。Copilotについて聞かれたらAppendix Bを参照。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ここで実物デモに切り替える（仲川）。イシューマップから案件を1件開き、紐づく議事録とタスクに数クリックで到達するところを見せるのが最も効果的。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効果KPIとして「案件進捗の可視化率」「議事録への到達時間」を第7章で設定する旨をここで予告してもよい。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この枚の目的は、情シスが自分で一次資料を引ける状態にしておくこと。認証名を読み上げるのではなく、Trust Centerで確認できる旨を伝えるだけでよい。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要件を先に確定させてから金額の話に進む。監査ログが必須かどうかでプランが変わるため、この場で確認を取りたい旨を伝える。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この資料で最も重要な1枚。Plusを選ばない理由の唯一の論拠。SSOの目的は利便性ではなく、退職者による情報持ち出しを会社として確実に防ぐこと、と言い切る。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稟議トーク：「当社ではすでに全社のID認証基盤としてMicrosoft 365（Entra ID）を導入・運用しております。NotionはBusinessプラン以上のSAML SSO機能でEntra IDと認証を統合します。これにより社員のパスワード管理リスクを排除し、M365の多要素認証や端末制限ポリシーをNotionにも強制適用できます。退職時にもM365アカウントの無効化と同時にNotionへのアクセスが即座に遮断されます。Plusではこの組織統制ができないため、Businessプランでの導入を提案します。」弱点を先に自己申告することで、質疑での信頼を確保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口頭補足：「これは単なるツールの使い方ではなく、経営が全社の働き方としてこうなってほしいと考えている姿です。会議の目的を先に決めて共有し、決まったことが確実に現場まで届く状態を作りたい。その受け皿としてこの基盤が必要になります。」承認対象ではないことを明示し、次の7-2で軸を戻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撤退基準を先に定義していることが、承認する側にとって最も安心材料になる。①②に限定しているからこそ、やめられるという点を強調する。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この場で②監査ログの要否について回答をいただけると、プランとコストが確定する。①の様式については持ち帰り確認でも構わない旨を伝える。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この表は質疑があった場合にのみ開く。通常は本編4-1で足りる。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下3問は情報システム部門が同席された場合を想定した追加分。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の一言：「SSOを導入する最大の理由は、社員のログインを便利にするためだけでなく、退職者による情報持ち出しや不正アクセスを会社として確実に防ぐためです。全社員が社内マニュアルや業務データを扱うツールだからこそ、安全に統制できるBusinessプランでの導入が必要と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この権限制約は実際に運用を始めてから発覚すると手戻りが大きい。テンプレート整備の段階で構成を固定しておく。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822960" y="1417320"/>
            <a:ext cx="2468880" cy="384048"/>
          </a:xfrm>
          <a:prstGeom prst="roundRect">
            <a:avLst>
              <a:gd name="adj" fmla="val 16667"/>
            </a:avLst>
          </a:prstGeom>
          <a:solidFill>
            <a:srgbClr val="3A4A8F"/>
          </a:solidFill>
          <a:ln w="12700">
            <a:solidFill>
              <a:srgbClr val="3A4A8F"/>
            </a:solidFill>
            <a:prstDash val="solid"/>
          </a:ln>
        </p:spPr>
      </p:sp>
      <p:sp>
        <p:nvSpPr>
          <p:cNvPr id="3" name="Text 1"/>
          <p:cNvSpPr/>
          <p:nvPr/>
        </p:nvSpPr>
        <p:spPr>
          <a:xfrm>
            <a:off x="822960" y="1417320"/>
            <a:ext cx="2468880" cy="384048"/>
          </a:xfrm>
          <a:prstGeom prst="rect">
            <a:avLst/>
          </a:prstGeom>
          <a:noFill/>
          <a:ln/>
        </p:spPr>
        <p:txBody>
          <a:bodyPr wrap="square" lIns="0" tIns="0" rIns="0" bIns="0" rtlCol="0" anchor="ctr"/>
          <a:lstStyle/>
          <a:p>
            <a:pPr algn="ctr" indent="0" marL="0">
              <a:buNone/>
            </a:pPr>
            <a:r>
              <a:rPr lang="en-US" sz="1200" b="1" dirty="0">
                <a:solidFill>
                  <a:srgbClr val="CADCFC"/>
                </a:solidFill>
                <a:latin typeface="Meiryo" pitchFamily="34" charset="0"/>
                <a:ea typeface="Meiryo" pitchFamily="34" charset="-122"/>
                <a:cs typeface="Meiryo" pitchFamily="34" charset="-120"/>
              </a:rPr>
              <a:t>THD ご説明資料</a:t>
            </a:r>
            <a:endParaRPr lang="en-US" sz="1200" dirty="0"/>
          </a:p>
        </p:txBody>
      </p:sp>
      <p:sp>
        <p:nvSpPr>
          <p:cNvPr id="4" name="Text 2"/>
          <p:cNvSpPr/>
          <p:nvPr/>
        </p:nvSpPr>
        <p:spPr>
          <a:xfrm>
            <a:off x="822960" y="2057400"/>
            <a:ext cx="10515600" cy="777240"/>
          </a:xfrm>
          <a:prstGeom prst="rect">
            <a:avLst/>
          </a:prstGeom>
          <a:noFill/>
          <a:ln/>
        </p:spPr>
        <p:txBody>
          <a:bodyPr wrap="square" lIns="0" tIns="0" rIns="0" bIns="0" rtlCol="0" anchor="ctr"/>
          <a:lstStyle/>
          <a:p>
            <a:pPr indent="0" marL="0">
              <a:buNone/>
            </a:pPr>
            <a:r>
              <a:rPr lang="en-US" sz="3800" b="1" dirty="0">
                <a:solidFill>
                  <a:srgbClr val="FFFFFF"/>
                </a:solidFill>
                <a:latin typeface="Meiryo" pitchFamily="34" charset="0"/>
                <a:ea typeface="Meiryo" pitchFamily="34" charset="-122"/>
                <a:cs typeface="Meiryo" pitchFamily="34" charset="-120"/>
              </a:rPr>
              <a:t>実行管理の仕組みの新規立ち上げ</a:t>
            </a:r>
            <a:endParaRPr lang="en-US" sz="3800" dirty="0"/>
          </a:p>
        </p:txBody>
      </p:sp>
      <p:sp>
        <p:nvSpPr>
          <p:cNvPr id="5" name="Text 3"/>
          <p:cNvSpPr/>
          <p:nvPr/>
        </p:nvSpPr>
        <p:spPr>
          <a:xfrm>
            <a:off x="822960" y="2880360"/>
            <a:ext cx="10515600" cy="457200"/>
          </a:xfrm>
          <a:prstGeom prst="rect">
            <a:avLst/>
          </a:prstGeom>
          <a:noFill/>
          <a:ln/>
        </p:spPr>
        <p:txBody>
          <a:bodyPr wrap="square" lIns="0" tIns="0" rIns="0" bIns="0" rtlCol="0" anchor="ctr"/>
          <a:lstStyle/>
          <a:p>
            <a:pPr indent="0" marL="0">
              <a:buNone/>
            </a:pPr>
            <a:r>
              <a:rPr lang="en-US" sz="1700" dirty="0">
                <a:solidFill>
                  <a:srgbClr val="CADCFC"/>
                </a:solidFill>
                <a:latin typeface="Meiryo" pitchFamily="34" charset="0"/>
                <a:ea typeface="Meiryo" pitchFamily="34" charset="-122"/>
                <a:cs typeface="Meiryo" pitchFamily="34" charset="-120"/>
              </a:rPr>
              <a:t>案件管理と議事録を1か所に — Notion の正式導入について</a:t>
            </a:r>
            <a:endParaRPr lang="en-US" sz="1700" dirty="0"/>
          </a:p>
        </p:txBody>
      </p:sp>
      <p:sp>
        <p:nvSpPr>
          <p:cNvPr id="6" name="Shape 4"/>
          <p:cNvSpPr/>
          <p:nvPr/>
        </p:nvSpPr>
        <p:spPr>
          <a:xfrm>
            <a:off x="841248" y="3611880"/>
            <a:ext cx="3108960" cy="18288"/>
          </a:xfrm>
          <a:prstGeom prst="rect">
            <a:avLst/>
          </a:prstGeom>
          <a:solidFill>
            <a:srgbClr val="3A4A8F"/>
          </a:solidFill>
          <a:ln w="12700">
            <a:solidFill>
              <a:srgbClr val="3A4A8F"/>
            </a:solidFill>
            <a:prstDash val="solid"/>
          </a:ln>
        </p:spPr>
      </p:sp>
      <p:sp>
        <p:nvSpPr>
          <p:cNvPr id="7" name="Text 5"/>
          <p:cNvSpPr/>
          <p:nvPr/>
        </p:nvSpPr>
        <p:spPr>
          <a:xfrm>
            <a:off x="822960" y="3886200"/>
            <a:ext cx="6858000" cy="1188720"/>
          </a:xfrm>
          <a:prstGeom prst="rect">
            <a:avLst/>
          </a:prstGeom>
          <a:noFill/>
          <a:ln/>
        </p:spPr>
        <p:txBody>
          <a:bodyPr wrap="square" lIns="0" tIns="0" rIns="0" bIns="0" rtlCol="0" anchor="ctr"/>
          <a:lstStyle/>
          <a:p>
            <a:pPr indent="0" marL="0">
              <a:lnSpc>
                <a:spcPts val="2400"/>
              </a:lnSpc>
              <a:buNone/>
            </a:pPr>
            <a:r>
              <a:rPr lang="en-US" sz="1300" b="1" dirty="0">
                <a:solidFill>
                  <a:srgbClr val="FFFFFF"/>
                </a:solidFill>
                <a:latin typeface="Meiryo" pitchFamily="34" charset="0"/>
                <a:ea typeface="Meiryo" pitchFamily="34" charset="-122"/>
                <a:cs typeface="Meiryo" pitchFamily="34" charset="-120"/>
              </a:rPr>
              <a:t>対象範囲　①案件管理　②議事録</a:t>
            </a:r>
            <a:endParaRPr lang="en-US" sz="1300" dirty="0"/>
          </a:p>
          <a:p>
            <a:pPr indent="0" marL="0">
              <a:lnSpc>
                <a:spcPts val="2400"/>
              </a:lnSpc>
              <a:buNone/>
            </a:pPr>
            <a:r>
              <a:rPr lang="en-US" sz="1300" b="1" dirty="0">
                <a:solidFill>
                  <a:srgbClr val="FFFFFF"/>
                </a:solidFill>
                <a:latin typeface="Meiryo" pitchFamily="34" charset="0"/>
                <a:ea typeface="Meiryo" pitchFamily="34" charset="-122"/>
                <a:cs typeface="Meiryo" pitchFamily="34" charset="-120"/>
              </a:rPr>
              <a:t>対象人数　140名（Phase2 着地見込）</a:t>
            </a:r>
            <a:endParaRPr lang="en-US" sz="1300" dirty="0"/>
          </a:p>
          <a:p>
            <a:pPr indent="0" marL="0">
              <a:lnSpc>
                <a:spcPts val="2400"/>
              </a:lnSpc>
              <a:buNone/>
            </a:pPr>
            <a:r>
              <a:rPr lang="en-US" sz="1300" b="1" dirty="0">
                <a:solidFill>
                  <a:srgbClr val="FFFFFF"/>
                </a:solidFill>
                <a:latin typeface="Meiryo" pitchFamily="34" charset="0"/>
                <a:ea typeface="Meiryo" pitchFamily="34" charset="-122"/>
                <a:cs typeface="Meiryo" pitchFamily="34" charset="-120"/>
              </a:rPr>
              <a:t>契約プラン　Notion Business（SAML SSO 対応）</a:t>
            </a:r>
            <a:endParaRPr lang="en-US" sz="1300" dirty="0"/>
          </a:p>
        </p:txBody>
      </p:sp>
      <p:sp>
        <p:nvSpPr>
          <p:cNvPr id="8" name="Text 6"/>
          <p:cNvSpPr/>
          <p:nvPr/>
        </p:nvSpPr>
        <p:spPr>
          <a:xfrm>
            <a:off x="822960" y="5943600"/>
            <a:ext cx="5486400" cy="320040"/>
          </a:xfrm>
          <a:prstGeom prst="rect">
            <a:avLst/>
          </a:prstGeom>
          <a:noFill/>
          <a:ln/>
        </p:spPr>
        <p:txBody>
          <a:bodyPr wrap="square" lIns="0" tIns="0" rIns="0" bIns="0" rtlCol="0" anchor="ctr"/>
          <a:lstStyle/>
          <a:p>
            <a:pPr indent="0" marL="0">
              <a:buNone/>
            </a:pPr>
            <a:r>
              <a:rPr lang="en-US" sz="1200" dirty="0">
                <a:solidFill>
                  <a:srgbClr val="6B7280"/>
                </a:solidFill>
                <a:latin typeface="Meiryo" pitchFamily="34" charset="0"/>
                <a:ea typeface="Meiryo" pitchFamily="34" charset="-122"/>
                <a:cs typeface="Meiryo" pitchFamily="34" charset="-120"/>
              </a:rPr>
              <a:t>株式会社PCA　2026年8月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ctr"/>
          <a:lstStyle/>
          <a:p>
            <a:pPr indent="0" marL="0">
              <a:buNone/>
            </a:pPr>
            <a:r>
              <a:rPr lang="en-US" sz="3000" b="1" dirty="0">
                <a:solidFill>
                  <a:srgbClr val="1E2761"/>
                </a:solidFill>
                <a:latin typeface="Meiryo" pitchFamily="34" charset="0"/>
                <a:ea typeface="Meiryo" pitchFamily="34" charset="-122"/>
                <a:cs typeface="Meiryo" pitchFamily="34" charset="-120"/>
              </a:rPr>
              <a:t>本日のご説明</a:t>
            </a:r>
            <a:endParaRPr lang="en-US" sz="3000" dirty="0"/>
          </a:p>
        </p:txBody>
      </p:sp>
      <p:sp>
        <p:nvSpPr>
          <p:cNvPr id="3" name="Text 1"/>
          <p:cNvSpPr/>
          <p:nvPr/>
        </p:nvSpPr>
        <p:spPr>
          <a:xfrm>
            <a:off x="548640" y="1143000"/>
            <a:ext cx="11094415" cy="365760"/>
          </a:xfrm>
          <a:prstGeom prst="rect">
            <a:avLst/>
          </a:prstGeom>
          <a:noFill/>
          <a:ln/>
        </p:spPr>
        <p:txBody>
          <a:bodyPr wrap="square" lIns="0" tIns="0" rIns="0" bIns="0" rtlCol="0" anchor="ctr"/>
          <a:lstStyle/>
          <a:p>
            <a:pPr indent="0" marL="0">
              <a:buNone/>
            </a:pPr>
            <a:r>
              <a:rPr lang="en-US" sz="1300" dirty="0">
                <a:solidFill>
                  <a:srgbClr val="6B7280"/>
                </a:solidFill>
                <a:latin typeface="Meiryo" pitchFamily="34" charset="0"/>
                <a:ea typeface="Meiryo" pitchFamily="34" charset="-122"/>
                <a:cs typeface="Meiryo" pitchFamily="34" charset="-120"/>
              </a:rPr>
              <a:t>背景 → 課題 → 要件 → 選定 → 実証 → セキュリティ → 計画 → お願い の順にご説明します</a:t>
            </a:r>
            <a:endParaRPr lang="en-US" sz="1300" dirty="0"/>
          </a:p>
        </p:txBody>
      </p:sp>
      <p:sp>
        <p:nvSpPr>
          <p:cNvPr id="4" name="Shape 2"/>
          <p:cNvSpPr/>
          <p:nvPr/>
        </p:nvSpPr>
        <p:spPr>
          <a:xfrm>
            <a:off x="548640" y="169164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5" name="Shape 3"/>
          <p:cNvSpPr/>
          <p:nvPr/>
        </p:nvSpPr>
        <p:spPr>
          <a:xfrm>
            <a:off x="667512" y="1783080"/>
            <a:ext cx="384048" cy="292608"/>
          </a:xfrm>
          <a:prstGeom prst="roundRect">
            <a:avLst>
              <a:gd name="adj" fmla="val 15625"/>
            </a:avLst>
          </a:prstGeom>
          <a:solidFill>
            <a:srgbClr val="1E2761"/>
          </a:solidFill>
          <a:ln w="12700">
            <a:solidFill>
              <a:srgbClr val="1E2761"/>
            </a:solidFill>
            <a:prstDash val="solid"/>
          </a:ln>
        </p:spPr>
      </p:sp>
      <p:sp>
        <p:nvSpPr>
          <p:cNvPr id="6" name="Text 4"/>
          <p:cNvSpPr/>
          <p:nvPr/>
        </p:nvSpPr>
        <p:spPr>
          <a:xfrm>
            <a:off x="667512" y="178308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序</a:t>
            </a:r>
            <a:endParaRPr lang="en-US" sz="1000" dirty="0"/>
          </a:p>
        </p:txBody>
      </p:sp>
      <p:sp>
        <p:nvSpPr>
          <p:cNvPr id="7" name="Text 5"/>
          <p:cNvSpPr/>
          <p:nvPr/>
        </p:nvSpPr>
        <p:spPr>
          <a:xfrm>
            <a:off x="1170432" y="169164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30秒サマリー　</a:t>
            </a:r>
            <a:pPr indent="0" marL="0">
              <a:buNone/>
            </a:pPr>
            <a:r>
              <a:rPr lang="en-US" sz="1000" dirty="0">
                <a:solidFill>
                  <a:srgbClr val="6B7280"/>
                </a:solidFill>
                <a:latin typeface="Meiryo" pitchFamily="34" charset="0"/>
                <a:ea typeface="Meiryo" pitchFamily="34" charset="-122"/>
                <a:cs typeface="Meiryo" pitchFamily="34" charset="-120"/>
              </a:rPr>
              <a:t>本日のご依頼事項</a:t>
            </a:r>
            <a:endParaRPr lang="en-US" sz="1200" dirty="0"/>
          </a:p>
        </p:txBody>
      </p:sp>
      <p:sp>
        <p:nvSpPr>
          <p:cNvPr id="8" name="Shape 6"/>
          <p:cNvSpPr/>
          <p:nvPr/>
        </p:nvSpPr>
        <p:spPr>
          <a:xfrm>
            <a:off x="548640" y="228600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Shape 7"/>
          <p:cNvSpPr/>
          <p:nvPr/>
        </p:nvSpPr>
        <p:spPr>
          <a:xfrm>
            <a:off x="667512" y="2377440"/>
            <a:ext cx="384048" cy="292608"/>
          </a:xfrm>
          <a:prstGeom prst="roundRect">
            <a:avLst>
              <a:gd name="adj" fmla="val 15625"/>
            </a:avLst>
          </a:prstGeom>
          <a:solidFill>
            <a:srgbClr val="1E2761"/>
          </a:solidFill>
          <a:ln w="12700">
            <a:solidFill>
              <a:srgbClr val="1E2761"/>
            </a:solidFill>
            <a:prstDash val="solid"/>
          </a:ln>
        </p:spPr>
      </p:sp>
      <p:sp>
        <p:nvSpPr>
          <p:cNvPr id="10" name="Text 8"/>
          <p:cNvSpPr/>
          <p:nvPr/>
        </p:nvSpPr>
        <p:spPr>
          <a:xfrm>
            <a:off x="667512" y="237744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11" name="Text 9"/>
          <p:cNvSpPr/>
          <p:nvPr/>
        </p:nvSpPr>
        <p:spPr>
          <a:xfrm>
            <a:off x="1170432" y="228600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背景　</a:t>
            </a:r>
            <a:pPr indent="0" marL="0">
              <a:buNone/>
            </a:pPr>
            <a:r>
              <a:rPr lang="en-US" sz="1000" dirty="0">
                <a:solidFill>
                  <a:srgbClr val="6B7280"/>
                </a:solidFill>
                <a:latin typeface="Meiryo" pitchFamily="34" charset="0"/>
                <a:ea typeface="Meiryo" pitchFamily="34" charset="-122"/>
                <a:cs typeface="Meiryo" pitchFamily="34" charset="-120"/>
              </a:rPr>
              <a:t>PCAは再建の実行フェーズにある</a:t>
            </a:r>
            <a:endParaRPr lang="en-US" sz="1200" dirty="0"/>
          </a:p>
        </p:txBody>
      </p:sp>
      <p:sp>
        <p:nvSpPr>
          <p:cNvPr id="12" name="Shape 10"/>
          <p:cNvSpPr/>
          <p:nvPr/>
        </p:nvSpPr>
        <p:spPr>
          <a:xfrm>
            <a:off x="548640" y="288036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3" name="Shape 11"/>
          <p:cNvSpPr/>
          <p:nvPr/>
        </p:nvSpPr>
        <p:spPr>
          <a:xfrm>
            <a:off x="667512" y="2971800"/>
            <a:ext cx="384048" cy="292608"/>
          </a:xfrm>
          <a:prstGeom prst="roundRect">
            <a:avLst>
              <a:gd name="adj" fmla="val 15625"/>
            </a:avLst>
          </a:prstGeom>
          <a:solidFill>
            <a:srgbClr val="1E2761"/>
          </a:solidFill>
          <a:ln w="12700">
            <a:solidFill>
              <a:srgbClr val="1E2761"/>
            </a:solidFill>
            <a:prstDash val="solid"/>
          </a:ln>
        </p:spPr>
      </p:sp>
      <p:sp>
        <p:nvSpPr>
          <p:cNvPr id="14" name="Text 12"/>
          <p:cNvSpPr/>
          <p:nvPr/>
        </p:nvSpPr>
        <p:spPr>
          <a:xfrm>
            <a:off x="667512" y="297180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15" name="Text 13"/>
          <p:cNvSpPr/>
          <p:nvPr/>
        </p:nvSpPr>
        <p:spPr>
          <a:xfrm>
            <a:off x="1170432" y="288036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課題　</a:t>
            </a:r>
            <a:pPr indent="0" marL="0">
              <a:buNone/>
            </a:pPr>
            <a:r>
              <a:rPr lang="en-US" sz="1000" dirty="0">
                <a:solidFill>
                  <a:srgbClr val="6B7280"/>
                </a:solidFill>
                <a:latin typeface="Meiryo" pitchFamily="34" charset="0"/>
                <a:ea typeface="Meiryo" pitchFamily="34" charset="-122"/>
                <a:cs typeface="Meiryo" pitchFamily="34" charset="-120"/>
              </a:rPr>
              <a:t>実行管理の仕組みが存在しない</a:t>
            </a:r>
            <a:endParaRPr lang="en-US" sz="1200" dirty="0"/>
          </a:p>
        </p:txBody>
      </p:sp>
      <p:sp>
        <p:nvSpPr>
          <p:cNvPr id="16" name="Shape 14"/>
          <p:cNvSpPr/>
          <p:nvPr/>
        </p:nvSpPr>
        <p:spPr>
          <a:xfrm>
            <a:off x="548640" y="347472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7" name="Shape 15"/>
          <p:cNvSpPr/>
          <p:nvPr/>
        </p:nvSpPr>
        <p:spPr>
          <a:xfrm>
            <a:off x="667512" y="3566160"/>
            <a:ext cx="384048" cy="292608"/>
          </a:xfrm>
          <a:prstGeom prst="roundRect">
            <a:avLst>
              <a:gd name="adj" fmla="val 15625"/>
            </a:avLst>
          </a:prstGeom>
          <a:solidFill>
            <a:srgbClr val="1E2761"/>
          </a:solidFill>
          <a:ln w="12700">
            <a:solidFill>
              <a:srgbClr val="1E2761"/>
            </a:solidFill>
            <a:prstDash val="solid"/>
          </a:ln>
        </p:spPr>
      </p:sp>
      <p:sp>
        <p:nvSpPr>
          <p:cNvPr id="18" name="Text 16"/>
          <p:cNvSpPr/>
          <p:nvPr/>
        </p:nvSpPr>
        <p:spPr>
          <a:xfrm>
            <a:off x="667512" y="356616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19" name="Text 17"/>
          <p:cNvSpPr/>
          <p:nvPr/>
        </p:nvSpPr>
        <p:spPr>
          <a:xfrm>
            <a:off x="1170432" y="347472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要件　</a:t>
            </a:r>
            <a:pPr indent="0" marL="0">
              <a:buNone/>
            </a:pPr>
            <a:r>
              <a:rPr lang="en-US" sz="1000" dirty="0">
                <a:solidFill>
                  <a:srgbClr val="6B7280"/>
                </a:solidFill>
                <a:latin typeface="Meiryo" pitchFamily="34" charset="0"/>
                <a:ea typeface="Meiryo" pitchFamily="34" charset="-122"/>
                <a:cs typeface="Meiryo" pitchFamily="34" charset="-120"/>
              </a:rPr>
              <a:t>必要なのは「つながる」管理基盤</a:t>
            </a:r>
            <a:endParaRPr lang="en-US" sz="1200" dirty="0"/>
          </a:p>
        </p:txBody>
      </p:sp>
      <p:sp>
        <p:nvSpPr>
          <p:cNvPr id="20" name="Shape 18"/>
          <p:cNvSpPr/>
          <p:nvPr/>
        </p:nvSpPr>
        <p:spPr>
          <a:xfrm>
            <a:off x="548640" y="406908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1" name="Shape 19"/>
          <p:cNvSpPr/>
          <p:nvPr/>
        </p:nvSpPr>
        <p:spPr>
          <a:xfrm>
            <a:off x="667512" y="4160520"/>
            <a:ext cx="384048" cy="292608"/>
          </a:xfrm>
          <a:prstGeom prst="roundRect">
            <a:avLst>
              <a:gd name="adj" fmla="val 15625"/>
            </a:avLst>
          </a:prstGeom>
          <a:solidFill>
            <a:srgbClr val="1E2761"/>
          </a:solidFill>
          <a:ln w="12700">
            <a:solidFill>
              <a:srgbClr val="1E2761"/>
            </a:solidFill>
            <a:prstDash val="solid"/>
          </a:ln>
        </p:spPr>
      </p:sp>
      <p:sp>
        <p:nvSpPr>
          <p:cNvPr id="22" name="Text 20"/>
          <p:cNvSpPr/>
          <p:nvPr/>
        </p:nvSpPr>
        <p:spPr>
          <a:xfrm>
            <a:off x="667512" y="416052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4</a:t>
            </a:r>
            <a:endParaRPr lang="en-US" sz="1000" dirty="0"/>
          </a:p>
        </p:txBody>
      </p:sp>
      <p:sp>
        <p:nvSpPr>
          <p:cNvPr id="23" name="Text 21"/>
          <p:cNvSpPr/>
          <p:nvPr/>
        </p:nvSpPr>
        <p:spPr>
          <a:xfrm>
            <a:off x="1170432" y="406908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選定　</a:t>
            </a:r>
            <a:pPr indent="0" marL="0">
              <a:buNone/>
            </a:pPr>
            <a:r>
              <a:rPr lang="en-US" sz="1000" dirty="0">
                <a:solidFill>
                  <a:srgbClr val="6B7280"/>
                </a:solidFill>
                <a:latin typeface="Meiryo" pitchFamily="34" charset="0"/>
                <a:ea typeface="Meiryo" pitchFamily="34" charset="-122"/>
                <a:cs typeface="Meiryo" pitchFamily="34" charset="-120"/>
              </a:rPr>
              <a:t>4案を比較し、Notionのみが要件を充足</a:t>
            </a:r>
            <a:endParaRPr lang="en-US" sz="1200" dirty="0"/>
          </a:p>
        </p:txBody>
      </p:sp>
      <p:sp>
        <p:nvSpPr>
          <p:cNvPr id="24" name="Shape 22"/>
          <p:cNvSpPr/>
          <p:nvPr/>
        </p:nvSpPr>
        <p:spPr>
          <a:xfrm>
            <a:off x="6208776" y="1691640"/>
            <a:ext cx="5440680" cy="475488"/>
          </a:xfrm>
          <a:prstGeom prst="roundRect">
            <a:avLst>
              <a:gd name="adj" fmla="val 11538"/>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25" name="Shape 23"/>
          <p:cNvSpPr/>
          <p:nvPr/>
        </p:nvSpPr>
        <p:spPr>
          <a:xfrm>
            <a:off x="6327648" y="1783080"/>
            <a:ext cx="384048" cy="292608"/>
          </a:xfrm>
          <a:prstGeom prst="roundRect">
            <a:avLst>
              <a:gd name="adj" fmla="val 15625"/>
            </a:avLst>
          </a:prstGeom>
          <a:solidFill>
            <a:srgbClr val="1E2761"/>
          </a:solidFill>
          <a:ln w="12700">
            <a:solidFill>
              <a:srgbClr val="1E2761"/>
            </a:solidFill>
            <a:prstDash val="solid"/>
          </a:ln>
        </p:spPr>
      </p:sp>
      <p:sp>
        <p:nvSpPr>
          <p:cNvPr id="26" name="Text 24"/>
          <p:cNvSpPr/>
          <p:nvPr/>
        </p:nvSpPr>
        <p:spPr>
          <a:xfrm>
            <a:off x="6327648" y="178308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5</a:t>
            </a:r>
            <a:endParaRPr lang="en-US" sz="1000" dirty="0"/>
          </a:p>
        </p:txBody>
      </p:sp>
      <p:sp>
        <p:nvSpPr>
          <p:cNvPr id="27" name="Text 25"/>
          <p:cNvSpPr/>
          <p:nvPr/>
        </p:nvSpPr>
        <p:spPr>
          <a:xfrm>
            <a:off x="6830568" y="169164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実証　</a:t>
            </a:r>
            <a:pPr indent="0" marL="0">
              <a:buNone/>
            </a:pPr>
            <a:r>
              <a:rPr lang="en-US" sz="1000" dirty="0">
                <a:solidFill>
                  <a:srgbClr val="6B7280"/>
                </a:solidFill>
                <a:latin typeface="Meiryo" pitchFamily="34" charset="0"/>
                <a:ea typeface="Meiryo" pitchFamily="34" charset="-122"/>
                <a:cs typeface="Meiryo" pitchFamily="34" charset="-120"/>
              </a:rPr>
              <a:t>経営層で3か月の実運用、効果を確認済み</a:t>
            </a:r>
            <a:endParaRPr lang="en-US" sz="1200" dirty="0"/>
          </a:p>
        </p:txBody>
      </p:sp>
      <p:sp>
        <p:nvSpPr>
          <p:cNvPr id="28" name="Shape 26"/>
          <p:cNvSpPr/>
          <p:nvPr/>
        </p:nvSpPr>
        <p:spPr>
          <a:xfrm>
            <a:off x="6208776" y="228600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9" name="Shape 27"/>
          <p:cNvSpPr/>
          <p:nvPr/>
        </p:nvSpPr>
        <p:spPr>
          <a:xfrm>
            <a:off x="6327648" y="2377440"/>
            <a:ext cx="384048" cy="292608"/>
          </a:xfrm>
          <a:prstGeom prst="roundRect">
            <a:avLst>
              <a:gd name="adj" fmla="val 15625"/>
            </a:avLst>
          </a:prstGeom>
          <a:solidFill>
            <a:srgbClr val="1E2761"/>
          </a:solidFill>
          <a:ln w="12700">
            <a:solidFill>
              <a:srgbClr val="1E2761"/>
            </a:solidFill>
            <a:prstDash val="solid"/>
          </a:ln>
        </p:spPr>
      </p:sp>
      <p:sp>
        <p:nvSpPr>
          <p:cNvPr id="30" name="Text 28"/>
          <p:cNvSpPr/>
          <p:nvPr/>
        </p:nvSpPr>
        <p:spPr>
          <a:xfrm>
            <a:off x="6327648" y="237744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6</a:t>
            </a:r>
            <a:endParaRPr lang="en-US" sz="1000" dirty="0"/>
          </a:p>
        </p:txBody>
      </p:sp>
      <p:sp>
        <p:nvSpPr>
          <p:cNvPr id="31" name="Text 29"/>
          <p:cNvSpPr/>
          <p:nvPr/>
        </p:nvSpPr>
        <p:spPr>
          <a:xfrm>
            <a:off x="6830568" y="228600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セキュリティ　</a:t>
            </a:r>
            <a:pPr indent="0" marL="0">
              <a:buNone/>
            </a:pPr>
            <a:r>
              <a:rPr lang="en-US" sz="1000" dirty="0">
                <a:solidFill>
                  <a:srgbClr val="6B7280"/>
                </a:solidFill>
                <a:latin typeface="Meiryo" pitchFamily="34" charset="0"/>
                <a:ea typeface="Meiryo" pitchFamily="34" charset="-122"/>
                <a:cs typeface="Meiryo" pitchFamily="34" charset="-120"/>
              </a:rPr>
              <a:t>認証・SSO・プラン要件（THD審査の要点）</a:t>
            </a:r>
            <a:endParaRPr lang="en-US" sz="1200" dirty="0"/>
          </a:p>
        </p:txBody>
      </p:sp>
      <p:sp>
        <p:nvSpPr>
          <p:cNvPr id="32" name="Shape 30"/>
          <p:cNvSpPr/>
          <p:nvPr/>
        </p:nvSpPr>
        <p:spPr>
          <a:xfrm>
            <a:off x="6208776" y="288036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3" name="Shape 31"/>
          <p:cNvSpPr/>
          <p:nvPr/>
        </p:nvSpPr>
        <p:spPr>
          <a:xfrm>
            <a:off x="6327648" y="2971800"/>
            <a:ext cx="384048" cy="292608"/>
          </a:xfrm>
          <a:prstGeom prst="roundRect">
            <a:avLst>
              <a:gd name="adj" fmla="val 15625"/>
            </a:avLst>
          </a:prstGeom>
          <a:solidFill>
            <a:srgbClr val="1E2761"/>
          </a:solidFill>
          <a:ln w="12700">
            <a:solidFill>
              <a:srgbClr val="1E2761"/>
            </a:solidFill>
            <a:prstDash val="solid"/>
          </a:ln>
        </p:spPr>
      </p:sp>
      <p:sp>
        <p:nvSpPr>
          <p:cNvPr id="34" name="Text 32"/>
          <p:cNvSpPr/>
          <p:nvPr/>
        </p:nvSpPr>
        <p:spPr>
          <a:xfrm>
            <a:off x="6327648" y="297180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7</a:t>
            </a:r>
            <a:endParaRPr lang="en-US" sz="1000" dirty="0"/>
          </a:p>
        </p:txBody>
      </p:sp>
      <p:sp>
        <p:nvSpPr>
          <p:cNvPr id="35" name="Text 33"/>
          <p:cNvSpPr/>
          <p:nvPr/>
        </p:nvSpPr>
        <p:spPr>
          <a:xfrm>
            <a:off x="6830568" y="288036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導入計画　</a:t>
            </a:r>
            <a:pPr indent="0" marL="0">
              <a:buNone/>
            </a:pPr>
            <a:r>
              <a:rPr lang="en-US" sz="1000" dirty="0">
                <a:solidFill>
                  <a:srgbClr val="6B7280"/>
                </a:solidFill>
                <a:latin typeface="Meiryo" pitchFamily="34" charset="0"/>
                <a:ea typeface="Meiryo" pitchFamily="34" charset="-122"/>
                <a:cs typeface="Meiryo" pitchFamily="34" charset="-120"/>
              </a:rPr>
              <a:t>目指す運用の姿と、コスト・撤退基準</a:t>
            </a:r>
            <a:endParaRPr lang="en-US" sz="1200" dirty="0"/>
          </a:p>
        </p:txBody>
      </p:sp>
      <p:sp>
        <p:nvSpPr>
          <p:cNvPr id="36" name="Shape 34"/>
          <p:cNvSpPr/>
          <p:nvPr/>
        </p:nvSpPr>
        <p:spPr>
          <a:xfrm>
            <a:off x="6208776" y="3474720"/>
            <a:ext cx="5440680" cy="475488"/>
          </a:xfrm>
          <a:prstGeom prst="roundRect">
            <a:avLst>
              <a:gd name="adj" fmla="val 1153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7" name="Shape 35"/>
          <p:cNvSpPr/>
          <p:nvPr/>
        </p:nvSpPr>
        <p:spPr>
          <a:xfrm>
            <a:off x="6327648" y="3566160"/>
            <a:ext cx="384048" cy="292608"/>
          </a:xfrm>
          <a:prstGeom prst="roundRect">
            <a:avLst>
              <a:gd name="adj" fmla="val 15625"/>
            </a:avLst>
          </a:prstGeom>
          <a:solidFill>
            <a:srgbClr val="1E2761"/>
          </a:solidFill>
          <a:ln w="12700">
            <a:solidFill>
              <a:srgbClr val="1E2761"/>
            </a:solidFill>
            <a:prstDash val="solid"/>
          </a:ln>
        </p:spPr>
      </p:sp>
      <p:sp>
        <p:nvSpPr>
          <p:cNvPr id="38" name="Text 36"/>
          <p:cNvSpPr/>
          <p:nvPr/>
        </p:nvSpPr>
        <p:spPr>
          <a:xfrm>
            <a:off x="6327648" y="3566160"/>
            <a:ext cx="3840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8</a:t>
            </a:r>
            <a:endParaRPr lang="en-US" sz="1000" dirty="0"/>
          </a:p>
        </p:txBody>
      </p:sp>
      <p:sp>
        <p:nvSpPr>
          <p:cNvPr id="39" name="Text 37"/>
          <p:cNvSpPr/>
          <p:nvPr/>
        </p:nvSpPr>
        <p:spPr>
          <a:xfrm>
            <a:off x="6830568" y="3474720"/>
            <a:ext cx="4709160" cy="47548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お願い事項　</a:t>
            </a:r>
            <a:pPr indent="0" marL="0">
              <a:buNone/>
            </a:pPr>
            <a:r>
              <a:rPr lang="en-US" sz="1000" dirty="0">
                <a:solidFill>
                  <a:srgbClr val="6B7280"/>
                </a:solidFill>
                <a:latin typeface="Meiryo" pitchFamily="34" charset="0"/>
                <a:ea typeface="Meiryo" pitchFamily="34" charset="-122"/>
                <a:cs typeface="Meiryo" pitchFamily="34" charset="-120"/>
              </a:rPr>
              <a:t>ご承認いただきたいこと／確認事項</a:t>
            </a:r>
            <a:endParaRPr lang="en-US" sz="1200" dirty="0"/>
          </a:p>
        </p:txBody>
      </p:sp>
      <p:sp>
        <p:nvSpPr>
          <p:cNvPr id="40" name="Shape 38"/>
          <p:cNvSpPr/>
          <p:nvPr/>
        </p:nvSpPr>
        <p:spPr>
          <a:xfrm>
            <a:off x="548640" y="4983480"/>
            <a:ext cx="11094415" cy="1234440"/>
          </a:xfrm>
          <a:prstGeom prst="roundRect">
            <a:avLst>
              <a:gd name="adj" fmla="val 4444"/>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41" name="Text 39"/>
          <p:cNvSpPr/>
          <p:nvPr/>
        </p:nvSpPr>
        <p:spPr>
          <a:xfrm>
            <a:off x="777240" y="5102352"/>
            <a:ext cx="10637215" cy="292608"/>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本資料は2つの話を分けてご説明します</a:t>
            </a:r>
            <a:endParaRPr lang="en-US" sz="1250" dirty="0"/>
          </a:p>
        </p:txBody>
      </p:sp>
      <p:sp>
        <p:nvSpPr>
          <p:cNvPr id="42" name="Text 40"/>
          <p:cNvSpPr/>
          <p:nvPr/>
        </p:nvSpPr>
        <p:spPr>
          <a:xfrm>
            <a:off x="777240" y="5440680"/>
            <a:ext cx="5212080" cy="65836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① 仕組みを作る（序〜第6章）</a:t>
            </a:r>
            <a:endParaRPr lang="en-US" sz="1100" dirty="0"/>
          </a:p>
          <a:p>
            <a:pPr indent="0" marL="0">
              <a:buNone/>
            </a:pPr>
            <a:r>
              <a:rPr lang="en-US" sz="1000" dirty="0">
                <a:solidFill>
                  <a:srgbClr val="1A1A2E"/>
                </a:solidFill>
                <a:latin typeface="Meiryo" pitchFamily="34" charset="0"/>
                <a:ea typeface="Meiryo" pitchFamily="34" charset="-122"/>
                <a:cs typeface="Meiryo" pitchFamily="34" charset="-120"/>
              </a:rPr>
              <a:t>案件管理と議事録が紐づく器を作る。ご承認をお願いする対象はこちらです。</a:t>
            </a:r>
            <a:endParaRPr lang="en-US" sz="1100" dirty="0"/>
          </a:p>
        </p:txBody>
      </p:sp>
      <p:sp>
        <p:nvSpPr>
          <p:cNvPr id="43" name="Text 41"/>
          <p:cNvSpPr/>
          <p:nvPr/>
        </p:nvSpPr>
        <p:spPr>
          <a:xfrm>
            <a:off x="6355080" y="5440680"/>
            <a:ext cx="5212080" cy="65836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② 会議の在り方を変える（第7章 7-1）</a:t>
            </a:r>
            <a:endParaRPr lang="en-US" sz="1100" dirty="0"/>
          </a:p>
          <a:p>
            <a:pPr indent="0" marL="0">
              <a:buNone/>
            </a:pPr>
            <a:r>
              <a:rPr lang="en-US" sz="1000" dirty="0">
                <a:solidFill>
                  <a:srgbClr val="1A1A2E"/>
                </a:solidFill>
                <a:latin typeface="Meiryo" pitchFamily="34" charset="0"/>
                <a:ea typeface="Meiryo" pitchFamily="34" charset="-122"/>
                <a:cs typeface="Meiryo" pitchFamily="34" charset="-120"/>
              </a:rPr>
              <a:t>その仕組みができて初めて可能になる運用の話。承認対象ではありません。</a:t>
            </a:r>
            <a:endParaRPr lang="en-US" sz="1100" dirty="0"/>
          </a:p>
        </p:txBody>
      </p:sp>
      <p:sp>
        <p:nvSpPr>
          <p:cNvPr id="44" name="Text 42"/>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序</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30秒サマリー</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決めたことをやり切る「実行管理の仕組み」を、PCAに新しく立ち上げます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a:t>
            </a:r>
            <a:endParaRPr lang="en-US" sz="1000" dirty="0"/>
          </a:p>
        </p:txBody>
      </p:sp>
      <p:sp>
        <p:nvSpPr>
          <p:cNvPr id="8" name="Shape 6"/>
          <p:cNvSpPr/>
          <p:nvPr/>
        </p:nvSpPr>
        <p:spPr>
          <a:xfrm>
            <a:off x="548640" y="2286000"/>
            <a:ext cx="7894015" cy="658368"/>
          </a:xfrm>
          <a:prstGeom prst="roundRect">
            <a:avLst>
              <a:gd name="adj" fmla="val 833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Shape 7"/>
          <p:cNvSpPr/>
          <p:nvPr/>
        </p:nvSpPr>
        <p:spPr>
          <a:xfrm>
            <a:off x="694944" y="2432304"/>
            <a:ext cx="365760" cy="365760"/>
          </a:xfrm>
          <a:prstGeom prst="roundRect">
            <a:avLst>
              <a:gd name="adj" fmla="val 50000"/>
            </a:avLst>
          </a:prstGeom>
          <a:solidFill>
            <a:srgbClr val="1E2761"/>
          </a:solidFill>
          <a:ln w="12700">
            <a:solidFill>
              <a:srgbClr val="1E2761"/>
            </a:solidFill>
            <a:prstDash val="solid"/>
          </a:ln>
        </p:spPr>
      </p:sp>
      <p:sp>
        <p:nvSpPr>
          <p:cNvPr id="10" name="Text 8"/>
          <p:cNvSpPr/>
          <p:nvPr/>
        </p:nvSpPr>
        <p:spPr>
          <a:xfrm>
            <a:off x="694944" y="24323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11" name="Text 9"/>
          <p:cNvSpPr/>
          <p:nvPr/>
        </p:nvSpPr>
        <p:spPr>
          <a:xfrm>
            <a:off x="1170432" y="2359152"/>
            <a:ext cx="7772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課題</a:t>
            </a:r>
            <a:endParaRPr lang="en-US" sz="1000" dirty="0"/>
          </a:p>
        </p:txBody>
      </p:sp>
      <p:sp>
        <p:nvSpPr>
          <p:cNvPr id="12" name="Text 10"/>
          <p:cNvSpPr/>
          <p:nvPr/>
        </p:nvSpPr>
        <p:spPr>
          <a:xfrm>
            <a:off x="1965960" y="2340864"/>
            <a:ext cx="612648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PCAには案件を管理する仕組みが無い</a:t>
            </a:r>
            <a:endParaRPr lang="en-US" sz="1200" dirty="0"/>
          </a:p>
        </p:txBody>
      </p:sp>
      <p:sp>
        <p:nvSpPr>
          <p:cNvPr id="13" name="Text 11"/>
          <p:cNvSpPr/>
          <p:nvPr/>
        </p:nvSpPr>
        <p:spPr>
          <a:xfrm>
            <a:off x="1170432" y="2624328"/>
            <a:ext cx="694944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議事録も OneNote・Word・個人メモに散在し、探すところから仕事が始まっている</a:t>
            </a:r>
            <a:endParaRPr lang="en-US" sz="950" dirty="0"/>
          </a:p>
        </p:txBody>
      </p:sp>
      <p:sp>
        <p:nvSpPr>
          <p:cNvPr id="14" name="Shape 12"/>
          <p:cNvSpPr/>
          <p:nvPr/>
        </p:nvSpPr>
        <p:spPr>
          <a:xfrm>
            <a:off x="548640" y="3090672"/>
            <a:ext cx="7894015" cy="658368"/>
          </a:xfrm>
          <a:prstGeom prst="roundRect">
            <a:avLst>
              <a:gd name="adj" fmla="val 833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5" name="Shape 13"/>
          <p:cNvSpPr/>
          <p:nvPr/>
        </p:nvSpPr>
        <p:spPr>
          <a:xfrm>
            <a:off x="694944" y="3236976"/>
            <a:ext cx="365760" cy="365760"/>
          </a:xfrm>
          <a:prstGeom prst="roundRect">
            <a:avLst>
              <a:gd name="adj" fmla="val 50000"/>
            </a:avLst>
          </a:prstGeom>
          <a:solidFill>
            <a:srgbClr val="1E2761"/>
          </a:solidFill>
          <a:ln w="12700">
            <a:solidFill>
              <a:srgbClr val="1E2761"/>
            </a:solidFill>
            <a:prstDash val="solid"/>
          </a:ln>
        </p:spPr>
      </p:sp>
      <p:sp>
        <p:nvSpPr>
          <p:cNvPr id="16" name="Text 14"/>
          <p:cNvSpPr/>
          <p:nvPr/>
        </p:nvSpPr>
        <p:spPr>
          <a:xfrm>
            <a:off x="694944" y="32369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7" name="Text 15"/>
          <p:cNvSpPr/>
          <p:nvPr/>
        </p:nvSpPr>
        <p:spPr>
          <a:xfrm>
            <a:off x="1170432" y="3163824"/>
            <a:ext cx="7772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対応</a:t>
            </a:r>
            <a:endParaRPr lang="en-US" sz="1000" dirty="0"/>
          </a:p>
        </p:txBody>
      </p:sp>
      <p:sp>
        <p:nvSpPr>
          <p:cNvPr id="18" name="Text 16"/>
          <p:cNvSpPr/>
          <p:nvPr/>
        </p:nvSpPr>
        <p:spPr>
          <a:xfrm>
            <a:off x="1965960" y="3145536"/>
            <a:ext cx="612648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①案件管理 ②議事録 に限定して新規立ち上げ</a:t>
            </a:r>
            <a:endParaRPr lang="en-US" sz="1200" dirty="0"/>
          </a:p>
        </p:txBody>
      </p:sp>
      <p:sp>
        <p:nvSpPr>
          <p:cNvPr id="19" name="Text 17"/>
          <p:cNvSpPr/>
          <p:nvPr/>
        </p:nvSpPr>
        <p:spPr>
          <a:xfrm>
            <a:off x="1170432" y="3429000"/>
            <a:ext cx="694944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③ファイル・④社内規定は SharePoint 継続。M365 は置き換えません</a:t>
            </a:r>
            <a:endParaRPr lang="en-US" sz="950" dirty="0"/>
          </a:p>
        </p:txBody>
      </p:sp>
      <p:sp>
        <p:nvSpPr>
          <p:cNvPr id="20" name="Shape 18"/>
          <p:cNvSpPr/>
          <p:nvPr/>
        </p:nvSpPr>
        <p:spPr>
          <a:xfrm>
            <a:off x="548640" y="3895344"/>
            <a:ext cx="7894015" cy="658368"/>
          </a:xfrm>
          <a:prstGeom prst="roundRect">
            <a:avLst>
              <a:gd name="adj" fmla="val 833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1" name="Shape 19"/>
          <p:cNvSpPr/>
          <p:nvPr/>
        </p:nvSpPr>
        <p:spPr>
          <a:xfrm>
            <a:off x="694944" y="4041648"/>
            <a:ext cx="365760" cy="365760"/>
          </a:xfrm>
          <a:prstGeom prst="roundRect">
            <a:avLst>
              <a:gd name="adj" fmla="val 50000"/>
            </a:avLst>
          </a:prstGeom>
          <a:solidFill>
            <a:srgbClr val="1E2761"/>
          </a:solidFill>
          <a:ln w="12700">
            <a:solidFill>
              <a:srgbClr val="1E2761"/>
            </a:solidFill>
            <a:prstDash val="solid"/>
          </a:ln>
        </p:spPr>
      </p:sp>
      <p:sp>
        <p:nvSpPr>
          <p:cNvPr id="22" name="Text 20"/>
          <p:cNvSpPr/>
          <p:nvPr/>
        </p:nvSpPr>
        <p:spPr>
          <a:xfrm>
            <a:off x="694944" y="40416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23" name="Text 21"/>
          <p:cNvSpPr/>
          <p:nvPr/>
        </p:nvSpPr>
        <p:spPr>
          <a:xfrm>
            <a:off x="1170432" y="3968496"/>
            <a:ext cx="7772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根拠</a:t>
            </a:r>
            <a:endParaRPr lang="en-US" sz="1000" dirty="0"/>
          </a:p>
        </p:txBody>
      </p:sp>
      <p:sp>
        <p:nvSpPr>
          <p:cNvPr id="24" name="Text 22"/>
          <p:cNvSpPr/>
          <p:nvPr/>
        </p:nvSpPr>
        <p:spPr>
          <a:xfrm>
            <a:off x="1965960" y="3950208"/>
            <a:ext cx="612648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経営層で3か月の実運用、効果は確認済み</a:t>
            </a:r>
            <a:endParaRPr lang="en-US" sz="1200" dirty="0"/>
          </a:p>
        </p:txBody>
      </p:sp>
      <p:sp>
        <p:nvSpPr>
          <p:cNvPr id="25" name="Text 23"/>
          <p:cNvSpPr/>
          <p:nvPr/>
        </p:nvSpPr>
        <p:spPr>
          <a:xfrm>
            <a:off x="1170432" y="4233672"/>
            <a:ext cx="694944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机上の選定ではなく、週次PMOの管理台帳として既に定着しています</a:t>
            </a:r>
            <a:endParaRPr lang="en-US" sz="950" dirty="0"/>
          </a:p>
        </p:txBody>
      </p:sp>
      <p:sp>
        <p:nvSpPr>
          <p:cNvPr id="26" name="Shape 24"/>
          <p:cNvSpPr/>
          <p:nvPr/>
        </p:nvSpPr>
        <p:spPr>
          <a:xfrm>
            <a:off x="548640" y="4700016"/>
            <a:ext cx="7894015" cy="658368"/>
          </a:xfrm>
          <a:prstGeom prst="roundRect">
            <a:avLst>
              <a:gd name="adj" fmla="val 833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7" name="Shape 25"/>
          <p:cNvSpPr/>
          <p:nvPr/>
        </p:nvSpPr>
        <p:spPr>
          <a:xfrm>
            <a:off x="694944" y="4846320"/>
            <a:ext cx="365760" cy="365760"/>
          </a:xfrm>
          <a:prstGeom prst="roundRect">
            <a:avLst>
              <a:gd name="adj" fmla="val 50000"/>
            </a:avLst>
          </a:prstGeom>
          <a:solidFill>
            <a:srgbClr val="1E2761"/>
          </a:solidFill>
          <a:ln w="12700">
            <a:solidFill>
              <a:srgbClr val="1E2761"/>
            </a:solidFill>
            <a:prstDash val="solid"/>
          </a:ln>
        </p:spPr>
      </p:sp>
      <p:sp>
        <p:nvSpPr>
          <p:cNvPr id="28" name="Text 26"/>
          <p:cNvSpPr/>
          <p:nvPr/>
        </p:nvSpPr>
        <p:spPr>
          <a:xfrm>
            <a:off x="694944" y="4846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29" name="Text 27"/>
          <p:cNvSpPr/>
          <p:nvPr/>
        </p:nvSpPr>
        <p:spPr>
          <a:xfrm>
            <a:off x="1170432" y="4773168"/>
            <a:ext cx="7772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安全性</a:t>
            </a:r>
            <a:endParaRPr lang="en-US" sz="1000" dirty="0"/>
          </a:p>
        </p:txBody>
      </p:sp>
      <p:sp>
        <p:nvSpPr>
          <p:cNvPr id="30" name="Text 28"/>
          <p:cNvSpPr/>
          <p:nvPr/>
        </p:nvSpPr>
        <p:spPr>
          <a:xfrm>
            <a:off x="1965960" y="4754880"/>
            <a:ext cx="612648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Business プランの SAML SSO で M365 と統合</a:t>
            </a:r>
            <a:endParaRPr lang="en-US" sz="1200" dirty="0"/>
          </a:p>
        </p:txBody>
      </p:sp>
      <p:sp>
        <p:nvSpPr>
          <p:cNvPr id="31" name="Text 29"/>
          <p:cNvSpPr/>
          <p:nvPr/>
        </p:nvSpPr>
        <p:spPr>
          <a:xfrm>
            <a:off x="1170432" y="5038344"/>
            <a:ext cx="694944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当社の既存セキュリティポリシーがそのまま Notion にも適用されます</a:t>
            </a:r>
            <a:endParaRPr lang="en-US" sz="950" dirty="0"/>
          </a:p>
        </p:txBody>
      </p:sp>
      <p:sp>
        <p:nvSpPr>
          <p:cNvPr id="32" name="Shape 30"/>
          <p:cNvSpPr/>
          <p:nvPr/>
        </p:nvSpPr>
        <p:spPr>
          <a:xfrm>
            <a:off x="8625535" y="2286000"/>
            <a:ext cx="3017520" cy="3108960"/>
          </a:xfrm>
          <a:prstGeom prst="roundRect">
            <a:avLst>
              <a:gd name="adj" fmla="val 1818"/>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33" name="Text 31"/>
          <p:cNvSpPr/>
          <p:nvPr/>
        </p:nvSpPr>
        <p:spPr>
          <a:xfrm>
            <a:off x="8808415" y="2450592"/>
            <a:ext cx="2651760" cy="274320"/>
          </a:xfrm>
          <a:prstGeom prst="rect">
            <a:avLst/>
          </a:prstGeom>
          <a:noFill/>
          <a:ln/>
        </p:spPr>
        <p:txBody>
          <a:bodyPr wrap="square" lIns="0" tIns="0" rIns="0" bIns="0" rtlCol="0" anchor="ctr"/>
          <a:lstStyle/>
          <a:p>
            <a:pPr indent="0" marL="0">
              <a:buNone/>
            </a:pPr>
            <a:r>
              <a:rPr lang="en-US" sz="1200" b="1" dirty="0">
                <a:solidFill>
                  <a:srgbClr val="CADCFC"/>
                </a:solidFill>
                <a:latin typeface="Meiryo" pitchFamily="34" charset="0"/>
                <a:ea typeface="Meiryo" pitchFamily="34" charset="-122"/>
                <a:cs typeface="Meiryo" pitchFamily="34" charset="-120"/>
              </a:rPr>
              <a:t>本日のお願い</a:t>
            </a:r>
            <a:endParaRPr lang="en-US" sz="1200" dirty="0"/>
          </a:p>
        </p:txBody>
      </p:sp>
      <p:sp>
        <p:nvSpPr>
          <p:cNvPr id="34" name="Text 32"/>
          <p:cNvSpPr/>
          <p:nvPr/>
        </p:nvSpPr>
        <p:spPr>
          <a:xfrm>
            <a:off x="8808415" y="2788920"/>
            <a:ext cx="2651760" cy="658368"/>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140名</a:t>
            </a:r>
            <a:endParaRPr lang="en-US" sz="4000" dirty="0"/>
          </a:p>
        </p:txBody>
      </p:sp>
      <p:sp>
        <p:nvSpPr>
          <p:cNvPr id="35" name="Text 33"/>
          <p:cNvSpPr/>
          <p:nvPr/>
        </p:nvSpPr>
        <p:spPr>
          <a:xfrm>
            <a:off x="8808415" y="3429000"/>
            <a:ext cx="2651760" cy="237744"/>
          </a:xfrm>
          <a:prstGeom prst="rect">
            <a:avLst/>
          </a:prstGeom>
          <a:noFill/>
          <a:ln/>
        </p:spPr>
        <p:txBody>
          <a:bodyPr wrap="square" lIns="0" tIns="0" rIns="0" bIns="0" rtlCol="0" anchor="ctr"/>
          <a:lstStyle/>
          <a:p>
            <a:pPr indent="0" marL="0">
              <a:buNone/>
            </a:pPr>
            <a:r>
              <a:rPr lang="en-US" sz="950" dirty="0">
                <a:solidFill>
                  <a:srgbClr val="CADCFC"/>
                </a:solidFill>
                <a:latin typeface="Meiryo" pitchFamily="34" charset="0"/>
                <a:ea typeface="Meiryo" pitchFamily="34" charset="-122"/>
                <a:cs typeface="Meiryo" pitchFamily="34" charset="-120"/>
              </a:rPr>
              <a:t>Phase2 対象人数（着地見込）</a:t>
            </a:r>
            <a:endParaRPr lang="en-US" sz="950" dirty="0"/>
          </a:p>
        </p:txBody>
      </p:sp>
      <p:sp>
        <p:nvSpPr>
          <p:cNvPr id="36" name="Text 34"/>
          <p:cNvSpPr/>
          <p:nvPr/>
        </p:nvSpPr>
        <p:spPr>
          <a:xfrm>
            <a:off x="8808415" y="3840480"/>
            <a:ext cx="2651760" cy="384048"/>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年額 約520.8万円</a:t>
            </a:r>
            <a:endParaRPr lang="en-US" sz="2000" dirty="0"/>
          </a:p>
        </p:txBody>
      </p:sp>
      <p:sp>
        <p:nvSpPr>
          <p:cNvPr id="37" name="Text 35"/>
          <p:cNvSpPr/>
          <p:nvPr/>
        </p:nvSpPr>
        <p:spPr>
          <a:xfrm>
            <a:off x="8808415" y="4251960"/>
            <a:ext cx="2651760" cy="548640"/>
          </a:xfrm>
          <a:prstGeom prst="rect">
            <a:avLst/>
          </a:prstGeom>
          <a:noFill/>
          <a:ln/>
        </p:spPr>
        <p:txBody>
          <a:bodyPr wrap="square" lIns="0" tIns="0" rIns="0" bIns="0" rtlCol="0" anchor="ctr"/>
          <a:lstStyle/>
          <a:p>
            <a:pPr indent="0" marL="0">
              <a:buNone/>
            </a:pPr>
            <a:r>
              <a:rPr lang="en-US" sz="950" dirty="0">
                <a:solidFill>
                  <a:srgbClr val="CADCFC"/>
                </a:solidFill>
                <a:latin typeface="Meiryo" pitchFamily="34" charset="0"/>
                <a:ea typeface="Meiryo" pitchFamily="34" charset="-122"/>
                <a:cs typeface="Meiryo" pitchFamily="34" charset="-120"/>
              </a:rPr>
              <a:t>Business プラン・年払</a:t>
            </a:r>
            <a:endParaRPr lang="en-US" sz="950" dirty="0"/>
          </a:p>
          <a:p>
            <a:pPr indent="0" marL="0">
              <a:buNone/>
            </a:pPr>
            <a:r>
              <a:rPr lang="en-US" sz="950" dirty="0">
                <a:solidFill>
                  <a:srgbClr val="CADCFC"/>
                </a:solidFill>
                <a:latin typeface="Meiryo" pitchFamily="34" charset="0"/>
                <a:ea typeface="Meiryo" pitchFamily="34" charset="-122"/>
                <a:cs typeface="Meiryo" pitchFamily="34" charset="-120"/>
              </a:rPr>
              <a:t>この金額を上限としてご承認ください</a:t>
            </a:r>
            <a:endParaRPr lang="en-US" sz="950" dirty="0"/>
          </a:p>
        </p:txBody>
      </p:sp>
      <p:sp>
        <p:nvSpPr>
          <p:cNvPr id="38" name="Text 36"/>
          <p:cNvSpPr/>
          <p:nvPr/>
        </p:nvSpPr>
        <p:spPr>
          <a:xfrm>
            <a:off x="8808415" y="4937760"/>
            <a:ext cx="2651760" cy="274320"/>
          </a:xfrm>
          <a:prstGeom prst="rect">
            <a:avLst/>
          </a:prstGeom>
          <a:noFill/>
          <a:ln/>
        </p:spPr>
        <p:txBody>
          <a:bodyPr wrap="square" lIns="0" tIns="0" rIns="0" bIns="0" rtlCol="0" anchor="ctr"/>
          <a:lstStyle/>
          <a:p>
            <a:pPr indent="0" marL="0">
              <a:buNone/>
            </a:pPr>
            <a:r>
              <a:rPr lang="en-US" sz="1000" b="1" i="1" dirty="0">
                <a:solidFill>
                  <a:srgbClr val="CADCFC"/>
                </a:solidFill>
                <a:latin typeface="Meiryo" pitchFamily="34" charset="0"/>
                <a:ea typeface="Meiryo" pitchFamily="34" charset="-122"/>
                <a:cs typeface="Meiryo" pitchFamily="34" charset="-120"/>
              </a:rPr>
              <a:t>1人あたり 1営業日 約169円</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第1章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背景 — PCAは再建の実行フェーズにある</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再建の成否は、戦略の中身以上に「やり切る」実行管理で決まります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3</a:t>
            </a:r>
            <a:endParaRPr lang="en-US" sz="1000" dirty="0"/>
          </a:p>
        </p:txBody>
      </p:sp>
      <p:sp>
        <p:nvSpPr>
          <p:cNvPr id="8" name="Shape 6"/>
          <p:cNvSpPr/>
          <p:nvPr/>
        </p:nvSpPr>
        <p:spPr>
          <a:xfrm>
            <a:off x="548640" y="2331720"/>
            <a:ext cx="5410048" cy="1874520"/>
          </a:xfrm>
          <a:prstGeom prst="roundRect">
            <a:avLst>
              <a:gd name="adj" fmla="val 2927"/>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9" name="Shape 7"/>
          <p:cNvSpPr/>
          <p:nvPr/>
        </p:nvSpPr>
        <p:spPr>
          <a:xfrm>
            <a:off x="777240" y="2514600"/>
            <a:ext cx="868680" cy="310896"/>
          </a:xfrm>
          <a:prstGeom prst="roundRect">
            <a:avLst>
              <a:gd name="adj" fmla="val 14706"/>
            </a:avLst>
          </a:prstGeom>
          <a:solidFill>
            <a:srgbClr val="1E2761"/>
          </a:solidFill>
          <a:ln w="12700">
            <a:solidFill>
              <a:srgbClr val="1E2761"/>
            </a:solidFill>
            <a:prstDash val="solid"/>
          </a:ln>
        </p:spPr>
      </p:sp>
      <p:sp>
        <p:nvSpPr>
          <p:cNvPr id="10" name="Text 8"/>
          <p:cNvSpPr/>
          <p:nvPr/>
        </p:nvSpPr>
        <p:spPr>
          <a:xfrm>
            <a:off x="777240" y="251460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状況</a:t>
            </a:r>
            <a:endParaRPr lang="en-US" sz="1100" dirty="0"/>
          </a:p>
        </p:txBody>
      </p:sp>
      <p:sp>
        <p:nvSpPr>
          <p:cNvPr id="11" name="Text 9"/>
          <p:cNvSpPr/>
          <p:nvPr/>
        </p:nvSpPr>
        <p:spPr>
          <a:xfrm>
            <a:off x="777240" y="2971800"/>
            <a:ext cx="4952848" cy="1051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A2E"/>
                </a:solidFill>
                <a:latin typeface="Meiryo" pitchFamily="34" charset="0"/>
                <a:ea typeface="Meiryo" pitchFamily="34" charset="-122"/>
                <a:cs typeface="Meiryo" pitchFamily="34" charset="-120"/>
              </a:rPr>
              <a:t>中期経営計画 FY27-29 を実行中</a:t>
            </a:r>
            <a:endParaRPr lang="en-US" sz="1250" dirty="0"/>
          </a:p>
          <a:p>
            <a:pPr marL="342900" indent="-342900">
              <a:spcAft>
                <a:spcPts val="800"/>
              </a:spcAft>
              <a:buSzPct val="100000"/>
              <a:buChar char="•"/>
            </a:pPr>
            <a:r>
              <a:rPr lang="en-US" sz="1250" dirty="0">
                <a:solidFill>
                  <a:srgbClr val="1A1A2E"/>
                </a:solidFill>
                <a:latin typeface="Meiryo" pitchFamily="34" charset="0"/>
                <a:ea typeface="Meiryo" pitchFamily="34" charset="-122"/>
                <a:cs typeface="Meiryo" pitchFamily="34" charset="-120"/>
              </a:rPr>
              <a:t>10月1日の新体制で、部門をまたぐ変革案件が同時多発</a:t>
            </a:r>
            <a:endParaRPr lang="en-US" sz="1250" dirty="0"/>
          </a:p>
        </p:txBody>
      </p:sp>
      <p:sp>
        <p:nvSpPr>
          <p:cNvPr id="12" name="Shape 10"/>
          <p:cNvSpPr/>
          <p:nvPr/>
        </p:nvSpPr>
        <p:spPr>
          <a:xfrm>
            <a:off x="6233008" y="2331720"/>
            <a:ext cx="5410048" cy="1874520"/>
          </a:xfrm>
          <a:prstGeom prst="roundRect">
            <a:avLst>
              <a:gd name="adj" fmla="val 2927"/>
            </a:avLst>
          </a:prstGeom>
          <a:solidFill>
            <a:srgbClr val="FBEDEC"/>
          </a:solidFill>
          <a:ln w="12700">
            <a:solidFill>
              <a:srgbClr val="F0CFCC"/>
            </a:solidFill>
            <a:prstDash val="solid"/>
          </a:ln>
          <a:effectLst>
            <a:outerShdw sx="100000" sy="100000" kx="0" ky="0" algn="bl" rotWithShape="0" blurRad="101600" dist="12700" dir="5400000">
              <a:srgbClr val="1E2761">
                <a:alpha val="10000"/>
              </a:srgbClr>
            </a:outerShdw>
          </a:effectLst>
        </p:spPr>
      </p:sp>
      <p:sp>
        <p:nvSpPr>
          <p:cNvPr id="13" name="Shape 11"/>
          <p:cNvSpPr/>
          <p:nvPr/>
        </p:nvSpPr>
        <p:spPr>
          <a:xfrm>
            <a:off x="6461608" y="2514600"/>
            <a:ext cx="868680" cy="310896"/>
          </a:xfrm>
          <a:prstGeom prst="roundRect">
            <a:avLst>
              <a:gd name="adj" fmla="val 14706"/>
            </a:avLst>
          </a:prstGeom>
          <a:solidFill>
            <a:srgbClr val="B3261E"/>
          </a:solidFill>
          <a:ln w="12700">
            <a:solidFill>
              <a:srgbClr val="B3261E"/>
            </a:solidFill>
            <a:prstDash val="solid"/>
          </a:ln>
        </p:spPr>
      </p:sp>
      <p:sp>
        <p:nvSpPr>
          <p:cNvPr id="14" name="Text 12"/>
          <p:cNvSpPr/>
          <p:nvPr/>
        </p:nvSpPr>
        <p:spPr>
          <a:xfrm>
            <a:off x="6461608" y="251460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帰結</a:t>
            </a:r>
            <a:endParaRPr lang="en-US" sz="1100" dirty="0"/>
          </a:p>
        </p:txBody>
      </p:sp>
      <p:sp>
        <p:nvSpPr>
          <p:cNvPr id="15" name="Text 13"/>
          <p:cNvSpPr/>
          <p:nvPr/>
        </p:nvSpPr>
        <p:spPr>
          <a:xfrm>
            <a:off x="6461608" y="2971800"/>
            <a:ext cx="4952848" cy="1051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A2E"/>
                </a:solidFill>
                <a:latin typeface="Meiryo" pitchFamily="34" charset="0"/>
                <a:ea typeface="Meiryo" pitchFamily="34" charset="-122"/>
                <a:cs typeface="Meiryo" pitchFamily="34" charset="-120"/>
              </a:rPr>
              <a:t>決めたことの実行漏れが最大のリスク</a:t>
            </a:r>
            <a:endParaRPr lang="en-US" sz="1250" dirty="0"/>
          </a:p>
          <a:p>
            <a:pPr marL="342900" indent="-342900">
              <a:spcAft>
                <a:spcPts val="800"/>
              </a:spcAft>
              <a:buSzPct val="100000"/>
              <a:buChar char="•"/>
            </a:pPr>
            <a:r>
              <a:rPr lang="en-US" sz="1250" dirty="0">
                <a:solidFill>
                  <a:srgbClr val="1A1A2E"/>
                </a:solidFill>
                <a:latin typeface="Meiryo" pitchFamily="34" charset="0"/>
                <a:ea typeface="Meiryo" pitchFamily="34" charset="-122"/>
                <a:cs typeface="Meiryo" pitchFamily="34" charset="-120"/>
              </a:rPr>
              <a:t>実行管理の巧拙が、そのまま業績に直結する</a:t>
            </a:r>
            <a:endParaRPr lang="en-US" sz="1250" dirty="0"/>
          </a:p>
        </p:txBody>
      </p:sp>
      <p:sp>
        <p:nvSpPr>
          <p:cNvPr id="16" name="Shape 14"/>
          <p:cNvSpPr/>
          <p:nvPr/>
        </p:nvSpPr>
        <p:spPr>
          <a:xfrm>
            <a:off x="548640" y="4434840"/>
            <a:ext cx="11094415" cy="1600200"/>
          </a:xfrm>
          <a:prstGeom prst="roundRect">
            <a:avLst>
              <a:gd name="adj" fmla="val 3429"/>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7" name="Text 15"/>
          <p:cNvSpPr/>
          <p:nvPr/>
        </p:nvSpPr>
        <p:spPr>
          <a:xfrm>
            <a:off x="804672" y="4572000"/>
            <a:ext cx="365760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いま起きていること</a:t>
            </a:r>
            <a:endParaRPr lang="en-US" sz="1200" dirty="0"/>
          </a:p>
        </p:txBody>
      </p:sp>
      <p:sp>
        <p:nvSpPr>
          <p:cNvPr id="18" name="Text 16"/>
          <p:cNvSpPr/>
          <p:nvPr/>
        </p:nvSpPr>
        <p:spPr>
          <a:xfrm>
            <a:off x="804672" y="4956048"/>
            <a:ext cx="32918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進捗の確認</a:t>
            </a:r>
            <a:endParaRPr lang="en-US" sz="1000" dirty="0"/>
          </a:p>
        </p:txBody>
      </p:sp>
      <p:sp>
        <p:nvSpPr>
          <p:cNvPr id="19" name="Text 17"/>
          <p:cNvSpPr/>
          <p:nvPr/>
        </p:nvSpPr>
        <p:spPr>
          <a:xfrm>
            <a:off x="804672" y="5212080"/>
            <a:ext cx="3291840" cy="548640"/>
          </a:xfrm>
          <a:prstGeom prst="rect">
            <a:avLst/>
          </a:prstGeom>
          <a:noFill/>
          <a:ln/>
        </p:spPr>
        <p:txBody>
          <a:bodyPr wrap="square" lIns="0" tIns="0" rIns="0" bIns="0" rtlCol="0" anchor="ctr"/>
          <a:lstStyle/>
          <a:p>
            <a:pPr indent="0" marL="0">
              <a:buNone/>
            </a:pPr>
            <a:r>
              <a:rPr lang="en-US" sz="1150" dirty="0">
                <a:solidFill>
                  <a:srgbClr val="1A1A2E"/>
                </a:solidFill>
                <a:latin typeface="Meiryo" pitchFamily="34" charset="0"/>
                <a:ea typeface="Meiryo" pitchFamily="34" charset="-122"/>
                <a:cs typeface="Meiryo" pitchFamily="34" charset="-120"/>
              </a:rPr>
              <a:t>会議での口頭確認に頼っている</a:t>
            </a:r>
            <a:endParaRPr lang="en-US" sz="1150" dirty="0"/>
          </a:p>
        </p:txBody>
      </p:sp>
      <p:sp>
        <p:nvSpPr>
          <p:cNvPr id="20" name="Text 18"/>
          <p:cNvSpPr/>
          <p:nvPr/>
        </p:nvSpPr>
        <p:spPr>
          <a:xfrm>
            <a:off x="4370832" y="4956048"/>
            <a:ext cx="32918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決定事項の追跡</a:t>
            </a:r>
            <a:endParaRPr lang="en-US" sz="1000" dirty="0"/>
          </a:p>
        </p:txBody>
      </p:sp>
      <p:sp>
        <p:nvSpPr>
          <p:cNvPr id="21" name="Text 19"/>
          <p:cNvSpPr/>
          <p:nvPr/>
        </p:nvSpPr>
        <p:spPr>
          <a:xfrm>
            <a:off x="4370832" y="5212080"/>
            <a:ext cx="3291840" cy="548640"/>
          </a:xfrm>
          <a:prstGeom prst="rect">
            <a:avLst/>
          </a:prstGeom>
          <a:noFill/>
          <a:ln/>
        </p:spPr>
        <p:txBody>
          <a:bodyPr wrap="square" lIns="0" tIns="0" rIns="0" bIns="0" rtlCol="0" anchor="ctr"/>
          <a:lstStyle/>
          <a:p>
            <a:pPr indent="0" marL="0">
              <a:buNone/>
            </a:pPr>
            <a:r>
              <a:rPr lang="en-US" sz="1150" dirty="0">
                <a:solidFill>
                  <a:srgbClr val="1A1A2E"/>
                </a:solidFill>
                <a:latin typeface="Meiryo" pitchFamily="34" charset="0"/>
                <a:ea typeface="Meiryo" pitchFamily="34" charset="-122"/>
                <a:cs typeface="Meiryo" pitchFamily="34" charset="-120"/>
              </a:rPr>
              <a:t>担当者の記憶と個人メモに依存している</a:t>
            </a:r>
            <a:endParaRPr lang="en-US" sz="1150" dirty="0"/>
          </a:p>
        </p:txBody>
      </p:sp>
      <p:sp>
        <p:nvSpPr>
          <p:cNvPr id="22" name="Text 20"/>
          <p:cNvSpPr/>
          <p:nvPr/>
        </p:nvSpPr>
        <p:spPr>
          <a:xfrm>
            <a:off x="7936992" y="4956048"/>
            <a:ext cx="3291840"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過去の経緯</a:t>
            </a:r>
            <a:endParaRPr lang="en-US" sz="1000" dirty="0"/>
          </a:p>
        </p:txBody>
      </p:sp>
      <p:sp>
        <p:nvSpPr>
          <p:cNvPr id="23" name="Text 21"/>
          <p:cNvSpPr/>
          <p:nvPr/>
        </p:nvSpPr>
        <p:spPr>
          <a:xfrm>
            <a:off x="7936992" y="5212080"/>
            <a:ext cx="3291840" cy="548640"/>
          </a:xfrm>
          <a:prstGeom prst="rect">
            <a:avLst/>
          </a:prstGeom>
          <a:noFill/>
          <a:ln/>
        </p:spPr>
        <p:txBody>
          <a:bodyPr wrap="square" lIns="0" tIns="0" rIns="0" bIns="0" rtlCol="0" anchor="ctr"/>
          <a:lstStyle/>
          <a:p>
            <a:pPr indent="0" marL="0">
              <a:buNone/>
            </a:pPr>
            <a:r>
              <a:rPr lang="en-US" sz="1150" dirty="0">
                <a:solidFill>
                  <a:srgbClr val="1A1A2E"/>
                </a:solidFill>
                <a:latin typeface="Meiryo" pitchFamily="34" charset="0"/>
                <a:ea typeface="Meiryo" pitchFamily="34" charset="-122"/>
                <a:cs typeface="Meiryo" pitchFamily="34" charset="-120"/>
              </a:rPr>
              <a:t>「どこにあるか」を探すところから始まる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第2章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課題 — 実行管理の仕組みが存在しない</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これはツールの移行ではなく、空白領域の新規立ち上げです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4</a:t>
            </a:r>
            <a:endParaRPr lang="en-US" sz="1000" dirty="0"/>
          </a:p>
        </p:txBody>
      </p:sp>
      <p:sp>
        <p:nvSpPr>
          <p:cNvPr id="8" name="Shape 6"/>
          <p:cNvSpPr/>
          <p:nvPr/>
        </p:nvSpPr>
        <p:spPr>
          <a:xfrm>
            <a:off x="548640" y="2286000"/>
            <a:ext cx="5394960" cy="1737360"/>
          </a:xfrm>
          <a:prstGeom prst="roundRect">
            <a:avLst>
              <a:gd name="adj" fmla="val 315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77240" y="2423160"/>
            <a:ext cx="182880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現状</a:t>
            </a:r>
            <a:endParaRPr lang="en-US" sz="1200" dirty="0"/>
          </a:p>
        </p:txBody>
      </p:sp>
      <p:sp>
        <p:nvSpPr>
          <p:cNvPr id="10" name="Text 8"/>
          <p:cNvSpPr/>
          <p:nvPr/>
        </p:nvSpPr>
        <p:spPr>
          <a:xfrm>
            <a:off x="777240" y="2788920"/>
            <a:ext cx="4937760" cy="10058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2E"/>
                </a:solidFill>
                <a:latin typeface="Meiryo" pitchFamily="34" charset="0"/>
                <a:ea typeface="Meiryo" pitchFamily="34" charset="-122"/>
                <a:cs typeface="Meiryo" pitchFamily="34" charset="-120"/>
              </a:rPr>
              <a:t>案件管理の仕組みが、そもそも無い</a:t>
            </a:r>
            <a:endParaRPr lang="en-US" sz="1250" dirty="0"/>
          </a:p>
          <a:p>
            <a:pPr marL="342900" indent="-342900">
              <a:spcAft>
                <a:spcPts val="1000"/>
              </a:spcAft>
              <a:buSzPct val="100000"/>
              <a:buChar char="•"/>
            </a:pPr>
            <a:r>
              <a:rPr lang="en-US" sz="1250" dirty="0">
                <a:solidFill>
                  <a:srgbClr val="1A1A2E"/>
                </a:solidFill>
                <a:latin typeface="Meiryo" pitchFamily="34" charset="0"/>
                <a:ea typeface="Meiryo" pitchFamily="34" charset="-122"/>
                <a:cs typeface="Meiryo" pitchFamily="34" charset="-120"/>
              </a:rPr>
              <a:t>議事録は OneNote・Word・個人メモに散在</a:t>
            </a:r>
            <a:endParaRPr lang="en-US" sz="1250" dirty="0"/>
          </a:p>
        </p:txBody>
      </p:sp>
      <p:sp>
        <p:nvSpPr>
          <p:cNvPr id="11" name="Shape 9"/>
          <p:cNvSpPr/>
          <p:nvPr/>
        </p:nvSpPr>
        <p:spPr>
          <a:xfrm>
            <a:off x="6245352" y="2286000"/>
            <a:ext cx="5394960" cy="1737360"/>
          </a:xfrm>
          <a:prstGeom prst="roundRect">
            <a:avLst>
              <a:gd name="adj" fmla="val 315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2" name="Text 10"/>
          <p:cNvSpPr/>
          <p:nvPr/>
        </p:nvSpPr>
        <p:spPr>
          <a:xfrm>
            <a:off x="6473952" y="2423160"/>
            <a:ext cx="182880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影響</a:t>
            </a:r>
            <a:endParaRPr lang="en-US" sz="1200" dirty="0"/>
          </a:p>
        </p:txBody>
      </p:sp>
      <p:sp>
        <p:nvSpPr>
          <p:cNvPr id="13" name="Text 11"/>
          <p:cNvSpPr/>
          <p:nvPr/>
        </p:nvSpPr>
        <p:spPr>
          <a:xfrm>
            <a:off x="6473952" y="2788920"/>
            <a:ext cx="4937760" cy="10058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A1A2E"/>
                </a:solidFill>
                <a:latin typeface="Meiryo" pitchFamily="34" charset="0"/>
                <a:ea typeface="Meiryo" pitchFamily="34" charset="-122"/>
                <a:cs typeface="Meiryo" pitchFamily="34" charset="-120"/>
              </a:rPr>
              <a:t>進捗は会議の口頭確認頼み</a:t>
            </a:r>
            <a:endParaRPr lang="en-US" sz="1250" dirty="0"/>
          </a:p>
          <a:p>
            <a:pPr marL="342900" indent="-342900">
              <a:spcAft>
                <a:spcPts val="1000"/>
              </a:spcAft>
              <a:buSzPct val="100000"/>
              <a:buChar char="•"/>
            </a:pPr>
            <a:r>
              <a:rPr lang="en-US" sz="1250" dirty="0">
                <a:solidFill>
                  <a:srgbClr val="1A1A2E"/>
                </a:solidFill>
                <a:latin typeface="Meiryo" pitchFamily="34" charset="0"/>
                <a:ea typeface="Meiryo" pitchFamily="34" charset="-122"/>
                <a:cs typeface="Meiryo" pitchFamily="34" charset="-120"/>
              </a:rPr>
              <a:t>決定事項の追跡が属人的になっている</a:t>
            </a:r>
            <a:endParaRPr lang="en-US" sz="1250" dirty="0"/>
          </a:p>
        </p:txBody>
      </p:sp>
      <p:sp>
        <p:nvSpPr>
          <p:cNvPr id="14" name="Shape 12"/>
          <p:cNvSpPr/>
          <p:nvPr/>
        </p:nvSpPr>
        <p:spPr>
          <a:xfrm>
            <a:off x="548640" y="4251960"/>
            <a:ext cx="11094415" cy="1828800"/>
          </a:xfrm>
          <a:prstGeom prst="roundRect">
            <a:avLst>
              <a:gd name="adj" fmla="val 3000"/>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15" name="Text 13"/>
          <p:cNvSpPr/>
          <p:nvPr/>
        </p:nvSpPr>
        <p:spPr>
          <a:xfrm>
            <a:off x="914400" y="4480560"/>
            <a:ext cx="5943600" cy="50292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探したいときに、探せない</a:t>
            </a:r>
            <a:endParaRPr lang="en-US" sz="2600" dirty="0"/>
          </a:p>
        </p:txBody>
      </p:sp>
      <p:sp>
        <p:nvSpPr>
          <p:cNvPr id="16" name="Text 14"/>
          <p:cNvSpPr/>
          <p:nvPr/>
        </p:nvSpPr>
        <p:spPr>
          <a:xfrm>
            <a:off x="914400" y="5029200"/>
            <a:ext cx="6583680" cy="777240"/>
          </a:xfrm>
          <a:prstGeom prst="rect">
            <a:avLst/>
          </a:prstGeom>
          <a:noFill/>
          <a:ln/>
        </p:spPr>
        <p:txBody>
          <a:bodyPr wrap="square" lIns="0" tIns="0" rIns="0" bIns="0" rtlCol="0" anchor="ctr"/>
          <a:lstStyle/>
          <a:p>
            <a:pPr indent="0" marL="0">
              <a:lnSpc>
                <a:spcPts val="2000"/>
              </a:lnSpc>
              <a:buNone/>
            </a:pPr>
            <a:r>
              <a:rPr lang="en-US" sz="1250" dirty="0">
                <a:solidFill>
                  <a:srgbClr val="CADCFC"/>
                </a:solidFill>
                <a:latin typeface="Meiryo" pitchFamily="34" charset="0"/>
                <a:ea typeface="Meiryo" pitchFamily="34" charset="-122"/>
                <a:cs typeface="Meiryo" pitchFamily="34" charset="-120"/>
              </a:rPr>
              <a:t>「あの件どうなった？」「あの資料どこ？」を探すところから仕事が始まっている。</a:t>
            </a:r>
            <a:endParaRPr lang="en-US" sz="1250" dirty="0"/>
          </a:p>
          <a:p>
            <a:pPr indent="0" marL="0">
              <a:lnSpc>
                <a:spcPts val="2000"/>
              </a:lnSpc>
              <a:buNone/>
            </a:pPr>
            <a:r>
              <a:rPr lang="en-US" sz="1250" dirty="0">
                <a:solidFill>
                  <a:srgbClr val="CADCFC"/>
                </a:solidFill>
                <a:latin typeface="Meiryo" pitchFamily="34" charset="0"/>
                <a:ea typeface="Meiryo" pitchFamily="34" charset="-122"/>
                <a:cs typeface="Meiryo" pitchFamily="34" charset="-120"/>
              </a:rPr>
              <a:t>情報が無いのではなく、たどり着けない状態です。</a:t>
            </a:r>
            <a:endParaRPr lang="en-US" sz="1250" dirty="0"/>
          </a:p>
        </p:txBody>
      </p:sp>
      <p:sp>
        <p:nvSpPr>
          <p:cNvPr id="17" name="Shape 15"/>
          <p:cNvSpPr/>
          <p:nvPr/>
        </p:nvSpPr>
        <p:spPr>
          <a:xfrm>
            <a:off x="8046720" y="4526280"/>
            <a:ext cx="3291840" cy="1280160"/>
          </a:xfrm>
          <a:prstGeom prst="roundRect">
            <a:avLst>
              <a:gd name="adj" fmla="val 5714"/>
            </a:avLst>
          </a:prstGeom>
          <a:solidFill>
            <a:srgbClr val="3A4A8F"/>
          </a:solidFill>
          <a:ln w="12700">
            <a:solidFill>
              <a:srgbClr val="3A4A8F"/>
            </a:solidFill>
            <a:prstDash val="solid"/>
          </a:ln>
        </p:spPr>
      </p:sp>
      <p:sp>
        <p:nvSpPr>
          <p:cNvPr id="18" name="Text 16"/>
          <p:cNvSpPr/>
          <p:nvPr/>
        </p:nvSpPr>
        <p:spPr>
          <a:xfrm>
            <a:off x="8183880" y="4526280"/>
            <a:ext cx="3017520" cy="1280160"/>
          </a:xfrm>
          <a:prstGeom prst="rect">
            <a:avLst/>
          </a:prstGeom>
          <a:noFill/>
          <a:ln/>
        </p:spPr>
        <p:txBody>
          <a:bodyPr wrap="square" lIns="0" tIns="0" rIns="0" bIns="0" rtlCol="0" anchor="ctr"/>
          <a:lstStyle/>
          <a:p>
            <a:pPr algn="ctr" indent="0" marL="0">
              <a:lnSpc>
                <a:spcPts val="2200"/>
              </a:lnSpc>
              <a:buNone/>
            </a:pPr>
            <a:r>
              <a:rPr lang="en-US" sz="1250" b="1" dirty="0">
                <a:solidFill>
                  <a:srgbClr val="FFFFFF"/>
                </a:solidFill>
                <a:latin typeface="Meiryo" pitchFamily="34" charset="0"/>
                <a:ea typeface="Meiryo" pitchFamily="34" charset="-122"/>
                <a:cs typeface="Meiryo" pitchFamily="34" charset="-120"/>
              </a:rPr>
              <a:t>この「探す時間」が、</a:t>
            </a:r>
            <a:endParaRPr lang="en-US" sz="1250" dirty="0"/>
          </a:p>
          <a:p>
            <a:pPr algn="ctr" indent="0" marL="0">
              <a:lnSpc>
                <a:spcPts val="2200"/>
              </a:lnSpc>
              <a:buNone/>
            </a:pPr>
            <a:r>
              <a:rPr lang="en-US" sz="1250" b="1" dirty="0">
                <a:solidFill>
                  <a:srgbClr val="FFFFFF"/>
                </a:solidFill>
                <a:latin typeface="Meiryo" pitchFamily="34" charset="0"/>
                <a:ea typeface="Meiryo" pitchFamily="34" charset="-122"/>
                <a:cs typeface="Meiryo" pitchFamily="34" charset="-120"/>
              </a:rPr>
              <a:t>再建の実行スピードを</a:t>
            </a:r>
            <a:endParaRPr lang="en-US" sz="1250" dirty="0"/>
          </a:p>
          <a:p>
            <a:pPr algn="ctr" indent="0" marL="0">
              <a:lnSpc>
                <a:spcPts val="2200"/>
              </a:lnSpc>
              <a:buNone/>
            </a:pPr>
            <a:r>
              <a:rPr lang="en-US" sz="1250" b="1" dirty="0">
                <a:solidFill>
                  <a:srgbClr val="FFFFFF"/>
                </a:solidFill>
                <a:latin typeface="Meiryo" pitchFamily="34" charset="0"/>
                <a:ea typeface="Meiryo" pitchFamily="34" charset="-122"/>
                <a:cs typeface="Meiryo" pitchFamily="34" charset="-120"/>
              </a:rPr>
              <a:t>直接削っています</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第3章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要件 — 必要なのは「つながる」管理基盤</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案件 ⇔ タスク ⇔ 議事録 が1か所で紐づく、データベース型の基盤が必要です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5</a:t>
            </a:r>
            <a:endParaRPr lang="en-US" sz="1000" dirty="0"/>
          </a:p>
        </p:txBody>
      </p:sp>
      <p:sp>
        <p:nvSpPr>
          <p:cNvPr id="8" name="Text 6"/>
          <p:cNvSpPr/>
          <p:nvPr/>
        </p:nvSpPr>
        <p:spPr>
          <a:xfrm>
            <a:off x="548640" y="2240280"/>
            <a:ext cx="2743200" cy="274320"/>
          </a:xfrm>
          <a:prstGeom prst="rect">
            <a:avLst/>
          </a:prstGeom>
          <a:noFill/>
          <a:ln/>
        </p:spPr>
        <p:txBody>
          <a:bodyPr wrap="square" lIns="0" tIns="0" rIns="0" bIns="0" rtlCol="0" anchor="ctr"/>
          <a:lstStyle/>
          <a:p>
            <a:pPr indent="0" marL="0">
              <a:buNone/>
            </a:pPr>
            <a:r>
              <a:rPr lang="en-US" sz="1200" b="1" dirty="0">
                <a:solidFill>
                  <a:srgbClr val="6B7280"/>
                </a:solidFill>
                <a:latin typeface="Meiryo" pitchFamily="34" charset="0"/>
                <a:ea typeface="Meiryo" pitchFamily="34" charset="-122"/>
                <a:cs typeface="Meiryo" pitchFamily="34" charset="-120"/>
              </a:rPr>
              <a:t>機能要件</a:t>
            </a:r>
            <a:endParaRPr lang="en-US" sz="1200" dirty="0"/>
          </a:p>
        </p:txBody>
      </p:sp>
      <p:sp>
        <p:nvSpPr>
          <p:cNvPr id="9" name="Shape 7"/>
          <p:cNvSpPr/>
          <p:nvPr/>
        </p:nvSpPr>
        <p:spPr>
          <a:xfrm>
            <a:off x="548640" y="2560320"/>
            <a:ext cx="5437480" cy="749808"/>
          </a:xfrm>
          <a:prstGeom prst="roundRect">
            <a:avLst>
              <a:gd name="adj" fmla="val 731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0" name="Shape 8"/>
          <p:cNvSpPr/>
          <p:nvPr/>
        </p:nvSpPr>
        <p:spPr>
          <a:xfrm>
            <a:off x="713232" y="2779776"/>
            <a:ext cx="310896" cy="310896"/>
          </a:xfrm>
          <a:prstGeom prst="roundRect">
            <a:avLst>
              <a:gd name="adj" fmla="val 50000"/>
            </a:avLst>
          </a:prstGeom>
          <a:solidFill>
            <a:srgbClr val="CADCFC"/>
          </a:solidFill>
          <a:ln w="12700">
            <a:solidFill>
              <a:srgbClr val="CADCFC"/>
            </a:solidFill>
            <a:prstDash val="solid"/>
          </a:ln>
        </p:spPr>
      </p:sp>
      <p:sp>
        <p:nvSpPr>
          <p:cNvPr id="11" name="Text 9"/>
          <p:cNvSpPr/>
          <p:nvPr/>
        </p:nvSpPr>
        <p:spPr>
          <a:xfrm>
            <a:off x="713232" y="2779776"/>
            <a:ext cx="310896" cy="310896"/>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1</a:t>
            </a:r>
            <a:endParaRPr lang="en-US" sz="1000" dirty="0"/>
          </a:p>
        </p:txBody>
      </p:sp>
      <p:sp>
        <p:nvSpPr>
          <p:cNvPr id="12" name="Text 10"/>
          <p:cNvSpPr/>
          <p:nvPr/>
        </p:nvSpPr>
        <p:spPr>
          <a:xfrm>
            <a:off x="1115568" y="2651760"/>
            <a:ext cx="4705960" cy="274320"/>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相互リンク</a:t>
            </a:r>
            <a:endParaRPr lang="en-US" sz="1250" dirty="0"/>
          </a:p>
        </p:txBody>
      </p:sp>
      <p:sp>
        <p:nvSpPr>
          <p:cNvPr id="13" name="Text 11"/>
          <p:cNvSpPr/>
          <p:nvPr/>
        </p:nvSpPr>
        <p:spPr>
          <a:xfrm>
            <a:off x="1115568" y="2926080"/>
            <a:ext cx="4705960" cy="329184"/>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案件を開けば、関連する議事録・決定事項・担当タスクにそのまま辿り着ける</a:t>
            </a:r>
            <a:endParaRPr lang="en-US" sz="950" dirty="0"/>
          </a:p>
        </p:txBody>
      </p:sp>
      <p:sp>
        <p:nvSpPr>
          <p:cNvPr id="14" name="Shape 12"/>
          <p:cNvSpPr/>
          <p:nvPr/>
        </p:nvSpPr>
        <p:spPr>
          <a:xfrm>
            <a:off x="6205576" y="2560320"/>
            <a:ext cx="5437480" cy="749808"/>
          </a:xfrm>
          <a:prstGeom prst="roundRect">
            <a:avLst>
              <a:gd name="adj" fmla="val 731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5" name="Shape 13"/>
          <p:cNvSpPr/>
          <p:nvPr/>
        </p:nvSpPr>
        <p:spPr>
          <a:xfrm>
            <a:off x="6370168" y="2779776"/>
            <a:ext cx="310896" cy="310896"/>
          </a:xfrm>
          <a:prstGeom prst="roundRect">
            <a:avLst>
              <a:gd name="adj" fmla="val 50000"/>
            </a:avLst>
          </a:prstGeom>
          <a:solidFill>
            <a:srgbClr val="CADCFC"/>
          </a:solidFill>
          <a:ln w="12700">
            <a:solidFill>
              <a:srgbClr val="CADCFC"/>
            </a:solidFill>
            <a:prstDash val="solid"/>
          </a:ln>
        </p:spPr>
      </p:sp>
      <p:sp>
        <p:nvSpPr>
          <p:cNvPr id="16" name="Text 14"/>
          <p:cNvSpPr/>
          <p:nvPr/>
        </p:nvSpPr>
        <p:spPr>
          <a:xfrm>
            <a:off x="6370168" y="2779776"/>
            <a:ext cx="310896" cy="310896"/>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2</a:t>
            </a:r>
            <a:endParaRPr lang="en-US" sz="1000" dirty="0"/>
          </a:p>
        </p:txBody>
      </p:sp>
      <p:sp>
        <p:nvSpPr>
          <p:cNvPr id="17" name="Text 15"/>
          <p:cNvSpPr/>
          <p:nvPr/>
        </p:nvSpPr>
        <p:spPr>
          <a:xfrm>
            <a:off x="6772504" y="2651760"/>
            <a:ext cx="4705960" cy="274320"/>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立場別ビュー</a:t>
            </a:r>
            <a:endParaRPr lang="en-US" sz="1250" dirty="0"/>
          </a:p>
        </p:txBody>
      </p:sp>
      <p:sp>
        <p:nvSpPr>
          <p:cNvPr id="18" name="Text 16"/>
          <p:cNvSpPr/>
          <p:nvPr/>
        </p:nvSpPr>
        <p:spPr>
          <a:xfrm>
            <a:off x="6772504" y="2926080"/>
            <a:ext cx="4705960" cy="329184"/>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同じデータを、経営はガント／PMOは週次／部門はボード・カレンダーで見る</a:t>
            </a:r>
            <a:endParaRPr lang="en-US" sz="950" dirty="0"/>
          </a:p>
        </p:txBody>
      </p:sp>
      <p:sp>
        <p:nvSpPr>
          <p:cNvPr id="19" name="Shape 17"/>
          <p:cNvSpPr/>
          <p:nvPr/>
        </p:nvSpPr>
        <p:spPr>
          <a:xfrm>
            <a:off x="548640" y="3429000"/>
            <a:ext cx="5437480" cy="749808"/>
          </a:xfrm>
          <a:prstGeom prst="roundRect">
            <a:avLst>
              <a:gd name="adj" fmla="val 731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0" name="Shape 18"/>
          <p:cNvSpPr/>
          <p:nvPr/>
        </p:nvSpPr>
        <p:spPr>
          <a:xfrm>
            <a:off x="713232" y="3648456"/>
            <a:ext cx="310896" cy="310896"/>
          </a:xfrm>
          <a:prstGeom prst="roundRect">
            <a:avLst>
              <a:gd name="adj" fmla="val 50000"/>
            </a:avLst>
          </a:prstGeom>
          <a:solidFill>
            <a:srgbClr val="CADCFC"/>
          </a:solidFill>
          <a:ln w="12700">
            <a:solidFill>
              <a:srgbClr val="CADCFC"/>
            </a:solidFill>
            <a:prstDash val="solid"/>
          </a:ln>
        </p:spPr>
      </p:sp>
      <p:sp>
        <p:nvSpPr>
          <p:cNvPr id="21" name="Text 19"/>
          <p:cNvSpPr/>
          <p:nvPr/>
        </p:nvSpPr>
        <p:spPr>
          <a:xfrm>
            <a:off x="713232" y="3648456"/>
            <a:ext cx="310896" cy="310896"/>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3</a:t>
            </a:r>
            <a:endParaRPr lang="en-US" sz="1000" dirty="0"/>
          </a:p>
        </p:txBody>
      </p:sp>
      <p:sp>
        <p:nvSpPr>
          <p:cNvPr id="22" name="Text 20"/>
          <p:cNvSpPr/>
          <p:nvPr/>
        </p:nvSpPr>
        <p:spPr>
          <a:xfrm>
            <a:off x="1115568" y="3520440"/>
            <a:ext cx="4705960" cy="274320"/>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探したいときに探せる</a:t>
            </a:r>
            <a:endParaRPr lang="en-US" sz="1250" dirty="0"/>
          </a:p>
        </p:txBody>
      </p:sp>
      <p:sp>
        <p:nvSpPr>
          <p:cNvPr id="23" name="Text 21"/>
          <p:cNvSpPr/>
          <p:nvPr/>
        </p:nvSpPr>
        <p:spPr>
          <a:xfrm>
            <a:off x="1115568" y="3794760"/>
            <a:ext cx="4705960" cy="329184"/>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横断検索で、過去の経緯に数クリックで到達できる</a:t>
            </a:r>
            <a:endParaRPr lang="en-US" sz="950" dirty="0"/>
          </a:p>
        </p:txBody>
      </p:sp>
      <p:sp>
        <p:nvSpPr>
          <p:cNvPr id="24" name="Shape 22"/>
          <p:cNvSpPr/>
          <p:nvPr/>
        </p:nvSpPr>
        <p:spPr>
          <a:xfrm>
            <a:off x="6205576" y="3429000"/>
            <a:ext cx="5437480" cy="749808"/>
          </a:xfrm>
          <a:prstGeom prst="roundRect">
            <a:avLst>
              <a:gd name="adj" fmla="val 731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5" name="Shape 23"/>
          <p:cNvSpPr/>
          <p:nvPr/>
        </p:nvSpPr>
        <p:spPr>
          <a:xfrm>
            <a:off x="6370168" y="3648456"/>
            <a:ext cx="310896" cy="310896"/>
          </a:xfrm>
          <a:prstGeom prst="roundRect">
            <a:avLst>
              <a:gd name="adj" fmla="val 50000"/>
            </a:avLst>
          </a:prstGeom>
          <a:solidFill>
            <a:srgbClr val="CADCFC"/>
          </a:solidFill>
          <a:ln w="12700">
            <a:solidFill>
              <a:srgbClr val="CADCFC"/>
            </a:solidFill>
            <a:prstDash val="solid"/>
          </a:ln>
        </p:spPr>
      </p:sp>
      <p:sp>
        <p:nvSpPr>
          <p:cNvPr id="26" name="Text 24"/>
          <p:cNvSpPr/>
          <p:nvPr/>
        </p:nvSpPr>
        <p:spPr>
          <a:xfrm>
            <a:off x="6370168" y="3648456"/>
            <a:ext cx="310896" cy="310896"/>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4</a:t>
            </a:r>
            <a:endParaRPr lang="en-US" sz="1000" dirty="0"/>
          </a:p>
        </p:txBody>
      </p:sp>
      <p:sp>
        <p:nvSpPr>
          <p:cNvPr id="27" name="Text 25"/>
          <p:cNvSpPr/>
          <p:nvPr/>
        </p:nvSpPr>
        <p:spPr>
          <a:xfrm>
            <a:off x="6772504" y="3520440"/>
            <a:ext cx="4705960" cy="274320"/>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決定事項の一斉展開</a:t>
            </a:r>
            <a:endParaRPr lang="en-US" sz="1250" dirty="0"/>
          </a:p>
        </p:txBody>
      </p:sp>
      <p:sp>
        <p:nvSpPr>
          <p:cNvPr id="28" name="Text 26"/>
          <p:cNvSpPr/>
          <p:nvPr/>
        </p:nvSpPr>
        <p:spPr>
          <a:xfrm>
            <a:off x="6772504" y="3794760"/>
            <a:ext cx="4705960" cy="329184"/>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全社へ展開でき、原本を直せば展開先すべてに自動反映される</a:t>
            </a:r>
            <a:endParaRPr lang="en-US" sz="950" dirty="0"/>
          </a:p>
        </p:txBody>
      </p:sp>
      <p:sp>
        <p:nvSpPr>
          <p:cNvPr id="29" name="Text 27"/>
          <p:cNvSpPr/>
          <p:nvPr/>
        </p:nvSpPr>
        <p:spPr>
          <a:xfrm>
            <a:off x="548640" y="4343400"/>
            <a:ext cx="2743200" cy="274320"/>
          </a:xfrm>
          <a:prstGeom prst="rect">
            <a:avLst/>
          </a:prstGeom>
          <a:noFill/>
          <a:ln/>
        </p:spPr>
        <p:txBody>
          <a:bodyPr wrap="square" lIns="0" tIns="0" rIns="0" bIns="0" rtlCol="0" anchor="ctr"/>
          <a:lstStyle/>
          <a:p>
            <a:pPr indent="0" marL="0">
              <a:buNone/>
            </a:pPr>
            <a:r>
              <a:rPr lang="en-US" sz="1200" b="1" dirty="0">
                <a:solidFill>
                  <a:srgbClr val="6B7280"/>
                </a:solidFill>
                <a:latin typeface="Meiryo" pitchFamily="34" charset="0"/>
                <a:ea typeface="Meiryo" pitchFamily="34" charset="-122"/>
                <a:cs typeface="Meiryo" pitchFamily="34" charset="-120"/>
              </a:rPr>
              <a:t>運用要件</a:t>
            </a:r>
            <a:endParaRPr lang="en-US" sz="1200" dirty="0"/>
          </a:p>
        </p:txBody>
      </p:sp>
      <p:sp>
        <p:nvSpPr>
          <p:cNvPr id="30" name="Shape 28"/>
          <p:cNvSpPr/>
          <p:nvPr/>
        </p:nvSpPr>
        <p:spPr>
          <a:xfrm>
            <a:off x="548640" y="4663440"/>
            <a:ext cx="3643274" cy="914400"/>
          </a:xfrm>
          <a:prstGeom prst="roundRect">
            <a:avLst>
              <a:gd name="adj" fmla="val 6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1" name="Text 29"/>
          <p:cNvSpPr/>
          <p:nvPr/>
        </p:nvSpPr>
        <p:spPr>
          <a:xfrm>
            <a:off x="731520" y="4791456"/>
            <a:ext cx="3277514" cy="40233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非エンジニアの全員が使えること</a:t>
            </a:r>
            <a:endParaRPr lang="en-US" sz="1200" dirty="0"/>
          </a:p>
        </p:txBody>
      </p:sp>
      <p:sp>
        <p:nvSpPr>
          <p:cNvPr id="32" name="Text 30"/>
          <p:cNvSpPr/>
          <p:nvPr/>
        </p:nvSpPr>
        <p:spPr>
          <a:xfrm>
            <a:off x="731520" y="5193792"/>
            <a:ext cx="3277514" cy="274320"/>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特別な教育を前提にしない</a:t>
            </a:r>
            <a:endParaRPr lang="en-US" sz="950" dirty="0"/>
          </a:p>
        </p:txBody>
      </p:sp>
      <p:sp>
        <p:nvSpPr>
          <p:cNvPr id="33" name="Shape 31"/>
          <p:cNvSpPr/>
          <p:nvPr/>
        </p:nvSpPr>
        <p:spPr>
          <a:xfrm>
            <a:off x="4274210" y="4663440"/>
            <a:ext cx="3643274" cy="914400"/>
          </a:xfrm>
          <a:prstGeom prst="roundRect">
            <a:avLst>
              <a:gd name="adj" fmla="val 6000"/>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34" name="Text 32"/>
          <p:cNvSpPr/>
          <p:nvPr/>
        </p:nvSpPr>
        <p:spPr>
          <a:xfrm>
            <a:off x="4457090" y="4791456"/>
            <a:ext cx="3277514" cy="40233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SSO・権限による統制</a:t>
            </a:r>
            <a:endParaRPr lang="en-US" sz="1200" dirty="0"/>
          </a:p>
        </p:txBody>
      </p:sp>
      <p:sp>
        <p:nvSpPr>
          <p:cNvPr id="35" name="Text 33"/>
          <p:cNvSpPr/>
          <p:nvPr/>
        </p:nvSpPr>
        <p:spPr>
          <a:xfrm>
            <a:off x="4457090" y="5193792"/>
            <a:ext cx="3277514" cy="274320"/>
          </a:xfrm>
          <a:prstGeom prst="rect">
            <a:avLst/>
          </a:prstGeom>
          <a:noFill/>
          <a:ln/>
        </p:spPr>
        <p:txBody>
          <a:bodyPr wrap="square" lIns="0" tIns="0" rIns="0" bIns="0" rtlCol="0" anchor="ctr"/>
          <a:lstStyle/>
          <a:p>
            <a:pPr indent="0" marL="0">
              <a:buNone/>
            </a:pPr>
            <a:r>
              <a:rPr lang="en-US" sz="950" b="1" dirty="0">
                <a:solidFill>
                  <a:srgbClr val="1E2761"/>
                </a:solidFill>
                <a:latin typeface="Meiryo" pitchFamily="34" charset="0"/>
                <a:ea typeface="Meiryo" pitchFamily="34" charset="-122"/>
                <a:cs typeface="Meiryo" pitchFamily="34" charset="-120"/>
              </a:rPr>
              <a:t>→ 第6章で詳しくご説明します</a:t>
            </a:r>
            <a:endParaRPr lang="en-US" sz="950" dirty="0"/>
          </a:p>
        </p:txBody>
      </p:sp>
      <p:sp>
        <p:nvSpPr>
          <p:cNvPr id="36" name="Shape 34"/>
          <p:cNvSpPr/>
          <p:nvPr/>
        </p:nvSpPr>
        <p:spPr>
          <a:xfrm>
            <a:off x="7999781" y="4663440"/>
            <a:ext cx="3643274" cy="914400"/>
          </a:xfrm>
          <a:prstGeom prst="roundRect">
            <a:avLst>
              <a:gd name="adj" fmla="val 6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7" name="Text 35"/>
          <p:cNvSpPr/>
          <p:nvPr/>
        </p:nvSpPr>
        <p:spPr>
          <a:xfrm>
            <a:off x="8182661" y="4791456"/>
            <a:ext cx="3277514" cy="40233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1製品で完結すること</a:t>
            </a:r>
            <a:endParaRPr lang="en-US" sz="1200" dirty="0"/>
          </a:p>
        </p:txBody>
      </p:sp>
      <p:sp>
        <p:nvSpPr>
          <p:cNvPr id="38" name="Text 36"/>
          <p:cNvSpPr/>
          <p:nvPr/>
        </p:nvSpPr>
        <p:spPr>
          <a:xfrm>
            <a:off x="8182661" y="5193792"/>
            <a:ext cx="3277514" cy="274320"/>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教育コストと現場の混乱を最小化する</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第4章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選定 — 要件を固定したうえで、4案を比較する</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先に要件を決めてから比較すると、1製品で満たせるのは Notion だけでした</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4415" cy="914400"/>
        </p:xfrm>
        <a:graphic>
          <a:graphicData uri="http://schemas.openxmlformats.org/drawingml/2006/table">
            <a:tbl>
              <a:tblPr/>
              <a:tblGrid>
                <a:gridCol w="3200400"/>
                <a:gridCol w="1975104"/>
                <a:gridCol w="1975104"/>
                <a:gridCol w="1975104"/>
                <a:gridCol w="1965960"/>
              </a:tblGrid>
              <a:tr h="38404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要件</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 M365の組合せ</a:t>
                      </a:r>
                      <a:endParaRPr lang="en-US" sz="1050" dirty="0">
                        <a:latin typeface="Meiryo" charset="0"/>
                        <a:ea typeface="Meiryo" charset="0"/>
                        <a:cs typeface="Meiryo" charset="0"/>
                      </a:endParaRPr>
                    </a:p>
                    <a:p>
                      <a:pPr algn="ctr" indent="0" marL="0">
                        <a:buNone/>
                      </a:pPr>
                      <a:r>
                        <a:rPr lang="en-US" sz="1050" b="1" dirty="0">
                          <a:solidFill>
                            <a:srgbClr val="FFFFFF"/>
                          </a:solidFill>
                          <a:latin typeface="Meiryo" pitchFamily="34" charset="0"/>
                          <a:ea typeface="Meiryo" pitchFamily="34" charset="-122"/>
                          <a:cs typeface="Meiryo" pitchFamily="34" charset="-120"/>
                        </a:rPr>
                        <a:t>(Planner/Lists/Loop)</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 無料ツール</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C. 専用ツール</a:t>
                      </a:r>
                      <a:endParaRPr lang="en-US" sz="1050" dirty="0">
                        <a:latin typeface="Meiryo" charset="0"/>
                        <a:ea typeface="Meiryo" charset="0"/>
                        <a:cs typeface="Meiryo" charset="0"/>
                      </a:endParaRPr>
                    </a:p>
                    <a:p>
                      <a:pPr algn="ctr" indent="0" marL="0">
                        <a:buNone/>
                      </a:pPr>
                      <a:r>
                        <a:rPr lang="en-US" sz="1050" b="1" dirty="0">
                          <a:solidFill>
                            <a:srgbClr val="FFFFFF"/>
                          </a:solidFill>
                          <a:latin typeface="Meiryo" pitchFamily="34" charset="0"/>
                          <a:ea typeface="Meiryo" pitchFamily="34" charset="-122"/>
                          <a:cs typeface="Meiryo" pitchFamily="34" charset="-120"/>
                        </a:rPr>
                        <a:t>(Asana/Backlog等)</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D. Notion</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1. 案件⇔タスク⇔議事録の相互リンク（DB型）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ツールごとに分散しリンク不可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機能不足</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タスク特化・議事録は別</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リレーションで実現</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29260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2. 同一データの立場別ビュー</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限定的</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対応</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対応</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3. 横断検索・過去経緯への即到達</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ツールをまたぐ</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限定的</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議事録は範囲外</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1か所で完結</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4. 非エンジニアの全員が使える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複数ツールの習熟が必要</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簡易</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専門的</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ミニマニュアル前提</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5. ガバナンス（SSO・権限）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M365で統制済</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有料機能・統制不可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対応</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SSO=Business以上（第6章）</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29260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6. 1製品で完結（教育コスト最小化）</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複数併用</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複数併用</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複数併用</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1製品</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（参考）社内での実証</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経営層で3か月実運用済み</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5669280"/>
            <a:ext cx="11094415" cy="658368"/>
          </a:xfrm>
          <a:prstGeom prst="roundRect">
            <a:avLst>
              <a:gd name="adj" fmla="val 8333"/>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868680" y="5669280"/>
            <a:ext cx="7985455" cy="65836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「部門ごとの無料ツール乱立こそシャドーITリスク。有料1本に統制する方が、ガバナンスは強くなる」</a:t>
            </a:r>
            <a:endParaRPr lang="en-US" sz="1250" dirty="0"/>
          </a:p>
        </p:txBody>
      </p:sp>
      <p:sp>
        <p:nvSpPr>
          <p:cNvPr id="11" name="Text 8"/>
          <p:cNvSpPr/>
          <p:nvPr/>
        </p:nvSpPr>
        <p:spPr>
          <a:xfrm>
            <a:off x="8762695" y="5669280"/>
            <a:ext cx="2651760" cy="658368"/>
          </a:xfrm>
          <a:prstGeom prst="rect">
            <a:avLst/>
          </a:prstGeom>
          <a:noFill/>
          <a:ln/>
        </p:spPr>
        <p:txBody>
          <a:bodyPr wrap="square" lIns="0" tIns="0" rIns="0" bIns="0" rtlCol="0" anchor="ctr"/>
          <a:lstStyle/>
          <a:p>
            <a:pPr algn="r" indent="0" marL="0">
              <a:buNone/>
            </a:pPr>
            <a:r>
              <a:rPr lang="en-US" sz="950" dirty="0">
                <a:solidFill>
                  <a:srgbClr val="CADCFC"/>
                </a:solidFill>
                <a:latin typeface="Meiryo" pitchFamily="34" charset="0"/>
                <a:ea typeface="Meiryo" pitchFamily="34" charset="-122"/>
                <a:cs typeface="Meiryo" pitchFamily="34" charset="-120"/>
              </a:rPr>
              <a:t>B案（無料ツール）を選ばない理由</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第4章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選定 — M365とは役割が異なり、置き換えではありません</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M365 は継続して併用します。Notion は M365 が担っていない領域を埋めます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7</a:t>
            </a:r>
            <a:endParaRPr lang="en-US" sz="1000" dirty="0"/>
          </a:p>
        </p:txBody>
      </p:sp>
      <p:sp>
        <p:nvSpPr>
          <p:cNvPr id="8" name="Shape 6"/>
          <p:cNvSpPr/>
          <p:nvPr/>
        </p:nvSpPr>
        <p:spPr>
          <a:xfrm>
            <a:off x="548640" y="2240280"/>
            <a:ext cx="11094415" cy="1051560"/>
          </a:xfrm>
          <a:prstGeom prst="roundRect">
            <a:avLst>
              <a:gd name="adj" fmla="val 5217"/>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868680" y="2240280"/>
            <a:ext cx="10454335" cy="1051560"/>
          </a:xfrm>
          <a:prstGeom prst="rect">
            <a:avLst/>
          </a:prstGeom>
          <a:noFill/>
          <a:ln/>
        </p:spPr>
        <p:txBody>
          <a:bodyPr wrap="square" lIns="0" tIns="0" rIns="0" bIns="0" rtlCol="0" anchor="ctr"/>
          <a:lstStyle/>
          <a:p>
            <a:pPr indent="0" marL="0">
              <a:lnSpc>
                <a:spcPts val="2600"/>
              </a:lnSpc>
              <a:buNone/>
            </a:pPr>
            <a:r>
              <a:rPr lang="en-US" sz="1450" b="1" dirty="0">
                <a:solidFill>
                  <a:srgbClr val="FFFFFF"/>
                </a:solidFill>
                <a:latin typeface="Meiryo" pitchFamily="34" charset="0"/>
                <a:ea typeface="Meiryo" pitchFamily="34" charset="-122"/>
                <a:cs typeface="Meiryo" pitchFamily="34" charset="-120"/>
              </a:rPr>
              <a:t>「M365で解決できるなら、この数年ですでに解決していたはず。</a:t>
            </a:r>
            <a:endParaRPr lang="en-US" sz="1450" dirty="0"/>
          </a:p>
          <a:p>
            <a:pPr indent="0" marL="0">
              <a:lnSpc>
                <a:spcPts val="2600"/>
              </a:lnSpc>
              <a:buNone/>
            </a:pPr>
            <a:r>
              <a:rPr lang="en-US" sz="1450" b="1" dirty="0">
                <a:solidFill>
                  <a:srgbClr val="FFFFFF"/>
                </a:solidFill>
                <a:latin typeface="Meiryo" pitchFamily="34" charset="0"/>
                <a:ea typeface="Meiryo" pitchFamily="34" charset="-122"/>
                <a:cs typeface="Meiryo" pitchFamily="34" charset="-120"/>
              </a:rPr>
              <a:t>複数アプリの組み合わせは情報散在の再生産であり、いま解決したい課題そのものである」</a:t>
            </a:r>
            <a:endParaRPr lang="en-US" sz="1450" dirty="0"/>
          </a:p>
        </p:txBody>
      </p:sp>
      <p:sp>
        <p:nvSpPr>
          <p:cNvPr id="10" name="Text 8"/>
          <p:cNvSpPr/>
          <p:nvPr/>
        </p:nvSpPr>
        <p:spPr>
          <a:xfrm>
            <a:off x="548640" y="3456432"/>
            <a:ext cx="3657600" cy="256032"/>
          </a:xfrm>
          <a:prstGeom prst="rect">
            <a:avLst/>
          </a:prstGeom>
          <a:noFill/>
          <a:ln/>
        </p:spPr>
        <p:txBody>
          <a:bodyPr wrap="square" lIns="0" tIns="0" rIns="0" bIns="0" rtlCol="0" anchor="ctr"/>
          <a:lstStyle/>
          <a:p>
            <a:pPr indent="0" marL="0">
              <a:buNone/>
            </a:pPr>
            <a:r>
              <a:rPr lang="en-US" sz="1150" b="1" dirty="0">
                <a:solidFill>
                  <a:srgbClr val="6B7280"/>
                </a:solidFill>
                <a:latin typeface="Meiryo" pitchFamily="34" charset="0"/>
                <a:ea typeface="Meiryo" pitchFamily="34" charset="-122"/>
                <a:cs typeface="Meiryo" pitchFamily="34" charset="-120"/>
              </a:rPr>
              <a:t>役割の住み分け</a:t>
            </a:r>
            <a:endParaRPr lang="en-US" sz="1150" dirty="0"/>
          </a:p>
        </p:txBody>
      </p:sp>
      <p:sp>
        <p:nvSpPr>
          <p:cNvPr id="11" name="Shape 9"/>
          <p:cNvSpPr/>
          <p:nvPr/>
        </p:nvSpPr>
        <p:spPr>
          <a:xfrm>
            <a:off x="548640" y="3767328"/>
            <a:ext cx="3570122" cy="1691640"/>
          </a:xfrm>
          <a:prstGeom prst="roundRect">
            <a:avLst>
              <a:gd name="adj" fmla="val 3243"/>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12" name="Text 10"/>
          <p:cNvSpPr/>
          <p:nvPr/>
        </p:nvSpPr>
        <p:spPr>
          <a:xfrm>
            <a:off x="777240" y="3913632"/>
            <a:ext cx="3112922" cy="310896"/>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Notion</a:t>
            </a:r>
            <a:endParaRPr lang="en-US" sz="1600" dirty="0"/>
          </a:p>
        </p:txBody>
      </p:sp>
      <p:sp>
        <p:nvSpPr>
          <p:cNvPr id="13" name="Text 11"/>
          <p:cNvSpPr/>
          <p:nvPr/>
        </p:nvSpPr>
        <p:spPr>
          <a:xfrm>
            <a:off x="777240" y="4224528"/>
            <a:ext cx="3112922" cy="256032"/>
          </a:xfrm>
          <a:prstGeom prst="rect">
            <a:avLst/>
          </a:prstGeom>
          <a:noFill/>
          <a:ln/>
        </p:spPr>
        <p:txBody>
          <a:bodyPr wrap="square" lIns="0" tIns="0" rIns="0" bIns="0"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案件と議事録</a:t>
            </a:r>
            <a:endParaRPr lang="en-US" sz="1100" dirty="0"/>
          </a:p>
        </p:txBody>
      </p:sp>
      <p:sp>
        <p:nvSpPr>
          <p:cNvPr id="14" name="Text 12"/>
          <p:cNvSpPr/>
          <p:nvPr/>
        </p:nvSpPr>
        <p:spPr>
          <a:xfrm>
            <a:off x="777240" y="4553712"/>
            <a:ext cx="3112922" cy="77724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CADCFC"/>
                </a:solidFill>
                <a:latin typeface="Meiryo" pitchFamily="34" charset="0"/>
                <a:ea typeface="Meiryo" pitchFamily="34" charset="-122"/>
                <a:cs typeface="Meiryo" pitchFamily="34" charset="-120"/>
              </a:rPr>
              <a:t>案件・タスク・議事録の管理</a:t>
            </a:r>
            <a:endParaRPr lang="en-US" sz="950" dirty="0"/>
          </a:p>
          <a:p>
            <a:pPr marL="342900" indent="-342900">
              <a:spcAft>
                <a:spcPts val="400"/>
              </a:spcAft>
              <a:buSzPct val="100000"/>
              <a:buChar char="•"/>
            </a:pPr>
            <a:r>
              <a:rPr lang="en-US" sz="950" dirty="0">
                <a:solidFill>
                  <a:srgbClr val="CADCFC"/>
                </a:solidFill>
                <a:latin typeface="Meiryo" pitchFamily="34" charset="0"/>
                <a:ea typeface="Meiryo" pitchFamily="34" charset="-122"/>
                <a:cs typeface="Meiryo" pitchFamily="34" charset="-120"/>
              </a:rPr>
              <a:t>相互リンクと横断検索</a:t>
            </a:r>
            <a:endParaRPr lang="en-US" sz="950" dirty="0"/>
          </a:p>
          <a:p>
            <a:pPr marL="342900" indent="-342900">
              <a:spcAft>
                <a:spcPts val="400"/>
              </a:spcAft>
              <a:buSzPct val="100000"/>
              <a:buChar char="•"/>
            </a:pPr>
            <a:r>
              <a:rPr lang="en-US" sz="950" dirty="0">
                <a:solidFill>
                  <a:srgbClr val="CADCFC"/>
                </a:solidFill>
                <a:latin typeface="Meiryo" pitchFamily="34" charset="0"/>
                <a:ea typeface="Meiryo" pitchFamily="34" charset="-122"/>
                <a:cs typeface="Meiryo" pitchFamily="34" charset="-120"/>
              </a:rPr>
              <a:t>立場別のビュー</a:t>
            </a:r>
            <a:endParaRPr lang="en-US" sz="950" dirty="0"/>
          </a:p>
        </p:txBody>
      </p:sp>
      <p:sp>
        <p:nvSpPr>
          <p:cNvPr id="15" name="Shape 13"/>
          <p:cNvSpPr/>
          <p:nvPr/>
        </p:nvSpPr>
        <p:spPr>
          <a:xfrm>
            <a:off x="4310786" y="3767328"/>
            <a:ext cx="3570122" cy="1691640"/>
          </a:xfrm>
          <a:prstGeom prst="roundRect">
            <a:avLst>
              <a:gd name="adj" fmla="val 324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6" name="Text 14"/>
          <p:cNvSpPr/>
          <p:nvPr/>
        </p:nvSpPr>
        <p:spPr>
          <a:xfrm>
            <a:off x="4539386" y="3913632"/>
            <a:ext cx="3112922" cy="310896"/>
          </a:xfrm>
          <a:prstGeom prst="rect">
            <a:avLst/>
          </a:prstGeom>
          <a:noFill/>
          <a:ln/>
        </p:spPr>
        <p:txBody>
          <a:bodyPr wrap="square" lIns="0" tIns="0" rIns="0" bIns="0" rtlCol="0" anchor="ctr"/>
          <a:lstStyle/>
          <a:p>
            <a:pPr indent="0" marL="0">
              <a:buNone/>
            </a:pPr>
            <a:r>
              <a:rPr lang="en-US" sz="1600" b="1" dirty="0">
                <a:solidFill>
                  <a:srgbClr val="1E2761"/>
                </a:solidFill>
                <a:latin typeface="Meiryo" pitchFamily="34" charset="0"/>
                <a:ea typeface="Meiryo" pitchFamily="34" charset="-122"/>
                <a:cs typeface="Meiryo" pitchFamily="34" charset="-120"/>
              </a:rPr>
              <a:t>SharePoint</a:t>
            </a:r>
            <a:endParaRPr lang="en-US" sz="1600" dirty="0"/>
          </a:p>
        </p:txBody>
      </p:sp>
      <p:sp>
        <p:nvSpPr>
          <p:cNvPr id="17" name="Text 15"/>
          <p:cNvSpPr/>
          <p:nvPr/>
        </p:nvSpPr>
        <p:spPr>
          <a:xfrm>
            <a:off x="4539386" y="4224528"/>
            <a:ext cx="3112922" cy="256032"/>
          </a:xfrm>
          <a:prstGeom prst="rect">
            <a:avLst/>
          </a:prstGeom>
          <a:noFill/>
          <a:ln/>
        </p:spPr>
        <p:txBody>
          <a:bodyPr wrap="square" lIns="0" tIns="0" rIns="0" bIns="0" rtlCol="0" anchor="ctr"/>
          <a:lstStyle/>
          <a:p>
            <a:pPr indent="0" marL="0">
              <a:buNone/>
            </a:pPr>
            <a:r>
              <a:rPr lang="en-US" sz="1100" b="1" dirty="0">
                <a:solidFill>
                  <a:srgbClr val="6B7280"/>
                </a:solidFill>
                <a:latin typeface="Meiryo" pitchFamily="34" charset="0"/>
                <a:ea typeface="Meiryo" pitchFamily="34" charset="-122"/>
                <a:cs typeface="Meiryo" pitchFamily="34" charset="-120"/>
              </a:rPr>
              <a:t>ファイルの正本</a:t>
            </a:r>
            <a:endParaRPr lang="en-US" sz="1100" dirty="0"/>
          </a:p>
        </p:txBody>
      </p:sp>
      <p:sp>
        <p:nvSpPr>
          <p:cNvPr id="18" name="Text 16"/>
          <p:cNvSpPr/>
          <p:nvPr/>
        </p:nvSpPr>
        <p:spPr>
          <a:xfrm>
            <a:off x="4539386" y="4553712"/>
            <a:ext cx="3112922" cy="77724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案件関連ファイルの保管</a:t>
            </a:r>
            <a:endParaRPr lang="en-US" sz="950" dirty="0"/>
          </a:p>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社内規定・マニュアル</a:t>
            </a:r>
            <a:endParaRPr lang="en-US" sz="950" dirty="0"/>
          </a:p>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既存運用をそのまま継続</a:t>
            </a:r>
            <a:endParaRPr lang="en-US" sz="950" dirty="0"/>
          </a:p>
        </p:txBody>
      </p:sp>
      <p:sp>
        <p:nvSpPr>
          <p:cNvPr id="19" name="Shape 17"/>
          <p:cNvSpPr/>
          <p:nvPr/>
        </p:nvSpPr>
        <p:spPr>
          <a:xfrm>
            <a:off x="8072933" y="3767328"/>
            <a:ext cx="3570122" cy="1691640"/>
          </a:xfrm>
          <a:prstGeom prst="roundRect">
            <a:avLst>
              <a:gd name="adj" fmla="val 324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0" name="Text 18"/>
          <p:cNvSpPr/>
          <p:nvPr/>
        </p:nvSpPr>
        <p:spPr>
          <a:xfrm>
            <a:off x="8301533" y="3913632"/>
            <a:ext cx="3112922" cy="310896"/>
          </a:xfrm>
          <a:prstGeom prst="rect">
            <a:avLst/>
          </a:prstGeom>
          <a:noFill/>
          <a:ln/>
        </p:spPr>
        <p:txBody>
          <a:bodyPr wrap="square" lIns="0" tIns="0" rIns="0" bIns="0" rtlCol="0" anchor="ctr"/>
          <a:lstStyle/>
          <a:p>
            <a:pPr indent="0" marL="0">
              <a:buNone/>
            </a:pPr>
            <a:r>
              <a:rPr lang="en-US" sz="1600" b="1" dirty="0">
                <a:solidFill>
                  <a:srgbClr val="1E2761"/>
                </a:solidFill>
                <a:latin typeface="Meiryo" pitchFamily="34" charset="0"/>
                <a:ea typeface="Meiryo" pitchFamily="34" charset="-122"/>
                <a:cs typeface="Meiryo" pitchFamily="34" charset="-120"/>
              </a:rPr>
              <a:t>Teams</a:t>
            </a:r>
            <a:endParaRPr lang="en-US" sz="1600" dirty="0"/>
          </a:p>
        </p:txBody>
      </p:sp>
      <p:sp>
        <p:nvSpPr>
          <p:cNvPr id="21" name="Text 19"/>
          <p:cNvSpPr/>
          <p:nvPr/>
        </p:nvSpPr>
        <p:spPr>
          <a:xfrm>
            <a:off x="8301533" y="4224528"/>
            <a:ext cx="3112922" cy="256032"/>
          </a:xfrm>
          <a:prstGeom prst="rect">
            <a:avLst/>
          </a:prstGeom>
          <a:noFill/>
          <a:ln/>
        </p:spPr>
        <p:txBody>
          <a:bodyPr wrap="square" lIns="0" tIns="0" rIns="0" bIns="0" rtlCol="0" anchor="ctr"/>
          <a:lstStyle/>
          <a:p>
            <a:pPr indent="0" marL="0">
              <a:buNone/>
            </a:pPr>
            <a:r>
              <a:rPr lang="en-US" sz="1100" b="1" dirty="0">
                <a:solidFill>
                  <a:srgbClr val="6B7280"/>
                </a:solidFill>
                <a:latin typeface="Meiryo" pitchFamily="34" charset="0"/>
                <a:ea typeface="Meiryo" pitchFamily="34" charset="-122"/>
                <a:cs typeface="Meiryo" pitchFamily="34" charset="-120"/>
              </a:rPr>
              <a:t>伝達・コミュニケーション</a:t>
            </a:r>
            <a:endParaRPr lang="en-US" sz="1100" dirty="0"/>
          </a:p>
        </p:txBody>
      </p:sp>
      <p:sp>
        <p:nvSpPr>
          <p:cNvPr id="22" name="Text 20"/>
          <p:cNvSpPr/>
          <p:nvPr/>
        </p:nvSpPr>
        <p:spPr>
          <a:xfrm>
            <a:off x="8301533" y="4553712"/>
            <a:ext cx="3112922" cy="77724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チャット・会議</a:t>
            </a:r>
            <a:endParaRPr lang="en-US" sz="950" dirty="0"/>
          </a:p>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日々のやりとり</a:t>
            </a:r>
            <a:endParaRPr lang="en-US" sz="950" dirty="0"/>
          </a:p>
          <a:p>
            <a:pPr marL="342900" indent="-342900">
              <a:spcAft>
                <a:spcPts val="400"/>
              </a:spcAft>
              <a:buSzPct val="100000"/>
              <a:buChar char="•"/>
            </a:pPr>
            <a:r>
              <a:rPr lang="en-US" sz="950" dirty="0">
                <a:solidFill>
                  <a:srgbClr val="1A1A2E"/>
                </a:solidFill>
                <a:latin typeface="Meiryo" pitchFamily="34" charset="0"/>
                <a:ea typeface="Meiryo" pitchFamily="34" charset="-122"/>
                <a:cs typeface="Meiryo" pitchFamily="34" charset="-120"/>
              </a:rPr>
              <a:t>既存運用をそのまま継続</a:t>
            </a:r>
            <a:endParaRPr lang="en-US" sz="950" dirty="0"/>
          </a:p>
        </p:txBody>
      </p:sp>
      <p:sp>
        <p:nvSpPr>
          <p:cNvPr id="23" name="Shape 21"/>
          <p:cNvSpPr/>
          <p:nvPr/>
        </p:nvSpPr>
        <p:spPr>
          <a:xfrm>
            <a:off x="548640" y="5623560"/>
            <a:ext cx="11094415" cy="658368"/>
          </a:xfrm>
          <a:prstGeom prst="roundRect">
            <a:avLst>
              <a:gd name="adj" fmla="val 8333"/>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24" name="Text 22"/>
          <p:cNvSpPr/>
          <p:nvPr/>
        </p:nvSpPr>
        <p:spPr>
          <a:xfrm>
            <a:off x="822960" y="5623560"/>
            <a:ext cx="10545775" cy="658368"/>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PCA側のお約束　③案件関連ファイル と ④社内規定・マニュアル は SharePoint を継続します。M365 の置き換え・二重投資にはあたりません。</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第5章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実証 — 経営層ですでに3か月、実運用しています</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机上の選定ではありません。パイロット済みのため、導入失敗のリスクは最小です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8</a:t>
            </a:r>
            <a:endParaRPr lang="en-US" sz="1000" dirty="0"/>
          </a:p>
        </p:txBody>
      </p:sp>
      <p:sp>
        <p:nvSpPr>
          <p:cNvPr id="8" name="Shape 6"/>
          <p:cNvSpPr/>
          <p:nvPr/>
        </p:nvSpPr>
        <p:spPr>
          <a:xfrm>
            <a:off x="548640" y="2286000"/>
            <a:ext cx="3401568" cy="1572768"/>
          </a:xfrm>
          <a:prstGeom prst="roundRect">
            <a:avLst>
              <a:gd name="adj" fmla="val 348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49808" y="2432304"/>
            <a:ext cx="2999232" cy="292608"/>
          </a:xfrm>
          <a:prstGeom prst="rect">
            <a:avLst/>
          </a:prstGeom>
          <a:noFill/>
          <a:ln/>
        </p:spPr>
        <p:txBody>
          <a:bodyPr wrap="square" lIns="0" tIns="0" rIns="0" bIns="0" rtlCol="0" anchor="ctr"/>
          <a:lstStyle/>
          <a:p>
            <a:pPr indent="0" marL="0">
              <a:buNone/>
            </a:pPr>
            <a:r>
              <a:rPr lang="en-US" sz="1350" b="1" dirty="0">
                <a:solidFill>
                  <a:srgbClr val="1E2761"/>
                </a:solidFill>
                <a:latin typeface="Meiryo" pitchFamily="34" charset="0"/>
                <a:ea typeface="Meiryo" pitchFamily="34" charset="-122"/>
                <a:cs typeface="Meiryo" pitchFamily="34" charset="-120"/>
              </a:rPr>
              <a:t>経営イシューマップ</a:t>
            </a:r>
            <a:endParaRPr lang="en-US" sz="1350" dirty="0"/>
          </a:p>
        </p:txBody>
      </p:sp>
      <p:sp>
        <p:nvSpPr>
          <p:cNvPr id="10" name="Shape 8"/>
          <p:cNvSpPr/>
          <p:nvPr/>
        </p:nvSpPr>
        <p:spPr>
          <a:xfrm>
            <a:off x="749808" y="2770632"/>
            <a:ext cx="2999232" cy="274320"/>
          </a:xfrm>
          <a:prstGeom prst="roundRect">
            <a:avLst>
              <a:gd name="adj" fmla="val 16667"/>
            </a:avLst>
          </a:prstGeom>
          <a:solidFill>
            <a:srgbClr val="EDF3FD"/>
          </a:solidFill>
          <a:ln w="12700">
            <a:solidFill>
              <a:srgbClr val="CADCFC"/>
            </a:solidFill>
            <a:prstDash val="solid"/>
          </a:ln>
        </p:spPr>
      </p:sp>
      <p:sp>
        <p:nvSpPr>
          <p:cNvPr id="11" name="Text 9"/>
          <p:cNvSpPr/>
          <p:nvPr/>
        </p:nvSpPr>
        <p:spPr>
          <a:xfrm>
            <a:off x="749808" y="2770632"/>
            <a:ext cx="2999232"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7領域・40件超</a:t>
            </a:r>
            <a:endParaRPr lang="en-US" sz="1000" dirty="0"/>
          </a:p>
        </p:txBody>
      </p:sp>
      <p:sp>
        <p:nvSpPr>
          <p:cNvPr id="12" name="Text 10"/>
          <p:cNvSpPr/>
          <p:nvPr/>
        </p:nvSpPr>
        <p:spPr>
          <a:xfrm>
            <a:off x="749808" y="3127248"/>
            <a:ext cx="2999232" cy="621792"/>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経営課題を7つの領域に整理し、案件単位で進捗を管理</a:t>
            </a:r>
            <a:endParaRPr lang="en-US" sz="1000" dirty="0"/>
          </a:p>
        </p:txBody>
      </p:sp>
      <p:sp>
        <p:nvSpPr>
          <p:cNvPr id="13" name="Shape 11"/>
          <p:cNvSpPr/>
          <p:nvPr/>
        </p:nvSpPr>
        <p:spPr>
          <a:xfrm>
            <a:off x="4169664" y="2286000"/>
            <a:ext cx="3401568" cy="1572768"/>
          </a:xfrm>
          <a:prstGeom prst="roundRect">
            <a:avLst>
              <a:gd name="adj" fmla="val 348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4" name="Text 12"/>
          <p:cNvSpPr/>
          <p:nvPr/>
        </p:nvSpPr>
        <p:spPr>
          <a:xfrm>
            <a:off x="4370832" y="2432304"/>
            <a:ext cx="2999232" cy="292608"/>
          </a:xfrm>
          <a:prstGeom prst="rect">
            <a:avLst/>
          </a:prstGeom>
          <a:noFill/>
          <a:ln/>
        </p:spPr>
        <p:txBody>
          <a:bodyPr wrap="square" lIns="0" tIns="0" rIns="0" bIns="0" rtlCol="0" anchor="ctr"/>
          <a:lstStyle/>
          <a:p>
            <a:pPr indent="0" marL="0">
              <a:buNone/>
            </a:pPr>
            <a:r>
              <a:rPr lang="en-US" sz="1350" b="1" dirty="0">
                <a:solidFill>
                  <a:srgbClr val="1E2761"/>
                </a:solidFill>
                <a:latin typeface="Meiryo" pitchFamily="34" charset="0"/>
                <a:ea typeface="Meiryo" pitchFamily="34" charset="-122"/>
                <a:cs typeface="Meiryo" pitchFamily="34" charset="-120"/>
              </a:rPr>
              <a:t>タスクDB</a:t>
            </a:r>
            <a:endParaRPr lang="en-US" sz="1350" dirty="0"/>
          </a:p>
        </p:txBody>
      </p:sp>
      <p:sp>
        <p:nvSpPr>
          <p:cNvPr id="15" name="Shape 13"/>
          <p:cNvSpPr/>
          <p:nvPr/>
        </p:nvSpPr>
        <p:spPr>
          <a:xfrm>
            <a:off x="4370832" y="2770632"/>
            <a:ext cx="2999232" cy="274320"/>
          </a:xfrm>
          <a:prstGeom prst="roundRect">
            <a:avLst>
              <a:gd name="adj" fmla="val 16667"/>
            </a:avLst>
          </a:prstGeom>
          <a:solidFill>
            <a:srgbClr val="EDF3FD"/>
          </a:solidFill>
          <a:ln w="12700">
            <a:solidFill>
              <a:srgbClr val="CADCFC"/>
            </a:solidFill>
            <a:prstDash val="solid"/>
          </a:ln>
        </p:spPr>
      </p:sp>
      <p:sp>
        <p:nvSpPr>
          <p:cNvPr id="16" name="Text 14"/>
          <p:cNvSpPr/>
          <p:nvPr/>
        </p:nvSpPr>
        <p:spPr>
          <a:xfrm>
            <a:off x="4370832" y="2770632"/>
            <a:ext cx="2999232"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イシューと双方向連携</a:t>
            </a:r>
            <a:endParaRPr lang="en-US" sz="1000" dirty="0"/>
          </a:p>
        </p:txBody>
      </p:sp>
      <p:sp>
        <p:nvSpPr>
          <p:cNvPr id="17" name="Text 15"/>
          <p:cNvSpPr/>
          <p:nvPr/>
        </p:nvSpPr>
        <p:spPr>
          <a:xfrm>
            <a:off x="4370832" y="3127248"/>
            <a:ext cx="2999232" cy="621792"/>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イシューを開けば担当タスクが、タスクからはイシューが辿れる</a:t>
            </a:r>
            <a:endParaRPr lang="en-US" sz="1000" dirty="0"/>
          </a:p>
        </p:txBody>
      </p:sp>
      <p:sp>
        <p:nvSpPr>
          <p:cNvPr id="18" name="Shape 16"/>
          <p:cNvSpPr/>
          <p:nvPr/>
        </p:nvSpPr>
        <p:spPr>
          <a:xfrm>
            <a:off x="7790688" y="2286000"/>
            <a:ext cx="3401568" cy="1572768"/>
          </a:xfrm>
          <a:prstGeom prst="roundRect">
            <a:avLst>
              <a:gd name="adj" fmla="val 3488"/>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9" name="Text 17"/>
          <p:cNvSpPr/>
          <p:nvPr/>
        </p:nvSpPr>
        <p:spPr>
          <a:xfrm>
            <a:off x="7991856" y="2432304"/>
            <a:ext cx="2999232" cy="292608"/>
          </a:xfrm>
          <a:prstGeom prst="rect">
            <a:avLst/>
          </a:prstGeom>
          <a:noFill/>
          <a:ln/>
        </p:spPr>
        <p:txBody>
          <a:bodyPr wrap="square" lIns="0" tIns="0" rIns="0" bIns="0" rtlCol="0" anchor="ctr"/>
          <a:lstStyle/>
          <a:p>
            <a:pPr indent="0" marL="0">
              <a:buNone/>
            </a:pPr>
            <a:r>
              <a:rPr lang="en-US" sz="1350" b="1" dirty="0">
                <a:solidFill>
                  <a:srgbClr val="1E2761"/>
                </a:solidFill>
                <a:latin typeface="Meiryo" pitchFamily="34" charset="0"/>
                <a:ea typeface="Meiryo" pitchFamily="34" charset="-122"/>
                <a:cs typeface="Meiryo" pitchFamily="34" charset="-120"/>
              </a:rPr>
              <a:t>議事録DB</a:t>
            </a:r>
            <a:endParaRPr lang="en-US" sz="1350" dirty="0"/>
          </a:p>
        </p:txBody>
      </p:sp>
      <p:sp>
        <p:nvSpPr>
          <p:cNvPr id="20" name="Shape 18"/>
          <p:cNvSpPr/>
          <p:nvPr/>
        </p:nvSpPr>
        <p:spPr>
          <a:xfrm>
            <a:off x="7991856" y="2770632"/>
            <a:ext cx="2999232" cy="274320"/>
          </a:xfrm>
          <a:prstGeom prst="roundRect">
            <a:avLst>
              <a:gd name="adj" fmla="val 16667"/>
            </a:avLst>
          </a:prstGeom>
          <a:solidFill>
            <a:srgbClr val="EDF3FD"/>
          </a:solidFill>
          <a:ln w="12700">
            <a:solidFill>
              <a:srgbClr val="CADCFC"/>
            </a:solidFill>
            <a:prstDash val="solid"/>
          </a:ln>
        </p:spPr>
      </p:sp>
      <p:sp>
        <p:nvSpPr>
          <p:cNvPr id="21" name="Text 19"/>
          <p:cNvSpPr/>
          <p:nvPr/>
        </p:nvSpPr>
        <p:spPr>
          <a:xfrm>
            <a:off x="7991856" y="2770632"/>
            <a:ext cx="2999232"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Meiryo" pitchFamily="34" charset="0"/>
                <a:ea typeface="Meiryo" pitchFamily="34" charset="-122"/>
                <a:cs typeface="Meiryo" pitchFamily="34" charset="-120"/>
              </a:rPr>
              <a:t>会議体別・カレンダービュー</a:t>
            </a:r>
            <a:endParaRPr lang="en-US" sz="1000" dirty="0"/>
          </a:p>
        </p:txBody>
      </p:sp>
      <p:sp>
        <p:nvSpPr>
          <p:cNvPr id="22" name="Text 20"/>
          <p:cNvSpPr/>
          <p:nvPr/>
        </p:nvSpPr>
        <p:spPr>
          <a:xfrm>
            <a:off x="7991856" y="3127248"/>
            <a:ext cx="2999232" cy="621792"/>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会議体ごとに整理し、カレンダーから議事録に直接到達できる</a:t>
            </a:r>
            <a:endParaRPr lang="en-US" sz="1000" dirty="0"/>
          </a:p>
        </p:txBody>
      </p:sp>
      <p:sp>
        <p:nvSpPr>
          <p:cNvPr id="23" name="Shape 21"/>
          <p:cNvSpPr/>
          <p:nvPr/>
        </p:nvSpPr>
        <p:spPr>
          <a:xfrm>
            <a:off x="548640" y="4069080"/>
            <a:ext cx="11094415" cy="1874520"/>
          </a:xfrm>
          <a:prstGeom prst="roundRect">
            <a:avLst>
              <a:gd name="adj" fmla="val 3902"/>
            </a:avLst>
          </a:prstGeom>
          <a:solidFill>
            <a:srgbClr val="F7F9FC"/>
          </a:solidFill>
          <a:ln w="12700">
            <a:solidFill>
              <a:srgbClr val="D6DEEC"/>
            </a:solidFill>
            <a:prstDash val="dash"/>
          </a:ln>
        </p:spPr>
      </p:sp>
      <p:sp>
        <p:nvSpPr>
          <p:cNvPr id="24" name="Text 22"/>
          <p:cNvSpPr/>
          <p:nvPr/>
        </p:nvSpPr>
        <p:spPr>
          <a:xfrm>
            <a:off x="548640" y="4434840"/>
            <a:ext cx="11094415" cy="365760"/>
          </a:xfrm>
          <a:prstGeom prst="rect">
            <a:avLst/>
          </a:prstGeom>
          <a:noFill/>
          <a:ln/>
        </p:spPr>
        <p:txBody>
          <a:bodyPr wrap="square" lIns="0" tIns="0" rIns="0" bIns="0" rtlCol="0" anchor="ctr"/>
          <a:lstStyle/>
          <a:p>
            <a:pPr algn="ctr" indent="0" marL="0">
              <a:buNone/>
            </a:pPr>
            <a:r>
              <a:rPr lang="en-US" sz="1500" b="1" dirty="0">
                <a:solidFill>
                  <a:srgbClr val="6B7280"/>
                </a:solidFill>
                <a:latin typeface="Meiryo" pitchFamily="34" charset="0"/>
                <a:ea typeface="Meiryo" pitchFamily="34" charset="-122"/>
                <a:cs typeface="Meiryo" pitchFamily="34" charset="-120"/>
              </a:rPr>
              <a:t>［ 実画面キャプチャ 差し込み枠 ］</a:t>
            </a:r>
            <a:endParaRPr lang="en-US" sz="1500" dirty="0"/>
          </a:p>
        </p:txBody>
      </p:sp>
      <p:sp>
        <p:nvSpPr>
          <p:cNvPr id="25" name="Text 23"/>
          <p:cNvSpPr/>
          <p:nvPr/>
        </p:nvSpPr>
        <p:spPr>
          <a:xfrm>
            <a:off x="548640" y="4828032"/>
            <a:ext cx="11094415" cy="274320"/>
          </a:xfrm>
          <a:prstGeom prst="rect">
            <a:avLst/>
          </a:prstGeom>
          <a:noFill/>
          <a:ln/>
        </p:spPr>
        <p:txBody>
          <a:bodyPr wrap="square" lIns="0" tIns="0" rIns="0" bIns="0" rtlCol="0" anchor="ctr"/>
          <a:lstStyle/>
          <a:p>
            <a:pPr algn="ctr" indent="0" marL="0">
              <a:buNone/>
            </a:pPr>
            <a:r>
              <a:rPr lang="en-US" sz="1050" dirty="0">
                <a:solidFill>
                  <a:srgbClr val="6B7280"/>
                </a:solidFill>
                <a:latin typeface="Meiryo" pitchFamily="34" charset="0"/>
                <a:ea typeface="Meiryo" pitchFamily="34" charset="-122"/>
                <a:cs typeface="Meiryo" pitchFamily="34" charset="-120"/>
              </a:rPr>
              <a:t>経営イシューマップ／タスクDB／議事録DB の実画面をこの枠に貼り付けてください（機微情報はマスキングのうえ）。</a:t>
            </a:r>
            <a:endParaRPr lang="en-US" sz="1050" dirty="0"/>
          </a:p>
        </p:txBody>
      </p:sp>
      <p:sp>
        <p:nvSpPr>
          <p:cNvPr id="26" name="Text 24"/>
          <p:cNvSpPr/>
          <p:nvPr/>
        </p:nvSpPr>
        <p:spPr>
          <a:xfrm>
            <a:off x="548640" y="5230368"/>
            <a:ext cx="11094415" cy="274320"/>
          </a:xfrm>
          <a:prstGeom prst="rect">
            <a:avLst/>
          </a:prstGeom>
          <a:noFill/>
          <a:ln/>
        </p:spPr>
        <p:txBody>
          <a:bodyPr wrap="square" lIns="0" tIns="0" rIns="0" bIns="0"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THDご説明の場では、この資料に加えて実物のデモをご覧いただきます。</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第5章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実証 — 3か月で確認できた効果</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情報の置き場所ではなく、たどり着くまでの速さが変わりました</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9</a:t>
            </a:r>
            <a:endParaRPr lang="en-US" sz="1000" dirty="0"/>
          </a:p>
        </p:txBody>
      </p:sp>
      <p:sp>
        <p:nvSpPr>
          <p:cNvPr id="8" name="Shape 6"/>
          <p:cNvSpPr/>
          <p:nvPr/>
        </p:nvSpPr>
        <p:spPr>
          <a:xfrm>
            <a:off x="548640" y="2286000"/>
            <a:ext cx="6858000" cy="621792"/>
          </a:xfrm>
          <a:prstGeom prst="roundRect">
            <a:avLst>
              <a:gd name="adj" fmla="val 8824"/>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Shape 7"/>
          <p:cNvSpPr/>
          <p:nvPr/>
        </p:nvSpPr>
        <p:spPr>
          <a:xfrm>
            <a:off x="713232" y="2441448"/>
            <a:ext cx="310896" cy="310896"/>
          </a:xfrm>
          <a:prstGeom prst="roundRect">
            <a:avLst>
              <a:gd name="adj" fmla="val 50000"/>
            </a:avLst>
          </a:prstGeom>
          <a:solidFill>
            <a:srgbClr val="1E7A5A"/>
          </a:solidFill>
          <a:ln w="12700">
            <a:solidFill>
              <a:srgbClr val="1E7A5A"/>
            </a:solidFill>
            <a:prstDash val="solid"/>
          </a:ln>
        </p:spPr>
      </p:sp>
      <p:sp>
        <p:nvSpPr>
          <p:cNvPr id="10" name="Text 8"/>
          <p:cNvSpPr/>
          <p:nvPr/>
        </p:nvSpPr>
        <p:spPr>
          <a:xfrm>
            <a:off x="713232" y="24414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11" name="Text 9"/>
          <p:cNvSpPr/>
          <p:nvPr/>
        </p:nvSpPr>
        <p:spPr>
          <a:xfrm>
            <a:off x="1133856" y="2340864"/>
            <a:ext cx="6126480" cy="256032"/>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週次PMOの管理台帳として定着</a:t>
            </a:r>
            <a:endParaRPr lang="en-US" sz="1250" dirty="0"/>
          </a:p>
        </p:txBody>
      </p:sp>
      <p:sp>
        <p:nvSpPr>
          <p:cNvPr id="12" name="Text 10"/>
          <p:cNvSpPr/>
          <p:nvPr/>
        </p:nvSpPr>
        <p:spPr>
          <a:xfrm>
            <a:off x="1133856" y="2596896"/>
            <a:ext cx="612648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毎週のPMO会議が、この基盤を見ながら進む状態になった。特別な運用努力なしに続いている。</a:t>
            </a:r>
            <a:endParaRPr lang="en-US" sz="950" dirty="0"/>
          </a:p>
        </p:txBody>
      </p:sp>
      <p:sp>
        <p:nvSpPr>
          <p:cNvPr id="13" name="Shape 11"/>
          <p:cNvSpPr/>
          <p:nvPr/>
        </p:nvSpPr>
        <p:spPr>
          <a:xfrm>
            <a:off x="548640" y="2999232"/>
            <a:ext cx="6858000" cy="621792"/>
          </a:xfrm>
          <a:prstGeom prst="roundRect">
            <a:avLst>
              <a:gd name="adj" fmla="val 8824"/>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4" name="Shape 12"/>
          <p:cNvSpPr/>
          <p:nvPr/>
        </p:nvSpPr>
        <p:spPr>
          <a:xfrm>
            <a:off x="713232" y="3154680"/>
            <a:ext cx="310896" cy="310896"/>
          </a:xfrm>
          <a:prstGeom prst="roundRect">
            <a:avLst>
              <a:gd name="adj" fmla="val 50000"/>
            </a:avLst>
          </a:prstGeom>
          <a:solidFill>
            <a:srgbClr val="1E7A5A"/>
          </a:solidFill>
          <a:ln w="12700">
            <a:solidFill>
              <a:srgbClr val="1E7A5A"/>
            </a:solidFill>
            <a:prstDash val="solid"/>
          </a:ln>
        </p:spPr>
      </p:sp>
      <p:sp>
        <p:nvSpPr>
          <p:cNvPr id="15" name="Text 13"/>
          <p:cNvSpPr/>
          <p:nvPr/>
        </p:nvSpPr>
        <p:spPr>
          <a:xfrm>
            <a:off x="713232" y="31546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16" name="Text 14"/>
          <p:cNvSpPr/>
          <p:nvPr/>
        </p:nvSpPr>
        <p:spPr>
          <a:xfrm>
            <a:off x="1133856" y="3054096"/>
            <a:ext cx="6126480" cy="256032"/>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カレンダーから議事録に即到達</a:t>
            </a:r>
            <a:endParaRPr lang="en-US" sz="1250" dirty="0"/>
          </a:p>
        </p:txBody>
      </p:sp>
      <p:sp>
        <p:nvSpPr>
          <p:cNvPr id="17" name="Text 15"/>
          <p:cNvSpPr/>
          <p:nvPr/>
        </p:nvSpPr>
        <p:spPr>
          <a:xfrm>
            <a:off x="1133856" y="3310128"/>
            <a:ext cx="612648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「いつの会議か」さえ分かれば、そこから議事録・決定事項・担当タスクへ一直線に辿れる。</a:t>
            </a:r>
            <a:endParaRPr lang="en-US" sz="950" dirty="0"/>
          </a:p>
        </p:txBody>
      </p:sp>
      <p:sp>
        <p:nvSpPr>
          <p:cNvPr id="18" name="Shape 16"/>
          <p:cNvSpPr/>
          <p:nvPr/>
        </p:nvSpPr>
        <p:spPr>
          <a:xfrm>
            <a:off x="548640" y="3712464"/>
            <a:ext cx="6858000" cy="621792"/>
          </a:xfrm>
          <a:prstGeom prst="roundRect">
            <a:avLst>
              <a:gd name="adj" fmla="val 8824"/>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9" name="Shape 17"/>
          <p:cNvSpPr/>
          <p:nvPr/>
        </p:nvSpPr>
        <p:spPr>
          <a:xfrm>
            <a:off x="713232" y="3867912"/>
            <a:ext cx="310896" cy="310896"/>
          </a:xfrm>
          <a:prstGeom prst="roundRect">
            <a:avLst>
              <a:gd name="adj" fmla="val 50000"/>
            </a:avLst>
          </a:prstGeom>
          <a:solidFill>
            <a:srgbClr val="1E7A5A"/>
          </a:solidFill>
          <a:ln w="12700">
            <a:solidFill>
              <a:srgbClr val="1E7A5A"/>
            </a:solidFill>
            <a:prstDash val="solid"/>
          </a:ln>
        </p:spPr>
      </p:sp>
      <p:sp>
        <p:nvSpPr>
          <p:cNvPr id="20" name="Text 18"/>
          <p:cNvSpPr/>
          <p:nvPr/>
        </p:nvSpPr>
        <p:spPr>
          <a:xfrm>
            <a:off x="713232" y="3867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21" name="Text 19"/>
          <p:cNvSpPr/>
          <p:nvPr/>
        </p:nvSpPr>
        <p:spPr>
          <a:xfrm>
            <a:off x="1133856" y="3767328"/>
            <a:ext cx="6126480" cy="256032"/>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決定事項が案件に紐づいて残る</a:t>
            </a:r>
            <a:endParaRPr lang="en-US" sz="1250" dirty="0"/>
          </a:p>
        </p:txBody>
      </p:sp>
      <p:sp>
        <p:nvSpPr>
          <p:cNvPr id="22" name="Text 20"/>
          <p:cNvSpPr/>
          <p:nvPr/>
        </p:nvSpPr>
        <p:spPr>
          <a:xfrm>
            <a:off x="1133856" y="4023360"/>
            <a:ext cx="6126480" cy="274320"/>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決めたことが会議単位ではなく案件単位で蓄積され、後から経緯を追える。</a:t>
            </a:r>
            <a:endParaRPr lang="en-US" sz="950" dirty="0"/>
          </a:p>
        </p:txBody>
      </p:sp>
      <p:sp>
        <p:nvSpPr>
          <p:cNvPr id="23" name="Shape 21"/>
          <p:cNvSpPr/>
          <p:nvPr/>
        </p:nvSpPr>
        <p:spPr>
          <a:xfrm>
            <a:off x="7635240" y="2286000"/>
            <a:ext cx="4005072" cy="2048256"/>
          </a:xfrm>
          <a:prstGeom prst="roundRect">
            <a:avLst>
              <a:gd name="adj" fmla="val 2679"/>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24" name="Text 22"/>
          <p:cNvSpPr/>
          <p:nvPr/>
        </p:nvSpPr>
        <p:spPr>
          <a:xfrm>
            <a:off x="7845552" y="2468880"/>
            <a:ext cx="3611880" cy="566928"/>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探したいときに、探せる</a:t>
            </a:r>
            <a:endParaRPr lang="en-US" sz="2000" dirty="0"/>
          </a:p>
        </p:txBody>
      </p:sp>
      <p:sp>
        <p:nvSpPr>
          <p:cNvPr id="25" name="Text 23"/>
          <p:cNvSpPr/>
          <p:nvPr/>
        </p:nvSpPr>
        <p:spPr>
          <a:xfrm>
            <a:off x="7845552" y="3063240"/>
            <a:ext cx="3611880" cy="1005840"/>
          </a:xfrm>
          <a:prstGeom prst="rect">
            <a:avLst/>
          </a:prstGeom>
          <a:noFill/>
          <a:ln/>
        </p:spPr>
        <p:txBody>
          <a:bodyPr wrap="square" lIns="0" tIns="0" rIns="0" bIns="0" rtlCol="0" anchor="ctr"/>
          <a:lstStyle/>
          <a:p>
            <a:pPr indent="0" marL="0">
              <a:lnSpc>
                <a:spcPts val="1800"/>
              </a:lnSpc>
              <a:buNone/>
            </a:pPr>
            <a:r>
              <a:rPr lang="en-US" sz="1050" dirty="0">
                <a:solidFill>
                  <a:srgbClr val="CADCFC"/>
                </a:solidFill>
                <a:latin typeface="Meiryo" pitchFamily="34" charset="0"/>
                <a:ea typeface="Meiryo" pitchFamily="34" charset="-122"/>
                <a:cs typeface="Meiryo" pitchFamily="34" charset="-120"/>
              </a:rPr>
              <a:t>価値は「どこに置くか」ではなく「どれだけ速くたどり着けるか」。</a:t>
            </a:r>
            <a:endParaRPr lang="en-US" sz="1050" dirty="0"/>
          </a:p>
          <a:p>
            <a:pPr indent="0" marL="0">
              <a:lnSpc>
                <a:spcPts val="1800"/>
              </a:lnSpc>
              <a:buNone/>
            </a:pPr>
            <a:r>
              <a:rPr lang="en-US" sz="1050" dirty="0">
                <a:solidFill>
                  <a:srgbClr val="CADCFC"/>
                </a:solidFill>
                <a:latin typeface="Meiryo" pitchFamily="34" charset="0"/>
                <a:ea typeface="Meiryo" pitchFamily="34" charset="-122"/>
                <a:cs typeface="Meiryo" pitchFamily="34" charset="-120"/>
              </a:rPr>
              <a:t>横断検索と案件との紐づけで、過去の経緯に数クリックで届きます。</a:t>
            </a:r>
            <a:endParaRPr lang="en-US" sz="1050" dirty="0"/>
          </a:p>
        </p:txBody>
      </p:sp>
      <p:sp>
        <p:nvSpPr>
          <p:cNvPr id="26" name="Shape 24"/>
          <p:cNvSpPr/>
          <p:nvPr/>
        </p:nvSpPr>
        <p:spPr>
          <a:xfrm>
            <a:off x="548640" y="4526280"/>
            <a:ext cx="11094415" cy="1417320"/>
          </a:xfrm>
          <a:prstGeom prst="roundRect">
            <a:avLst>
              <a:gd name="adj" fmla="val 3871"/>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27" name="Text 25"/>
          <p:cNvSpPr/>
          <p:nvPr/>
        </p:nvSpPr>
        <p:spPr>
          <a:xfrm>
            <a:off x="822960" y="4663440"/>
            <a:ext cx="5486400" cy="274320"/>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従来（SharePoint・OneNote 分散）と何が違うか</a:t>
            </a:r>
            <a:endParaRPr lang="en-US" sz="1200" dirty="0"/>
          </a:p>
        </p:txBody>
      </p:sp>
      <p:sp>
        <p:nvSpPr>
          <p:cNvPr id="28" name="Text 26"/>
          <p:cNvSpPr/>
          <p:nvPr/>
        </p:nvSpPr>
        <p:spPr>
          <a:xfrm>
            <a:off x="822960" y="5010912"/>
            <a:ext cx="5029200" cy="237744"/>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従来</a:t>
            </a:r>
            <a:endParaRPr lang="en-US" sz="1000" dirty="0"/>
          </a:p>
        </p:txBody>
      </p:sp>
      <p:sp>
        <p:nvSpPr>
          <p:cNvPr id="29" name="Text 27"/>
          <p:cNvSpPr/>
          <p:nvPr/>
        </p:nvSpPr>
        <p:spPr>
          <a:xfrm>
            <a:off x="822960" y="5248656"/>
            <a:ext cx="5029200" cy="566928"/>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「どのフォルダだったか」を思い出すところから始まる。担当者に聞かないと分からないことがある。</a:t>
            </a:r>
            <a:endParaRPr lang="en-US" sz="1050" dirty="0"/>
          </a:p>
        </p:txBody>
      </p:sp>
      <p:sp>
        <p:nvSpPr>
          <p:cNvPr id="30" name="Text 28"/>
          <p:cNvSpPr/>
          <p:nvPr/>
        </p:nvSpPr>
        <p:spPr>
          <a:xfrm>
            <a:off x="6217920" y="5010912"/>
            <a:ext cx="5029200" cy="237744"/>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Notion</a:t>
            </a:r>
            <a:endParaRPr lang="en-US" sz="1000" dirty="0"/>
          </a:p>
        </p:txBody>
      </p:sp>
      <p:sp>
        <p:nvSpPr>
          <p:cNvPr id="31" name="Text 29"/>
          <p:cNvSpPr/>
          <p:nvPr/>
        </p:nvSpPr>
        <p:spPr>
          <a:xfrm>
            <a:off x="6217920" y="5248656"/>
            <a:ext cx="5029200" cy="566928"/>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案件から辿る／検索から辿るの2経路があり、担当者に聞かなくても本人が到達できる。</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第6章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セキュリティ — 第三者認証の取得状況</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国際的な第三者監査を毎年受けており、認証の面でのご懸念はありません</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10</a:t>
            </a:r>
            <a:endParaRPr lang="en-US" sz="1000" dirty="0"/>
          </a:p>
        </p:txBody>
      </p:sp>
      <p:sp>
        <p:nvSpPr>
          <p:cNvPr id="8" name="Shape 6"/>
          <p:cNvSpPr/>
          <p:nvPr/>
        </p:nvSpPr>
        <p:spPr>
          <a:xfrm>
            <a:off x="548640" y="2286000"/>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Shape 7"/>
          <p:cNvSpPr/>
          <p:nvPr/>
        </p:nvSpPr>
        <p:spPr>
          <a:xfrm>
            <a:off x="731520" y="2450592"/>
            <a:ext cx="310896" cy="310896"/>
          </a:xfrm>
          <a:prstGeom prst="roundRect">
            <a:avLst>
              <a:gd name="adj" fmla="val 50000"/>
            </a:avLst>
          </a:prstGeom>
          <a:solidFill>
            <a:srgbClr val="CADCFC"/>
          </a:solidFill>
          <a:ln w="12700">
            <a:solidFill>
              <a:srgbClr val="CADCFC"/>
            </a:solidFill>
            <a:prstDash val="solid"/>
          </a:ln>
        </p:spPr>
      </p:sp>
      <p:sp>
        <p:nvSpPr>
          <p:cNvPr id="10" name="Text 8"/>
          <p:cNvSpPr/>
          <p:nvPr/>
        </p:nvSpPr>
        <p:spPr>
          <a:xfrm>
            <a:off x="731520" y="2450592"/>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11" name="Text 9"/>
          <p:cNvSpPr/>
          <p:nvPr/>
        </p:nvSpPr>
        <p:spPr>
          <a:xfrm>
            <a:off x="1124712" y="2450592"/>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SOC 2 Type II</a:t>
            </a:r>
            <a:endParaRPr lang="en-US" sz="1200" dirty="0"/>
          </a:p>
        </p:txBody>
      </p:sp>
      <p:sp>
        <p:nvSpPr>
          <p:cNvPr id="12" name="Text 10"/>
          <p:cNvSpPr/>
          <p:nvPr/>
        </p:nvSpPr>
        <p:spPr>
          <a:xfrm>
            <a:off x="731520" y="2816352"/>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セキュリティ・可用性・機密性に関する第三者監査報告書</a:t>
            </a:r>
            <a:endParaRPr lang="en-US" sz="900" dirty="0"/>
          </a:p>
        </p:txBody>
      </p:sp>
      <p:sp>
        <p:nvSpPr>
          <p:cNvPr id="13" name="Shape 11"/>
          <p:cNvSpPr/>
          <p:nvPr/>
        </p:nvSpPr>
        <p:spPr>
          <a:xfrm>
            <a:off x="3370707" y="2286000"/>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4" name="Shape 12"/>
          <p:cNvSpPr/>
          <p:nvPr/>
        </p:nvSpPr>
        <p:spPr>
          <a:xfrm>
            <a:off x="3553587" y="2450592"/>
            <a:ext cx="310896" cy="310896"/>
          </a:xfrm>
          <a:prstGeom prst="roundRect">
            <a:avLst>
              <a:gd name="adj" fmla="val 50000"/>
            </a:avLst>
          </a:prstGeom>
          <a:solidFill>
            <a:srgbClr val="CADCFC"/>
          </a:solidFill>
          <a:ln w="12700">
            <a:solidFill>
              <a:srgbClr val="CADCFC"/>
            </a:solidFill>
            <a:prstDash val="solid"/>
          </a:ln>
        </p:spPr>
      </p:sp>
      <p:sp>
        <p:nvSpPr>
          <p:cNvPr id="15" name="Text 13"/>
          <p:cNvSpPr/>
          <p:nvPr/>
        </p:nvSpPr>
        <p:spPr>
          <a:xfrm>
            <a:off x="3553587" y="2450592"/>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16" name="Text 14"/>
          <p:cNvSpPr/>
          <p:nvPr/>
        </p:nvSpPr>
        <p:spPr>
          <a:xfrm>
            <a:off x="3946779" y="2450592"/>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SOC 3</a:t>
            </a:r>
            <a:endParaRPr lang="en-US" sz="1200" dirty="0"/>
          </a:p>
        </p:txBody>
      </p:sp>
      <p:sp>
        <p:nvSpPr>
          <p:cNvPr id="17" name="Text 15"/>
          <p:cNvSpPr/>
          <p:nvPr/>
        </p:nvSpPr>
        <p:spPr>
          <a:xfrm>
            <a:off x="3553587" y="2816352"/>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一般公開向けの監査報告書</a:t>
            </a:r>
            <a:endParaRPr lang="en-US" sz="900" dirty="0"/>
          </a:p>
        </p:txBody>
      </p:sp>
      <p:sp>
        <p:nvSpPr>
          <p:cNvPr id="18" name="Shape 16"/>
          <p:cNvSpPr/>
          <p:nvPr/>
        </p:nvSpPr>
        <p:spPr>
          <a:xfrm>
            <a:off x="6192774" y="2286000"/>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9" name="Shape 17"/>
          <p:cNvSpPr/>
          <p:nvPr/>
        </p:nvSpPr>
        <p:spPr>
          <a:xfrm>
            <a:off x="6375654" y="2450592"/>
            <a:ext cx="310896" cy="310896"/>
          </a:xfrm>
          <a:prstGeom prst="roundRect">
            <a:avLst>
              <a:gd name="adj" fmla="val 50000"/>
            </a:avLst>
          </a:prstGeom>
          <a:solidFill>
            <a:srgbClr val="CADCFC"/>
          </a:solidFill>
          <a:ln w="12700">
            <a:solidFill>
              <a:srgbClr val="CADCFC"/>
            </a:solidFill>
            <a:prstDash val="solid"/>
          </a:ln>
        </p:spPr>
      </p:sp>
      <p:sp>
        <p:nvSpPr>
          <p:cNvPr id="20" name="Text 18"/>
          <p:cNvSpPr/>
          <p:nvPr/>
        </p:nvSpPr>
        <p:spPr>
          <a:xfrm>
            <a:off x="6375654" y="2450592"/>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21" name="Text 19"/>
          <p:cNvSpPr/>
          <p:nvPr/>
        </p:nvSpPr>
        <p:spPr>
          <a:xfrm>
            <a:off x="6768846" y="2450592"/>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ISO/IEC 27001</a:t>
            </a:r>
            <a:endParaRPr lang="en-US" sz="1200" dirty="0"/>
          </a:p>
        </p:txBody>
      </p:sp>
      <p:sp>
        <p:nvSpPr>
          <p:cNvPr id="22" name="Text 20"/>
          <p:cNvSpPr/>
          <p:nvPr/>
        </p:nvSpPr>
        <p:spPr>
          <a:xfrm>
            <a:off x="6375654" y="2816352"/>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情報セキュリティマネジメントシステム（ISMS）</a:t>
            </a:r>
            <a:endParaRPr lang="en-US" sz="900" dirty="0"/>
          </a:p>
        </p:txBody>
      </p:sp>
      <p:sp>
        <p:nvSpPr>
          <p:cNvPr id="23" name="Shape 21"/>
          <p:cNvSpPr/>
          <p:nvPr/>
        </p:nvSpPr>
        <p:spPr>
          <a:xfrm>
            <a:off x="9014841" y="2286000"/>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4" name="Shape 22"/>
          <p:cNvSpPr/>
          <p:nvPr/>
        </p:nvSpPr>
        <p:spPr>
          <a:xfrm>
            <a:off x="9197721" y="2450592"/>
            <a:ext cx="310896" cy="310896"/>
          </a:xfrm>
          <a:prstGeom prst="roundRect">
            <a:avLst>
              <a:gd name="adj" fmla="val 50000"/>
            </a:avLst>
          </a:prstGeom>
          <a:solidFill>
            <a:srgbClr val="CADCFC"/>
          </a:solidFill>
          <a:ln w="12700">
            <a:solidFill>
              <a:srgbClr val="CADCFC"/>
            </a:solidFill>
            <a:prstDash val="solid"/>
          </a:ln>
        </p:spPr>
      </p:sp>
      <p:sp>
        <p:nvSpPr>
          <p:cNvPr id="25" name="Text 23"/>
          <p:cNvSpPr/>
          <p:nvPr/>
        </p:nvSpPr>
        <p:spPr>
          <a:xfrm>
            <a:off x="9197721" y="2450592"/>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26" name="Text 24"/>
          <p:cNvSpPr/>
          <p:nvPr/>
        </p:nvSpPr>
        <p:spPr>
          <a:xfrm>
            <a:off x="9590913" y="2450592"/>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ISO/IEC 27017</a:t>
            </a:r>
            <a:endParaRPr lang="en-US" sz="1200" dirty="0"/>
          </a:p>
        </p:txBody>
      </p:sp>
      <p:sp>
        <p:nvSpPr>
          <p:cNvPr id="27" name="Text 25"/>
          <p:cNvSpPr/>
          <p:nvPr/>
        </p:nvSpPr>
        <p:spPr>
          <a:xfrm>
            <a:off x="9197721" y="2816352"/>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クラウドサービスのセキュリティ</a:t>
            </a:r>
            <a:endParaRPr lang="en-US" sz="900" dirty="0"/>
          </a:p>
        </p:txBody>
      </p:sp>
      <p:sp>
        <p:nvSpPr>
          <p:cNvPr id="28" name="Shape 26"/>
          <p:cNvSpPr/>
          <p:nvPr/>
        </p:nvSpPr>
        <p:spPr>
          <a:xfrm>
            <a:off x="548640" y="3456432"/>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9" name="Shape 27"/>
          <p:cNvSpPr/>
          <p:nvPr/>
        </p:nvSpPr>
        <p:spPr>
          <a:xfrm>
            <a:off x="731520" y="3621024"/>
            <a:ext cx="310896" cy="310896"/>
          </a:xfrm>
          <a:prstGeom prst="roundRect">
            <a:avLst>
              <a:gd name="adj" fmla="val 50000"/>
            </a:avLst>
          </a:prstGeom>
          <a:solidFill>
            <a:srgbClr val="CADCFC"/>
          </a:solidFill>
          <a:ln w="12700">
            <a:solidFill>
              <a:srgbClr val="CADCFC"/>
            </a:solidFill>
            <a:prstDash val="solid"/>
          </a:ln>
        </p:spPr>
      </p:sp>
      <p:sp>
        <p:nvSpPr>
          <p:cNvPr id="30" name="Text 28"/>
          <p:cNvSpPr/>
          <p:nvPr/>
        </p:nvSpPr>
        <p:spPr>
          <a:xfrm>
            <a:off x="731520" y="3621024"/>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31" name="Text 29"/>
          <p:cNvSpPr/>
          <p:nvPr/>
        </p:nvSpPr>
        <p:spPr>
          <a:xfrm>
            <a:off x="1124712" y="3621024"/>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ISO/IEC 27018</a:t>
            </a:r>
            <a:endParaRPr lang="en-US" sz="1200" dirty="0"/>
          </a:p>
        </p:txBody>
      </p:sp>
      <p:sp>
        <p:nvSpPr>
          <p:cNvPr id="32" name="Text 30"/>
          <p:cNvSpPr/>
          <p:nvPr/>
        </p:nvSpPr>
        <p:spPr>
          <a:xfrm>
            <a:off x="731520" y="3986784"/>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パブリッククラウドにおける個人データ保護</a:t>
            </a:r>
            <a:endParaRPr lang="en-US" sz="900" dirty="0"/>
          </a:p>
        </p:txBody>
      </p:sp>
      <p:sp>
        <p:nvSpPr>
          <p:cNvPr id="33" name="Shape 31"/>
          <p:cNvSpPr/>
          <p:nvPr/>
        </p:nvSpPr>
        <p:spPr>
          <a:xfrm>
            <a:off x="3370707" y="3456432"/>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4" name="Shape 32"/>
          <p:cNvSpPr/>
          <p:nvPr/>
        </p:nvSpPr>
        <p:spPr>
          <a:xfrm>
            <a:off x="3553587" y="3621024"/>
            <a:ext cx="310896" cy="310896"/>
          </a:xfrm>
          <a:prstGeom prst="roundRect">
            <a:avLst>
              <a:gd name="adj" fmla="val 50000"/>
            </a:avLst>
          </a:prstGeom>
          <a:solidFill>
            <a:srgbClr val="CADCFC"/>
          </a:solidFill>
          <a:ln w="12700">
            <a:solidFill>
              <a:srgbClr val="CADCFC"/>
            </a:solidFill>
            <a:prstDash val="solid"/>
          </a:ln>
        </p:spPr>
      </p:sp>
      <p:sp>
        <p:nvSpPr>
          <p:cNvPr id="35" name="Text 33"/>
          <p:cNvSpPr/>
          <p:nvPr/>
        </p:nvSpPr>
        <p:spPr>
          <a:xfrm>
            <a:off x="3553587" y="3621024"/>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36" name="Text 34"/>
          <p:cNvSpPr/>
          <p:nvPr/>
        </p:nvSpPr>
        <p:spPr>
          <a:xfrm>
            <a:off x="3946779" y="3621024"/>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ISO/IEC 27701</a:t>
            </a:r>
            <a:endParaRPr lang="en-US" sz="1200" dirty="0"/>
          </a:p>
        </p:txBody>
      </p:sp>
      <p:sp>
        <p:nvSpPr>
          <p:cNvPr id="37" name="Text 35"/>
          <p:cNvSpPr/>
          <p:nvPr/>
        </p:nvSpPr>
        <p:spPr>
          <a:xfrm>
            <a:off x="3553587" y="3986784"/>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プライバシー情報マネジメント（PIMS）</a:t>
            </a:r>
            <a:endParaRPr lang="en-US" sz="900" dirty="0"/>
          </a:p>
        </p:txBody>
      </p:sp>
      <p:sp>
        <p:nvSpPr>
          <p:cNvPr id="38" name="Shape 36"/>
          <p:cNvSpPr/>
          <p:nvPr/>
        </p:nvSpPr>
        <p:spPr>
          <a:xfrm>
            <a:off x="6192774" y="3456432"/>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9" name="Shape 37"/>
          <p:cNvSpPr/>
          <p:nvPr/>
        </p:nvSpPr>
        <p:spPr>
          <a:xfrm>
            <a:off x="6375654" y="3621024"/>
            <a:ext cx="310896" cy="310896"/>
          </a:xfrm>
          <a:prstGeom prst="roundRect">
            <a:avLst>
              <a:gd name="adj" fmla="val 50000"/>
            </a:avLst>
          </a:prstGeom>
          <a:solidFill>
            <a:srgbClr val="CADCFC"/>
          </a:solidFill>
          <a:ln w="12700">
            <a:solidFill>
              <a:srgbClr val="CADCFC"/>
            </a:solidFill>
            <a:prstDash val="solid"/>
          </a:ln>
        </p:spPr>
      </p:sp>
      <p:sp>
        <p:nvSpPr>
          <p:cNvPr id="40" name="Text 38"/>
          <p:cNvSpPr/>
          <p:nvPr/>
        </p:nvSpPr>
        <p:spPr>
          <a:xfrm>
            <a:off x="6375654" y="3621024"/>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41" name="Text 39"/>
          <p:cNvSpPr/>
          <p:nvPr/>
        </p:nvSpPr>
        <p:spPr>
          <a:xfrm>
            <a:off x="6768846" y="3621024"/>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BSI C5</a:t>
            </a:r>
            <a:endParaRPr lang="en-US" sz="1200" dirty="0"/>
          </a:p>
        </p:txBody>
      </p:sp>
      <p:sp>
        <p:nvSpPr>
          <p:cNvPr id="42" name="Text 40"/>
          <p:cNvSpPr/>
          <p:nvPr/>
        </p:nvSpPr>
        <p:spPr>
          <a:xfrm>
            <a:off x="6375654" y="3986784"/>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ドイツ連邦情報セキュリティ庁のクラウド基準</a:t>
            </a:r>
            <a:endParaRPr lang="en-US" sz="900" dirty="0"/>
          </a:p>
        </p:txBody>
      </p:sp>
      <p:sp>
        <p:nvSpPr>
          <p:cNvPr id="43" name="Shape 41"/>
          <p:cNvSpPr/>
          <p:nvPr/>
        </p:nvSpPr>
        <p:spPr>
          <a:xfrm>
            <a:off x="9014841" y="3456432"/>
            <a:ext cx="2627300" cy="1024128"/>
          </a:xfrm>
          <a:prstGeom prst="roundRect">
            <a:avLst>
              <a:gd name="adj" fmla="val 535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44" name="Shape 42"/>
          <p:cNvSpPr/>
          <p:nvPr/>
        </p:nvSpPr>
        <p:spPr>
          <a:xfrm>
            <a:off x="9197721" y="3621024"/>
            <a:ext cx="310896" cy="310896"/>
          </a:xfrm>
          <a:prstGeom prst="roundRect">
            <a:avLst>
              <a:gd name="adj" fmla="val 50000"/>
            </a:avLst>
          </a:prstGeom>
          <a:solidFill>
            <a:srgbClr val="CADCFC"/>
          </a:solidFill>
          <a:ln w="12700">
            <a:solidFill>
              <a:srgbClr val="CADCFC"/>
            </a:solidFill>
            <a:prstDash val="solid"/>
          </a:ln>
        </p:spPr>
      </p:sp>
      <p:sp>
        <p:nvSpPr>
          <p:cNvPr id="45" name="Text 43"/>
          <p:cNvSpPr/>
          <p:nvPr/>
        </p:nvSpPr>
        <p:spPr>
          <a:xfrm>
            <a:off x="9197721" y="3621024"/>
            <a:ext cx="310896" cy="310896"/>
          </a:xfrm>
          <a:prstGeom prst="rect">
            <a:avLst/>
          </a:prstGeom>
          <a:noFill/>
          <a:ln/>
        </p:spPr>
        <p:txBody>
          <a:bodyPr wrap="square" lIns="0" tIns="0" rIns="0" bIns="0"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a:t>
            </a:r>
            <a:endParaRPr lang="en-US" sz="1100" dirty="0"/>
          </a:p>
        </p:txBody>
      </p:sp>
      <p:sp>
        <p:nvSpPr>
          <p:cNvPr id="46" name="Text 44"/>
          <p:cNvSpPr/>
          <p:nvPr/>
        </p:nvSpPr>
        <p:spPr>
          <a:xfrm>
            <a:off x="9590913" y="3621024"/>
            <a:ext cx="1868348" cy="310896"/>
          </a:xfrm>
          <a:prstGeom prst="rect">
            <a:avLst/>
          </a:prstGeom>
          <a:noFill/>
          <a:ln/>
        </p:spPr>
        <p:txBody>
          <a:bodyPr wrap="square" lIns="0" tIns="0" rIns="0" bIns="0" rtlCol="0" anchor="ctr"/>
          <a:lstStyle/>
          <a:p>
            <a:pPr indent="0" marL="0">
              <a:buNone/>
            </a:pPr>
            <a:r>
              <a:rPr lang="en-US" sz="1200" b="1" dirty="0">
                <a:solidFill>
                  <a:srgbClr val="1E2761"/>
                </a:solidFill>
                <a:latin typeface="Meiryo" pitchFamily="34" charset="0"/>
                <a:ea typeface="Meiryo" pitchFamily="34" charset="-122"/>
                <a:cs typeface="Meiryo" pitchFamily="34" charset="-120"/>
              </a:rPr>
              <a:t>GDPR / HIPAA</a:t>
            </a:r>
            <a:endParaRPr lang="en-US" sz="1200" dirty="0"/>
          </a:p>
        </p:txBody>
      </p:sp>
      <p:sp>
        <p:nvSpPr>
          <p:cNvPr id="47" name="Text 45"/>
          <p:cNvSpPr/>
          <p:nvPr/>
        </p:nvSpPr>
        <p:spPr>
          <a:xfrm>
            <a:off x="9197721" y="3986784"/>
            <a:ext cx="2261540" cy="40233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GDPR準拠。HIPAA BAA は Enterprise 契約時に対応</a:t>
            </a:r>
            <a:endParaRPr lang="en-US" sz="900" dirty="0"/>
          </a:p>
        </p:txBody>
      </p:sp>
      <p:sp>
        <p:nvSpPr>
          <p:cNvPr id="48" name="Shape 46"/>
          <p:cNvSpPr/>
          <p:nvPr/>
        </p:nvSpPr>
        <p:spPr>
          <a:xfrm>
            <a:off x="548640" y="4754880"/>
            <a:ext cx="11094415" cy="1188720"/>
          </a:xfrm>
          <a:prstGeom prst="roundRect">
            <a:avLst>
              <a:gd name="adj" fmla="val 4615"/>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49" name="Text 47"/>
          <p:cNvSpPr/>
          <p:nvPr/>
        </p:nvSpPr>
        <p:spPr>
          <a:xfrm>
            <a:off x="822960" y="4892040"/>
            <a:ext cx="457200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一次資料のご確認先</a:t>
            </a:r>
            <a:endParaRPr lang="en-US" sz="1150" dirty="0"/>
          </a:p>
        </p:txBody>
      </p:sp>
      <p:sp>
        <p:nvSpPr>
          <p:cNvPr id="50" name="Text 48"/>
          <p:cNvSpPr/>
          <p:nvPr/>
        </p:nvSpPr>
        <p:spPr>
          <a:xfrm>
            <a:off x="822960" y="5175504"/>
            <a:ext cx="10545775" cy="640080"/>
          </a:xfrm>
          <a:prstGeom prst="rect">
            <a:avLst/>
          </a:prstGeom>
          <a:noFill/>
          <a:ln/>
        </p:spPr>
        <p:txBody>
          <a:bodyPr wrap="square" lIns="0" tIns="0" rIns="0" bIns="0" rtlCol="0" anchor="ctr"/>
          <a:lstStyle/>
          <a:p>
            <a:pPr indent="0" marL="0">
              <a:lnSpc>
                <a:spcPts val="2000"/>
              </a:lnSpc>
              <a:buNone/>
            </a:pPr>
            <a:r>
              <a:rPr lang="en-US" sz="1150" dirty="0">
                <a:solidFill>
                  <a:srgbClr val="1A1A2E"/>
                </a:solidFill>
                <a:latin typeface="Meiryo" pitchFamily="34" charset="0"/>
                <a:ea typeface="Meiryo" pitchFamily="34" charset="-122"/>
                <a:cs typeface="Meiryo" pitchFamily="34" charset="-120"/>
              </a:rPr>
              <a:t>監査報告書・認証書は Notion Trust Center（trust.notion.com）にて公開されています。</a:t>
            </a:r>
            <a:endParaRPr lang="en-US" sz="1150" dirty="0"/>
          </a:p>
          <a:p>
            <a:pPr indent="0" marL="0">
              <a:lnSpc>
                <a:spcPts val="2000"/>
              </a:lnSpc>
              <a:buNone/>
            </a:pPr>
            <a:r>
              <a:rPr lang="en-US" sz="1150" dirty="0">
                <a:solidFill>
                  <a:srgbClr val="1A1A2E"/>
                </a:solidFill>
                <a:latin typeface="Meiryo" pitchFamily="34" charset="0"/>
                <a:ea typeface="Meiryo" pitchFamily="34" charset="-122"/>
                <a:cs typeface="Meiryo" pitchFamily="34" charset="-120"/>
              </a:rPr>
              <a:t>情報システム部門にて直接ご確認いただけます。必要であれば、当社より取得のうえご提出します。</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第6章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セキュリティ — 統制機能とプランの対応</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THD側で何を必須とされるかによって、選ぶべきプランが一意に決まります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31136"/>
          <a:ext cx="11094415" cy="914400"/>
        </p:xfrm>
        <a:graphic>
          <a:graphicData uri="http://schemas.openxmlformats.org/drawingml/2006/table">
            <a:tbl>
              <a:tblPr/>
              <a:tblGrid>
                <a:gridCol w="5056632"/>
                <a:gridCol w="2011680"/>
                <a:gridCol w="2011680"/>
                <a:gridCol w="2011680"/>
              </a:tblGrid>
              <a:tr h="329184">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機能要件</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Plus</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Business</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Enterprise</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SAML SSO（シングルサインオン）</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監査ログ（Audit Log）</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SCIM（自動IDプロビジョニング）</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外部共有・公開の組織一括禁止</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SIEM / DLP 連携</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プライベートチームスペース</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データ履歴保持（バージョン復元）</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30日</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A1A2E"/>
                          </a:solidFill>
                          <a:latin typeface="Meiryo" pitchFamily="34" charset="0"/>
                          <a:ea typeface="Meiryo" pitchFamily="34" charset="-122"/>
                          <a:cs typeface="Meiryo" pitchFamily="34" charset="-120"/>
                        </a:rPr>
                        <a:t>90日</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無制限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5138928"/>
            <a:ext cx="5437480" cy="868680"/>
          </a:xfrm>
          <a:prstGeom prst="roundRect">
            <a:avLst>
              <a:gd name="adj" fmla="val 6316"/>
            </a:avLst>
          </a:prstGeom>
          <a:solidFill>
            <a:srgbClr val="E9F5F0"/>
          </a:solidFill>
          <a:ln w="12700">
            <a:solidFill>
              <a:srgbClr val="1E7A5A"/>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777240" y="5248656"/>
            <a:ext cx="498028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SSO が必須要件の場合</a:t>
            </a:r>
            <a:endParaRPr lang="en-US" sz="1050" dirty="0"/>
          </a:p>
        </p:txBody>
      </p:sp>
      <p:sp>
        <p:nvSpPr>
          <p:cNvPr id="11" name="Text 8"/>
          <p:cNvSpPr/>
          <p:nvPr/>
        </p:nvSpPr>
        <p:spPr>
          <a:xfrm>
            <a:off x="777240" y="5504688"/>
            <a:ext cx="4980280" cy="365760"/>
          </a:xfrm>
          <a:prstGeom prst="rect">
            <a:avLst/>
          </a:prstGeom>
          <a:noFill/>
          <a:ln/>
        </p:spPr>
        <p:txBody>
          <a:bodyPr wrap="square" lIns="0" tIns="0" rIns="0" bIns="0" rtlCol="0" anchor="ctr"/>
          <a:lstStyle/>
          <a:p>
            <a:pPr indent="0" marL="0">
              <a:buNone/>
            </a:pPr>
            <a:r>
              <a:rPr lang="en-US" sz="1600" b="1" dirty="0">
                <a:solidFill>
                  <a:srgbClr val="1E7A5A"/>
                </a:solidFill>
                <a:latin typeface="Meiryo" pitchFamily="34" charset="0"/>
                <a:ea typeface="Meiryo" pitchFamily="34" charset="-122"/>
                <a:cs typeface="Meiryo" pitchFamily="34" charset="-120"/>
              </a:rPr>
              <a:t>Business プラン以上</a:t>
            </a:r>
            <a:endParaRPr lang="en-US" sz="1600" dirty="0"/>
          </a:p>
        </p:txBody>
      </p:sp>
      <p:sp>
        <p:nvSpPr>
          <p:cNvPr id="12" name="Shape 9"/>
          <p:cNvSpPr/>
          <p:nvPr/>
        </p:nvSpPr>
        <p:spPr>
          <a:xfrm>
            <a:off x="6205576" y="5138928"/>
            <a:ext cx="5437480" cy="868680"/>
          </a:xfrm>
          <a:prstGeom prst="roundRect">
            <a:avLst>
              <a:gd name="adj" fmla="val 6316"/>
            </a:avLst>
          </a:prstGeom>
          <a:solidFill>
            <a:srgbClr val="FDF6E7"/>
          </a:solidFill>
          <a:ln w="12700">
            <a:solidFill>
              <a:srgbClr val="9A6700"/>
            </a:solidFill>
            <a:prstDash val="solid"/>
          </a:ln>
          <a:effectLst>
            <a:outerShdw sx="100000" sy="100000" kx="0" ky="0" algn="bl" rotWithShape="0" blurRad="101600" dist="12700" dir="5400000">
              <a:srgbClr val="1E2761">
                <a:alpha val="10000"/>
              </a:srgbClr>
            </a:outerShdw>
          </a:effectLst>
        </p:spPr>
      </p:sp>
      <p:sp>
        <p:nvSpPr>
          <p:cNvPr id="13" name="Text 10"/>
          <p:cNvSpPr/>
          <p:nvPr/>
        </p:nvSpPr>
        <p:spPr>
          <a:xfrm>
            <a:off x="6434176" y="5248656"/>
            <a:ext cx="498028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監査ログ・SCIM も必須の場合</a:t>
            </a:r>
            <a:endParaRPr lang="en-US" sz="1050" dirty="0"/>
          </a:p>
        </p:txBody>
      </p:sp>
      <p:sp>
        <p:nvSpPr>
          <p:cNvPr id="14" name="Text 11"/>
          <p:cNvSpPr/>
          <p:nvPr/>
        </p:nvSpPr>
        <p:spPr>
          <a:xfrm>
            <a:off x="6434176" y="5504688"/>
            <a:ext cx="4980280" cy="365760"/>
          </a:xfrm>
          <a:prstGeom prst="rect">
            <a:avLst/>
          </a:prstGeom>
          <a:noFill/>
          <a:ln/>
        </p:spPr>
        <p:txBody>
          <a:bodyPr wrap="square" lIns="0" tIns="0" rIns="0" bIns="0" rtlCol="0" anchor="ctr"/>
          <a:lstStyle/>
          <a:p>
            <a:pPr indent="0" marL="0">
              <a:buNone/>
            </a:pPr>
            <a:r>
              <a:rPr lang="en-US" sz="1600" b="1" dirty="0">
                <a:solidFill>
                  <a:srgbClr val="9A6700"/>
                </a:solidFill>
                <a:latin typeface="Meiryo" pitchFamily="34" charset="0"/>
                <a:ea typeface="Meiryo" pitchFamily="34" charset="-122"/>
                <a:cs typeface="Meiryo" pitchFamily="34" charset="-120"/>
              </a:rPr>
              <a:t>Enterprise プラン一択</a:t>
            </a:r>
            <a:endParaRPr lang="en-US" sz="1600" dirty="0"/>
          </a:p>
        </p:txBody>
      </p:sp>
      <p:sp>
        <p:nvSpPr>
          <p:cNvPr id="15" name="Text 12"/>
          <p:cNvSpPr/>
          <p:nvPr/>
        </p:nvSpPr>
        <p:spPr>
          <a:xfrm>
            <a:off x="548640" y="6126480"/>
            <a:ext cx="11094415" cy="27432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PCAからのご提案：Business プラン（SSO要件を満たす最小構成）。監査ログを必須とされるかは第8章にてご確認させてください。</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第6章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セキュリティ — なぜ SAML SSO が必要なのか</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Plusの「Microsoftでサインイン」は個人の利便性であり、会社の統制ではありません</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12</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31136"/>
          <a:ext cx="11094415" cy="914400"/>
        </p:xfrm>
        <a:graphic>
          <a:graphicData uri="http://schemas.openxmlformats.org/drawingml/2006/table">
            <a:tbl>
              <a:tblPr/>
              <a:tblGrid>
                <a:gridCol w="2651760"/>
                <a:gridCol w="4224528"/>
                <a:gridCol w="4215384"/>
              </a:tblGrid>
              <a:tr h="38404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論点</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① 通常ログイン / OAuth（Plus）</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② SAML SSO（Business以上）</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r>
              <a:tr h="38404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ログイン方法</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各自がID/PWを入力、またはMicrosoftボタンを押す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社内M365（Entra ID）の認証画面へ自動転送</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8404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SSOの強制</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社員がNotion専用のパスワードを作れてしまう</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SSO以外のログインを遮断できる</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8404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M365ポリシーの適用</a:t>
                      </a:r>
                      <a:endParaRPr lang="en-US" sz="1000" dirty="0">
                        <a:latin typeface="Meiryo" charset="0"/>
                        <a:ea typeface="Meiryo" charset="0"/>
                        <a:cs typeface="Meiryo" charset="0"/>
                      </a:endParaRPr>
                    </a:p>
                    <a:p>
                      <a:pPr algn="l" indent="0" marL="0">
                        <a:buNone/>
                      </a:pPr>
                      <a:r>
                        <a:rPr lang="en-US" sz="1000" b="1" dirty="0">
                          <a:solidFill>
                            <a:srgbClr val="1A1A2E"/>
                          </a:solidFill>
                          <a:latin typeface="Meiryo" pitchFamily="34" charset="0"/>
                          <a:ea typeface="Meiryo" pitchFamily="34" charset="-122"/>
                          <a:cs typeface="Meiryo" pitchFamily="34" charset="-120"/>
                        </a:rPr>
                        <a:t>（MFA・端末制限・IP制限）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パスワードで抜け穴ができ、適用が不完全</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条件付きアクセスが100%適用される</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8404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退職時のアクセス遮断</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Notion側の手動削除を忘れると入れ続ける</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M365停止と同時に即時遮断</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8404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情シスによる一元管理</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社員個人のアカウント管理に依存</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M365の管理画面から一元統制</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4956048"/>
            <a:ext cx="5437480" cy="1371600"/>
          </a:xfrm>
          <a:prstGeom prst="roundRect">
            <a:avLst>
              <a:gd name="adj" fmla="val 4000"/>
            </a:avLst>
          </a:prstGeom>
          <a:solidFill>
            <a:srgbClr val="FBEDEC"/>
          </a:solidFill>
          <a:ln w="12700">
            <a:solidFill>
              <a:srgbClr val="B3261E"/>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749808" y="5065776"/>
            <a:ext cx="5035144" cy="256032"/>
          </a:xfrm>
          <a:prstGeom prst="rect">
            <a:avLst/>
          </a:prstGeom>
          <a:noFill/>
          <a:ln/>
        </p:spPr>
        <p:txBody>
          <a:bodyPr wrap="square" lIns="0" tIns="0" rIns="0" bIns="0" rtlCol="0" anchor="ctr"/>
          <a:lstStyle/>
          <a:p>
            <a:pPr indent="0" marL="0">
              <a:buNone/>
            </a:pPr>
            <a:r>
              <a:rPr lang="en-US" sz="1150" b="1" dirty="0">
                <a:solidFill>
                  <a:srgbClr val="B3261E"/>
                </a:solidFill>
                <a:latin typeface="Meiryo" pitchFamily="34" charset="0"/>
                <a:ea typeface="Meiryo" pitchFamily="34" charset="-122"/>
                <a:cs typeface="Meiryo" pitchFamily="34" charset="-120"/>
              </a:rPr>
              <a:t>SSO なし（Plus プラン）</a:t>
            </a:r>
            <a:endParaRPr lang="en-US" sz="1150" dirty="0"/>
          </a:p>
        </p:txBody>
      </p:sp>
      <p:sp>
        <p:nvSpPr>
          <p:cNvPr id="11" name="Text 8"/>
          <p:cNvSpPr/>
          <p:nvPr/>
        </p:nvSpPr>
        <p:spPr>
          <a:xfrm>
            <a:off x="749808" y="5340096"/>
            <a:ext cx="5035144" cy="548640"/>
          </a:xfrm>
          <a:prstGeom prst="rect">
            <a:avLst/>
          </a:prstGeom>
          <a:noFill/>
          <a:ln/>
        </p:spPr>
        <p:txBody>
          <a:bodyPr wrap="square" lIns="0" tIns="0" rIns="0" bIns="0" rtlCol="0" anchor="ctr"/>
          <a:lstStyle/>
          <a:p>
            <a:pPr indent="0" marL="0">
              <a:lnSpc>
                <a:spcPts val="1700"/>
              </a:lnSpc>
              <a:buNone/>
            </a:pPr>
            <a:r>
              <a:rPr lang="en-US" sz="1000" dirty="0">
                <a:solidFill>
                  <a:srgbClr val="1A1A2E"/>
                </a:solidFill>
                <a:latin typeface="Meiryo" pitchFamily="34" charset="0"/>
                <a:ea typeface="Meiryo" pitchFamily="34" charset="-122"/>
                <a:cs typeface="Meiryo" pitchFamily="34" charset="-120"/>
              </a:rPr>
              <a:t>退職  →  情シスがM365を停止  →  Notion側の削除を失念</a:t>
            </a:r>
            <a:endParaRPr lang="en-US" sz="1000" dirty="0"/>
          </a:p>
          <a:p>
            <a:pPr indent="0" marL="0">
              <a:lnSpc>
                <a:spcPts val="1700"/>
              </a:lnSpc>
              <a:buNone/>
            </a:pPr>
            <a:r>
              <a:rPr lang="en-US" sz="1000" dirty="0">
                <a:solidFill>
                  <a:srgbClr val="1A1A2E"/>
                </a:solidFill>
                <a:latin typeface="Meiryo" pitchFamily="34" charset="0"/>
                <a:ea typeface="Meiryo" pitchFamily="34" charset="-122"/>
                <a:cs typeface="Meiryo" pitchFamily="34" charset="-120"/>
              </a:rPr>
              <a:t>→  元社員が自宅PCから社内Notionを閲覧・コピー可能</a:t>
            </a:r>
            <a:endParaRPr lang="en-US" sz="1000" dirty="0"/>
          </a:p>
        </p:txBody>
      </p:sp>
      <p:sp>
        <p:nvSpPr>
          <p:cNvPr id="12" name="Text 9"/>
          <p:cNvSpPr/>
          <p:nvPr/>
        </p:nvSpPr>
        <p:spPr>
          <a:xfrm>
            <a:off x="749808" y="5943600"/>
            <a:ext cx="5035144" cy="292608"/>
          </a:xfrm>
          <a:prstGeom prst="rect">
            <a:avLst/>
          </a:prstGeom>
          <a:noFill/>
          <a:ln/>
        </p:spPr>
        <p:txBody>
          <a:bodyPr wrap="square" lIns="0" tIns="0" rIns="0" bIns="0" rtlCol="0" anchor="ctr"/>
          <a:lstStyle/>
          <a:p>
            <a:pPr indent="0" marL="0">
              <a:buNone/>
            </a:pPr>
            <a:r>
              <a:rPr lang="en-US" sz="1200" b="1" dirty="0">
                <a:solidFill>
                  <a:srgbClr val="B3261E"/>
                </a:solidFill>
                <a:latin typeface="Meiryo" pitchFamily="34" charset="0"/>
                <a:ea typeface="Meiryo" pitchFamily="34" charset="-122"/>
                <a:cs typeface="Meiryo" pitchFamily="34" charset="-120"/>
              </a:rPr>
              <a:t>機密情報・ノウハウの流出</a:t>
            </a:r>
            <a:endParaRPr lang="en-US" sz="1200" dirty="0"/>
          </a:p>
        </p:txBody>
      </p:sp>
      <p:sp>
        <p:nvSpPr>
          <p:cNvPr id="13" name="Shape 10"/>
          <p:cNvSpPr/>
          <p:nvPr/>
        </p:nvSpPr>
        <p:spPr>
          <a:xfrm>
            <a:off x="6205576" y="4956048"/>
            <a:ext cx="5437480" cy="1371600"/>
          </a:xfrm>
          <a:prstGeom prst="roundRect">
            <a:avLst>
              <a:gd name="adj" fmla="val 4000"/>
            </a:avLst>
          </a:prstGeom>
          <a:solidFill>
            <a:srgbClr val="E9F5F0"/>
          </a:solidFill>
          <a:ln w="12700">
            <a:solidFill>
              <a:srgbClr val="1E7A5A"/>
            </a:solidFill>
            <a:prstDash val="solid"/>
          </a:ln>
          <a:effectLst>
            <a:outerShdw sx="100000" sy="100000" kx="0" ky="0" algn="bl" rotWithShape="0" blurRad="101600" dist="12700" dir="5400000">
              <a:srgbClr val="1E2761">
                <a:alpha val="10000"/>
              </a:srgbClr>
            </a:outerShdw>
          </a:effectLst>
        </p:spPr>
      </p:sp>
      <p:sp>
        <p:nvSpPr>
          <p:cNvPr id="14" name="Text 11"/>
          <p:cNvSpPr/>
          <p:nvPr/>
        </p:nvSpPr>
        <p:spPr>
          <a:xfrm>
            <a:off x="6406744" y="5065776"/>
            <a:ext cx="5035144" cy="256032"/>
          </a:xfrm>
          <a:prstGeom prst="rect">
            <a:avLst/>
          </a:prstGeom>
          <a:noFill/>
          <a:ln/>
        </p:spPr>
        <p:txBody>
          <a:bodyPr wrap="square" lIns="0" tIns="0" rIns="0" bIns="0" rtlCol="0" anchor="ctr"/>
          <a:lstStyle/>
          <a:p>
            <a:pPr indent="0" marL="0">
              <a:buNone/>
            </a:pPr>
            <a:r>
              <a:rPr lang="en-US" sz="1150" b="1" dirty="0">
                <a:solidFill>
                  <a:srgbClr val="1E7A5A"/>
                </a:solidFill>
                <a:latin typeface="Meiryo" pitchFamily="34" charset="0"/>
                <a:ea typeface="Meiryo" pitchFamily="34" charset="-122"/>
                <a:cs typeface="Meiryo" pitchFamily="34" charset="-120"/>
              </a:rPr>
              <a:t>SSO あり（Business プラン以上）</a:t>
            </a:r>
            <a:endParaRPr lang="en-US" sz="1150" dirty="0"/>
          </a:p>
        </p:txBody>
      </p:sp>
      <p:sp>
        <p:nvSpPr>
          <p:cNvPr id="15" name="Text 12"/>
          <p:cNvSpPr/>
          <p:nvPr/>
        </p:nvSpPr>
        <p:spPr>
          <a:xfrm>
            <a:off x="6406744" y="5340096"/>
            <a:ext cx="5035144" cy="548640"/>
          </a:xfrm>
          <a:prstGeom prst="rect">
            <a:avLst/>
          </a:prstGeom>
          <a:noFill/>
          <a:ln/>
        </p:spPr>
        <p:txBody>
          <a:bodyPr wrap="square" lIns="0" tIns="0" rIns="0" bIns="0" rtlCol="0" anchor="ctr"/>
          <a:lstStyle/>
          <a:p>
            <a:pPr indent="0" marL="0">
              <a:lnSpc>
                <a:spcPts val="1700"/>
              </a:lnSpc>
              <a:buNone/>
            </a:pPr>
            <a:r>
              <a:rPr lang="en-US" sz="1000" dirty="0">
                <a:solidFill>
                  <a:srgbClr val="1A1A2E"/>
                </a:solidFill>
                <a:latin typeface="Meiryo" pitchFamily="34" charset="0"/>
                <a:ea typeface="Meiryo" pitchFamily="34" charset="-122"/>
                <a:cs typeface="Meiryo" pitchFamily="34" charset="-120"/>
              </a:rPr>
              <a:t>退職  →  情シスがM365を停止  →  Notionの鍵も同時に自動ロック</a:t>
            </a:r>
            <a:endParaRPr lang="en-US" sz="1000" dirty="0"/>
          </a:p>
          <a:p>
            <a:pPr indent="0" marL="0">
              <a:lnSpc>
                <a:spcPts val="1700"/>
              </a:lnSpc>
              <a:buNone/>
            </a:pPr>
            <a:r>
              <a:rPr lang="en-US" sz="1000" dirty="0">
                <a:solidFill>
                  <a:srgbClr val="1A1A2E"/>
                </a:solidFill>
                <a:latin typeface="Meiryo" pitchFamily="34" charset="0"/>
                <a:ea typeface="Meiryo" pitchFamily="34" charset="-122"/>
                <a:cs typeface="Meiryo" pitchFamily="34" charset="-120"/>
              </a:rPr>
              <a:t>→  即座にアクセス不能</a:t>
            </a:r>
            <a:endParaRPr lang="en-US" sz="1000" dirty="0"/>
          </a:p>
        </p:txBody>
      </p:sp>
      <p:sp>
        <p:nvSpPr>
          <p:cNvPr id="16" name="Text 13"/>
          <p:cNvSpPr/>
          <p:nvPr/>
        </p:nvSpPr>
        <p:spPr>
          <a:xfrm>
            <a:off x="6406744" y="5943600"/>
            <a:ext cx="5035144" cy="292608"/>
          </a:xfrm>
          <a:prstGeom prst="rect">
            <a:avLst/>
          </a:prstGeom>
          <a:noFill/>
          <a:ln/>
        </p:spPr>
        <p:txBody>
          <a:bodyPr wrap="square" lIns="0" tIns="0" rIns="0" bIns="0" rtlCol="0" anchor="ctr"/>
          <a:lstStyle/>
          <a:p>
            <a:pPr indent="0" marL="0">
              <a:buNone/>
            </a:pPr>
            <a:r>
              <a:rPr lang="en-US" sz="1200" b="1" dirty="0">
                <a:solidFill>
                  <a:srgbClr val="1E7A5A"/>
                </a:solidFill>
                <a:latin typeface="Meiryo" pitchFamily="34" charset="0"/>
                <a:ea typeface="Meiryo" pitchFamily="34" charset="-122"/>
                <a:cs typeface="Meiryo" pitchFamily="34" charset="-120"/>
              </a:rPr>
              <a:t>人為的な削除ミスによる流出を防止</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第6章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セキュリティ — 当社M365環境での各プランの挙動</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当社はすでに Microsoft 365（Entra ID）をID基盤として運用しています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13</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4415" cy="914400"/>
        </p:xfrm>
        <a:graphic>
          <a:graphicData uri="http://schemas.openxmlformats.org/drawingml/2006/table">
            <a:tbl>
              <a:tblPr/>
              <a:tblGrid>
                <a:gridCol w="1600200"/>
                <a:gridCol w="5669280"/>
                <a:gridCol w="3822192"/>
              </a:tblGrid>
              <a:tr h="310896">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プラン</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M365（Entra ID）との連携</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THD審査の想定結果</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658368">
                <a:tc>
                  <a:txBody>
                    <a:bodyPr/>
                    <a:lstStyle/>
                    <a:p>
                      <a:pPr algn="l" indent="0" marL="0">
                        <a:buNone/>
                      </a:pPr>
                      <a:r>
                        <a:rPr lang="en-US" sz="1200" b="1" dirty="0">
                          <a:solidFill>
                            <a:srgbClr val="1A1A2E"/>
                          </a:solidFill>
                          <a:latin typeface="Meiryo" pitchFamily="34" charset="0"/>
                          <a:ea typeface="Meiryo" pitchFamily="34" charset="-122"/>
                          <a:cs typeface="Meiryo" pitchFamily="34" charset="-120"/>
                        </a:rPr>
                        <a:t>Plus</a:t>
                      </a:r>
                      <a:endParaRPr lang="en-US" sz="12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SAML SSO 連携は不可。各自が M365 のメールアドレスで個別登録する形となり、退職者の手動削除漏れリスクが残る。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セキュリティポリシー違反として否決されるリスクが大きい</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658368">
                <a:tc>
                  <a:txBody>
                    <a:bodyPr/>
                    <a:lstStyle/>
                    <a:p>
                      <a:pPr algn="l" indent="0" marL="0">
                        <a:buNone/>
                      </a:pPr>
                      <a:r>
                        <a:rPr lang="en-US" sz="1200" b="1" dirty="0">
                          <a:solidFill>
                            <a:srgbClr val="FFFFFF"/>
                          </a:solidFill>
                          <a:latin typeface="Meiryo" pitchFamily="34" charset="0"/>
                          <a:ea typeface="Meiryo" pitchFamily="34" charset="-122"/>
                          <a:cs typeface="Meiryo" pitchFamily="34" charset="-120"/>
                        </a:rPr>
                        <a:t>Business</a:t>
                      </a:r>
                      <a:endParaRPr lang="en-US" sz="12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SAML SSO 連携が可能（プロビジョニングは手動）。M365 の認証でログインを統一でき、M365 を止めればアクセスを遮断できる。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「SSO必須」の要件をクリア。承認いただける可能性が高い</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658368">
                <a:tc>
                  <a:txBody>
                    <a:bodyPr/>
                    <a:lstStyle/>
                    <a:p>
                      <a:pPr algn="l" indent="0" marL="0">
                        <a:buNone/>
                      </a:pPr>
                      <a:r>
                        <a:rPr lang="en-US" sz="1200" b="1" dirty="0">
                          <a:solidFill>
                            <a:srgbClr val="1A1A2E"/>
                          </a:solidFill>
                          <a:latin typeface="Meiryo" pitchFamily="34" charset="0"/>
                          <a:ea typeface="Meiryo" pitchFamily="34" charset="-122"/>
                          <a:cs typeface="Meiryo" pitchFamily="34" charset="-120"/>
                        </a:rPr>
                        <a:t>Enterprise</a:t>
                      </a:r>
                      <a:endParaRPr lang="en-US" sz="12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SAML SSO ＋ SCIM（自動同期）連携が可能。M365側で社員を追加・異動・削除すると、Notion側も自動で作成・削除される。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9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大手ホールディングス基準を完全にクリア（最も安全）</a:t>
                      </a:r>
                      <a:endParaRPr lang="en-US" sz="9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5230368"/>
            <a:ext cx="6903720" cy="1170432"/>
          </a:xfrm>
          <a:prstGeom prst="roundRect">
            <a:avLst>
              <a:gd name="adj" fmla="val 4688"/>
            </a:avLst>
          </a:prstGeom>
          <a:solidFill>
            <a:srgbClr val="FDF6E7"/>
          </a:solidFill>
          <a:ln w="12700">
            <a:solidFill>
              <a:srgbClr val="9A6700"/>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777240" y="5340096"/>
            <a:ext cx="6446520" cy="237744"/>
          </a:xfrm>
          <a:prstGeom prst="rect">
            <a:avLst/>
          </a:prstGeom>
          <a:noFill/>
          <a:ln/>
        </p:spPr>
        <p:txBody>
          <a:bodyPr wrap="square" lIns="0" tIns="0" rIns="0" bIns="0" rtlCol="0" anchor="ctr"/>
          <a:lstStyle/>
          <a:p>
            <a:pPr indent="0" marL="0">
              <a:buNone/>
            </a:pPr>
            <a:r>
              <a:rPr lang="en-US" sz="1100" b="1" dirty="0">
                <a:solidFill>
                  <a:srgbClr val="9A6700"/>
                </a:solidFill>
                <a:latin typeface="Meiryo" pitchFamily="34" charset="0"/>
                <a:ea typeface="Meiryo" pitchFamily="34" charset="-122"/>
                <a:cs typeface="Meiryo" pitchFamily="34" charset="-120"/>
              </a:rPr>
              <a:t>Business プランでできないこと（あらかじめ申し上げます）</a:t>
            </a:r>
            <a:endParaRPr lang="en-US" sz="1100" dirty="0"/>
          </a:p>
        </p:txBody>
      </p:sp>
      <p:sp>
        <p:nvSpPr>
          <p:cNvPr id="11" name="Text 8"/>
          <p:cNvSpPr/>
          <p:nvPr/>
        </p:nvSpPr>
        <p:spPr>
          <a:xfrm>
            <a:off x="777240" y="5596128"/>
            <a:ext cx="6446520" cy="694944"/>
          </a:xfrm>
          <a:prstGeom prst="rect">
            <a:avLst/>
          </a:prstGeom>
          <a:noFill/>
          <a:ln/>
        </p:spPr>
        <p:txBody>
          <a:bodyPr wrap="square" lIns="0" tIns="0" rIns="0" bIns="0" rtlCol="0" anchor="ctr"/>
          <a:lstStyle/>
          <a:p>
            <a:pPr indent="0" marL="0">
              <a:lnSpc>
                <a:spcPts val="1500"/>
              </a:lnSpc>
              <a:buNone/>
            </a:pPr>
            <a:r>
              <a:rPr lang="en-US" sz="950" dirty="0">
                <a:solidFill>
                  <a:srgbClr val="1A1A2E"/>
                </a:solidFill>
                <a:latin typeface="Meiryo" pitchFamily="34" charset="0"/>
                <a:ea typeface="Meiryo" pitchFamily="34" charset="-122"/>
                <a:cs typeface="Meiryo" pitchFamily="34" charset="-120"/>
              </a:rPr>
              <a:t>監査ログと SCIM は Business では利用できません。①②のスコープでは「機微情報を Notion に置かない」運用で担保します。監査ログを必須要件とされる場合は Enterprise への切替となり、年額は約911.4万円（140名）に変動します。</a:t>
            </a:r>
            <a:endParaRPr lang="en-US" sz="950" dirty="0"/>
          </a:p>
        </p:txBody>
      </p:sp>
      <p:sp>
        <p:nvSpPr>
          <p:cNvPr id="12" name="Shape 9"/>
          <p:cNvSpPr/>
          <p:nvPr/>
        </p:nvSpPr>
        <p:spPr>
          <a:xfrm>
            <a:off x="7662672" y="5230368"/>
            <a:ext cx="3977640" cy="1170432"/>
          </a:xfrm>
          <a:prstGeom prst="roundRect">
            <a:avLst>
              <a:gd name="adj" fmla="val 4688"/>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3" name="Text 10"/>
          <p:cNvSpPr/>
          <p:nvPr/>
        </p:nvSpPr>
        <p:spPr>
          <a:xfrm>
            <a:off x="7863840" y="5340096"/>
            <a:ext cx="3566160" cy="237744"/>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退職者のアカウント運用</a:t>
            </a:r>
            <a:endParaRPr lang="en-US" sz="1100" dirty="0"/>
          </a:p>
        </p:txBody>
      </p:sp>
      <p:sp>
        <p:nvSpPr>
          <p:cNvPr id="14" name="Text 11"/>
          <p:cNvSpPr/>
          <p:nvPr/>
        </p:nvSpPr>
        <p:spPr>
          <a:xfrm>
            <a:off x="7863840" y="5596128"/>
            <a:ext cx="3566160" cy="694944"/>
          </a:xfrm>
          <a:prstGeom prst="rect">
            <a:avLst/>
          </a:prstGeom>
          <a:noFill/>
          <a:ln/>
        </p:spPr>
        <p:txBody>
          <a:bodyPr wrap="square" lIns="0" tIns="0" rIns="0" bIns="0" rtlCol="0" anchor="ctr"/>
          <a:lstStyle/>
          <a:p>
            <a:pPr indent="0" marL="0">
              <a:lnSpc>
                <a:spcPts val="1500"/>
              </a:lnSpc>
              <a:buNone/>
            </a:pPr>
            <a:r>
              <a:rPr lang="en-US" sz="950" dirty="0">
                <a:solidFill>
                  <a:srgbClr val="1A1A2E"/>
                </a:solidFill>
                <a:latin typeface="Meiryo" pitchFamily="34" charset="0"/>
                <a:ea typeface="Meiryo" pitchFamily="34" charset="-122"/>
                <a:cs typeface="Meiryo" pitchFamily="34" charset="-120"/>
              </a:rPr>
              <a:t>SSOによりM365停止と同時にログイン不能。課金停止のためのメンバー削除は手動運用とし、対象者リストを月次で突合します。</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第7章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【別軸】基盤の上で目指す運用改革</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ここからは別軸のお話です。仕組みができて初めて可能になる「運用」の話であり、ご承認の対象ではありません</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14</a:t>
            </a:r>
            <a:endParaRPr lang="en-US" sz="1000" dirty="0"/>
          </a:p>
        </p:txBody>
      </p:sp>
      <p:sp>
        <p:nvSpPr>
          <p:cNvPr id="8" name="Text 6"/>
          <p:cNvSpPr/>
          <p:nvPr/>
        </p:nvSpPr>
        <p:spPr>
          <a:xfrm>
            <a:off x="548640" y="2212848"/>
            <a:ext cx="11094415" cy="310896"/>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会議の目的を先に決め、決まったことが確実に現場まで届く状態にする</a:t>
            </a:r>
            <a:endParaRPr lang="en-US" sz="1400" dirty="0"/>
          </a:p>
        </p:txBody>
      </p:sp>
      <p:sp>
        <p:nvSpPr>
          <p:cNvPr id="9" name="Shape 7"/>
          <p:cNvSpPr/>
          <p:nvPr/>
        </p:nvSpPr>
        <p:spPr>
          <a:xfrm>
            <a:off x="548640" y="2606040"/>
            <a:ext cx="2601468" cy="1828800"/>
          </a:xfrm>
          <a:prstGeom prst="roundRect">
            <a:avLst>
              <a:gd name="adj" fmla="val 3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0" name="Shape 8"/>
          <p:cNvSpPr/>
          <p:nvPr/>
        </p:nvSpPr>
        <p:spPr>
          <a:xfrm>
            <a:off x="731520" y="2761488"/>
            <a:ext cx="329184" cy="329184"/>
          </a:xfrm>
          <a:prstGeom prst="roundRect">
            <a:avLst>
              <a:gd name="adj" fmla="val 50000"/>
            </a:avLst>
          </a:prstGeom>
          <a:solidFill>
            <a:srgbClr val="1E2761"/>
          </a:solidFill>
          <a:ln w="12700">
            <a:solidFill>
              <a:srgbClr val="1E2761"/>
            </a:solidFill>
            <a:prstDash val="solid"/>
          </a:ln>
        </p:spPr>
      </p:sp>
      <p:sp>
        <p:nvSpPr>
          <p:cNvPr id="11" name="Text 9"/>
          <p:cNvSpPr/>
          <p:nvPr/>
        </p:nvSpPr>
        <p:spPr>
          <a:xfrm>
            <a:off x="731520"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12" name="Text 10"/>
          <p:cNvSpPr/>
          <p:nvPr/>
        </p:nvSpPr>
        <p:spPr>
          <a:xfrm>
            <a:off x="1143000" y="2761488"/>
            <a:ext cx="1824228" cy="329184"/>
          </a:xfrm>
          <a:prstGeom prst="rect">
            <a:avLst/>
          </a:prstGeom>
          <a:noFill/>
          <a:ln/>
        </p:spPr>
        <p:txBody>
          <a:bodyPr wrap="square" lIns="0" tIns="0" rIns="0" bIns="0"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会議前</a:t>
            </a:r>
            <a:endParaRPr lang="en-US" sz="1300" dirty="0"/>
          </a:p>
        </p:txBody>
      </p:sp>
      <p:sp>
        <p:nvSpPr>
          <p:cNvPr id="13" name="Text 11"/>
          <p:cNvSpPr/>
          <p:nvPr/>
        </p:nvSpPr>
        <p:spPr>
          <a:xfrm>
            <a:off x="731520" y="3182112"/>
            <a:ext cx="2235708" cy="512064"/>
          </a:xfrm>
          <a:prstGeom prst="rect">
            <a:avLst/>
          </a:prstGeom>
          <a:noFill/>
          <a:ln/>
        </p:spPr>
        <p:txBody>
          <a:bodyPr wrap="square" lIns="0" tIns="0" rIns="0" bIns="0" rtlCol="0" anchor="ctr"/>
          <a:lstStyle/>
          <a:p>
            <a:pPr indent="0" marL="0">
              <a:buNone/>
            </a:pPr>
            <a:r>
              <a:rPr lang="en-US" sz="1100" b="1" dirty="0">
                <a:solidFill>
                  <a:srgbClr val="1A1A2E"/>
                </a:solidFill>
                <a:latin typeface="Meiryo" pitchFamily="34" charset="0"/>
                <a:ea typeface="Meiryo" pitchFamily="34" charset="-122"/>
                <a:cs typeface="Meiryo" pitchFamily="34" charset="-120"/>
              </a:rPr>
              <a:t>ゴールとアジェンダを作って共有</a:t>
            </a:r>
            <a:endParaRPr lang="en-US" sz="1100" dirty="0"/>
          </a:p>
        </p:txBody>
      </p:sp>
      <p:sp>
        <p:nvSpPr>
          <p:cNvPr id="14" name="Text 12"/>
          <p:cNvSpPr/>
          <p:nvPr/>
        </p:nvSpPr>
        <p:spPr>
          <a:xfrm>
            <a:off x="731520" y="3712464"/>
            <a:ext cx="2235708" cy="64008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議事録ページを会議の前に起票し、この会議で決めることを明示。参加者が準備して臨める。</a:t>
            </a:r>
            <a:endParaRPr lang="en-US" sz="900" dirty="0"/>
          </a:p>
        </p:txBody>
      </p:sp>
      <p:sp>
        <p:nvSpPr>
          <p:cNvPr id="15" name="Text 13"/>
          <p:cNvSpPr/>
          <p:nvPr/>
        </p:nvSpPr>
        <p:spPr>
          <a:xfrm>
            <a:off x="3159252" y="3291840"/>
            <a:ext cx="210312" cy="274320"/>
          </a:xfrm>
          <a:prstGeom prst="rect">
            <a:avLst/>
          </a:prstGeom>
          <a:noFill/>
          <a:ln/>
        </p:spPr>
        <p:txBody>
          <a:bodyPr wrap="square" lIns="0" tIns="0" rIns="0" bIns="0" rtlCol="0" anchor="ctr"/>
          <a:lstStyle/>
          <a:p>
            <a:pPr algn="ctr" indent="0" marL="0">
              <a:buNone/>
            </a:pPr>
            <a:r>
              <a:rPr lang="en-US" sz="1100" dirty="0">
                <a:solidFill>
                  <a:srgbClr val="3A4A8F"/>
                </a:solidFill>
                <a:latin typeface="Meiryo" pitchFamily="34" charset="0"/>
                <a:ea typeface="Meiryo" pitchFamily="34" charset="-122"/>
                <a:cs typeface="Meiryo" pitchFamily="34" charset="-120"/>
              </a:rPr>
              <a:t>▶</a:t>
            </a:r>
            <a:endParaRPr lang="en-US" sz="1100" dirty="0"/>
          </a:p>
        </p:txBody>
      </p:sp>
      <p:sp>
        <p:nvSpPr>
          <p:cNvPr id="16" name="Shape 14"/>
          <p:cNvSpPr/>
          <p:nvPr/>
        </p:nvSpPr>
        <p:spPr>
          <a:xfrm>
            <a:off x="3378708" y="2606040"/>
            <a:ext cx="2601468" cy="1828800"/>
          </a:xfrm>
          <a:prstGeom prst="roundRect">
            <a:avLst>
              <a:gd name="adj" fmla="val 3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7" name="Shape 15"/>
          <p:cNvSpPr/>
          <p:nvPr/>
        </p:nvSpPr>
        <p:spPr>
          <a:xfrm>
            <a:off x="3561588" y="2761488"/>
            <a:ext cx="329184" cy="329184"/>
          </a:xfrm>
          <a:prstGeom prst="roundRect">
            <a:avLst>
              <a:gd name="adj" fmla="val 50000"/>
            </a:avLst>
          </a:prstGeom>
          <a:solidFill>
            <a:srgbClr val="1E2761"/>
          </a:solidFill>
          <a:ln w="12700">
            <a:solidFill>
              <a:srgbClr val="1E2761"/>
            </a:solidFill>
            <a:prstDash val="solid"/>
          </a:ln>
        </p:spPr>
      </p:sp>
      <p:sp>
        <p:nvSpPr>
          <p:cNvPr id="18" name="Text 16"/>
          <p:cNvSpPr/>
          <p:nvPr/>
        </p:nvSpPr>
        <p:spPr>
          <a:xfrm>
            <a:off x="3561588"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9" name="Text 17"/>
          <p:cNvSpPr/>
          <p:nvPr/>
        </p:nvSpPr>
        <p:spPr>
          <a:xfrm>
            <a:off x="3973068" y="2761488"/>
            <a:ext cx="1824228" cy="329184"/>
          </a:xfrm>
          <a:prstGeom prst="rect">
            <a:avLst/>
          </a:prstGeom>
          <a:noFill/>
          <a:ln/>
        </p:spPr>
        <p:txBody>
          <a:bodyPr wrap="square" lIns="0" tIns="0" rIns="0" bIns="0"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会議中</a:t>
            </a:r>
            <a:endParaRPr lang="en-US" sz="1300" dirty="0"/>
          </a:p>
        </p:txBody>
      </p:sp>
      <p:sp>
        <p:nvSpPr>
          <p:cNvPr id="20" name="Text 18"/>
          <p:cNvSpPr/>
          <p:nvPr/>
        </p:nvSpPr>
        <p:spPr>
          <a:xfrm>
            <a:off x="3561588" y="3182112"/>
            <a:ext cx="2235708" cy="512064"/>
          </a:xfrm>
          <a:prstGeom prst="rect">
            <a:avLst/>
          </a:prstGeom>
          <a:noFill/>
          <a:ln/>
        </p:spPr>
        <p:txBody>
          <a:bodyPr wrap="square" lIns="0" tIns="0" rIns="0" bIns="0" rtlCol="0" anchor="ctr"/>
          <a:lstStyle/>
          <a:p>
            <a:pPr indent="0" marL="0">
              <a:buNone/>
            </a:pPr>
            <a:r>
              <a:rPr lang="en-US" sz="1100" b="1" dirty="0">
                <a:solidFill>
                  <a:srgbClr val="1A1A2E"/>
                </a:solidFill>
                <a:latin typeface="Meiryo" pitchFamily="34" charset="0"/>
                <a:ea typeface="Meiryo" pitchFamily="34" charset="-122"/>
                <a:cs typeface="Meiryo" pitchFamily="34" charset="-120"/>
              </a:rPr>
              <a:t>その場で議事録化</a:t>
            </a:r>
            <a:endParaRPr lang="en-US" sz="1100" dirty="0"/>
          </a:p>
        </p:txBody>
      </p:sp>
      <p:sp>
        <p:nvSpPr>
          <p:cNvPr id="21" name="Text 19"/>
          <p:cNvSpPr/>
          <p:nvPr/>
        </p:nvSpPr>
        <p:spPr>
          <a:xfrm>
            <a:off x="3561588" y="3712464"/>
            <a:ext cx="2235708" cy="64008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決定事項と宿題（担当者・期限）を、会議の場で確定させる。</a:t>
            </a:r>
            <a:endParaRPr lang="en-US" sz="900" dirty="0"/>
          </a:p>
        </p:txBody>
      </p:sp>
      <p:sp>
        <p:nvSpPr>
          <p:cNvPr id="22" name="Text 20"/>
          <p:cNvSpPr/>
          <p:nvPr/>
        </p:nvSpPr>
        <p:spPr>
          <a:xfrm>
            <a:off x="5989320" y="3291840"/>
            <a:ext cx="210312" cy="274320"/>
          </a:xfrm>
          <a:prstGeom prst="rect">
            <a:avLst/>
          </a:prstGeom>
          <a:noFill/>
          <a:ln/>
        </p:spPr>
        <p:txBody>
          <a:bodyPr wrap="square" lIns="0" tIns="0" rIns="0" bIns="0" rtlCol="0" anchor="ctr"/>
          <a:lstStyle/>
          <a:p>
            <a:pPr algn="ctr" indent="0" marL="0">
              <a:buNone/>
            </a:pPr>
            <a:r>
              <a:rPr lang="en-US" sz="1100" dirty="0">
                <a:solidFill>
                  <a:srgbClr val="3A4A8F"/>
                </a:solidFill>
                <a:latin typeface="Meiryo" pitchFamily="34" charset="0"/>
                <a:ea typeface="Meiryo" pitchFamily="34" charset="-122"/>
                <a:cs typeface="Meiryo" pitchFamily="34" charset="-120"/>
              </a:rPr>
              <a:t>▶</a:t>
            </a:r>
            <a:endParaRPr lang="en-US" sz="1100" dirty="0"/>
          </a:p>
        </p:txBody>
      </p:sp>
      <p:sp>
        <p:nvSpPr>
          <p:cNvPr id="23" name="Shape 21"/>
          <p:cNvSpPr/>
          <p:nvPr/>
        </p:nvSpPr>
        <p:spPr>
          <a:xfrm>
            <a:off x="6208776" y="2606040"/>
            <a:ext cx="2601468" cy="1828800"/>
          </a:xfrm>
          <a:prstGeom prst="roundRect">
            <a:avLst>
              <a:gd name="adj" fmla="val 3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4" name="Shape 22"/>
          <p:cNvSpPr/>
          <p:nvPr/>
        </p:nvSpPr>
        <p:spPr>
          <a:xfrm>
            <a:off x="6391656" y="2761488"/>
            <a:ext cx="329184" cy="329184"/>
          </a:xfrm>
          <a:prstGeom prst="roundRect">
            <a:avLst>
              <a:gd name="adj" fmla="val 50000"/>
            </a:avLst>
          </a:prstGeom>
          <a:solidFill>
            <a:srgbClr val="1E2761"/>
          </a:solidFill>
          <a:ln w="12700">
            <a:solidFill>
              <a:srgbClr val="1E2761"/>
            </a:solidFill>
            <a:prstDash val="solid"/>
          </a:ln>
        </p:spPr>
      </p:sp>
      <p:sp>
        <p:nvSpPr>
          <p:cNvPr id="25" name="Text 23"/>
          <p:cNvSpPr/>
          <p:nvPr/>
        </p:nvSpPr>
        <p:spPr>
          <a:xfrm>
            <a:off x="6391656"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26" name="Text 24"/>
          <p:cNvSpPr/>
          <p:nvPr/>
        </p:nvSpPr>
        <p:spPr>
          <a:xfrm>
            <a:off x="6803136" y="2761488"/>
            <a:ext cx="1824228" cy="329184"/>
          </a:xfrm>
          <a:prstGeom prst="rect">
            <a:avLst/>
          </a:prstGeom>
          <a:noFill/>
          <a:ln/>
        </p:spPr>
        <p:txBody>
          <a:bodyPr wrap="square" lIns="0" tIns="0" rIns="0" bIns="0"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会議後</a:t>
            </a:r>
            <a:endParaRPr lang="en-US" sz="1300" dirty="0"/>
          </a:p>
        </p:txBody>
      </p:sp>
      <p:sp>
        <p:nvSpPr>
          <p:cNvPr id="27" name="Text 25"/>
          <p:cNvSpPr/>
          <p:nvPr/>
        </p:nvSpPr>
        <p:spPr>
          <a:xfrm>
            <a:off x="6391656" y="3182112"/>
            <a:ext cx="2235708" cy="512064"/>
          </a:xfrm>
          <a:prstGeom prst="rect">
            <a:avLst/>
          </a:prstGeom>
          <a:noFill/>
          <a:ln/>
        </p:spPr>
        <p:txBody>
          <a:bodyPr wrap="square" lIns="0" tIns="0" rIns="0" bIns="0" rtlCol="0" anchor="ctr"/>
          <a:lstStyle/>
          <a:p>
            <a:pPr indent="0" marL="0">
              <a:buNone/>
            </a:pPr>
            <a:r>
              <a:rPr lang="en-US" sz="1100" b="1" dirty="0">
                <a:solidFill>
                  <a:srgbClr val="1A1A2E"/>
                </a:solidFill>
                <a:latin typeface="Meiryo" pitchFamily="34" charset="0"/>
                <a:ea typeface="Meiryo" pitchFamily="34" charset="-122"/>
                <a:cs typeface="Meiryo" pitchFamily="34" charset="-120"/>
              </a:rPr>
              <a:t>タスクと案件に接続</a:t>
            </a:r>
            <a:endParaRPr lang="en-US" sz="1100" dirty="0"/>
          </a:p>
        </p:txBody>
      </p:sp>
      <p:sp>
        <p:nvSpPr>
          <p:cNvPr id="28" name="Text 26"/>
          <p:cNvSpPr/>
          <p:nvPr/>
        </p:nvSpPr>
        <p:spPr>
          <a:xfrm>
            <a:off x="6391656" y="3712464"/>
            <a:ext cx="2235708" cy="64008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決定事項がタスクDBに紐づき、案件・イシューにつながる。</a:t>
            </a:r>
            <a:endParaRPr lang="en-US" sz="900" dirty="0"/>
          </a:p>
        </p:txBody>
      </p:sp>
      <p:sp>
        <p:nvSpPr>
          <p:cNvPr id="29" name="Text 27"/>
          <p:cNvSpPr/>
          <p:nvPr/>
        </p:nvSpPr>
        <p:spPr>
          <a:xfrm>
            <a:off x="8819388" y="3291840"/>
            <a:ext cx="210312" cy="274320"/>
          </a:xfrm>
          <a:prstGeom prst="rect">
            <a:avLst/>
          </a:prstGeom>
          <a:noFill/>
          <a:ln/>
        </p:spPr>
        <p:txBody>
          <a:bodyPr wrap="square" lIns="0" tIns="0" rIns="0" bIns="0" rtlCol="0" anchor="ctr"/>
          <a:lstStyle/>
          <a:p>
            <a:pPr algn="ctr" indent="0" marL="0">
              <a:buNone/>
            </a:pPr>
            <a:r>
              <a:rPr lang="en-US" sz="1100" dirty="0">
                <a:solidFill>
                  <a:srgbClr val="3A4A8F"/>
                </a:solidFill>
                <a:latin typeface="Meiryo" pitchFamily="34" charset="0"/>
                <a:ea typeface="Meiryo" pitchFamily="34" charset="-122"/>
                <a:cs typeface="Meiryo" pitchFamily="34" charset="-120"/>
              </a:rPr>
              <a:t>▶</a:t>
            </a:r>
            <a:endParaRPr lang="en-US" sz="1100" dirty="0"/>
          </a:p>
        </p:txBody>
      </p:sp>
      <p:sp>
        <p:nvSpPr>
          <p:cNvPr id="30" name="Shape 28"/>
          <p:cNvSpPr/>
          <p:nvPr/>
        </p:nvSpPr>
        <p:spPr>
          <a:xfrm>
            <a:off x="9038844" y="2606040"/>
            <a:ext cx="2601468" cy="1828800"/>
          </a:xfrm>
          <a:prstGeom prst="roundRect">
            <a:avLst>
              <a:gd name="adj" fmla="val 3000"/>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31" name="Shape 29"/>
          <p:cNvSpPr/>
          <p:nvPr/>
        </p:nvSpPr>
        <p:spPr>
          <a:xfrm>
            <a:off x="9221724" y="2761488"/>
            <a:ext cx="329184" cy="329184"/>
          </a:xfrm>
          <a:prstGeom prst="roundRect">
            <a:avLst>
              <a:gd name="adj" fmla="val 50000"/>
            </a:avLst>
          </a:prstGeom>
          <a:solidFill>
            <a:srgbClr val="1E2761"/>
          </a:solidFill>
          <a:ln w="12700">
            <a:solidFill>
              <a:srgbClr val="1E2761"/>
            </a:solidFill>
            <a:prstDash val="solid"/>
          </a:ln>
        </p:spPr>
      </p:sp>
      <p:sp>
        <p:nvSpPr>
          <p:cNvPr id="32" name="Text 30"/>
          <p:cNvSpPr/>
          <p:nvPr/>
        </p:nvSpPr>
        <p:spPr>
          <a:xfrm>
            <a:off x="9221724"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33" name="Text 31"/>
          <p:cNvSpPr/>
          <p:nvPr/>
        </p:nvSpPr>
        <p:spPr>
          <a:xfrm>
            <a:off x="9633204" y="2761488"/>
            <a:ext cx="1824228" cy="329184"/>
          </a:xfrm>
          <a:prstGeom prst="rect">
            <a:avLst/>
          </a:prstGeom>
          <a:noFill/>
          <a:ln/>
        </p:spPr>
        <p:txBody>
          <a:bodyPr wrap="square" lIns="0" tIns="0" rIns="0" bIns="0"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全社展開</a:t>
            </a:r>
            <a:endParaRPr lang="en-US" sz="1300" dirty="0"/>
          </a:p>
        </p:txBody>
      </p:sp>
      <p:sp>
        <p:nvSpPr>
          <p:cNvPr id="34" name="Text 32"/>
          <p:cNvSpPr/>
          <p:nvPr/>
        </p:nvSpPr>
        <p:spPr>
          <a:xfrm>
            <a:off x="9221724" y="3182112"/>
            <a:ext cx="2235708" cy="512064"/>
          </a:xfrm>
          <a:prstGeom prst="rect">
            <a:avLst/>
          </a:prstGeom>
          <a:noFill/>
          <a:ln/>
        </p:spPr>
        <p:txBody>
          <a:bodyPr wrap="square" lIns="0" tIns="0" rIns="0" bIns="0" rtlCol="0" anchor="ctr"/>
          <a:lstStyle/>
          <a:p>
            <a:pPr indent="0" marL="0">
              <a:buNone/>
            </a:pPr>
            <a:r>
              <a:rPr lang="en-US" sz="1100" b="1" dirty="0">
                <a:solidFill>
                  <a:srgbClr val="1A1A2E"/>
                </a:solidFill>
                <a:latin typeface="Meiryo" pitchFamily="34" charset="0"/>
                <a:ea typeface="Meiryo" pitchFamily="34" charset="-122"/>
                <a:cs typeface="Meiryo" pitchFamily="34" charset="-120"/>
              </a:rPr>
              <a:t>各MGを通じて現場まで届ける</a:t>
            </a:r>
            <a:endParaRPr lang="en-US" sz="1100" dirty="0"/>
          </a:p>
        </p:txBody>
      </p:sp>
      <p:sp>
        <p:nvSpPr>
          <p:cNvPr id="35" name="Text 33"/>
          <p:cNvSpPr/>
          <p:nvPr/>
        </p:nvSpPr>
        <p:spPr>
          <a:xfrm>
            <a:off x="9221724" y="3712464"/>
            <a:ext cx="2235708" cy="64008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全社共有用ページを用意し、同期ブロック（シンクロ）で各部門ページへ配信する。</a:t>
            </a:r>
            <a:endParaRPr lang="en-US" sz="900" dirty="0"/>
          </a:p>
        </p:txBody>
      </p:sp>
      <p:sp>
        <p:nvSpPr>
          <p:cNvPr id="36" name="Shape 34"/>
          <p:cNvSpPr/>
          <p:nvPr/>
        </p:nvSpPr>
        <p:spPr>
          <a:xfrm>
            <a:off x="548640" y="4617720"/>
            <a:ext cx="6903720" cy="1417320"/>
          </a:xfrm>
          <a:prstGeom prst="roundRect">
            <a:avLst>
              <a:gd name="adj" fmla="val 3871"/>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7" name="Text 35"/>
          <p:cNvSpPr/>
          <p:nvPr/>
        </p:nvSpPr>
        <p:spPr>
          <a:xfrm>
            <a:off x="777240" y="4736592"/>
            <a:ext cx="365760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全社展開のイメージ</a:t>
            </a:r>
            <a:endParaRPr lang="en-US" sz="1150" dirty="0"/>
          </a:p>
        </p:txBody>
      </p:sp>
      <p:sp>
        <p:nvSpPr>
          <p:cNvPr id="38" name="Text 36"/>
          <p:cNvSpPr/>
          <p:nvPr/>
        </p:nvSpPr>
        <p:spPr>
          <a:xfrm>
            <a:off x="777240" y="5029200"/>
            <a:ext cx="6446520" cy="868680"/>
          </a:xfrm>
          <a:prstGeom prst="rect">
            <a:avLst/>
          </a:prstGeom>
          <a:noFill/>
          <a:ln/>
        </p:spPr>
        <p:txBody>
          <a:bodyPr wrap="square" lIns="0" tIns="0" rIns="0" bIns="0" rtlCol="0" anchor="ctr"/>
          <a:lstStyle/>
          <a:p>
            <a:pPr indent="0" marL="0">
              <a:lnSpc>
                <a:spcPts val="1600"/>
              </a:lnSpc>
              <a:buNone/>
            </a:pPr>
            <a:r>
              <a:rPr lang="en-US" sz="1000" dirty="0">
                <a:solidFill>
                  <a:srgbClr val="1A1A2E"/>
                </a:solidFill>
                <a:latin typeface="Meiryo" pitchFamily="34" charset="0"/>
                <a:ea typeface="Meiryo" pitchFamily="34" charset="-122"/>
                <a:cs typeface="Meiryo" pitchFamily="34" charset="-120"/>
              </a:rPr>
              <a:t>例：経営会議で決定した全社方針を、全部門へ展開する必要が生じたとき。全社共有用ページの内容を各部門ページへ同期配信し、原本を1回直せば展開先すべてに即時反映されます。各MGが個別に転記・再作成する必要がなくなり、伝達漏れ・版ズレ・「言った/聞いてない」がなくなります。</a:t>
            </a:r>
            <a:endParaRPr lang="en-US" sz="1000" dirty="0"/>
          </a:p>
        </p:txBody>
      </p:sp>
      <p:sp>
        <p:nvSpPr>
          <p:cNvPr id="39" name="Shape 37"/>
          <p:cNvSpPr/>
          <p:nvPr/>
        </p:nvSpPr>
        <p:spPr>
          <a:xfrm>
            <a:off x="7662672" y="4617720"/>
            <a:ext cx="3977640" cy="1417320"/>
          </a:xfrm>
          <a:prstGeom prst="roundRect">
            <a:avLst>
              <a:gd name="adj" fmla="val 3871"/>
            </a:avLst>
          </a:prstGeom>
          <a:solidFill>
            <a:srgbClr val="FBEDEC"/>
          </a:solidFill>
          <a:ln w="12700">
            <a:solidFill>
              <a:srgbClr val="B3261E"/>
            </a:solidFill>
            <a:prstDash val="solid"/>
          </a:ln>
          <a:effectLst>
            <a:outerShdw sx="100000" sy="100000" kx="0" ky="0" algn="bl" rotWithShape="0" blurRad="101600" dist="12700" dir="5400000">
              <a:srgbClr val="1E2761">
                <a:alpha val="10000"/>
              </a:srgbClr>
            </a:outerShdw>
          </a:effectLst>
        </p:spPr>
      </p:sp>
      <p:sp>
        <p:nvSpPr>
          <p:cNvPr id="40" name="Text 38"/>
          <p:cNvSpPr/>
          <p:nvPr/>
        </p:nvSpPr>
        <p:spPr>
          <a:xfrm>
            <a:off x="7863840" y="4736592"/>
            <a:ext cx="3566160" cy="256032"/>
          </a:xfrm>
          <a:prstGeom prst="rect">
            <a:avLst/>
          </a:prstGeom>
          <a:noFill/>
          <a:ln/>
        </p:spPr>
        <p:txBody>
          <a:bodyPr wrap="square" lIns="0" tIns="0" rIns="0" bIns="0" rtlCol="0" anchor="ctr"/>
          <a:lstStyle/>
          <a:p>
            <a:pPr indent="0" marL="0">
              <a:buNone/>
            </a:pPr>
            <a:r>
              <a:rPr lang="en-US" sz="1150" b="1" dirty="0">
                <a:solidFill>
                  <a:srgbClr val="B3261E"/>
                </a:solidFill>
                <a:latin typeface="Meiryo" pitchFamily="34" charset="0"/>
                <a:ea typeface="Meiryo" pitchFamily="34" charset="-122"/>
                <a:cs typeface="Meiryo" pitchFamily="34" charset="-120"/>
              </a:rPr>
              <a:t>設計上の注意（重要）</a:t>
            </a:r>
            <a:endParaRPr lang="en-US" sz="1150" dirty="0"/>
          </a:p>
        </p:txBody>
      </p:sp>
      <p:sp>
        <p:nvSpPr>
          <p:cNvPr id="41" name="Text 39"/>
          <p:cNvSpPr/>
          <p:nvPr/>
        </p:nvSpPr>
        <p:spPr>
          <a:xfrm>
            <a:off x="7863840" y="5029200"/>
            <a:ext cx="3566160" cy="868680"/>
          </a:xfrm>
          <a:prstGeom prst="rect">
            <a:avLst/>
          </a:prstGeom>
          <a:noFill/>
          <a:ln/>
        </p:spPr>
        <p:txBody>
          <a:bodyPr wrap="square" lIns="0" tIns="0" rIns="0" bIns="0" rtlCol="0" anchor="ctr"/>
          <a:lstStyle/>
          <a:p>
            <a:pPr indent="0" marL="0">
              <a:lnSpc>
                <a:spcPts val="1500"/>
              </a:lnSpc>
              <a:buNone/>
            </a:pPr>
            <a:r>
              <a:rPr lang="en-US" sz="950" dirty="0">
                <a:solidFill>
                  <a:srgbClr val="1A1A2E"/>
                </a:solidFill>
                <a:latin typeface="Meiryo" pitchFamily="34" charset="0"/>
                <a:ea typeface="Meiryo" pitchFamily="34" charset="-122"/>
                <a:cs typeface="Meiryo" pitchFamily="34" charset="-120"/>
              </a:rPr>
              <a:t>同期ブロックは「同期元ページの閲覧権限」が適用されます。経営会議の議事録（非公開）に原本を置くと、一般社員には中身が表示されません。原本は必ず全社共有ページ側に置きます（Appendix I）。</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第7章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導入計画 — 小さく始めて、効果で拡張を判断します</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話を戻します。スコープ・コスト・撤退基準を先に限定し、失敗リスクを封じます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15</a:t>
            </a:r>
            <a:endParaRPr lang="en-US" sz="1000" dirty="0"/>
          </a:p>
        </p:txBody>
      </p:sp>
      <p:sp>
        <p:nvSpPr>
          <p:cNvPr id="8" name="Shape 6"/>
          <p:cNvSpPr/>
          <p:nvPr/>
        </p:nvSpPr>
        <p:spPr>
          <a:xfrm>
            <a:off x="548640" y="2286000"/>
            <a:ext cx="3401568" cy="1371600"/>
          </a:xfrm>
          <a:prstGeom prst="roundRect">
            <a:avLst>
              <a:gd name="adj" fmla="val 4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49808" y="2395728"/>
            <a:ext cx="2999232" cy="256032"/>
          </a:xfrm>
          <a:prstGeom prst="rect">
            <a:avLst/>
          </a:prstGeom>
          <a:noFill/>
          <a:ln/>
        </p:spPr>
        <p:txBody>
          <a:bodyPr wrap="square" lIns="0" tIns="0" rIns="0" bIns="0" rtlCol="0" anchor="ctr"/>
          <a:lstStyle/>
          <a:p>
            <a:pPr indent="0" marL="0">
              <a:buNone/>
            </a:pPr>
            <a:r>
              <a:rPr lang="en-US" sz="1000" b="1" dirty="0">
                <a:solidFill>
                  <a:srgbClr val="1E7A5A"/>
                </a:solidFill>
                <a:latin typeface="Meiryo" pitchFamily="34" charset="0"/>
                <a:ea typeface="Meiryo" pitchFamily="34" charset="-122"/>
                <a:cs typeface="Meiryo" pitchFamily="34" charset="-120"/>
              </a:rPr>
              <a:t>Phase 1</a:t>
            </a:r>
            <a:endParaRPr lang="en-US" sz="1000" dirty="0"/>
          </a:p>
        </p:txBody>
      </p:sp>
      <p:sp>
        <p:nvSpPr>
          <p:cNvPr id="10" name="Text 8"/>
          <p:cNvSpPr/>
          <p:nvPr/>
        </p:nvSpPr>
        <p:spPr>
          <a:xfrm>
            <a:off x="749808" y="2651760"/>
            <a:ext cx="2999232" cy="29260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経営・PMO</a:t>
            </a:r>
            <a:endParaRPr lang="en-US" sz="1400" dirty="0"/>
          </a:p>
        </p:txBody>
      </p:sp>
      <p:sp>
        <p:nvSpPr>
          <p:cNvPr id="11" name="Shape 9"/>
          <p:cNvSpPr/>
          <p:nvPr/>
        </p:nvSpPr>
        <p:spPr>
          <a:xfrm>
            <a:off x="749808" y="2980944"/>
            <a:ext cx="1691640" cy="237744"/>
          </a:xfrm>
          <a:prstGeom prst="roundRect">
            <a:avLst>
              <a:gd name="adj" fmla="val 15385"/>
            </a:avLst>
          </a:prstGeom>
          <a:solidFill>
            <a:srgbClr val="1E7A5A"/>
          </a:solidFill>
          <a:ln w="12700">
            <a:solidFill>
              <a:srgbClr val="1E7A5A"/>
            </a:solidFill>
            <a:prstDash val="solid"/>
          </a:ln>
        </p:spPr>
      </p:sp>
      <p:sp>
        <p:nvSpPr>
          <p:cNvPr id="12" name="Text 10"/>
          <p:cNvSpPr/>
          <p:nvPr/>
        </p:nvSpPr>
        <p:spPr>
          <a:xfrm>
            <a:off x="749808" y="2980944"/>
            <a:ext cx="16916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実施済</a:t>
            </a:r>
            <a:endParaRPr lang="en-US" sz="850" dirty="0"/>
          </a:p>
        </p:txBody>
      </p:sp>
      <p:sp>
        <p:nvSpPr>
          <p:cNvPr id="13" name="Text 11"/>
          <p:cNvSpPr/>
          <p:nvPr/>
        </p:nvSpPr>
        <p:spPr>
          <a:xfrm>
            <a:off x="749808" y="3273552"/>
            <a:ext cx="2999232"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経営層で3か月の実運用。効果を確認済み。</a:t>
            </a:r>
            <a:endParaRPr lang="en-US" sz="900" dirty="0"/>
          </a:p>
        </p:txBody>
      </p:sp>
      <p:sp>
        <p:nvSpPr>
          <p:cNvPr id="14" name="Text 12"/>
          <p:cNvSpPr/>
          <p:nvPr/>
        </p:nvSpPr>
        <p:spPr>
          <a:xfrm>
            <a:off x="3959352" y="2834640"/>
            <a:ext cx="201168" cy="274320"/>
          </a:xfrm>
          <a:prstGeom prst="rect">
            <a:avLst/>
          </a:prstGeom>
          <a:noFill/>
          <a:ln/>
        </p:spPr>
        <p:txBody>
          <a:bodyPr wrap="square" lIns="0" tIns="0" rIns="0" bIns="0" rtlCol="0" anchor="ctr"/>
          <a:lstStyle/>
          <a:p>
            <a:pPr algn="ctr" indent="0" marL="0">
              <a:buNone/>
            </a:pPr>
            <a:r>
              <a:rPr lang="en-US" sz="1100" dirty="0">
                <a:solidFill>
                  <a:srgbClr val="3A4A8F"/>
                </a:solidFill>
                <a:latin typeface="Meiryo" pitchFamily="34" charset="0"/>
                <a:ea typeface="Meiryo" pitchFamily="34" charset="-122"/>
                <a:cs typeface="Meiryo" pitchFamily="34" charset="-120"/>
              </a:rPr>
              <a:t>▶</a:t>
            </a:r>
            <a:endParaRPr lang="en-US" sz="1100" dirty="0"/>
          </a:p>
        </p:txBody>
      </p:sp>
      <p:sp>
        <p:nvSpPr>
          <p:cNvPr id="15" name="Shape 13"/>
          <p:cNvSpPr/>
          <p:nvPr/>
        </p:nvSpPr>
        <p:spPr>
          <a:xfrm>
            <a:off x="4169664" y="2286000"/>
            <a:ext cx="3401568" cy="1371600"/>
          </a:xfrm>
          <a:prstGeom prst="roundRect">
            <a:avLst>
              <a:gd name="adj" fmla="val 4000"/>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6" name="Text 14"/>
          <p:cNvSpPr/>
          <p:nvPr/>
        </p:nvSpPr>
        <p:spPr>
          <a:xfrm>
            <a:off x="4370832" y="2395728"/>
            <a:ext cx="2999232" cy="256032"/>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Phase 2</a:t>
            </a:r>
            <a:endParaRPr lang="en-US" sz="1000" dirty="0"/>
          </a:p>
        </p:txBody>
      </p:sp>
      <p:sp>
        <p:nvSpPr>
          <p:cNvPr id="17" name="Text 15"/>
          <p:cNvSpPr/>
          <p:nvPr/>
        </p:nvSpPr>
        <p:spPr>
          <a:xfrm>
            <a:off x="4370832" y="2651760"/>
            <a:ext cx="2999232" cy="29260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部門展開</a:t>
            </a:r>
            <a:endParaRPr lang="en-US" sz="1400" dirty="0"/>
          </a:p>
        </p:txBody>
      </p:sp>
      <p:sp>
        <p:nvSpPr>
          <p:cNvPr id="18" name="Shape 16"/>
          <p:cNvSpPr/>
          <p:nvPr/>
        </p:nvSpPr>
        <p:spPr>
          <a:xfrm>
            <a:off x="4370832" y="2980944"/>
            <a:ext cx="1691640" cy="237744"/>
          </a:xfrm>
          <a:prstGeom prst="roundRect">
            <a:avLst>
              <a:gd name="adj" fmla="val 15385"/>
            </a:avLst>
          </a:prstGeom>
          <a:solidFill>
            <a:srgbClr val="1E2761"/>
          </a:solidFill>
          <a:ln w="12700">
            <a:solidFill>
              <a:srgbClr val="1E2761"/>
            </a:solidFill>
            <a:prstDash val="solid"/>
          </a:ln>
        </p:spPr>
      </p:sp>
      <p:sp>
        <p:nvSpPr>
          <p:cNvPr id="19" name="Text 17"/>
          <p:cNvSpPr/>
          <p:nvPr/>
        </p:nvSpPr>
        <p:spPr>
          <a:xfrm>
            <a:off x="4370832" y="2980944"/>
            <a:ext cx="16916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今回のご承認対象</a:t>
            </a:r>
            <a:endParaRPr lang="en-US" sz="850" dirty="0"/>
          </a:p>
        </p:txBody>
      </p:sp>
      <p:sp>
        <p:nvSpPr>
          <p:cNvPr id="20" name="Text 18"/>
          <p:cNvSpPr/>
          <p:nvPr/>
        </p:nvSpPr>
        <p:spPr>
          <a:xfrm>
            <a:off x="4370832" y="3273552"/>
            <a:ext cx="2999232"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約100名から開始し、着地140名。テンプレート＋ミニマニュアル整備後に展開。</a:t>
            </a:r>
            <a:endParaRPr lang="en-US" sz="900" dirty="0"/>
          </a:p>
        </p:txBody>
      </p:sp>
      <p:sp>
        <p:nvSpPr>
          <p:cNvPr id="21" name="Text 19"/>
          <p:cNvSpPr/>
          <p:nvPr/>
        </p:nvSpPr>
        <p:spPr>
          <a:xfrm>
            <a:off x="7580376" y="2834640"/>
            <a:ext cx="201168" cy="274320"/>
          </a:xfrm>
          <a:prstGeom prst="rect">
            <a:avLst/>
          </a:prstGeom>
          <a:noFill/>
          <a:ln/>
        </p:spPr>
        <p:txBody>
          <a:bodyPr wrap="square" lIns="0" tIns="0" rIns="0" bIns="0" rtlCol="0" anchor="ctr"/>
          <a:lstStyle/>
          <a:p>
            <a:pPr algn="ctr" indent="0" marL="0">
              <a:buNone/>
            </a:pPr>
            <a:r>
              <a:rPr lang="en-US" sz="1100" dirty="0">
                <a:solidFill>
                  <a:srgbClr val="3A4A8F"/>
                </a:solidFill>
                <a:latin typeface="Meiryo" pitchFamily="34" charset="0"/>
                <a:ea typeface="Meiryo" pitchFamily="34" charset="-122"/>
                <a:cs typeface="Meiryo" pitchFamily="34" charset="-120"/>
              </a:rPr>
              <a:t>▶</a:t>
            </a:r>
            <a:endParaRPr lang="en-US" sz="1100" dirty="0"/>
          </a:p>
        </p:txBody>
      </p:sp>
      <p:sp>
        <p:nvSpPr>
          <p:cNvPr id="22" name="Shape 20"/>
          <p:cNvSpPr/>
          <p:nvPr/>
        </p:nvSpPr>
        <p:spPr>
          <a:xfrm>
            <a:off x="7790688" y="2286000"/>
            <a:ext cx="3401568" cy="1371600"/>
          </a:xfrm>
          <a:prstGeom prst="roundRect">
            <a:avLst>
              <a:gd name="adj" fmla="val 4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3" name="Text 21"/>
          <p:cNvSpPr/>
          <p:nvPr/>
        </p:nvSpPr>
        <p:spPr>
          <a:xfrm>
            <a:off x="7991856" y="2395728"/>
            <a:ext cx="2999232" cy="256032"/>
          </a:xfrm>
          <a:prstGeom prst="rect">
            <a:avLst/>
          </a:prstGeom>
          <a:noFill/>
          <a:ln/>
        </p:spPr>
        <p:txBody>
          <a:bodyPr wrap="square" lIns="0" tIns="0" rIns="0" bIns="0" rtlCol="0" anchor="ctr"/>
          <a:lstStyle/>
          <a:p>
            <a:pPr indent="0" marL="0">
              <a:buNone/>
            </a:pPr>
            <a:r>
              <a:rPr lang="en-US" sz="1000" b="1" dirty="0">
                <a:solidFill>
                  <a:srgbClr val="6B7280"/>
                </a:solidFill>
                <a:latin typeface="Meiryo" pitchFamily="34" charset="0"/>
                <a:ea typeface="Meiryo" pitchFamily="34" charset="-122"/>
                <a:cs typeface="Meiryo" pitchFamily="34" charset="-120"/>
              </a:rPr>
              <a:t>Phase 3</a:t>
            </a:r>
            <a:endParaRPr lang="en-US" sz="1000" dirty="0"/>
          </a:p>
        </p:txBody>
      </p:sp>
      <p:sp>
        <p:nvSpPr>
          <p:cNvPr id="24" name="Text 22"/>
          <p:cNvSpPr/>
          <p:nvPr/>
        </p:nvSpPr>
        <p:spPr>
          <a:xfrm>
            <a:off x="7991856" y="2651760"/>
            <a:ext cx="2999232" cy="29260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拡張判断</a:t>
            </a:r>
            <a:endParaRPr lang="en-US" sz="1400" dirty="0"/>
          </a:p>
        </p:txBody>
      </p:sp>
      <p:sp>
        <p:nvSpPr>
          <p:cNvPr id="25" name="Shape 23"/>
          <p:cNvSpPr/>
          <p:nvPr/>
        </p:nvSpPr>
        <p:spPr>
          <a:xfrm>
            <a:off x="7991856" y="2980944"/>
            <a:ext cx="1691640" cy="237744"/>
          </a:xfrm>
          <a:prstGeom prst="roundRect">
            <a:avLst>
              <a:gd name="adj" fmla="val 15385"/>
            </a:avLst>
          </a:prstGeom>
          <a:solidFill>
            <a:srgbClr val="6B7280"/>
          </a:solidFill>
          <a:ln w="12700">
            <a:solidFill>
              <a:srgbClr val="6B7280"/>
            </a:solidFill>
            <a:prstDash val="solid"/>
          </a:ln>
        </p:spPr>
      </p:sp>
      <p:sp>
        <p:nvSpPr>
          <p:cNvPr id="26" name="Text 24"/>
          <p:cNvSpPr/>
          <p:nvPr/>
        </p:nvSpPr>
        <p:spPr>
          <a:xfrm>
            <a:off x="7991856" y="2980944"/>
            <a:ext cx="16916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効果測定後</a:t>
            </a:r>
            <a:endParaRPr lang="en-US" sz="850" dirty="0"/>
          </a:p>
        </p:txBody>
      </p:sp>
      <p:sp>
        <p:nvSpPr>
          <p:cNvPr id="27" name="Text 25"/>
          <p:cNvSpPr/>
          <p:nvPr/>
        </p:nvSpPr>
        <p:spPr>
          <a:xfrm>
            <a:off x="7991856" y="3273552"/>
            <a:ext cx="2999232"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効果KPIを測定し、達しなければ拡張しない。</a:t>
            </a:r>
            <a:endParaRPr lang="en-US" sz="900" dirty="0"/>
          </a:p>
        </p:txBody>
      </p:sp>
      <p:sp>
        <p:nvSpPr>
          <p:cNvPr id="28" name="Shape 26"/>
          <p:cNvSpPr/>
          <p:nvPr/>
        </p:nvSpPr>
        <p:spPr>
          <a:xfrm>
            <a:off x="548640" y="3840480"/>
            <a:ext cx="4297680" cy="2194560"/>
          </a:xfrm>
          <a:prstGeom prst="roundRect">
            <a:avLst>
              <a:gd name="adj" fmla="val 2500"/>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29" name="Text 27"/>
          <p:cNvSpPr/>
          <p:nvPr/>
        </p:nvSpPr>
        <p:spPr>
          <a:xfrm>
            <a:off x="822960" y="3986784"/>
            <a:ext cx="3749040" cy="256032"/>
          </a:xfrm>
          <a:prstGeom prst="rect">
            <a:avLst/>
          </a:prstGeom>
          <a:noFill/>
          <a:ln/>
        </p:spPr>
        <p:txBody>
          <a:bodyPr wrap="square" lIns="0" tIns="0" rIns="0" bIns="0" rtlCol="0" anchor="ctr"/>
          <a:lstStyle/>
          <a:p>
            <a:pPr indent="0" marL="0">
              <a:buNone/>
            </a:pPr>
            <a:r>
              <a:rPr lang="en-US" sz="1150" b="1" dirty="0">
                <a:solidFill>
                  <a:srgbClr val="CADCFC"/>
                </a:solidFill>
                <a:latin typeface="Meiryo" pitchFamily="34" charset="0"/>
                <a:ea typeface="Meiryo" pitchFamily="34" charset="-122"/>
                <a:cs typeface="Meiryo" pitchFamily="34" charset="-120"/>
              </a:rPr>
              <a:t>コスト上限</a:t>
            </a:r>
            <a:endParaRPr lang="en-US" sz="1150" dirty="0"/>
          </a:p>
        </p:txBody>
      </p:sp>
      <p:sp>
        <p:nvSpPr>
          <p:cNvPr id="30" name="Text 28"/>
          <p:cNvSpPr/>
          <p:nvPr/>
        </p:nvSpPr>
        <p:spPr>
          <a:xfrm>
            <a:off x="822960" y="4261104"/>
            <a:ext cx="3749040" cy="6858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約520.8万円</a:t>
            </a:r>
            <a:endParaRPr lang="en-US" sz="3600" dirty="0"/>
          </a:p>
        </p:txBody>
      </p:sp>
      <p:sp>
        <p:nvSpPr>
          <p:cNvPr id="31" name="Text 29"/>
          <p:cNvSpPr/>
          <p:nvPr/>
        </p:nvSpPr>
        <p:spPr>
          <a:xfrm>
            <a:off x="822960" y="4937760"/>
            <a:ext cx="3749040" cy="256032"/>
          </a:xfrm>
          <a:prstGeom prst="rect">
            <a:avLst/>
          </a:prstGeom>
          <a:noFill/>
          <a:ln/>
        </p:spPr>
        <p:txBody>
          <a:bodyPr wrap="square" lIns="0" tIns="0" rIns="0" bIns="0" rtlCol="0" anchor="ctr"/>
          <a:lstStyle/>
          <a:p>
            <a:pPr indent="0" marL="0">
              <a:buNone/>
            </a:pPr>
            <a:r>
              <a:rPr lang="en-US" sz="1100" dirty="0">
                <a:solidFill>
                  <a:srgbClr val="CADCFC"/>
                </a:solidFill>
                <a:latin typeface="Meiryo" pitchFamily="34" charset="0"/>
                <a:ea typeface="Meiryo" pitchFamily="34" charset="-122"/>
                <a:cs typeface="Meiryo" pitchFamily="34" charset="-120"/>
              </a:rPr>
              <a:t>/ 年（140名・Business・年払）</a:t>
            </a:r>
            <a:endParaRPr lang="en-US" sz="1100" dirty="0"/>
          </a:p>
        </p:txBody>
      </p:sp>
      <p:sp>
        <p:nvSpPr>
          <p:cNvPr id="32" name="Text 30"/>
          <p:cNvSpPr/>
          <p:nvPr/>
        </p:nvSpPr>
        <p:spPr>
          <a:xfrm>
            <a:off x="822960" y="5257800"/>
            <a:ext cx="3749040" cy="548640"/>
          </a:xfrm>
          <a:prstGeom prst="rect">
            <a:avLst/>
          </a:prstGeom>
          <a:noFill/>
          <a:ln/>
        </p:spPr>
        <p:txBody>
          <a:bodyPr wrap="square" lIns="0" tIns="0" rIns="0" bIns="0" rtlCol="0" anchor="ctr"/>
          <a:lstStyle/>
          <a:p>
            <a:pPr indent="0" marL="0">
              <a:lnSpc>
                <a:spcPts val="1700"/>
              </a:lnSpc>
              <a:buNone/>
            </a:pPr>
            <a:r>
              <a:rPr lang="en-US" sz="1000" dirty="0">
                <a:solidFill>
                  <a:srgbClr val="CADCFC"/>
                </a:solidFill>
                <a:latin typeface="Meiryo" pitchFamily="34" charset="0"/>
                <a:ea typeface="Meiryo" pitchFamily="34" charset="-122"/>
                <a:cs typeface="Meiryo" pitchFamily="34" charset="-120"/>
              </a:rPr>
              <a:t>月額換算 約43.4万円　／　1人あたり 年37,200円</a:t>
            </a:r>
            <a:endParaRPr lang="en-US" sz="1000" dirty="0"/>
          </a:p>
          <a:p>
            <a:pPr indent="0" marL="0">
              <a:lnSpc>
                <a:spcPts val="1700"/>
              </a:lnSpc>
              <a:buNone/>
            </a:pPr>
            <a:r>
              <a:rPr lang="en-US" sz="1000" dirty="0">
                <a:solidFill>
                  <a:srgbClr val="CADCFC"/>
                </a:solidFill>
                <a:latin typeface="Meiryo" pitchFamily="34" charset="0"/>
                <a:ea typeface="Meiryo" pitchFamily="34" charset="-122"/>
                <a:cs typeface="Meiryo" pitchFamily="34" charset="-120"/>
              </a:rPr>
              <a:t>＝ 1営業日あたり 約169円</a:t>
            </a:r>
            <a:endParaRPr lang="en-US" sz="1000" dirty="0"/>
          </a:p>
        </p:txBody>
      </p:sp>
      <p:sp>
        <p:nvSpPr>
          <p:cNvPr id="33" name="Shape 31"/>
          <p:cNvSpPr/>
          <p:nvPr/>
        </p:nvSpPr>
        <p:spPr>
          <a:xfrm>
            <a:off x="5056632" y="3840480"/>
            <a:ext cx="3200400" cy="2194560"/>
          </a:xfrm>
          <a:prstGeom prst="roundRect">
            <a:avLst>
              <a:gd name="adj" fmla="val 25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4" name="Text 32"/>
          <p:cNvSpPr/>
          <p:nvPr/>
        </p:nvSpPr>
        <p:spPr>
          <a:xfrm>
            <a:off x="5257800" y="3986784"/>
            <a:ext cx="283464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統制（3点）</a:t>
            </a:r>
            <a:endParaRPr lang="en-US" sz="1150" dirty="0"/>
          </a:p>
        </p:txBody>
      </p:sp>
      <p:sp>
        <p:nvSpPr>
          <p:cNvPr id="35" name="Text 33"/>
          <p:cNvSpPr/>
          <p:nvPr/>
        </p:nvSpPr>
        <p:spPr>
          <a:xfrm>
            <a:off x="5257800" y="4297680"/>
            <a:ext cx="2834640" cy="1600200"/>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A1A2E"/>
                </a:solidFill>
                <a:latin typeface="Meiryo" pitchFamily="34" charset="0"/>
                <a:ea typeface="Meiryo" pitchFamily="34" charset="-122"/>
                <a:cs typeface="Meiryo" pitchFamily="34" charset="-120"/>
              </a:rPr>
              <a:t>コストは対象人数×単価で上限を明示する</a:t>
            </a:r>
            <a:endParaRPr lang="en-US" sz="950" dirty="0"/>
          </a:p>
          <a:p>
            <a:pPr marL="342900" indent="-342900">
              <a:spcAft>
                <a:spcPts val="700"/>
              </a:spcAft>
              <a:buSzPct val="100000"/>
              <a:buChar char="•"/>
            </a:pPr>
            <a:r>
              <a:rPr lang="en-US" sz="950" dirty="0">
                <a:solidFill>
                  <a:srgbClr val="1A1A2E"/>
                </a:solidFill>
                <a:latin typeface="Meiryo" pitchFamily="34" charset="0"/>
                <a:ea typeface="Meiryo" pitchFamily="34" charset="-122"/>
                <a:cs typeface="Meiryo" pitchFamily="34" charset="-120"/>
              </a:rPr>
              <a:t>SSO・権限で統制し、機微情報はNotionに置かない</a:t>
            </a:r>
            <a:endParaRPr lang="en-US" sz="950" dirty="0"/>
          </a:p>
          <a:p>
            <a:pPr marL="342900" indent="-342900">
              <a:spcAft>
                <a:spcPts val="700"/>
              </a:spcAft>
              <a:buSzPct val="100000"/>
              <a:buChar char="•"/>
            </a:pPr>
            <a:r>
              <a:rPr lang="en-US" sz="950" dirty="0">
                <a:solidFill>
                  <a:srgbClr val="1A1A2E"/>
                </a:solidFill>
                <a:latin typeface="Meiryo" pitchFamily="34" charset="0"/>
                <a:ea typeface="Meiryo" pitchFamily="34" charset="-122"/>
                <a:cs typeface="Meiryo" pitchFamily="34" charset="-120"/>
              </a:rPr>
              <a:t>効果KPI（案件進捗の可視化率・議事録への到達時間）が未達なら拡張しない</a:t>
            </a:r>
            <a:endParaRPr lang="en-US" sz="950" dirty="0"/>
          </a:p>
        </p:txBody>
      </p:sp>
      <p:sp>
        <p:nvSpPr>
          <p:cNvPr id="36" name="Shape 34"/>
          <p:cNvSpPr/>
          <p:nvPr/>
        </p:nvSpPr>
        <p:spPr>
          <a:xfrm>
            <a:off x="8467344" y="3840480"/>
            <a:ext cx="3172968" cy="2194560"/>
          </a:xfrm>
          <a:prstGeom prst="roundRect">
            <a:avLst>
              <a:gd name="adj" fmla="val 25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7" name="Text 35"/>
          <p:cNvSpPr/>
          <p:nvPr/>
        </p:nvSpPr>
        <p:spPr>
          <a:xfrm>
            <a:off x="8668512" y="3986784"/>
            <a:ext cx="278892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コスト最適化</a:t>
            </a:r>
            <a:endParaRPr lang="en-US" sz="1150" dirty="0"/>
          </a:p>
        </p:txBody>
      </p:sp>
      <p:sp>
        <p:nvSpPr>
          <p:cNvPr id="38" name="Text 36"/>
          <p:cNvSpPr/>
          <p:nvPr/>
        </p:nvSpPr>
        <p:spPr>
          <a:xfrm>
            <a:off x="8668512" y="4297680"/>
            <a:ext cx="2788920" cy="219456"/>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段階的な調達（True-up）</a:t>
            </a:r>
            <a:endParaRPr lang="en-US" sz="1000" dirty="0"/>
          </a:p>
        </p:txBody>
      </p:sp>
      <p:sp>
        <p:nvSpPr>
          <p:cNvPr id="39" name="Text 37"/>
          <p:cNvSpPr/>
          <p:nvPr/>
        </p:nvSpPr>
        <p:spPr>
          <a:xfrm>
            <a:off x="8668512" y="4535424"/>
            <a:ext cx="2788920" cy="640080"/>
          </a:xfrm>
          <a:prstGeom prst="rect">
            <a:avLst/>
          </a:prstGeom>
          <a:noFill/>
          <a:ln/>
        </p:spPr>
        <p:txBody>
          <a:bodyPr wrap="square" lIns="0" tIns="0" rIns="0" bIns="0" rtlCol="0" anchor="ctr"/>
          <a:lstStyle/>
          <a:p>
            <a:pPr indent="0" marL="0">
              <a:lnSpc>
                <a:spcPts val="1400"/>
              </a:lnSpc>
              <a:buNone/>
            </a:pPr>
            <a:r>
              <a:rPr lang="en-US" sz="900" dirty="0">
                <a:solidFill>
                  <a:srgbClr val="1A1A2E"/>
                </a:solidFill>
                <a:latin typeface="Meiryo" pitchFamily="34" charset="0"/>
                <a:ea typeface="Meiryo" pitchFamily="34" charset="-122"/>
                <a:cs typeface="Meiryo" pitchFamily="34" charset="-120"/>
              </a:rPr>
              <a:t>初期は約100名から開始し、展開に合わせて追加購入（日割り精算）。上限140名の範囲内で実人数のみ調達します。</a:t>
            </a:r>
            <a:endParaRPr lang="en-US" sz="900" dirty="0"/>
          </a:p>
        </p:txBody>
      </p:sp>
      <p:sp>
        <p:nvSpPr>
          <p:cNvPr id="40" name="Text 38"/>
          <p:cNvSpPr/>
          <p:nvPr/>
        </p:nvSpPr>
        <p:spPr>
          <a:xfrm>
            <a:off x="8668512" y="5175504"/>
            <a:ext cx="2788920" cy="219456"/>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外部委託者の切り分け</a:t>
            </a:r>
            <a:endParaRPr lang="en-US" sz="1000" dirty="0"/>
          </a:p>
        </p:txBody>
      </p:sp>
      <p:sp>
        <p:nvSpPr>
          <p:cNvPr id="41" name="Text 39"/>
          <p:cNvSpPr/>
          <p:nvPr/>
        </p:nvSpPr>
        <p:spPr>
          <a:xfrm>
            <a:off x="8668512" y="5413248"/>
            <a:ext cx="2788920" cy="548640"/>
          </a:xfrm>
          <a:prstGeom prst="rect">
            <a:avLst/>
          </a:prstGeom>
          <a:noFill/>
          <a:ln/>
        </p:spPr>
        <p:txBody>
          <a:bodyPr wrap="square" lIns="0" tIns="0" rIns="0" bIns="0" rtlCol="0" anchor="ctr"/>
          <a:lstStyle/>
          <a:p>
            <a:pPr indent="0" marL="0">
              <a:lnSpc>
                <a:spcPts val="1400"/>
              </a:lnSpc>
              <a:buNone/>
            </a:pPr>
            <a:r>
              <a:rPr lang="en-US" sz="900" dirty="0">
                <a:solidFill>
                  <a:srgbClr val="1A1A2E"/>
                </a:solidFill>
                <a:latin typeface="Meiryo" pitchFamily="34" charset="0"/>
                <a:ea typeface="Meiryo" pitchFamily="34" charset="-122"/>
                <a:cs typeface="Meiryo" pitchFamily="34" charset="-120"/>
              </a:rPr>
              <a:t>業務委託・社外パートナーはゲスト（無料）として必要ページのみに招待し、課金対象を正規社員に限定します。</a:t>
            </a:r>
            <a:endParaRPr lang="en-US" sz="900" dirty="0"/>
          </a:p>
        </p:txBody>
      </p:sp>
      <p:sp>
        <p:nvSpPr>
          <p:cNvPr id="42" name="Text 40"/>
          <p:cNvSpPr/>
          <p:nvPr/>
        </p:nvSpPr>
        <p:spPr>
          <a:xfrm>
            <a:off x="548640" y="6144768"/>
            <a:ext cx="11094415"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 $20/月は年払時の想定単価（$1=155円換算）。正規代理店の見積により変動しますが、上限額は上振れしない前提でご提示しています。</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1E2761"/>
          </a:solidFill>
          <a:ln w="12700">
            <a:solidFill>
              <a:srgbClr val="1E2761"/>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第8章</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お願い事項</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①案件管理 ＋ ②議事録 に限定した正式導入と、コスト上限のご承認をいただきたく存じます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16</a:t>
            </a:r>
            <a:endParaRPr lang="en-US" sz="1000" dirty="0"/>
          </a:p>
        </p:txBody>
      </p:sp>
      <p:sp>
        <p:nvSpPr>
          <p:cNvPr id="8" name="Text 6"/>
          <p:cNvSpPr/>
          <p:nvPr/>
        </p:nvSpPr>
        <p:spPr>
          <a:xfrm>
            <a:off x="548640" y="2212848"/>
            <a:ext cx="4572000" cy="274320"/>
          </a:xfrm>
          <a:prstGeom prst="rect">
            <a:avLst/>
          </a:prstGeom>
          <a:noFill/>
          <a:ln/>
        </p:spPr>
        <p:txBody>
          <a:bodyPr wrap="square" lIns="0" tIns="0" rIns="0" bIns="0" rtlCol="0" anchor="ctr"/>
          <a:lstStyle/>
          <a:p>
            <a:pPr indent="0" marL="0">
              <a:buNone/>
            </a:pPr>
            <a:r>
              <a:rPr lang="en-US" sz="1200" b="1" dirty="0">
                <a:solidFill>
                  <a:srgbClr val="6B7280"/>
                </a:solidFill>
                <a:latin typeface="Meiryo" pitchFamily="34" charset="0"/>
                <a:ea typeface="Meiryo" pitchFamily="34" charset="-122"/>
                <a:cs typeface="Meiryo" pitchFamily="34" charset="-120"/>
              </a:rPr>
              <a:t>ご承認いただきたいこと</a:t>
            </a:r>
            <a:endParaRPr lang="en-US" sz="1200" dirty="0"/>
          </a:p>
        </p:txBody>
      </p:sp>
      <p:sp>
        <p:nvSpPr>
          <p:cNvPr id="9" name="Shape 7"/>
          <p:cNvSpPr/>
          <p:nvPr/>
        </p:nvSpPr>
        <p:spPr>
          <a:xfrm>
            <a:off x="548640" y="2542032"/>
            <a:ext cx="6903720" cy="493776"/>
          </a:xfrm>
          <a:prstGeom prst="roundRect">
            <a:avLst>
              <a:gd name="adj" fmla="val 11111"/>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0" name="Shape 8"/>
          <p:cNvSpPr/>
          <p:nvPr/>
        </p:nvSpPr>
        <p:spPr>
          <a:xfrm>
            <a:off x="694944" y="2642616"/>
            <a:ext cx="292608" cy="292608"/>
          </a:xfrm>
          <a:prstGeom prst="roundRect">
            <a:avLst>
              <a:gd name="adj" fmla="val 50000"/>
            </a:avLst>
          </a:prstGeom>
          <a:solidFill>
            <a:srgbClr val="1E2761"/>
          </a:solidFill>
          <a:ln w="12700">
            <a:solidFill>
              <a:srgbClr val="1E2761"/>
            </a:solidFill>
            <a:prstDash val="solid"/>
          </a:ln>
        </p:spPr>
      </p:sp>
      <p:sp>
        <p:nvSpPr>
          <p:cNvPr id="11" name="Text 9"/>
          <p:cNvSpPr/>
          <p:nvPr/>
        </p:nvSpPr>
        <p:spPr>
          <a:xfrm>
            <a:off x="694944" y="26426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12" name="Text 10"/>
          <p:cNvSpPr/>
          <p:nvPr/>
        </p:nvSpPr>
        <p:spPr>
          <a:xfrm>
            <a:off x="1097280" y="2542032"/>
            <a:ext cx="6263640" cy="493776"/>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①案件管理 ＋ ②議事録 に限定した正式導入</a:t>
            </a:r>
            <a:endParaRPr lang="en-US" sz="1250" dirty="0"/>
          </a:p>
        </p:txBody>
      </p:sp>
      <p:sp>
        <p:nvSpPr>
          <p:cNvPr id="13" name="Shape 11"/>
          <p:cNvSpPr/>
          <p:nvPr/>
        </p:nvSpPr>
        <p:spPr>
          <a:xfrm>
            <a:off x="548640" y="3108960"/>
            <a:ext cx="6903720" cy="493776"/>
          </a:xfrm>
          <a:prstGeom prst="roundRect">
            <a:avLst>
              <a:gd name="adj" fmla="val 11111"/>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4" name="Shape 12"/>
          <p:cNvSpPr/>
          <p:nvPr/>
        </p:nvSpPr>
        <p:spPr>
          <a:xfrm>
            <a:off x="694944" y="3209544"/>
            <a:ext cx="292608" cy="292608"/>
          </a:xfrm>
          <a:prstGeom prst="roundRect">
            <a:avLst>
              <a:gd name="adj" fmla="val 50000"/>
            </a:avLst>
          </a:prstGeom>
          <a:solidFill>
            <a:srgbClr val="1E2761"/>
          </a:solidFill>
          <a:ln w="12700">
            <a:solidFill>
              <a:srgbClr val="1E2761"/>
            </a:solidFill>
            <a:prstDash val="solid"/>
          </a:ln>
        </p:spPr>
      </p:sp>
      <p:sp>
        <p:nvSpPr>
          <p:cNvPr id="15" name="Text 13"/>
          <p:cNvSpPr/>
          <p:nvPr/>
        </p:nvSpPr>
        <p:spPr>
          <a:xfrm>
            <a:off x="694944" y="32095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16" name="Text 14"/>
          <p:cNvSpPr/>
          <p:nvPr/>
        </p:nvSpPr>
        <p:spPr>
          <a:xfrm>
            <a:off x="1097280" y="3108960"/>
            <a:ext cx="6263640" cy="493776"/>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Business プランでの契約（SAML SSO 要件を満たすため）</a:t>
            </a:r>
            <a:endParaRPr lang="en-US" sz="1250" dirty="0"/>
          </a:p>
        </p:txBody>
      </p:sp>
      <p:sp>
        <p:nvSpPr>
          <p:cNvPr id="17" name="Shape 15"/>
          <p:cNvSpPr/>
          <p:nvPr/>
        </p:nvSpPr>
        <p:spPr>
          <a:xfrm>
            <a:off x="548640" y="3675888"/>
            <a:ext cx="6903720" cy="493776"/>
          </a:xfrm>
          <a:prstGeom prst="roundRect">
            <a:avLst>
              <a:gd name="adj" fmla="val 11111"/>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8" name="Shape 16"/>
          <p:cNvSpPr/>
          <p:nvPr/>
        </p:nvSpPr>
        <p:spPr>
          <a:xfrm>
            <a:off x="694944" y="3776472"/>
            <a:ext cx="292608" cy="292608"/>
          </a:xfrm>
          <a:prstGeom prst="roundRect">
            <a:avLst>
              <a:gd name="adj" fmla="val 50000"/>
            </a:avLst>
          </a:prstGeom>
          <a:solidFill>
            <a:srgbClr val="1E2761"/>
          </a:solidFill>
          <a:ln w="12700">
            <a:solidFill>
              <a:srgbClr val="1E2761"/>
            </a:solidFill>
            <a:prstDash val="solid"/>
          </a:ln>
        </p:spPr>
      </p:sp>
      <p:sp>
        <p:nvSpPr>
          <p:cNvPr id="19" name="Text 17"/>
          <p:cNvSpPr/>
          <p:nvPr/>
        </p:nvSpPr>
        <p:spPr>
          <a:xfrm>
            <a:off x="694944"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20" name="Text 18"/>
          <p:cNvSpPr/>
          <p:nvPr/>
        </p:nvSpPr>
        <p:spPr>
          <a:xfrm>
            <a:off x="1097280" y="3675888"/>
            <a:ext cx="6263640" cy="493776"/>
          </a:xfrm>
          <a:prstGeom prst="rect">
            <a:avLst/>
          </a:prstGeom>
          <a:noFill/>
          <a:ln/>
        </p:spPr>
        <p:txBody>
          <a:bodyPr wrap="square" lIns="0" tIns="0" rIns="0" bIns="0" rtlCol="0" anchor="ctr"/>
          <a:lstStyle/>
          <a:p>
            <a:pPr indent="0" marL="0">
              <a:buNone/>
            </a:pPr>
            <a:r>
              <a:rPr lang="en-US" sz="1250" b="1" dirty="0">
                <a:solidFill>
                  <a:srgbClr val="1E2761"/>
                </a:solidFill>
                <a:latin typeface="Meiryo" pitchFamily="34" charset="0"/>
                <a:ea typeface="Meiryo" pitchFamily="34" charset="-122"/>
                <a:cs typeface="Meiryo" pitchFamily="34" charset="-120"/>
              </a:rPr>
              <a:t>Phase2 のコスト上限：140名 ／ 年額 約520.8万円</a:t>
            </a:r>
            <a:endParaRPr lang="en-US" sz="1250" dirty="0"/>
          </a:p>
        </p:txBody>
      </p:sp>
      <p:sp>
        <p:nvSpPr>
          <p:cNvPr id="21" name="Text 19"/>
          <p:cNvSpPr/>
          <p:nvPr/>
        </p:nvSpPr>
        <p:spPr>
          <a:xfrm>
            <a:off x="548640" y="4315968"/>
            <a:ext cx="4572000" cy="274320"/>
          </a:xfrm>
          <a:prstGeom prst="rect">
            <a:avLst/>
          </a:prstGeom>
          <a:noFill/>
          <a:ln/>
        </p:spPr>
        <p:txBody>
          <a:bodyPr wrap="square" lIns="0" tIns="0" rIns="0" bIns="0" rtlCol="0" anchor="ctr"/>
          <a:lstStyle/>
          <a:p>
            <a:pPr indent="0" marL="0">
              <a:buNone/>
            </a:pPr>
            <a:r>
              <a:rPr lang="en-US" sz="1200" b="1" dirty="0">
                <a:solidFill>
                  <a:srgbClr val="6B7280"/>
                </a:solidFill>
                <a:latin typeface="Meiryo" pitchFamily="34" charset="0"/>
                <a:ea typeface="Meiryo" pitchFamily="34" charset="-122"/>
                <a:cs typeface="Meiryo" pitchFamily="34" charset="-120"/>
              </a:rPr>
              <a:t>PCA側のお約束</a:t>
            </a:r>
            <a:endParaRPr lang="en-US" sz="1200" dirty="0"/>
          </a:p>
        </p:txBody>
      </p:sp>
      <p:sp>
        <p:nvSpPr>
          <p:cNvPr id="22" name="Shape 20"/>
          <p:cNvSpPr/>
          <p:nvPr/>
        </p:nvSpPr>
        <p:spPr>
          <a:xfrm>
            <a:off x="548640" y="4626864"/>
            <a:ext cx="6903720" cy="1371600"/>
          </a:xfrm>
          <a:prstGeom prst="roundRect">
            <a:avLst>
              <a:gd name="adj" fmla="val 4000"/>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3" name="Text 21"/>
          <p:cNvSpPr/>
          <p:nvPr/>
        </p:nvSpPr>
        <p:spPr>
          <a:xfrm>
            <a:off x="804672" y="4791456"/>
            <a:ext cx="6400800" cy="105156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A1A2E"/>
                </a:solidFill>
                <a:latin typeface="Meiryo" pitchFamily="34" charset="0"/>
                <a:ea typeface="Meiryo" pitchFamily="34" charset="-122"/>
                <a:cs typeface="Meiryo" pitchFamily="34" charset="-120"/>
              </a:rPr>
              <a:t>③案件関連ファイル・④社内規定は SharePoint を継続（M365 は置き換えません）</a:t>
            </a:r>
            <a:endParaRPr lang="en-US" sz="1100" dirty="0"/>
          </a:p>
          <a:p>
            <a:pPr marL="342900" indent="-342900">
              <a:spcAft>
                <a:spcPts val="800"/>
              </a:spcAft>
              <a:buSzPct val="100000"/>
              <a:buChar char="•"/>
            </a:pPr>
            <a:r>
              <a:rPr lang="en-US" sz="1100" dirty="0">
                <a:solidFill>
                  <a:srgbClr val="1A1A2E"/>
                </a:solidFill>
                <a:latin typeface="Meiryo" pitchFamily="34" charset="0"/>
                <a:ea typeface="Meiryo" pitchFamily="34" charset="-122"/>
                <a:cs typeface="Meiryo" pitchFamily="34" charset="-120"/>
              </a:rPr>
              <a:t>機微情報は Notion に置かない運用とします</a:t>
            </a:r>
            <a:endParaRPr lang="en-US" sz="1100" dirty="0"/>
          </a:p>
          <a:p>
            <a:pPr marL="342900" indent="-342900">
              <a:spcAft>
                <a:spcPts val="800"/>
              </a:spcAft>
              <a:buSzPct val="100000"/>
              <a:buChar char="•"/>
            </a:pPr>
            <a:r>
              <a:rPr lang="en-US" sz="1100" dirty="0">
                <a:solidFill>
                  <a:srgbClr val="1A1A2E"/>
                </a:solidFill>
                <a:latin typeface="Meiryo" pitchFamily="34" charset="0"/>
                <a:ea typeface="Meiryo" pitchFamily="34" charset="-122"/>
                <a:cs typeface="Meiryo" pitchFamily="34" charset="-120"/>
              </a:rPr>
              <a:t>効果測定の結果と、拡張の要否をご報告します</a:t>
            </a:r>
            <a:endParaRPr lang="en-US" sz="1100" dirty="0"/>
          </a:p>
        </p:txBody>
      </p:sp>
      <p:sp>
        <p:nvSpPr>
          <p:cNvPr id="24" name="Shape 22"/>
          <p:cNvSpPr/>
          <p:nvPr/>
        </p:nvSpPr>
        <p:spPr>
          <a:xfrm>
            <a:off x="7662672" y="2542032"/>
            <a:ext cx="3977640" cy="3456432"/>
          </a:xfrm>
          <a:prstGeom prst="roundRect">
            <a:avLst>
              <a:gd name="adj" fmla="val 1587"/>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25" name="Text 23"/>
          <p:cNvSpPr/>
          <p:nvPr/>
        </p:nvSpPr>
        <p:spPr>
          <a:xfrm>
            <a:off x="7863840" y="2697480"/>
            <a:ext cx="3566160" cy="2926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THDへのご確認事項</a:t>
            </a:r>
            <a:endParaRPr lang="en-US" sz="1300" dirty="0"/>
          </a:p>
        </p:txBody>
      </p:sp>
      <p:sp>
        <p:nvSpPr>
          <p:cNvPr id="26" name="Shape 24"/>
          <p:cNvSpPr/>
          <p:nvPr/>
        </p:nvSpPr>
        <p:spPr>
          <a:xfrm>
            <a:off x="7863840" y="3108960"/>
            <a:ext cx="274320" cy="274320"/>
          </a:xfrm>
          <a:prstGeom prst="roundRect">
            <a:avLst>
              <a:gd name="adj" fmla="val 50000"/>
            </a:avLst>
          </a:prstGeom>
          <a:solidFill>
            <a:srgbClr val="CADCFC"/>
          </a:solidFill>
          <a:ln w="12700">
            <a:solidFill>
              <a:srgbClr val="CADCFC"/>
            </a:solidFill>
            <a:prstDash val="solid"/>
          </a:ln>
        </p:spPr>
      </p:sp>
      <p:sp>
        <p:nvSpPr>
          <p:cNvPr id="27" name="Text 25"/>
          <p:cNvSpPr/>
          <p:nvPr/>
        </p:nvSpPr>
        <p:spPr>
          <a:xfrm>
            <a:off x="7863840" y="3108960"/>
            <a:ext cx="274320" cy="274320"/>
          </a:xfrm>
          <a:prstGeom prst="rect">
            <a:avLst/>
          </a:prstGeom>
          <a:noFill/>
          <a:ln/>
        </p:spPr>
        <p:txBody>
          <a:bodyPr wrap="square" lIns="0" tIns="0" rIns="0" bIns="0" rtlCol="0" anchor="ctr"/>
          <a:lstStyle/>
          <a:p>
            <a:pPr algn="ctr" indent="0" marL="0">
              <a:buNone/>
            </a:pPr>
            <a:r>
              <a:rPr lang="en-US" sz="900" b="1" dirty="0">
                <a:solidFill>
                  <a:srgbClr val="1E2761"/>
                </a:solidFill>
                <a:latin typeface="Meiryo" pitchFamily="34" charset="0"/>
                <a:ea typeface="Meiryo" pitchFamily="34" charset="-122"/>
                <a:cs typeface="Meiryo" pitchFamily="34" charset="-120"/>
              </a:rPr>
              <a:t>1</a:t>
            </a:r>
            <a:endParaRPr lang="en-US" sz="900" dirty="0"/>
          </a:p>
        </p:txBody>
      </p:sp>
      <p:sp>
        <p:nvSpPr>
          <p:cNvPr id="28" name="Text 26"/>
          <p:cNvSpPr/>
          <p:nvPr/>
        </p:nvSpPr>
        <p:spPr>
          <a:xfrm>
            <a:off x="8229600" y="3090672"/>
            <a:ext cx="320040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SaaS導入手続きの様式</a:t>
            </a:r>
            <a:endParaRPr lang="en-US" sz="1100" dirty="0"/>
          </a:p>
        </p:txBody>
      </p:sp>
      <p:sp>
        <p:nvSpPr>
          <p:cNvPr id="29" name="Text 27"/>
          <p:cNvSpPr/>
          <p:nvPr/>
        </p:nvSpPr>
        <p:spPr>
          <a:xfrm>
            <a:off x="8229600" y="3383280"/>
            <a:ext cx="3200400" cy="566928"/>
          </a:xfrm>
          <a:prstGeom prst="rect">
            <a:avLst/>
          </a:prstGeom>
          <a:noFill/>
          <a:ln/>
        </p:spPr>
        <p:txBody>
          <a:bodyPr wrap="square" lIns="0" tIns="0" rIns="0" bIns="0" rtlCol="0" anchor="ctr"/>
          <a:lstStyle/>
          <a:p>
            <a:pPr indent="0" marL="0">
              <a:lnSpc>
                <a:spcPts val="1400"/>
              </a:lnSpc>
              <a:buNone/>
            </a:pPr>
            <a:r>
              <a:rPr lang="en-US" sz="900" dirty="0">
                <a:solidFill>
                  <a:srgbClr val="CADCFC"/>
                </a:solidFill>
                <a:latin typeface="Meiryo" pitchFamily="34" charset="0"/>
                <a:ea typeface="Meiryo" pitchFamily="34" charset="-122"/>
                <a:cs typeface="Meiryo" pitchFamily="34" charset="-120"/>
              </a:rPr>
              <a:t>グループ所定のセキュリティチェックシート等がございましたら、受領のうえ別途ご回答を作成します。</a:t>
            </a:r>
            <a:endParaRPr lang="en-US" sz="900" dirty="0"/>
          </a:p>
        </p:txBody>
      </p:sp>
      <p:sp>
        <p:nvSpPr>
          <p:cNvPr id="30" name="Shape 28"/>
          <p:cNvSpPr/>
          <p:nvPr/>
        </p:nvSpPr>
        <p:spPr>
          <a:xfrm>
            <a:off x="7863840" y="4069080"/>
            <a:ext cx="274320" cy="274320"/>
          </a:xfrm>
          <a:prstGeom prst="roundRect">
            <a:avLst>
              <a:gd name="adj" fmla="val 50000"/>
            </a:avLst>
          </a:prstGeom>
          <a:solidFill>
            <a:srgbClr val="CADCFC"/>
          </a:solidFill>
          <a:ln w="12700">
            <a:solidFill>
              <a:srgbClr val="CADCFC"/>
            </a:solidFill>
            <a:prstDash val="solid"/>
          </a:ln>
        </p:spPr>
      </p:sp>
      <p:sp>
        <p:nvSpPr>
          <p:cNvPr id="31" name="Text 29"/>
          <p:cNvSpPr/>
          <p:nvPr/>
        </p:nvSpPr>
        <p:spPr>
          <a:xfrm>
            <a:off x="7863840" y="4069080"/>
            <a:ext cx="274320" cy="274320"/>
          </a:xfrm>
          <a:prstGeom prst="rect">
            <a:avLst/>
          </a:prstGeom>
          <a:noFill/>
          <a:ln/>
        </p:spPr>
        <p:txBody>
          <a:bodyPr wrap="square" lIns="0" tIns="0" rIns="0" bIns="0" rtlCol="0" anchor="ctr"/>
          <a:lstStyle/>
          <a:p>
            <a:pPr algn="ctr" indent="0" marL="0">
              <a:buNone/>
            </a:pPr>
            <a:r>
              <a:rPr lang="en-US" sz="900" b="1" dirty="0">
                <a:solidFill>
                  <a:srgbClr val="1E2761"/>
                </a:solidFill>
                <a:latin typeface="Meiryo" pitchFamily="34" charset="0"/>
                <a:ea typeface="Meiryo" pitchFamily="34" charset="-122"/>
                <a:cs typeface="Meiryo" pitchFamily="34" charset="-120"/>
              </a:rPr>
              <a:t>2</a:t>
            </a:r>
            <a:endParaRPr lang="en-US" sz="900" dirty="0"/>
          </a:p>
        </p:txBody>
      </p:sp>
      <p:sp>
        <p:nvSpPr>
          <p:cNvPr id="32" name="Text 30"/>
          <p:cNvSpPr/>
          <p:nvPr/>
        </p:nvSpPr>
        <p:spPr>
          <a:xfrm>
            <a:off x="8229600" y="4050792"/>
            <a:ext cx="320040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監査ログを必須とされるか</a:t>
            </a:r>
            <a:endParaRPr lang="en-US" sz="1100" dirty="0"/>
          </a:p>
        </p:txBody>
      </p:sp>
      <p:sp>
        <p:nvSpPr>
          <p:cNvPr id="33" name="Text 31"/>
          <p:cNvSpPr/>
          <p:nvPr/>
        </p:nvSpPr>
        <p:spPr>
          <a:xfrm>
            <a:off x="8229600" y="4343400"/>
            <a:ext cx="3200400" cy="566928"/>
          </a:xfrm>
          <a:prstGeom prst="rect">
            <a:avLst/>
          </a:prstGeom>
          <a:noFill/>
          <a:ln/>
        </p:spPr>
        <p:txBody>
          <a:bodyPr wrap="square" lIns="0" tIns="0" rIns="0" bIns="0" rtlCol="0" anchor="ctr"/>
          <a:lstStyle/>
          <a:p>
            <a:pPr indent="0" marL="0">
              <a:lnSpc>
                <a:spcPts val="1400"/>
              </a:lnSpc>
              <a:buNone/>
            </a:pPr>
            <a:r>
              <a:rPr lang="en-US" sz="900" dirty="0">
                <a:solidFill>
                  <a:srgbClr val="CADCFC"/>
                </a:solidFill>
                <a:latin typeface="Meiryo" pitchFamily="34" charset="0"/>
                <a:ea typeface="Meiryo" pitchFamily="34" charset="-122"/>
                <a:cs typeface="Meiryo" pitchFamily="34" charset="-120"/>
              </a:rPr>
              <a:t>必須の場合は Enterprise が対象となり、年額は約911.4万円（140名）に変動します。</a:t>
            </a:r>
            <a:endParaRPr lang="en-US" sz="900" dirty="0"/>
          </a:p>
        </p:txBody>
      </p:sp>
      <p:sp>
        <p:nvSpPr>
          <p:cNvPr id="34" name="Shape 32"/>
          <p:cNvSpPr/>
          <p:nvPr/>
        </p:nvSpPr>
        <p:spPr>
          <a:xfrm>
            <a:off x="7863840" y="5029200"/>
            <a:ext cx="274320" cy="274320"/>
          </a:xfrm>
          <a:prstGeom prst="roundRect">
            <a:avLst>
              <a:gd name="adj" fmla="val 50000"/>
            </a:avLst>
          </a:prstGeom>
          <a:solidFill>
            <a:srgbClr val="CADCFC"/>
          </a:solidFill>
          <a:ln w="12700">
            <a:solidFill>
              <a:srgbClr val="CADCFC"/>
            </a:solidFill>
            <a:prstDash val="solid"/>
          </a:ln>
        </p:spPr>
      </p:sp>
      <p:sp>
        <p:nvSpPr>
          <p:cNvPr id="35" name="Text 33"/>
          <p:cNvSpPr/>
          <p:nvPr/>
        </p:nvSpPr>
        <p:spPr>
          <a:xfrm>
            <a:off x="7863840" y="5029200"/>
            <a:ext cx="274320" cy="274320"/>
          </a:xfrm>
          <a:prstGeom prst="rect">
            <a:avLst/>
          </a:prstGeom>
          <a:noFill/>
          <a:ln/>
        </p:spPr>
        <p:txBody>
          <a:bodyPr wrap="square" lIns="0" tIns="0" rIns="0" bIns="0" rtlCol="0" anchor="ctr"/>
          <a:lstStyle/>
          <a:p>
            <a:pPr algn="ctr" indent="0" marL="0">
              <a:buNone/>
            </a:pPr>
            <a:r>
              <a:rPr lang="en-US" sz="900" b="1" dirty="0">
                <a:solidFill>
                  <a:srgbClr val="1E2761"/>
                </a:solidFill>
                <a:latin typeface="Meiryo" pitchFamily="34" charset="0"/>
                <a:ea typeface="Meiryo" pitchFamily="34" charset="-122"/>
                <a:cs typeface="Meiryo" pitchFamily="34" charset="-120"/>
              </a:rPr>
              <a:t>3</a:t>
            </a:r>
            <a:endParaRPr lang="en-US" sz="900" dirty="0"/>
          </a:p>
        </p:txBody>
      </p:sp>
      <p:sp>
        <p:nvSpPr>
          <p:cNvPr id="36" name="Text 34"/>
          <p:cNvSpPr/>
          <p:nvPr/>
        </p:nvSpPr>
        <p:spPr>
          <a:xfrm>
            <a:off x="8229600" y="5010912"/>
            <a:ext cx="320040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認証資料のご提出要否</a:t>
            </a:r>
            <a:endParaRPr lang="en-US" sz="1100" dirty="0"/>
          </a:p>
        </p:txBody>
      </p:sp>
      <p:sp>
        <p:nvSpPr>
          <p:cNvPr id="37" name="Text 35"/>
          <p:cNvSpPr/>
          <p:nvPr/>
        </p:nvSpPr>
        <p:spPr>
          <a:xfrm>
            <a:off x="8229600" y="5303520"/>
            <a:ext cx="3200400" cy="566928"/>
          </a:xfrm>
          <a:prstGeom prst="rect">
            <a:avLst/>
          </a:prstGeom>
          <a:noFill/>
          <a:ln/>
        </p:spPr>
        <p:txBody>
          <a:bodyPr wrap="square" lIns="0" tIns="0" rIns="0" bIns="0" rtlCol="0" anchor="ctr"/>
          <a:lstStyle/>
          <a:p>
            <a:pPr indent="0" marL="0">
              <a:lnSpc>
                <a:spcPts val="1400"/>
              </a:lnSpc>
              <a:buNone/>
            </a:pPr>
            <a:r>
              <a:rPr lang="en-US" sz="900" dirty="0">
                <a:solidFill>
                  <a:srgbClr val="CADCFC"/>
                </a:solidFill>
                <a:latin typeface="Meiryo" pitchFamily="34" charset="0"/>
                <a:ea typeface="Meiryo" pitchFamily="34" charset="-122"/>
                <a:cs typeface="Meiryo" pitchFamily="34" charset="-120"/>
              </a:rPr>
              <a:t>必要な場合、提出先と形式をご指定ください。</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47"/>
        </a:solidFill>
      </p:bgPr>
    </p:bg>
    <p:spTree>
      <p:nvGrpSpPr>
        <p:cNvPr id="1" name=""/>
        <p:cNvGrpSpPr/>
        <p:nvPr/>
      </p:nvGrpSpPr>
      <p:grpSpPr>
        <a:xfrm>
          <a:off x="0" y="0"/>
          <a:ext cx="0" cy="0"/>
          <a:chOff x="0" y="0"/>
          <a:chExt cx="0" cy="0"/>
        </a:xfrm>
      </p:grpSpPr>
      <p:sp>
        <p:nvSpPr>
          <p:cNvPr id="2" name="Text 0"/>
          <p:cNvSpPr/>
          <p:nvPr/>
        </p:nvSpPr>
        <p:spPr>
          <a:xfrm>
            <a:off x="822960" y="2286000"/>
            <a:ext cx="5486400" cy="822960"/>
          </a:xfrm>
          <a:prstGeom prst="rect">
            <a:avLst/>
          </a:prstGeom>
          <a:noFill/>
          <a:ln/>
        </p:spPr>
        <p:txBody>
          <a:bodyPr wrap="square" lIns="0" tIns="0" rIns="0" bIns="0" rtlCol="0" anchor="ctr"/>
          <a:lstStyle/>
          <a:p>
            <a:pPr indent="0" marL="0">
              <a:buNone/>
            </a:pPr>
            <a:r>
              <a:rPr lang="en-US" sz="4400" b="1" dirty="0">
                <a:solidFill>
                  <a:srgbClr val="FFFFFF"/>
                </a:solidFill>
                <a:latin typeface="Meiryo" pitchFamily="34" charset="0"/>
                <a:ea typeface="Meiryo" pitchFamily="34" charset="-122"/>
                <a:cs typeface="Meiryo" pitchFamily="34" charset="-120"/>
              </a:rPr>
              <a:t>Appendix</a:t>
            </a:r>
            <a:endParaRPr lang="en-US" sz="4400" dirty="0"/>
          </a:p>
        </p:txBody>
      </p:sp>
      <p:sp>
        <p:nvSpPr>
          <p:cNvPr id="3" name="Text 1"/>
          <p:cNvSpPr/>
          <p:nvPr/>
        </p:nvSpPr>
        <p:spPr>
          <a:xfrm>
            <a:off x="822960" y="3108960"/>
            <a:ext cx="7315200" cy="365760"/>
          </a:xfrm>
          <a:prstGeom prst="rect">
            <a:avLst/>
          </a:prstGeom>
          <a:noFill/>
          <a:ln/>
        </p:spPr>
        <p:txBody>
          <a:bodyPr wrap="square" lIns="0" tIns="0" rIns="0" bIns="0" rtlCol="0" anchor="ctr"/>
          <a:lstStyle/>
          <a:p>
            <a:pPr indent="0" marL="0">
              <a:buNone/>
            </a:pPr>
            <a:r>
              <a:rPr lang="en-US" sz="1500" dirty="0">
                <a:solidFill>
                  <a:srgbClr val="CADCFC"/>
                </a:solidFill>
                <a:latin typeface="Meiryo" pitchFamily="34" charset="0"/>
                <a:ea typeface="Meiryo" pitchFamily="34" charset="-122"/>
                <a:cs typeface="Meiryo" pitchFamily="34" charset="-120"/>
              </a:rPr>
              <a:t>補強材料 — ご質問に応じてご参照ください</a:t>
            </a:r>
            <a:endParaRPr lang="en-US" sz="1500" dirty="0"/>
          </a:p>
        </p:txBody>
      </p:sp>
      <p:sp>
        <p:nvSpPr>
          <p:cNvPr id="4" name="Shape 2"/>
          <p:cNvSpPr/>
          <p:nvPr/>
        </p:nvSpPr>
        <p:spPr>
          <a:xfrm>
            <a:off x="822960" y="3931920"/>
            <a:ext cx="329184" cy="329184"/>
          </a:xfrm>
          <a:prstGeom prst="roundRect">
            <a:avLst>
              <a:gd name="adj" fmla="val 16667"/>
            </a:avLst>
          </a:prstGeom>
          <a:solidFill>
            <a:srgbClr val="3A4A8F"/>
          </a:solidFill>
          <a:ln w="12700">
            <a:solidFill>
              <a:srgbClr val="3A4A8F"/>
            </a:solidFill>
            <a:prstDash val="solid"/>
          </a:ln>
        </p:spPr>
      </p:sp>
      <p:sp>
        <p:nvSpPr>
          <p:cNvPr id="5" name="Text 3"/>
          <p:cNvSpPr/>
          <p:nvPr/>
        </p:nvSpPr>
        <p:spPr>
          <a:xfrm>
            <a:off x="822960" y="3931920"/>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A</a:t>
            </a:r>
            <a:endParaRPr lang="en-US" sz="1100" dirty="0"/>
          </a:p>
        </p:txBody>
      </p:sp>
      <p:sp>
        <p:nvSpPr>
          <p:cNvPr id="6" name="Text 4"/>
          <p:cNvSpPr/>
          <p:nvPr/>
        </p:nvSpPr>
        <p:spPr>
          <a:xfrm>
            <a:off x="1261872" y="3931920"/>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4案比較表（詳細版）</a:t>
            </a:r>
            <a:endParaRPr lang="en-US" sz="1200" dirty="0"/>
          </a:p>
        </p:txBody>
      </p:sp>
      <p:sp>
        <p:nvSpPr>
          <p:cNvPr id="7" name="Shape 5"/>
          <p:cNvSpPr/>
          <p:nvPr/>
        </p:nvSpPr>
        <p:spPr>
          <a:xfrm>
            <a:off x="4434840" y="3931920"/>
            <a:ext cx="329184" cy="329184"/>
          </a:xfrm>
          <a:prstGeom prst="roundRect">
            <a:avLst>
              <a:gd name="adj" fmla="val 16667"/>
            </a:avLst>
          </a:prstGeom>
          <a:solidFill>
            <a:srgbClr val="3A4A8F"/>
          </a:solidFill>
          <a:ln w="12700">
            <a:solidFill>
              <a:srgbClr val="3A4A8F"/>
            </a:solidFill>
            <a:prstDash val="solid"/>
          </a:ln>
        </p:spPr>
      </p:sp>
      <p:sp>
        <p:nvSpPr>
          <p:cNvPr id="8" name="Text 6"/>
          <p:cNvSpPr/>
          <p:nvPr/>
        </p:nvSpPr>
        <p:spPr>
          <a:xfrm>
            <a:off x="4434840" y="3931920"/>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B</a:t>
            </a:r>
            <a:endParaRPr lang="en-US" sz="1100" dirty="0"/>
          </a:p>
        </p:txBody>
      </p:sp>
      <p:sp>
        <p:nvSpPr>
          <p:cNvPr id="9" name="Text 7"/>
          <p:cNvSpPr/>
          <p:nvPr/>
        </p:nvSpPr>
        <p:spPr>
          <a:xfrm>
            <a:off x="4873752" y="3931920"/>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想定問答</a:t>
            </a:r>
            <a:endParaRPr lang="en-US" sz="1200" dirty="0"/>
          </a:p>
        </p:txBody>
      </p:sp>
      <p:sp>
        <p:nvSpPr>
          <p:cNvPr id="10" name="Shape 8"/>
          <p:cNvSpPr/>
          <p:nvPr/>
        </p:nvSpPr>
        <p:spPr>
          <a:xfrm>
            <a:off x="8046720" y="3931920"/>
            <a:ext cx="329184" cy="329184"/>
          </a:xfrm>
          <a:prstGeom prst="roundRect">
            <a:avLst>
              <a:gd name="adj" fmla="val 16667"/>
            </a:avLst>
          </a:prstGeom>
          <a:solidFill>
            <a:srgbClr val="3A4A8F"/>
          </a:solidFill>
          <a:ln w="12700">
            <a:solidFill>
              <a:srgbClr val="3A4A8F"/>
            </a:solidFill>
            <a:prstDash val="solid"/>
          </a:ln>
        </p:spPr>
      </p:sp>
      <p:sp>
        <p:nvSpPr>
          <p:cNvPr id="11" name="Text 9"/>
          <p:cNvSpPr/>
          <p:nvPr/>
        </p:nvSpPr>
        <p:spPr>
          <a:xfrm>
            <a:off x="8046720" y="3931920"/>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C</a:t>
            </a:r>
            <a:endParaRPr lang="en-US" sz="1100" dirty="0"/>
          </a:p>
        </p:txBody>
      </p:sp>
      <p:sp>
        <p:nvSpPr>
          <p:cNvPr id="12" name="Text 10"/>
          <p:cNvSpPr/>
          <p:nvPr/>
        </p:nvSpPr>
        <p:spPr>
          <a:xfrm>
            <a:off x="8485632" y="3931920"/>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プラン別導入パターンの比較</a:t>
            </a:r>
            <a:endParaRPr lang="en-US" sz="1200" dirty="0"/>
          </a:p>
        </p:txBody>
      </p:sp>
      <p:sp>
        <p:nvSpPr>
          <p:cNvPr id="13" name="Shape 11"/>
          <p:cNvSpPr/>
          <p:nvPr/>
        </p:nvSpPr>
        <p:spPr>
          <a:xfrm>
            <a:off x="822960" y="4498848"/>
            <a:ext cx="329184" cy="329184"/>
          </a:xfrm>
          <a:prstGeom prst="roundRect">
            <a:avLst>
              <a:gd name="adj" fmla="val 16667"/>
            </a:avLst>
          </a:prstGeom>
          <a:solidFill>
            <a:srgbClr val="3A4A8F"/>
          </a:solidFill>
          <a:ln w="12700">
            <a:solidFill>
              <a:srgbClr val="3A4A8F"/>
            </a:solidFill>
            <a:prstDash val="solid"/>
          </a:ln>
        </p:spPr>
      </p:sp>
      <p:sp>
        <p:nvSpPr>
          <p:cNvPr id="14" name="Text 12"/>
          <p:cNvSpPr/>
          <p:nvPr/>
        </p:nvSpPr>
        <p:spPr>
          <a:xfrm>
            <a:off x="822960" y="4498848"/>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D</a:t>
            </a:r>
            <a:endParaRPr lang="en-US" sz="1100" dirty="0"/>
          </a:p>
        </p:txBody>
      </p:sp>
      <p:sp>
        <p:nvSpPr>
          <p:cNvPr id="15" name="Text 13"/>
          <p:cNvSpPr/>
          <p:nvPr/>
        </p:nvSpPr>
        <p:spPr>
          <a:xfrm>
            <a:off x="1261872" y="4498848"/>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SSOのメリット・デメリット</a:t>
            </a:r>
            <a:endParaRPr lang="en-US" sz="1200" dirty="0"/>
          </a:p>
        </p:txBody>
      </p:sp>
      <p:sp>
        <p:nvSpPr>
          <p:cNvPr id="16" name="Shape 14"/>
          <p:cNvSpPr/>
          <p:nvPr/>
        </p:nvSpPr>
        <p:spPr>
          <a:xfrm>
            <a:off x="4434840" y="4498848"/>
            <a:ext cx="329184" cy="329184"/>
          </a:xfrm>
          <a:prstGeom prst="roundRect">
            <a:avLst>
              <a:gd name="adj" fmla="val 16667"/>
            </a:avLst>
          </a:prstGeom>
          <a:solidFill>
            <a:srgbClr val="3A4A8F"/>
          </a:solidFill>
          <a:ln w="12700">
            <a:solidFill>
              <a:srgbClr val="3A4A8F"/>
            </a:solidFill>
            <a:prstDash val="solid"/>
          </a:ln>
        </p:spPr>
      </p:sp>
      <p:sp>
        <p:nvSpPr>
          <p:cNvPr id="17" name="Text 15"/>
          <p:cNvSpPr/>
          <p:nvPr/>
        </p:nvSpPr>
        <p:spPr>
          <a:xfrm>
            <a:off x="4434840" y="4498848"/>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E</a:t>
            </a:r>
            <a:endParaRPr lang="en-US" sz="1100" dirty="0"/>
          </a:p>
        </p:txBody>
      </p:sp>
      <p:sp>
        <p:nvSpPr>
          <p:cNvPr id="18" name="Text 16"/>
          <p:cNvSpPr/>
          <p:nvPr/>
        </p:nvSpPr>
        <p:spPr>
          <a:xfrm>
            <a:off x="4873752" y="4498848"/>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コスト感度分析</a:t>
            </a:r>
            <a:endParaRPr lang="en-US" sz="1200" dirty="0"/>
          </a:p>
        </p:txBody>
      </p:sp>
      <p:sp>
        <p:nvSpPr>
          <p:cNvPr id="19" name="Shape 17"/>
          <p:cNvSpPr/>
          <p:nvPr/>
        </p:nvSpPr>
        <p:spPr>
          <a:xfrm>
            <a:off x="8046720" y="4498848"/>
            <a:ext cx="329184" cy="329184"/>
          </a:xfrm>
          <a:prstGeom prst="roundRect">
            <a:avLst>
              <a:gd name="adj" fmla="val 16667"/>
            </a:avLst>
          </a:prstGeom>
          <a:solidFill>
            <a:srgbClr val="3A4A8F"/>
          </a:solidFill>
          <a:ln w="12700">
            <a:solidFill>
              <a:srgbClr val="3A4A8F"/>
            </a:solidFill>
            <a:prstDash val="solid"/>
          </a:ln>
        </p:spPr>
      </p:sp>
      <p:sp>
        <p:nvSpPr>
          <p:cNvPr id="20" name="Text 18"/>
          <p:cNvSpPr/>
          <p:nvPr/>
        </p:nvSpPr>
        <p:spPr>
          <a:xfrm>
            <a:off x="8046720" y="4498848"/>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F</a:t>
            </a:r>
            <a:endParaRPr lang="en-US" sz="1100" dirty="0"/>
          </a:p>
        </p:txBody>
      </p:sp>
      <p:sp>
        <p:nvSpPr>
          <p:cNvPr id="21" name="Text 19"/>
          <p:cNvSpPr/>
          <p:nvPr/>
        </p:nvSpPr>
        <p:spPr>
          <a:xfrm>
            <a:off x="8485632" y="4498848"/>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ファイル仕様の確認結果</a:t>
            </a:r>
            <a:endParaRPr lang="en-US" sz="1200" dirty="0"/>
          </a:p>
        </p:txBody>
      </p:sp>
      <p:sp>
        <p:nvSpPr>
          <p:cNvPr id="22" name="Shape 20"/>
          <p:cNvSpPr/>
          <p:nvPr/>
        </p:nvSpPr>
        <p:spPr>
          <a:xfrm>
            <a:off x="822960" y="5065776"/>
            <a:ext cx="329184" cy="329184"/>
          </a:xfrm>
          <a:prstGeom prst="roundRect">
            <a:avLst>
              <a:gd name="adj" fmla="val 16667"/>
            </a:avLst>
          </a:prstGeom>
          <a:solidFill>
            <a:srgbClr val="3A4A8F"/>
          </a:solidFill>
          <a:ln w="12700">
            <a:solidFill>
              <a:srgbClr val="3A4A8F"/>
            </a:solidFill>
            <a:prstDash val="solid"/>
          </a:ln>
        </p:spPr>
      </p:sp>
      <p:sp>
        <p:nvSpPr>
          <p:cNvPr id="23" name="Text 21"/>
          <p:cNvSpPr/>
          <p:nvPr/>
        </p:nvSpPr>
        <p:spPr>
          <a:xfrm>
            <a:off x="822960" y="5065776"/>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G</a:t>
            </a:r>
            <a:endParaRPr lang="en-US" sz="1100" dirty="0"/>
          </a:p>
        </p:txBody>
      </p:sp>
      <p:sp>
        <p:nvSpPr>
          <p:cNvPr id="24" name="Text 22"/>
          <p:cNvSpPr/>
          <p:nvPr/>
        </p:nvSpPr>
        <p:spPr>
          <a:xfrm>
            <a:off x="1261872" y="5065776"/>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役割分担と残タスク</a:t>
            </a:r>
            <a:endParaRPr lang="en-US" sz="1200" dirty="0"/>
          </a:p>
        </p:txBody>
      </p:sp>
      <p:sp>
        <p:nvSpPr>
          <p:cNvPr id="25" name="Shape 23"/>
          <p:cNvSpPr/>
          <p:nvPr/>
        </p:nvSpPr>
        <p:spPr>
          <a:xfrm>
            <a:off x="4434840" y="5065776"/>
            <a:ext cx="329184" cy="329184"/>
          </a:xfrm>
          <a:prstGeom prst="roundRect">
            <a:avLst>
              <a:gd name="adj" fmla="val 16667"/>
            </a:avLst>
          </a:prstGeom>
          <a:solidFill>
            <a:srgbClr val="3A4A8F"/>
          </a:solidFill>
          <a:ln w="12700">
            <a:solidFill>
              <a:srgbClr val="3A4A8F"/>
            </a:solidFill>
            <a:prstDash val="solid"/>
          </a:ln>
        </p:spPr>
      </p:sp>
      <p:sp>
        <p:nvSpPr>
          <p:cNvPr id="26" name="Text 24"/>
          <p:cNvSpPr/>
          <p:nvPr/>
        </p:nvSpPr>
        <p:spPr>
          <a:xfrm>
            <a:off x="4434840" y="5065776"/>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H</a:t>
            </a:r>
            <a:endParaRPr lang="en-US" sz="1100" dirty="0"/>
          </a:p>
        </p:txBody>
      </p:sp>
      <p:sp>
        <p:nvSpPr>
          <p:cNvPr id="27" name="Text 25"/>
          <p:cNvSpPr/>
          <p:nvPr/>
        </p:nvSpPr>
        <p:spPr>
          <a:xfrm>
            <a:off x="4873752" y="5065776"/>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出典一覧</a:t>
            </a:r>
            <a:endParaRPr lang="en-US" sz="1200" dirty="0"/>
          </a:p>
        </p:txBody>
      </p:sp>
      <p:sp>
        <p:nvSpPr>
          <p:cNvPr id="28" name="Shape 26"/>
          <p:cNvSpPr/>
          <p:nvPr/>
        </p:nvSpPr>
        <p:spPr>
          <a:xfrm>
            <a:off x="8046720" y="5065776"/>
            <a:ext cx="329184" cy="329184"/>
          </a:xfrm>
          <a:prstGeom prst="roundRect">
            <a:avLst>
              <a:gd name="adj" fmla="val 16667"/>
            </a:avLst>
          </a:prstGeom>
          <a:solidFill>
            <a:srgbClr val="3A4A8F"/>
          </a:solidFill>
          <a:ln w="12700">
            <a:solidFill>
              <a:srgbClr val="3A4A8F"/>
            </a:solidFill>
            <a:prstDash val="solid"/>
          </a:ln>
        </p:spPr>
      </p:sp>
      <p:sp>
        <p:nvSpPr>
          <p:cNvPr id="29" name="Text 27"/>
          <p:cNvSpPr/>
          <p:nvPr/>
        </p:nvSpPr>
        <p:spPr>
          <a:xfrm>
            <a:off x="8046720" y="5065776"/>
            <a:ext cx="329184" cy="329184"/>
          </a:xfrm>
          <a:prstGeom prst="rect">
            <a:avLst/>
          </a:prstGeom>
          <a:noFill/>
          <a:ln/>
        </p:spPr>
        <p:txBody>
          <a:bodyPr wrap="square" lIns="0" tIns="0" rIns="0" bIns="0" rtlCol="0" anchor="ctr"/>
          <a:lstStyle/>
          <a:p>
            <a:pPr algn="ctr" indent="0" marL="0">
              <a:buNone/>
            </a:pPr>
            <a:r>
              <a:rPr lang="en-US" sz="1100" b="1" dirty="0">
                <a:solidFill>
                  <a:srgbClr val="CADCFC"/>
                </a:solidFill>
                <a:latin typeface="Meiryo" pitchFamily="34" charset="0"/>
                <a:ea typeface="Meiryo" pitchFamily="34" charset="-122"/>
                <a:cs typeface="Meiryo" pitchFamily="34" charset="-120"/>
              </a:rPr>
              <a:t>I</a:t>
            </a:r>
            <a:endParaRPr lang="en-US" sz="1100" dirty="0"/>
          </a:p>
        </p:txBody>
      </p:sp>
      <p:sp>
        <p:nvSpPr>
          <p:cNvPr id="30" name="Text 28"/>
          <p:cNvSpPr/>
          <p:nvPr/>
        </p:nvSpPr>
        <p:spPr>
          <a:xfrm>
            <a:off x="8485632" y="5065776"/>
            <a:ext cx="3017520" cy="329184"/>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会議設計と全社展開の設計</a:t>
            </a:r>
            <a:endParaRPr lang="en-US" sz="1200" dirty="0"/>
          </a:p>
        </p:txBody>
      </p:sp>
      <p:sp>
        <p:nvSpPr>
          <p:cNvPr id="31" name="Text 29"/>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A</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4案比較表（詳細版）</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判定の理由を各欄に注記しています。消去の論拠は本編 第4章をご参照ください</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18</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4415" cy="914400"/>
        </p:xfrm>
        <a:graphic>
          <a:graphicData uri="http://schemas.openxmlformats.org/drawingml/2006/table">
            <a:tbl>
              <a:tblPr/>
              <a:tblGrid>
                <a:gridCol w="2148840"/>
                <a:gridCol w="2286000"/>
                <a:gridCol w="2148840"/>
                <a:gridCol w="2148840"/>
                <a:gridCol w="2359152"/>
              </a:tblGrid>
              <a:tr h="274320">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要件</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 M365の組合せ</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 無料ツール</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C. 専用ツール</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D. Notion</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r>
              <a:tr h="56692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1. 相互リンク（DB型）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Planner/Lists/Loopが個別に存在し、案件と議事録を関連付ける仕組みが無い</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リレーション機能を持たないものが大半</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タスク管理に特化し、議事録・wikiは別ツールになる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データベース間のリレーションで案件⇔タスク⇔議事録を相互参照</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56692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2. 立場別ビュー</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同一データを別形式で見る仕組みが無い</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ビューの種類が限られる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ガント・ボード等に対応</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同一DBをガント/ボード/カレンダー/テーブルで切替</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566928">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3. 横断検索・即到達</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SharePoint/OneNote/Plannerをまたぐ検索が実用水準にない</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ツール単位の検索に留まる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議事録が対象外のため片手落ち</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1か所に集約されているため検索が到達手段として機能する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50292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4. 非エンジニアが使える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複数ツールそれぞれの習熟が必要</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操作は簡易</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プロジェクト管理の専門知識を前提とする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UIは平易。テンプレート＋ミニマニュアルで補う</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50292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5. ガバナンス（SSO・権限）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M365の統制下にある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SSOが有料機能。無料利用はシャドーIT化する</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多くが対応</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SAML SSO は Business 以上で対応（第6章）</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5720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6. 1製品で完結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3製品以上の併用が前提</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用途ごとに別ツール</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議事録・wikiで別ツール併用</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案件・タスク・議事録・wikiを1製品で完結</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50292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（参考）社内での実証</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7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経営層で3か月の実運用。週次PMOの管理台帳として定着</a:t>
                      </a:r>
                      <a:endParaRPr lang="en-US" sz="7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B</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想定問答</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THDおよび情報システム部門からのご質問を想定した回答の骨子です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19</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231136"/>
          <a:ext cx="11094415" cy="914400"/>
        </p:xfrm>
        <a:graphic>
          <a:graphicData uri="http://schemas.openxmlformats.org/drawingml/2006/table">
            <a:tbl>
              <a:tblPr/>
              <a:tblGrid>
                <a:gridCol w="3657600"/>
                <a:gridCol w="7434072"/>
              </a:tblGrid>
              <a:tr h="402336">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想定されるご質問</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回答の骨子</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M365があるのに二重投資では？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役割が異なります（M365＝保管・伝達／Notion＝構造化された実行管理）。M365は継続し、置き換えません。</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M365 Copilot で良いのでは？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Copilotは検索・要約の道具であり、案件管理の仕組み自体は提供しません。AIは基盤の代替ではなく基盤の上に乗るもので、構造化DBがある方がAI活用の精度は上がります。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Planner や Lists で良いのでは？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案件⇔議事録⇔タスクのリレーションと立場別ビューが実務水準に達しません。複数アプリの組合せは、いま解決したい「分散」の再生産です。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セキュリティは大丈夫か？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SOC2 Type II・ISO27001他を取得済み。SAML SSOでM365と統合し、機微情報は置かない運用とします（第6章）。</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定着するのか？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経営層での3か月の実運用実績に加え、テンプレート＋ミニマニュアル＋段階展開で担保します。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失敗したらどうするのか？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撤退基準を事前に定義しています。①②に限定しているからこそ、やめられます。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E2761"/>
                          </a:solidFill>
                          <a:latin typeface="Meiryo" pitchFamily="34" charset="0"/>
                          <a:ea typeface="Meiryo" pitchFamily="34" charset="-122"/>
                          <a:cs typeface="Meiryo" pitchFamily="34" charset="-120"/>
                        </a:rPr>
                        <a:t>監査ログが無いBusinessで、情報持ち出しをどう追跡するのか？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Businessでは追跡できません。①②のスコープでは機微情報を置かない運用で担保します。監査ログを必須要件とされる場合はEnterpriseへの切替となり、年額約911.4万円（140名）に変動します。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E2761"/>
                          </a:solidFill>
                          <a:latin typeface="Meiryo" pitchFamily="34" charset="0"/>
                          <a:ea typeface="Meiryo" pitchFamily="34" charset="-122"/>
                          <a:cs typeface="Meiryo" pitchFamily="34" charset="-120"/>
                        </a:rPr>
                        <a:t>退職者のアカウントはどう消すのか？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SAML SSOによりM365アカウント停止と同時にログイン不能となります。BusinessはSCIM非対応のため、課金停止のためのメンバー削除は手動運用とし、対象者リストを月次で突合します。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E2761"/>
                          </a:solidFill>
                          <a:latin typeface="Meiryo" pitchFamily="34" charset="0"/>
                          <a:ea typeface="Meiryo" pitchFamily="34" charset="-122"/>
                          <a:cs typeface="Meiryo" pitchFamily="34" charset="-120"/>
                        </a:rPr>
                        <a:t>業務委託・社外パートナーはどうするのか？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ゲスト（無料）として必要ページのみに招待します。ライセンス課金対象は正規社員に限定し、ゲスト運用ルールは導入前に策定します。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C-1</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プラン別 導入パターンの比較</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検討した3案と、参考としてのEnterpriseを同じ軸で比較しています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20</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4415" cy="914400"/>
        </p:xfrm>
        <a:graphic>
          <a:graphicData uri="http://schemas.openxmlformats.org/drawingml/2006/table">
            <a:tbl>
              <a:tblPr/>
              <a:tblGrid>
                <a:gridCol w="2148840"/>
                <a:gridCol w="2286000"/>
                <a:gridCol w="2240280"/>
                <a:gridCol w="2148840"/>
                <a:gridCol w="2267712"/>
              </a:tblGrid>
              <a:tr h="29260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比較項目</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案A：Business 全員</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案B：幹部Business＋他Free</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案C：Plus 全員</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（参考）Enterprise 全員</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月額単価（年払・1人）</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A1A2E"/>
                          </a:solidFill>
                          <a:latin typeface="Meiryo" pitchFamily="34" charset="0"/>
                          <a:ea typeface="Meiryo" pitchFamily="34" charset="-122"/>
                          <a:cs typeface="Meiryo" pitchFamily="34" charset="-120"/>
                        </a:rPr>
                        <a:t>$20</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幹部のみ $20 ／ 他 $0</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個別見積（$30〜40目安）</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6576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年額（140名）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100" b="1" dirty="0">
                          <a:solidFill>
                            <a:srgbClr val="1E2761"/>
                          </a:solidFill>
                          <a:latin typeface="Meiryo" pitchFamily="34" charset="0"/>
                          <a:ea typeface="Meiryo" pitchFamily="34" charset="-122"/>
                          <a:cs typeface="Meiryo" pitchFamily="34" charset="-120"/>
                        </a:rPr>
                        <a:t>約520.8万円</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幹部人数による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約260.4万円</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約911.4万円</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SAML SSO</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全員がIdP認証可能</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一般社員はSSO対象外</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利用不可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全員がIdP認証可能</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監査ログ・SCIM</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利用不可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利用不可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利用不可</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完全対応</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アクセス・権限統制</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部署別チームスペースが可能</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ページごとの手動共有</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9A6700"/>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閲覧制限が限定的</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組織単位で完全制御</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全社ナレッジ共有</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検索・共同編集が快適</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B3261E"/>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部分的にしか見られない</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基本的な共有は可能</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200" b="1" dirty="0">
                          <a:solidFill>
                            <a:srgbClr val="1E7A5A"/>
                          </a:solidFill>
                          <a:latin typeface="Meiryo" pitchFamily="34" charset="0"/>
                          <a:ea typeface="Meiryo" pitchFamily="34" charset="-122"/>
                          <a:cs typeface="Meiryo" pitchFamily="34" charset="-120"/>
                        </a:rPr>
                        <a:t>○</a:t>
                      </a:r>
                      <a:pPr algn="l" indent="0" marL="0">
                        <a:buNone/>
                      </a:pPr>
                      <a:endParaRPr lang="en-US" sz="850" dirty="0">
                        <a:latin typeface="Meiryo" charset="0"/>
                        <a:ea typeface="Meiryo" charset="0"/>
                        <a:cs typeface="Meiryo" charset="0"/>
                      </a:endParaRPr>
                    </a:p>
                    <a:p>
                      <a:pPr algn="l" indent="0" marL="0">
                        <a:buNone/>
                      </a:pPr>
                      <a:r>
                        <a:rPr lang="en-US" sz="900" dirty="0">
                          <a:solidFill>
                            <a:srgbClr val="1A1A2E"/>
                          </a:solidFill>
                          <a:latin typeface="Meiryo" pitchFamily="34" charset="0"/>
                          <a:ea typeface="Meiryo" pitchFamily="34" charset="-122"/>
                          <a:cs typeface="Meiryo" pitchFamily="34" charset="-120"/>
                        </a:rPr>
                        <a:t>検索・共同編集が快適</a:t>
                      </a:r>
                      <a:endParaRPr lang="en-US" sz="8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THD承認の見通し</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E7A5A"/>
                          </a:solidFill>
                          <a:latin typeface="Meiryo" pitchFamily="34" charset="0"/>
                          <a:ea typeface="Meiryo" pitchFamily="34" charset="-122"/>
                          <a:cs typeface="Meiryo" pitchFamily="34" charset="-120"/>
                        </a:rPr>
                        <a:t>中（監査ログ不要なら可）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B3261E"/>
                          </a:solidFill>
                          <a:latin typeface="Meiryo" pitchFamily="34" charset="0"/>
                          <a:ea typeface="Meiryo" pitchFamily="34" charset="-122"/>
                          <a:cs typeface="Meiryo" pitchFamily="34" charset="-120"/>
                        </a:rPr>
                        <a:t>極めて低い（否決リスク大）</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9A6700"/>
                          </a:solidFill>
                          <a:latin typeface="Meiryo" pitchFamily="34" charset="0"/>
                          <a:ea typeface="Meiryo" pitchFamily="34" charset="-122"/>
                          <a:cs typeface="Meiryo" pitchFamily="34" charset="-120"/>
                        </a:rPr>
                        <a:t>低い（SSO非対応がネック）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E7A5A"/>
                          </a:solidFill>
                          <a:latin typeface="Meiryo" pitchFamily="34" charset="0"/>
                          <a:ea typeface="Meiryo" pitchFamily="34" charset="-122"/>
                          <a:cs typeface="Meiryo" pitchFamily="34" charset="-120"/>
                        </a:rPr>
                        <a:t>高い（要件を全クリア）</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5687568"/>
            <a:ext cx="11094415" cy="640080"/>
          </a:xfrm>
          <a:prstGeom prst="roundRect">
            <a:avLst>
              <a:gd name="adj" fmla="val 8571"/>
            </a:avLst>
          </a:prstGeom>
          <a:solidFill>
            <a:srgbClr val="1E2761"/>
          </a:solidFill>
          <a:ln w="12700">
            <a:solidFill>
              <a:srgbClr val="1E2761"/>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868680" y="5687568"/>
            <a:ext cx="10454335" cy="64008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SSO を必須要件とする限り、実務的に成立するのは案A（Business 全員）のみです</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C-2</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各案の詳細分析</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C-1の判定に至った理由の裏付けです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21</a:t>
            </a:r>
            <a:endParaRPr lang="en-US" sz="1000" dirty="0"/>
          </a:p>
        </p:txBody>
      </p:sp>
      <p:sp>
        <p:nvSpPr>
          <p:cNvPr id="8" name="Shape 6"/>
          <p:cNvSpPr/>
          <p:nvPr/>
        </p:nvSpPr>
        <p:spPr>
          <a:xfrm>
            <a:off x="548640" y="2194560"/>
            <a:ext cx="11094415" cy="1170432"/>
          </a:xfrm>
          <a:prstGeom prst="roundRect">
            <a:avLst>
              <a:gd name="adj" fmla="val 4688"/>
            </a:avLst>
          </a:prstGeom>
          <a:solidFill>
            <a:srgbClr val="E9F5F0"/>
          </a:solidFill>
          <a:ln w="12700">
            <a:solidFill>
              <a:srgbClr val="1E7A5A"/>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77240" y="2286000"/>
            <a:ext cx="3840480" cy="274320"/>
          </a:xfrm>
          <a:prstGeom prst="rect">
            <a:avLst/>
          </a:prstGeom>
          <a:noFill/>
          <a:ln/>
        </p:spPr>
        <p:txBody>
          <a:bodyPr wrap="square" lIns="0" tIns="0" rIns="0" bIns="0" rtlCol="0" anchor="ctr"/>
          <a:lstStyle/>
          <a:p>
            <a:pPr indent="0" marL="0">
              <a:buNone/>
            </a:pPr>
            <a:r>
              <a:rPr lang="en-US" sz="1300" b="1" dirty="0">
                <a:solidFill>
                  <a:srgbClr val="1E7A5A"/>
                </a:solidFill>
                <a:latin typeface="Meiryo" pitchFamily="34" charset="0"/>
                <a:ea typeface="Meiryo" pitchFamily="34" charset="-122"/>
                <a:cs typeface="Meiryo" pitchFamily="34" charset="-120"/>
              </a:rPr>
              <a:t>案A：Business 全員</a:t>
            </a:r>
            <a:endParaRPr lang="en-US" sz="1300" dirty="0"/>
          </a:p>
        </p:txBody>
      </p:sp>
      <p:sp>
        <p:nvSpPr>
          <p:cNvPr id="10" name="Shape 8"/>
          <p:cNvSpPr/>
          <p:nvPr/>
        </p:nvSpPr>
        <p:spPr>
          <a:xfrm>
            <a:off x="4709160" y="2322576"/>
            <a:ext cx="2286000" cy="219456"/>
          </a:xfrm>
          <a:prstGeom prst="roundRect">
            <a:avLst>
              <a:gd name="adj" fmla="val 16667"/>
            </a:avLst>
          </a:prstGeom>
          <a:solidFill>
            <a:srgbClr val="1E7A5A"/>
          </a:solidFill>
          <a:ln w="12700">
            <a:solidFill>
              <a:srgbClr val="1E7A5A"/>
            </a:solidFill>
            <a:prstDash val="solid"/>
          </a:ln>
        </p:spPr>
      </p:sp>
      <p:sp>
        <p:nvSpPr>
          <p:cNvPr id="11" name="Text 9"/>
          <p:cNvSpPr/>
          <p:nvPr/>
        </p:nvSpPr>
        <p:spPr>
          <a:xfrm>
            <a:off x="4709160" y="2322576"/>
            <a:ext cx="22860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推奨度 中〜高／本資料のご提案</a:t>
            </a:r>
            <a:endParaRPr lang="en-US" sz="850" dirty="0"/>
          </a:p>
        </p:txBody>
      </p:sp>
      <p:sp>
        <p:nvSpPr>
          <p:cNvPr id="12" name="Text 10"/>
          <p:cNvSpPr/>
          <p:nvPr/>
        </p:nvSpPr>
        <p:spPr>
          <a:xfrm>
            <a:off x="777240" y="2596896"/>
            <a:ext cx="10637215" cy="237744"/>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できること：全員がIdP経由でSAML SSOログイン可能。部署ごとのプライベートチームスペースを作成し、経営情報・人事情報の閲覧を限定できる。データベースの高度な権限設定。</a:t>
            </a:r>
            <a:endParaRPr lang="en-US" sz="900" dirty="0"/>
          </a:p>
        </p:txBody>
      </p:sp>
      <p:sp>
        <p:nvSpPr>
          <p:cNvPr id="13" name="Text 11"/>
          <p:cNvSpPr/>
          <p:nvPr/>
        </p:nvSpPr>
        <p:spPr>
          <a:xfrm>
            <a:off x="777240" y="2834640"/>
            <a:ext cx="10637215"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できないこと：監査ログの閲覧・出力（事後追跡が不可）。SCIMによる入退社時の自動同期（手動でのメンバー削除が必要）。</a:t>
            </a:r>
            <a:endParaRPr lang="en-US" sz="900" dirty="0"/>
          </a:p>
        </p:txBody>
      </p:sp>
      <p:sp>
        <p:nvSpPr>
          <p:cNvPr id="14" name="Text 12"/>
          <p:cNvSpPr/>
          <p:nvPr/>
        </p:nvSpPr>
        <p:spPr>
          <a:xfrm>
            <a:off x="777240" y="3127248"/>
            <a:ext cx="10637215" cy="219456"/>
          </a:xfrm>
          <a:prstGeom prst="rect">
            <a:avLst/>
          </a:prstGeom>
          <a:noFill/>
          <a:ln/>
        </p:spPr>
        <p:txBody>
          <a:bodyPr wrap="square" lIns="0" tIns="0" rIns="0" bIns="0" rtlCol="0" anchor="ctr"/>
          <a:lstStyle/>
          <a:p>
            <a:pPr indent="0" marL="0">
              <a:buNone/>
            </a:pPr>
            <a:r>
              <a:rPr lang="en-US" sz="950" b="1" dirty="0">
                <a:solidFill>
                  <a:srgbClr val="1E7A5A"/>
                </a:solidFill>
                <a:latin typeface="Meiryo" pitchFamily="34" charset="0"/>
                <a:ea typeface="Meiryo" pitchFamily="34" charset="-122"/>
                <a:cs typeface="Meiryo" pitchFamily="34" charset="-120"/>
              </a:rPr>
              <a:t>判定：「SSO必須・監査ログは不要」というポリシーであれば、コストと機能のバランスが最も良い。</a:t>
            </a:r>
            <a:endParaRPr lang="en-US" sz="950" dirty="0"/>
          </a:p>
        </p:txBody>
      </p:sp>
      <p:sp>
        <p:nvSpPr>
          <p:cNvPr id="15" name="Shape 13"/>
          <p:cNvSpPr/>
          <p:nvPr/>
        </p:nvSpPr>
        <p:spPr>
          <a:xfrm>
            <a:off x="548640" y="3438144"/>
            <a:ext cx="11094415" cy="1170432"/>
          </a:xfrm>
          <a:prstGeom prst="roundRect">
            <a:avLst>
              <a:gd name="adj" fmla="val 4688"/>
            </a:avLst>
          </a:prstGeom>
          <a:solidFill>
            <a:srgbClr val="FBEDEC"/>
          </a:solidFill>
          <a:ln w="12700">
            <a:solidFill>
              <a:srgbClr val="B3261E"/>
            </a:solidFill>
            <a:prstDash val="solid"/>
          </a:ln>
          <a:effectLst>
            <a:outerShdw sx="100000" sy="100000" kx="0" ky="0" algn="bl" rotWithShape="0" blurRad="101600" dist="12700" dir="5400000">
              <a:srgbClr val="1E2761">
                <a:alpha val="10000"/>
              </a:srgbClr>
            </a:outerShdw>
          </a:effectLst>
        </p:spPr>
      </p:sp>
      <p:sp>
        <p:nvSpPr>
          <p:cNvPr id="16" name="Text 14"/>
          <p:cNvSpPr/>
          <p:nvPr/>
        </p:nvSpPr>
        <p:spPr>
          <a:xfrm>
            <a:off x="777240" y="3529584"/>
            <a:ext cx="3840480" cy="274320"/>
          </a:xfrm>
          <a:prstGeom prst="rect">
            <a:avLst/>
          </a:prstGeom>
          <a:noFill/>
          <a:ln/>
        </p:spPr>
        <p:txBody>
          <a:bodyPr wrap="square" lIns="0" tIns="0" rIns="0" bIns="0" rtlCol="0" anchor="ctr"/>
          <a:lstStyle/>
          <a:p>
            <a:pPr indent="0" marL="0">
              <a:buNone/>
            </a:pPr>
            <a:r>
              <a:rPr lang="en-US" sz="1300" b="1" dirty="0">
                <a:solidFill>
                  <a:srgbClr val="B3261E"/>
                </a:solidFill>
                <a:latin typeface="Meiryo" pitchFamily="34" charset="0"/>
                <a:ea typeface="Meiryo" pitchFamily="34" charset="-122"/>
                <a:cs typeface="Meiryo" pitchFamily="34" charset="-120"/>
              </a:rPr>
              <a:t>案B：幹部のみBusiness＋他社員Free</a:t>
            </a:r>
            <a:endParaRPr lang="en-US" sz="1300" dirty="0"/>
          </a:p>
        </p:txBody>
      </p:sp>
      <p:sp>
        <p:nvSpPr>
          <p:cNvPr id="17" name="Shape 15"/>
          <p:cNvSpPr/>
          <p:nvPr/>
        </p:nvSpPr>
        <p:spPr>
          <a:xfrm>
            <a:off x="4709160" y="3566160"/>
            <a:ext cx="2286000" cy="219456"/>
          </a:xfrm>
          <a:prstGeom prst="roundRect">
            <a:avLst>
              <a:gd name="adj" fmla="val 16667"/>
            </a:avLst>
          </a:prstGeom>
          <a:solidFill>
            <a:srgbClr val="B3261E"/>
          </a:solidFill>
          <a:ln w="12700">
            <a:solidFill>
              <a:srgbClr val="B3261E"/>
            </a:solidFill>
            <a:prstDash val="solid"/>
          </a:ln>
        </p:spPr>
      </p:sp>
      <p:sp>
        <p:nvSpPr>
          <p:cNvPr id="18" name="Text 16"/>
          <p:cNvSpPr/>
          <p:nvPr/>
        </p:nvSpPr>
        <p:spPr>
          <a:xfrm>
            <a:off x="4709160" y="3566160"/>
            <a:ext cx="22860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推奨度 不可・非推奨</a:t>
            </a:r>
            <a:endParaRPr lang="en-US" sz="850" dirty="0"/>
          </a:p>
        </p:txBody>
      </p:sp>
      <p:sp>
        <p:nvSpPr>
          <p:cNvPr id="19" name="Text 17"/>
          <p:cNvSpPr/>
          <p:nvPr/>
        </p:nvSpPr>
        <p:spPr>
          <a:xfrm>
            <a:off x="777240" y="3840480"/>
            <a:ext cx="10637215" cy="237744"/>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できること：費用を最小限に抑えられる。</a:t>
            </a:r>
            <a:endParaRPr lang="en-US" sz="900" dirty="0"/>
          </a:p>
        </p:txBody>
      </p:sp>
      <p:sp>
        <p:nvSpPr>
          <p:cNvPr id="20" name="Text 18"/>
          <p:cNvSpPr/>
          <p:nvPr/>
        </p:nvSpPr>
        <p:spPr>
          <a:xfrm>
            <a:off x="777240" y="4078224"/>
            <a:ext cx="10637215"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重大な欠陥：①一般社員はゲスト扱いとなりSAML SSOが適用されず、個人のフリーアカウントでログインする。②ゲストはチームスペース全体を閲覧できず、ページごとに個別招待が必要で全社Wikiとして成立しない。③退職時にM365を停止しても個人アカウントに権限が残る。</a:t>
            </a:r>
            <a:endParaRPr lang="en-US" sz="900" dirty="0"/>
          </a:p>
        </p:txBody>
      </p:sp>
      <p:sp>
        <p:nvSpPr>
          <p:cNvPr id="21" name="Text 19"/>
          <p:cNvSpPr/>
          <p:nvPr/>
        </p:nvSpPr>
        <p:spPr>
          <a:xfrm>
            <a:off x="777240" y="4370832"/>
            <a:ext cx="10637215" cy="219456"/>
          </a:xfrm>
          <a:prstGeom prst="rect">
            <a:avLst/>
          </a:prstGeom>
          <a:noFill/>
          <a:ln/>
        </p:spPr>
        <p:txBody>
          <a:bodyPr wrap="square" lIns="0" tIns="0" rIns="0" bIns="0" rtlCol="0" anchor="ctr"/>
          <a:lstStyle/>
          <a:p>
            <a:pPr indent="0" marL="0">
              <a:buNone/>
            </a:pPr>
            <a:r>
              <a:rPr lang="en-US" sz="950" b="1" dirty="0">
                <a:solidFill>
                  <a:srgbClr val="B3261E"/>
                </a:solidFill>
                <a:latin typeface="Meiryo" pitchFamily="34" charset="0"/>
                <a:ea typeface="Meiryo" pitchFamily="34" charset="-122"/>
                <a:cs typeface="Meiryo" pitchFamily="34" charset="-120"/>
              </a:rPr>
              <a:t>判定：セキュリティガバナンスが完全に崩壊するため、THD審査で否決される可能性が極めて高く、運用も不可能。</a:t>
            </a:r>
            <a:endParaRPr lang="en-US" sz="950" dirty="0"/>
          </a:p>
        </p:txBody>
      </p:sp>
      <p:sp>
        <p:nvSpPr>
          <p:cNvPr id="22" name="Shape 20"/>
          <p:cNvSpPr/>
          <p:nvPr/>
        </p:nvSpPr>
        <p:spPr>
          <a:xfrm>
            <a:off x="548640" y="4681728"/>
            <a:ext cx="11094415" cy="1170432"/>
          </a:xfrm>
          <a:prstGeom prst="roundRect">
            <a:avLst>
              <a:gd name="adj" fmla="val 4688"/>
            </a:avLst>
          </a:prstGeom>
          <a:solidFill>
            <a:srgbClr val="FDF6E7"/>
          </a:solidFill>
          <a:ln w="12700">
            <a:solidFill>
              <a:srgbClr val="9A6700"/>
            </a:solidFill>
            <a:prstDash val="solid"/>
          </a:ln>
          <a:effectLst>
            <a:outerShdw sx="100000" sy="100000" kx="0" ky="0" algn="bl" rotWithShape="0" blurRad="101600" dist="12700" dir="5400000">
              <a:srgbClr val="1E2761">
                <a:alpha val="10000"/>
              </a:srgbClr>
            </a:outerShdw>
          </a:effectLst>
        </p:spPr>
      </p:sp>
      <p:sp>
        <p:nvSpPr>
          <p:cNvPr id="23" name="Text 21"/>
          <p:cNvSpPr/>
          <p:nvPr/>
        </p:nvSpPr>
        <p:spPr>
          <a:xfrm>
            <a:off x="777240" y="4773168"/>
            <a:ext cx="3840480" cy="274320"/>
          </a:xfrm>
          <a:prstGeom prst="rect">
            <a:avLst/>
          </a:prstGeom>
          <a:noFill/>
          <a:ln/>
        </p:spPr>
        <p:txBody>
          <a:bodyPr wrap="square" lIns="0" tIns="0" rIns="0" bIns="0" rtlCol="0" anchor="ctr"/>
          <a:lstStyle/>
          <a:p>
            <a:pPr indent="0" marL="0">
              <a:buNone/>
            </a:pPr>
            <a:r>
              <a:rPr lang="en-US" sz="1300" b="1" dirty="0">
                <a:solidFill>
                  <a:srgbClr val="9A6700"/>
                </a:solidFill>
                <a:latin typeface="Meiryo" pitchFamily="34" charset="0"/>
                <a:ea typeface="Meiryo" pitchFamily="34" charset="-122"/>
                <a:cs typeface="Meiryo" pitchFamily="34" charset="-120"/>
              </a:rPr>
              <a:t>案C：Plus 全員</a:t>
            </a:r>
            <a:endParaRPr lang="en-US" sz="1300" dirty="0"/>
          </a:p>
        </p:txBody>
      </p:sp>
      <p:sp>
        <p:nvSpPr>
          <p:cNvPr id="24" name="Shape 22"/>
          <p:cNvSpPr/>
          <p:nvPr/>
        </p:nvSpPr>
        <p:spPr>
          <a:xfrm>
            <a:off x="4709160" y="4809744"/>
            <a:ext cx="2286000" cy="219456"/>
          </a:xfrm>
          <a:prstGeom prst="roundRect">
            <a:avLst>
              <a:gd name="adj" fmla="val 16667"/>
            </a:avLst>
          </a:prstGeom>
          <a:solidFill>
            <a:srgbClr val="9A6700"/>
          </a:solidFill>
          <a:ln w="12700">
            <a:solidFill>
              <a:srgbClr val="9A6700"/>
            </a:solidFill>
            <a:prstDash val="solid"/>
          </a:ln>
        </p:spPr>
      </p:sp>
      <p:sp>
        <p:nvSpPr>
          <p:cNvPr id="25" name="Text 23"/>
          <p:cNvSpPr/>
          <p:nvPr/>
        </p:nvSpPr>
        <p:spPr>
          <a:xfrm>
            <a:off x="4709160" y="4809744"/>
            <a:ext cx="22860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推奨度 低〜中</a:t>
            </a:r>
            <a:endParaRPr lang="en-US" sz="850" dirty="0"/>
          </a:p>
        </p:txBody>
      </p:sp>
      <p:sp>
        <p:nvSpPr>
          <p:cNvPr id="26" name="Text 24"/>
          <p:cNvSpPr/>
          <p:nvPr/>
        </p:nvSpPr>
        <p:spPr>
          <a:xfrm>
            <a:off x="777240" y="5084064"/>
            <a:ext cx="10637215" cy="237744"/>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できること：ページ作成・ブロック数無制限、共同編集、外部ゲスト招待。Businessの半額（140名で約260.4万円/年）。</a:t>
            </a:r>
            <a:endParaRPr lang="en-US" sz="900" dirty="0"/>
          </a:p>
        </p:txBody>
      </p:sp>
      <p:sp>
        <p:nvSpPr>
          <p:cNvPr id="27" name="Text 25"/>
          <p:cNvSpPr/>
          <p:nvPr/>
        </p:nvSpPr>
        <p:spPr>
          <a:xfrm>
            <a:off x="777240" y="5321808"/>
            <a:ext cx="10637215" cy="310896"/>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できないこと：SAML SSOが利用不可（個別のパスワードや二要素認証に依存）。プライベートチームスペースが作成できず、部署限定の非公開空間を作りにくい。</a:t>
            </a:r>
            <a:endParaRPr lang="en-US" sz="900" dirty="0"/>
          </a:p>
        </p:txBody>
      </p:sp>
      <p:sp>
        <p:nvSpPr>
          <p:cNvPr id="28" name="Text 26"/>
          <p:cNvSpPr/>
          <p:nvPr/>
        </p:nvSpPr>
        <p:spPr>
          <a:xfrm>
            <a:off x="777240" y="5614416"/>
            <a:ext cx="10637215" cy="219456"/>
          </a:xfrm>
          <a:prstGeom prst="rect">
            <a:avLst/>
          </a:prstGeom>
          <a:noFill/>
          <a:ln/>
        </p:spPr>
        <p:txBody>
          <a:bodyPr wrap="square" lIns="0" tIns="0" rIns="0" bIns="0" rtlCol="0" anchor="ctr"/>
          <a:lstStyle/>
          <a:p>
            <a:pPr indent="0" marL="0">
              <a:buNone/>
            </a:pPr>
            <a:r>
              <a:rPr lang="en-US" sz="950" b="1" dirty="0">
                <a:solidFill>
                  <a:srgbClr val="9A6700"/>
                </a:solidFill>
                <a:latin typeface="Meiryo" pitchFamily="34" charset="0"/>
                <a:ea typeface="Meiryo" pitchFamily="34" charset="-122"/>
                <a:cs typeface="Meiryo" pitchFamily="34" charset="-120"/>
              </a:rPr>
              <a:t>判定：THD側が「SAML SSOによる一括認証」を必須条件とされる場合、要件未達で却下となる。</a:t>
            </a:r>
            <a:endParaRPr lang="en-US" sz="950" dirty="0"/>
          </a:p>
        </p:txBody>
      </p:sp>
      <p:sp>
        <p:nvSpPr>
          <p:cNvPr id="29" name="Shape 27"/>
          <p:cNvSpPr/>
          <p:nvPr/>
        </p:nvSpPr>
        <p:spPr>
          <a:xfrm>
            <a:off x="548640" y="5961888"/>
            <a:ext cx="11094415" cy="420624"/>
          </a:xfrm>
          <a:prstGeom prst="roundRect">
            <a:avLst>
              <a:gd name="adj" fmla="val 1304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0" name="Text 28"/>
          <p:cNvSpPr/>
          <p:nvPr/>
        </p:nvSpPr>
        <p:spPr>
          <a:xfrm>
            <a:off x="777240" y="5961888"/>
            <a:ext cx="10637215" cy="420624"/>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（参考）Enterprise 全員：セキュリティ要件を全てクリア（SSO＋監査ログ＋SCIM＋組織統制）。承認難易度は最も低いが、140名で約911.4万円/年。個別見積が必要。</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D</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SSO のメリット・デメリット（4つの視点）</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導入する側・使う側・管理する側それぞれの観点を整理しています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22</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1094415" cy="914400"/>
        </p:xfrm>
        <a:graphic>
          <a:graphicData uri="http://schemas.openxmlformats.org/drawingml/2006/table">
            <a:tbl>
              <a:tblPr/>
              <a:tblGrid>
                <a:gridCol w="1600200"/>
                <a:gridCol w="5669280"/>
                <a:gridCol w="3822192"/>
              </a:tblGrid>
              <a:tr h="29260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視点</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メリット（良い点）</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デメリット・注意点</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777240">
                <a:tc>
                  <a:txBody>
                    <a:bodyPr/>
                    <a:lstStyle/>
                    <a:p>
                      <a:pPr algn="l" indent="0" marL="0">
                        <a:buNone/>
                      </a:pPr>
                      <a:r>
                        <a:rPr lang="en-US" sz="1100" b="1" dirty="0">
                          <a:solidFill>
                            <a:srgbClr val="1E2761"/>
                          </a:solidFill>
                          <a:latin typeface="Meiryo" pitchFamily="34" charset="0"/>
                          <a:ea typeface="Meiryo" pitchFamily="34" charset="-122"/>
                          <a:cs typeface="Meiryo" pitchFamily="34" charset="-120"/>
                        </a:rPr>
                        <a:t>① 社員</a:t>
                      </a:r>
                      <a:endParaRPr lang="en-US" sz="1100" dirty="0">
                        <a:latin typeface="Meiryo" charset="0"/>
                        <a:ea typeface="Meiryo" charset="0"/>
                        <a:cs typeface="Meiryo" charset="0"/>
                      </a:endParaRPr>
                    </a:p>
                    <a:p>
                      <a:pPr algn="l" indent="0" marL="0">
                        <a:buNone/>
                      </a:pPr>
                      <a:r>
                        <a:rPr lang="en-US" sz="1100" b="1" dirty="0">
                          <a:solidFill>
                            <a:srgbClr val="1E2761"/>
                          </a:solidFill>
                          <a:latin typeface="Meiryo" pitchFamily="34" charset="0"/>
                          <a:ea typeface="Meiryo" pitchFamily="34" charset="-122"/>
                          <a:cs typeface="Meiryo" pitchFamily="34" charset="-120"/>
                        </a:rPr>
                        <a:t>（使う側）</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・パスワードを覚える必要がゼロ。Notion専用のID/PWが不要で、忘れ・再設定の手間がなくなる。</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・毎朝PC（M365）にログインしていれば、ボタン1つで即座にNotionが開く。</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・Microsoft側で大規模なシステム障害が起きた場合、Notion単体にも一時的にログインできなくなる。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960120">
                <a:tc>
                  <a:txBody>
                    <a:bodyPr/>
                    <a:lstStyle/>
                    <a:p>
                      <a:pPr algn="l" indent="0" marL="0">
                        <a:buNone/>
                      </a:pPr>
                      <a:r>
                        <a:rPr lang="en-US" sz="1100" b="1" dirty="0">
                          <a:solidFill>
                            <a:srgbClr val="1E2761"/>
                          </a:solidFill>
                          <a:latin typeface="Meiryo" pitchFamily="34" charset="0"/>
                          <a:ea typeface="Meiryo" pitchFamily="34" charset="-122"/>
                          <a:cs typeface="Meiryo" pitchFamily="34" charset="-120"/>
                        </a:rPr>
                        <a:t>② 会社・HD</a:t>
                      </a:r>
                      <a:endParaRPr lang="en-US" sz="1100" dirty="0">
                        <a:latin typeface="Meiryo" charset="0"/>
                        <a:ea typeface="Meiryo" charset="0"/>
                        <a:cs typeface="Meiryo" charset="0"/>
                      </a:endParaRPr>
                    </a:p>
                    <a:p>
                      <a:pPr algn="l" indent="0" marL="0">
                        <a:buNone/>
                      </a:pPr>
                      <a:r>
                        <a:rPr lang="en-US" sz="1100" b="1" dirty="0">
                          <a:solidFill>
                            <a:srgbClr val="1E2761"/>
                          </a:solidFill>
                          <a:latin typeface="Meiryo" pitchFamily="34" charset="0"/>
                          <a:ea typeface="Meiryo" pitchFamily="34" charset="-122"/>
                          <a:cs typeface="Meiryo" pitchFamily="34" charset="-120"/>
                        </a:rPr>
                        <a:t>（セキュリティ）</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・退職時にM365アカウントを停止すれば、Notionのアクセス権も同時に自動遮断される。</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・「会社の指定PC以外はアクセス禁止」「多要素認証必須」などのM365の制限がそのままNotionにも効く。</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・簡単なパスワードや私生活のパスワードの使い回しによる乗っ取りを防げる。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・自社のM365アカウントを持たない外部パートナーを招待する場合、「ゲスト」としての運用ルールを事前に決める必要がある。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731520">
                <a:tc>
                  <a:txBody>
                    <a:bodyPr/>
                    <a:lstStyle/>
                    <a:p>
                      <a:pPr algn="l" indent="0" marL="0">
                        <a:buNone/>
                      </a:pPr>
                      <a:r>
                        <a:rPr lang="en-US" sz="1100" b="1" dirty="0">
                          <a:solidFill>
                            <a:srgbClr val="1E2761"/>
                          </a:solidFill>
                          <a:latin typeface="Meiryo" pitchFamily="34" charset="0"/>
                          <a:ea typeface="Meiryo" pitchFamily="34" charset="-122"/>
                          <a:cs typeface="Meiryo" pitchFamily="34" charset="-120"/>
                        </a:rPr>
                        <a:t>③ 情シス</a:t>
                      </a:r>
                      <a:endParaRPr lang="en-US" sz="1100" dirty="0">
                        <a:latin typeface="Meiryo" charset="0"/>
                        <a:ea typeface="Meiryo" charset="0"/>
                        <a:cs typeface="Meiryo" charset="0"/>
                      </a:endParaRPr>
                    </a:p>
                    <a:p>
                      <a:pPr algn="l" indent="0" marL="0">
                        <a:buNone/>
                      </a:pPr>
                      <a:r>
                        <a:rPr lang="en-US" sz="1100" b="1" dirty="0">
                          <a:solidFill>
                            <a:srgbClr val="1E2761"/>
                          </a:solidFill>
                          <a:latin typeface="Meiryo" pitchFamily="34" charset="0"/>
                          <a:ea typeface="Meiryo" pitchFamily="34" charset="-122"/>
                          <a:cs typeface="Meiryo" pitchFamily="34" charset="-120"/>
                        </a:rPr>
                        <a:t>（管理・運用）</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・「PWを忘れたのでリセットしてほしい」という社内問い合わせがゼロになる。</a:t>
                      </a:r>
                      <a:endParaRPr lang="en-US" sz="1000" dirty="0">
                        <a:latin typeface="Meiryo" charset="0"/>
                        <a:ea typeface="Meiryo" charset="0"/>
                        <a:cs typeface="Meiryo" charset="0"/>
                      </a:endParaRPr>
                    </a:p>
                    <a:p>
                      <a:pPr algn="l" indent="0" marL="0">
                        <a:buNone/>
                      </a:pPr>
                      <a:r>
                        <a:rPr lang="en-US" sz="1000" dirty="0">
                          <a:solidFill>
                            <a:srgbClr val="1A1A2E"/>
                          </a:solidFill>
                          <a:latin typeface="Meiryo" pitchFamily="34" charset="0"/>
                          <a:ea typeface="Meiryo" pitchFamily="34" charset="-122"/>
                          <a:cs typeface="Meiryo" pitchFamily="34" charset="-120"/>
                        </a:rPr>
                        <a:t>・入退社時のアカウント削除漏れ（消し忘れリスク）を防げる。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・導入時に、情シスがM365（Entra ID）とNotionを紐付ける初期設定が必要（約1〜2時間程度の作業）。</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777240">
                <a:tc>
                  <a:txBody>
                    <a:bodyPr/>
                    <a:lstStyle/>
                    <a:p>
                      <a:pPr algn="l" indent="0" marL="0">
                        <a:buNone/>
                      </a:pPr>
                      <a:r>
                        <a:rPr lang="en-US" sz="1100" b="1" dirty="0">
                          <a:solidFill>
                            <a:srgbClr val="1E2761"/>
                          </a:solidFill>
                          <a:latin typeface="Meiryo" pitchFamily="34" charset="0"/>
                          <a:ea typeface="Meiryo" pitchFamily="34" charset="-122"/>
                          <a:cs typeface="Meiryo" pitchFamily="34" charset="-120"/>
                        </a:rPr>
                        <a:t>④ コスト</a:t>
                      </a:r>
                      <a:endParaRPr lang="en-US" sz="1100" dirty="0">
                        <a:latin typeface="Meiryo" charset="0"/>
                        <a:ea typeface="Meiryo" charset="0"/>
                        <a:cs typeface="Meiryo" charset="0"/>
                      </a:endParaRPr>
                    </a:p>
                    <a:p>
                      <a:pPr algn="l" indent="0" marL="0">
                        <a:buNone/>
                      </a:pPr>
                      <a:r>
                        <a:rPr lang="en-US" sz="1100" b="1" dirty="0">
                          <a:solidFill>
                            <a:srgbClr val="1E2761"/>
                          </a:solidFill>
                          <a:latin typeface="Meiryo" pitchFamily="34" charset="0"/>
                          <a:ea typeface="Meiryo" pitchFamily="34" charset="-122"/>
                          <a:cs typeface="Meiryo" pitchFamily="34" charset="-120"/>
                        </a:rPr>
                        <a:t>（費用面）</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・アカウント管理ミスによる情報漏洩の損害と、事後対応コストを未然に防止できる。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・SSOを使うにはBusinessプラン以上が必要（月額$20/人〜）。最安のPlus（$10）では利用できず、140名で年間約260.4万円の差額が生じる。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E</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コスト感度分析</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対象人数とプランの組み合わせによる年間コストの試算です（$1=155円・年払）</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23</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231136"/>
          <a:ext cx="11094415" cy="914400"/>
        </p:xfrm>
        <a:graphic>
          <a:graphicData uri="http://schemas.openxmlformats.org/drawingml/2006/table">
            <a:tbl>
              <a:tblPr/>
              <a:tblGrid>
                <a:gridCol w="2743200"/>
                <a:gridCol w="2779776"/>
                <a:gridCol w="2779776"/>
                <a:gridCol w="2788920"/>
              </a:tblGrid>
              <a:tr h="402336">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想定対象人数</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Plus（$10/月）</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Business（$20/月）</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7A5A"/>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Enterprise（仮 $35/月）</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50名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93.0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186.0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325.5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100名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186.0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372.0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651.0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140名（本計画）</a:t>
                      </a:r>
                      <a:endParaRPr lang="en-US" sz="11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260.4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3FD"/>
                    </a:solidFill>
                  </a:tcPr>
                </a:tc>
                <a:tc>
                  <a:txBody>
                    <a:bodyPr/>
                    <a:lstStyle/>
                    <a:p>
                      <a:pPr algn="ctr" indent="0" marL="0">
                        <a:buNone/>
                      </a:pPr>
                      <a:r>
                        <a:rPr lang="en-US" sz="1300" b="1" dirty="0">
                          <a:solidFill>
                            <a:srgbClr val="1E2761"/>
                          </a:solidFill>
                          <a:latin typeface="Meiryo" pitchFamily="34" charset="0"/>
                          <a:ea typeface="Meiryo" pitchFamily="34" charset="-122"/>
                          <a:cs typeface="Meiryo" pitchFamily="34" charset="-120"/>
                        </a:rPr>
                        <a:t>約 520.8 万円 / 年</a:t>
                      </a:r>
                      <a:endParaRPr lang="en-US" sz="13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3FD"/>
                    </a:solidFill>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911.4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3FD"/>
                    </a:solidFill>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300名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558.0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1,116.0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1,953.0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02336">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500名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930.0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1,860.0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約 3,255.0 万円 / 年</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Text 6"/>
          <p:cNvSpPr/>
          <p:nvPr/>
        </p:nvSpPr>
        <p:spPr>
          <a:xfrm>
            <a:off x="548640" y="4937760"/>
            <a:ext cx="2103120" cy="384048"/>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前提条件</a:t>
            </a:r>
            <a:endParaRPr lang="en-US" sz="1000" dirty="0"/>
          </a:p>
        </p:txBody>
      </p:sp>
      <p:sp>
        <p:nvSpPr>
          <p:cNvPr id="10" name="Text 7"/>
          <p:cNvSpPr/>
          <p:nvPr/>
        </p:nvSpPr>
        <p:spPr>
          <a:xfrm>
            <a:off x="2743200" y="4937760"/>
            <a:ext cx="8899855" cy="384048"/>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年払契約時の金額です。月払契約の場合は約20%割高になります。為替は $1=155円 で換算しています。</a:t>
            </a:r>
            <a:endParaRPr lang="en-US" sz="950" dirty="0"/>
          </a:p>
        </p:txBody>
      </p:sp>
      <p:sp>
        <p:nvSpPr>
          <p:cNvPr id="11" name="Text 8"/>
          <p:cNvSpPr/>
          <p:nvPr/>
        </p:nvSpPr>
        <p:spPr>
          <a:xfrm>
            <a:off x="548640" y="5394960"/>
            <a:ext cx="2103120" cy="384048"/>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Enterprise単価について</a:t>
            </a:r>
            <a:endParaRPr lang="en-US" sz="1000" dirty="0"/>
          </a:p>
        </p:txBody>
      </p:sp>
      <p:sp>
        <p:nvSpPr>
          <p:cNvPr id="12" name="Text 9"/>
          <p:cNvSpPr/>
          <p:nvPr/>
        </p:nvSpPr>
        <p:spPr>
          <a:xfrm>
            <a:off x="2743200" y="5394960"/>
            <a:ext cx="8899855" cy="384048"/>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ボリュームディスカウントにより変動するため、Notion社または正規代理店への相見積もりが必要です。表中の $35 は仮置きの値です。</a:t>
            </a:r>
            <a:endParaRPr lang="en-US" sz="950" dirty="0"/>
          </a:p>
        </p:txBody>
      </p:sp>
      <p:sp>
        <p:nvSpPr>
          <p:cNvPr id="13" name="Text 10"/>
          <p:cNvSpPr/>
          <p:nvPr/>
        </p:nvSpPr>
        <p:spPr>
          <a:xfrm>
            <a:off x="548640" y="5852160"/>
            <a:ext cx="2103120" cy="384048"/>
          </a:xfrm>
          <a:prstGeom prst="rect">
            <a:avLst/>
          </a:prstGeom>
          <a:noFill/>
          <a:ln/>
        </p:spPr>
        <p:txBody>
          <a:bodyPr wrap="square" lIns="0" tIns="0" rIns="0" bIns="0" rtlCol="0" anchor="ctr"/>
          <a:lstStyle/>
          <a:p>
            <a:pPr indent="0" marL="0">
              <a:buNone/>
            </a:pPr>
            <a:r>
              <a:rPr lang="en-US" sz="1000" b="1" dirty="0">
                <a:solidFill>
                  <a:srgbClr val="1E2761"/>
                </a:solidFill>
                <a:latin typeface="Meiryo" pitchFamily="34" charset="0"/>
                <a:ea typeface="Meiryo" pitchFamily="34" charset="-122"/>
                <a:cs typeface="Meiryo" pitchFamily="34" charset="-120"/>
              </a:rPr>
              <a:t>Business単価について</a:t>
            </a:r>
            <a:endParaRPr lang="en-US" sz="1000" dirty="0"/>
          </a:p>
        </p:txBody>
      </p:sp>
      <p:sp>
        <p:nvSpPr>
          <p:cNvPr id="14" name="Text 11"/>
          <p:cNvSpPr/>
          <p:nvPr/>
        </p:nvSpPr>
        <p:spPr>
          <a:xfrm>
            <a:off x="2743200" y="5852160"/>
            <a:ext cx="8899855" cy="384048"/>
          </a:xfrm>
          <a:prstGeom prst="rect">
            <a:avLst/>
          </a:prstGeom>
          <a:noFill/>
          <a:ln/>
        </p:spPr>
        <p:txBody>
          <a:bodyPr wrap="square" lIns="0" tIns="0" rIns="0" bIns="0" rtlCol="0" anchor="ctr"/>
          <a:lstStyle/>
          <a:p>
            <a:pPr indent="0" marL="0">
              <a:buNone/>
            </a:pPr>
            <a:r>
              <a:rPr lang="en-US" sz="950" dirty="0">
                <a:solidFill>
                  <a:srgbClr val="1A1A2E"/>
                </a:solidFill>
                <a:latin typeface="Meiryo" pitchFamily="34" charset="0"/>
                <a:ea typeface="Meiryo" pitchFamily="34" charset="-122"/>
                <a:cs typeface="Meiryo" pitchFamily="34" charset="-120"/>
              </a:rPr>
              <a:t>$20/月（年払）で試算していますが、$18/月とする情報もあります。見積により下振れする可能性があり、上限額は上振れしない前提です。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F</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ファイルアップロード仕様の確認結果</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検討段階で挙がっていた「1ファイル5MB制限」は、無料プラン限定の仕様でした</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24</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231136"/>
          <a:ext cx="11094415" cy="914400"/>
        </p:xfrm>
        <a:graphic>
          <a:graphicData uri="http://schemas.openxmlformats.org/drawingml/2006/table">
            <a:tbl>
              <a:tblPr/>
              <a:tblGrid>
                <a:gridCol w="3657600"/>
                <a:gridCol w="2377440"/>
                <a:gridCol w="5056632"/>
              </a:tblGrid>
              <a:tr h="457200">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対象</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1ファイルあたりの上限</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補足</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45720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Free プラン</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B3261E"/>
                          </a:solidFill>
                          <a:latin typeface="Meiryo" pitchFamily="34" charset="0"/>
                          <a:ea typeface="Meiryo" pitchFamily="34" charset="-122"/>
                          <a:cs typeface="Meiryo" pitchFamily="34" charset="-120"/>
                        </a:rPr>
                        <a:t>5 MB</a:t>
                      </a:r>
                      <a:endParaRPr lang="en-US" sz="12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当初「5MB制限」として認識していたのは、この無料プランの仕様です。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5720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有料プラン（Plus / Business / Enterprise）</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200" b="1" dirty="0">
                          <a:solidFill>
                            <a:srgbClr val="1E7A5A"/>
                          </a:solidFill>
                          <a:latin typeface="Meiryo" pitchFamily="34" charset="0"/>
                          <a:ea typeface="Meiryo" pitchFamily="34" charset="-122"/>
                          <a:cs typeface="Meiryo" pitchFamily="34" charset="-120"/>
                        </a:rPr>
                        <a:t>5 GB</a:t>
                      </a:r>
                      <a:endParaRPr lang="en-US" sz="12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一般的なファイル（動画・zip等）の上限。無料プランの1,000倍にあたります。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57200">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　└ PDF ファイル</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20 MB 未満</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有料プランでも、PDFにはこの個別上限が適用されます。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57200">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　└ 画像（PNG / JPG）</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5 MB 未満</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有料プランでも、画像にはこの個別上限が適用されます。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457200">
                <a:tc>
                  <a:txBody>
                    <a:bodyPr/>
                    <a:lstStyle/>
                    <a:p>
                      <a:pPr algn="l" indent="0" marL="0">
                        <a:buNone/>
                      </a:pPr>
                      <a:r>
                        <a:rPr lang="en-US" sz="1000" b="1" dirty="0">
                          <a:solidFill>
                            <a:srgbClr val="1A1A2E"/>
                          </a:solidFill>
                          <a:latin typeface="Meiryo" pitchFamily="34" charset="0"/>
                          <a:ea typeface="Meiryo" pitchFamily="34" charset="-122"/>
                          <a:cs typeface="Meiryo" pitchFamily="34" charset="-120"/>
                        </a:rPr>
                        <a:t>ワークスペース全体の総容量</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E7A5A"/>
                          </a:solidFill>
                          <a:latin typeface="Meiryo" pitchFamily="34" charset="0"/>
                          <a:ea typeface="Meiryo" pitchFamily="34" charset="-122"/>
                          <a:cs typeface="Meiryo" pitchFamily="34" charset="-120"/>
                        </a:rPr>
                        <a:t>制限なし</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l" indent="0" marL="0">
                        <a:buNone/>
                      </a:pPr>
                      <a:r>
                        <a:rPr lang="en-US" sz="1000" dirty="0">
                          <a:solidFill>
                            <a:srgbClr val="1A1A2E"/>
                          </a:solidFill>
                          <a:latin typeface="Meiryo" pitchFamily="34" charset="0"/>
                          <a:ea typeface="Meiryo" pitchFamily="34" charset="-122"/>
                          <a:cs typeface="Meiryo" pitchFamily="34" charset="-120"/>
                        </a:rPr>
                        <a:t>個々のファイルが上限内であれば、保存総量の制限はありません。</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9" name="Shape 6"/>
          <p:cNvSpPr/>
          <p:nvPr/>
        </p:nvSpPr>
        <p:spPr>
          <a:xfrm>
            <a:off x="548640" y="5120640"/>
            <a:ext cx="6903720" cy="1234440"/>
          </a:xfrm>
          <a:prstGeom prst="roundRect">
            <a:avLst>
              <a:gd name="adj" fmla="val 4444"/>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0" name="Text 7"/>
          <p:cNvSpPr/>
          <p:nvPr/>
        </p:nvSpPr>
        <p:spPr>
          <a:xfrm>
            <a:off x="777240" y="5239512"/>
            <a:ext cx="644652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この確認が必要だった理由</a:t>
            </a:r>
            <a:endParaRPr lang="en-US" sz="1150" dirty="0"/>
          </a:p>
        </p:txBody>
      </p:sp>
      <p:sp>
        <p:nvSpPr>
          <p:cNvPr id="11" name="Text 8"/>
          <p:cNvSpPr/>
          <p:nvPr/>
        </p:nvSpPr>
        <p:spPr>
          <a:xfrm>
            <a:off x="777240" y="5522976"/>
            <a:ext cx="6446520" cy="731520"/>
          </a:xfrm>
          <a:prstGeom prst="rect">
            <a:avLst/>
          </a:prstGeom>
          <a:noFill/>
          <a:ln/>
        </p:spPr>
        <p:txBody>
          <a:bodyPr wrap="square" lIns="0" tIns="0" rIns="0" bIns="0" rtlCol="0" anchor="ctr"/>
          <a:lstStyle/>
          <a:p>
            <a:pPr indent="0" marL="0">
              <a:lnSpc>
                <a:spcPts val="1600"/>
              </a:lnSpc>
              <a:buNone/>
            </a:pPr>
            <a:r>
              <a:rPr lang="en-US" sz="1000" dirty="0">
                <a:solidFill>
                  <a:srgbClr val="1A1A2E"/>
                </a:solidFill>
                <a:latin typeface="Meiryo" pitchFamily="34" charset="0"/>
                <a:ea typeface="Meiryo" pitchFamily="34" charset="-122"/>
                <a:cs typeface="Meiryo" pitchFamily="34" charset="-120"/>
              </a:rPr>
              <a:t>検討段階では「1ファイル5MB制限があり動画は不可」という前提で議論していました。誤った数値のままTHDにご説明すると資料全体の信頼を損なうため、Notion公式ヘルプにて確認し、本表の値に訂正しています。</a:t>
            </a:r>
            <a:endParaRPr lang="en-US" sz="1000" dirty="0"/>
          </a:p>
        </p:txBody>
      </p:sp>
      <p:sp>
        <p:nvSpPr>
          <p:cNvPr id="12" name="Shape 9"/>
          <p:cNvSpPr/>
          <p:nvPr/>
        </p:nvSpPr>
        <p:spPr>
          <a:xfrm>
            <a:off x="7662672" y="5120640"/>
            <a:ext cx="3977640" cy="1234440"/>
          </a:xfrm>
          <a:prstGeom prst="roundRect">
            <a:avLst>
              <a:gd name="adj" fmla="val 4444"/>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3" name="Text 10"/>
          <p:cNvSpPr/>
          <p:nvPr/>
        </p:nvSpPr>
        <p:spPr>
          <a:xfrm>
            <a:off x="7863840" y="5239512"/>
            <a:ext cx="3566160" cy="256032"/>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なお、スコープには含めません</a:t>
            </a:r>
            <a:endParaRPr lang="en-US" sz="1150" dirty="0"/>
          </a:p>
        </p:txBody>
      </p:sp>
      <p:sp>
        <p:nvSpPr>
          <p:cNvPr id="14" name="Text 11"/>
          <p:cNvSpPr/>
          <p:nvPr/>
        </p:nvSpPr>
        <p:spPr>
          <a:xfrm>
            <a:off x="7863840" y="5522976"/>
            <a:ext cx="3566160" cy="731520"/>
          </a:xfrm>
          <a:prstGeom prst="rect">
            <a:avLst/>
          </a:prstGeom>
          <a:noFill/>
          <a:ln/>
        </p:spPr>
        <p:txBody>
          <a:bodyPr wrap="square" lIns="0" tIns="0" rIns="0" bIns="0" rtlCol="0" anchor="ctr"/>
          <a:lstStyle/>
          <a:p>
            <a:pPr indent="0" marL="0">
              <a:lnSpc>
                <a:spcPts val="1500"/>
              </a:lnSpc>
              <a:buNone/>
            </a:pPr>
            <a:r>
              <a:rPr lang="en-US" sz="950" dirty="0">
                <a:solidFill>
                  <a:srgbClr val="1A1A2E"/>
                </a:solidFill>
                <a:latin typeface="Meiryo" pitchFamily="34" charset="0"/>
                <a:ea typeface="Meiryo" pitchFamily="34" charset="-122"/>
                <a:cs typeface="Meiryo" pitchFamily="34" charset="-120"/>
              </a:rPr>
              <a:t>この結果により③案件関連ファイルの前提は変わりますが、今回のスコープは①案件管理・②議事録に限定しており、ファイル保管は SharePoint を継続します。</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G</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役割分担と残タスク</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本件の推進体制と、THDご説明後に残る作業です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25</a:t>
            </a:r>
            <a:endParaRPr lang="en-US" sz="1000" dirty="0"/>
          </a:p>
        </p:txBody>
      </p:sp>
      <p:sp>
        <p:nvSpPr>
          <p:cNvPr id="8" name="Shape 6"/>
          <p:cNvSpPr/>
          <p:nvPr/>
        </p:nvSpPr>
        <p:spPr>
          <a:xfrm>
            <a:off x="548640" y="2286000"/>
            <a:ext cx="5437480" cy="1691640"/>
          </a:xfrm>
          <a:prstGeom prst="roundRect">
            <a:avLst>
              <a:gd name="adj" fmla="val 324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77240" y="2423160"/>
            <a:ext cx="2286000" cy="329184"/>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紙谷</a:t>
            </a:r>
            <a:endParaRPr lang="en-US" sz="1700" dirty="0"/>
          </a:p>
        </p:txBody>
      </p:sp>
      <p:sp>
        <p:nvSpPr>
          <p:cNvPr id="10" name="Shape 8"/>
          <p:cNvSpPr/>
          <p:nvPr/>
        </p:nvSpPr>
        <p:spPr>
          <a:xfrm>
            <a:off x="2377440" y="2487168"/>
            <a:ext cx="1828800" cy="237744"/>
          </a:xfrm>
          <a:prstGeom prst="roundRect">
            <a:avLst>
              <a:gd name="adj" fmla="val 15385"/>
            </a:avLst>
          </a:prstGeom>
          <a:solidFill>
            <a:srgbClr val="CADCFC"/>
          </a:solidFill>
          <a:ln w="12700">
            <a:solidFill>
              <a:srgbClr val="CADCFC"/>
            </a:solidFill>
            <a:prstDash val="solid"/>
          </a:ln>
        </p:spPr>
      </p:sp>
      <p:sp>
        <p:nvSpPr>
          <p:cNvPr id="11" name="Text 9"/>
          <p:cNvSpPr/>
          <p:nvPr/>
        </p:nvSpPr>
        <p:spPr>
          <a:xfrm>
            <a:off x="2377440" y="2487168"/>
            <a:ext cx="1828800" cy="237744"/>
          </a:xfrm>
          <a:prstGeom prst="rect">
            <a:avLst/>
          </a:prstGeom>
          <a:noFill/>
          <a:ln/>
        </p:spPr>
        <p:txBody>
          <a:bodyPr wrap="square" lIns="0" tIns="0" rIns="0" bIns="0" rtlCol="0" anchor="ctr"/>
          <a:lstStyle/>
          <a:p>
            <a:pPr algn="ctr" indent="0" marL="0">
              <a:buNone/>
            </a:pPr>
            <a:r>
              <a:rPr lang="en-US" sz="900" b="1" dirty="0">
                <a:solidFill>
                  <a:srgbClr val="1E2761"/>
                </a:solidFill>
                <a:latin typeface="Meiryo" pitchFamily="34" charset="0"/>
                <a:ea typeface="Meiryo" pitchFamily="34" charset="-122"/>
                <a:cs typeface="Meiryo" pitchFamily="34" charset="-120"/>
              </a:rPr>
              <a:t>資料作成・設計</a:t>
            </a:r>
            <a:endParaRPr lang="en-US" sz="900" dirty="0"/>
          </a:p>
        </p:txBody>
      </p:sp>
      <p:sp>
        <p:nvSpPr>
          <p:cNvPr id="12" name="Text 10"/>
          <p:cNvSpPr/>
          <p:nvPr/>
        </p:nvSpPr>
        <p:spPr>
          <a:xfrm>
            <a:off x="777240" y="2852928"/>
            <a:ext cx="4980280" cy="100584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本ストーリーに基づく説明資料の作成</a:t>
            </a:r>
            <a:endParaRPr lang="en-US" sz="1100" dirty="0"/>
          </a:p>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Phase2 対象範囲の設計</a:t>
            </a:r>
            <a:endParaRPr lang="en-US" sz="1100" dirty="0"/>
          </a:p>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会議設計テンプレートの作成</a:t>
            </a:r>
            <a:endParaRPr lang="en-US" sz="1100" dirty="0"/>
          </a:p>
        </p:txBody>
      </p:sp>
      <p:sp>
        <p:nvSpPr>
          <p:cNvPr id="13" name="Shape 11"/>
          <p:cNvSpPr/>
          <p:nvPr/>
        </p:nvSpPr>
        <p:spPr>
          <a:xfrm>
            <a:off x="6205576" y="2286000"/>
            <a:ext cx="5437480" cy="1691640"/>
          </a:xfrm>
          <a:prstGeom prst="roundRect">
            <a:avLst>
              <a:gd name="adj" fmla="val 3243"/>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4" name="Text 12"/>
          <p:cNvSpPr/>
          <p:nvPr/>
        </p:nvSpPr>
        <p:spPr>
          <a:xfrm>
            <a:off x="6434176" y="2423160"/>
            <a:ext cx="2286000" cy="329184"/>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仲川</a:t>
            </a:r>
            <a:endParaRPr lang="en-US" sz="1700" dirty="0"/>
          </a:p>
        </p:txBody>
      </p:sp>
      <p:sp>
        <p:nvSpPr>
          <p:cNvPr id="15" name="Shape 13"/>
          <p:cNvSpPr/>
          <p:nvPr/>
        </p:nvSpPr>
        <p:spPr>
          <a:xfrm>
            <a:off x="8034376" y="2487168"/>
            <a:ext cx="1828800" cy="237744"/>
          </a:xfrm>
          <a:prstGeom prst="roundRect">
            <a:avLst>
              <a:gd name="adj" fmla="val 15385"/>
            </a:avLst>
          </a:prstGeom>
          <a:solidFill>
            <a:srgbClr val="CADCFC"/>
          </a:solidFill>
          <a:ln w="12700">
            <a:solidFill>
              <a:srgbClr val="CADCFC"/>
            </a:solidFill>
            <a:prstDash val="solid"/>
          </a:ln>
        </p:spPr>
      </p:sp>
      <p:sp>
        <p:nvSpPr>
          <p:cNvPr id="16" name="Text 14"/>
          <p:cNvSpPr/>
          <p:nvPr/>
        </p:nvSpPr>
        <p:spPr>
          <a:xfrm>
            <a:off x="8034376" y="2487168"/>
            <a:ext cx="1828800" cy="237744"/>
          </a:xfrm>
          <a:prstGeom prst="rect">
            <a:avLst/>
          </a:prstGeom>
          <a:noFill/>
          <a:ln/>
        </p:spPr>
        <p:txBody>
          <a:bodyPr wrap="square" lIns="0" tIns="0" rIns="0" bIns="0" rtlCol="0" anchor="ctr"/>
          <a:lstStyle/>
          <a:p>
            <a:pPr algn="ctr" indent="0" marL="0">
              <a:buNone/>
            </a:pPr>
            <a:r>
              <a:rPr lang="en-US" sz="900" b="1" dirty="0">
                <a:solidFill>
                  <a:srgbClr val="1E2761"/>
                </a:solidFill>
                <a:latin typeface="Meiryo" pitchFamily="34" charset="0"/>
                <a:ea typeface="Meiryo" pitchFamily="34" charset="-122"/>
                <a:cs typeface="Meiryo" pitchFamily="34" charset="-120"/>
              </a:rPr>
              <a:t>説明・裁定</a:t>
            </a:r>
            <a:endParaRPr lang="en-US" sz="900" dirty="0"/>
          </a:p>
        </p:txBody>
      </p:sp>
      <p:sp>
        <p:nvSpPr>
          <p:cNvPr id="17" name="Text 15"/>
          <p:cNvSpPr/>
          <p:nvPr/>
        </p:nvSpPr>
        <p:spPr>
          <a:xfrm>
            <a:off x="6434176" y="2852928"/>
            <a:ext cx="4980280" cy="100584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実物デモの準備と実施</a:t>
            </a:r>
            <a:endParaRPr lang="en-US" sz="1100" dirty="0"/>
          </a:p>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THDへの説明</a:t>
            </a:r>
            <a:endParaRPr lang="en-US" sz="1100" dirty="0"/>
          </a:p>
          <a:p>
            <a:pPr marL="342900" indent="-342900">
              <a:spcAft>
                <a:spcPts val="700"/>
              </a:spcAft>
              <a:buSzPct val="100000"/>
              <a:buChar char="•"/>
            </a:pPr>
            <a:r>
              <a:rPr lang="en-US" sz="1100" dirty="0">
                <a:solidFill>
                  <a:srgbClr val="1A1A2E"/>
                </a:solidFill>
                <a:latin typeface="Meiryo" pitchFamily="34" charset="0"/>
                <a:ea typeface="Meiryo" pitchFamily="34" charset="-122"/>
                <a:cs typeface="Meiryo" pitchFamily="34" charset="-120"/>
              </a:rPr>
              <a:t>プラン・コストの裁定</a:t>
            </a:r>
            <a:endParaRPr lang="en-US" sz="1100" dirty="0"/>
          </a:p>
        </p:txBody>
      </p:sp>
      <p:sp>
        <p:nvSpPr>
          <p:cNvPr id="18" name="Text 16"/>
          <p:cNvSpPr/>
          <p:nvPr/>
        </p:nvSpPr>
        <p:spPr>
          <a:xfrm>
            <a:off x="548640" y="4160520"/>
            <a:ext cx="4572000" cy="274320"/>
          </a:xfrm>
          <a:prstGeom prst="rect">
            <a:avLst/>
          </a:prstGeom>
          <a:noFill/>
          <a:ln/>
        </p:spPr>
        <p:txBody>
          <a:bodyPr wrap="square" lIns="0" tIns="0" rIns="0" bIns="0" rtlCol="0" anchor="ctr"/>
          <a:lstStyle/>
          <a:p>
            <a:pPr indent="0" marL="0">
              <a:buNone/>
            </a:pPr>
            <a:r>
              <a:rPr lang="en-US" sz="1200" b="1" dirty="0">
                <a:solidFill>
                  <a:srgbClr val="6B7280"/>
                </a:solidFill>
                <a:latin typeface="Meiryo" pitchFamily="34" charset="0"/>
                <a:ea typeface="Meiryo" pitchFamily="34" charset="-122"/>
                <a:cs typeface="Meiryo" pitchFamily="34" charset="-120"/>
              </a:rPr>
              <a:t>THDご説明後の残タスク</a:t>
            </a:r>
            <a:endParaRPr lang="en-US" sz="1200" dirty="0"/>
          </a:p>
        </p:txBody>
      </p:sp>
      <p:sp>
        <p:nvSpPr>
          <p:cNvPr id="19" name="Shape 17"/>
          <p:cNvSpPr/>
          <p:nvPr/>
        </p:nvSpPr>
        <p:spPr>
          <a:xfrm>
            <a:off x="548640" y="4526280"/>
            <a:ext cx="274320" cy="274320"/>
          </a:xfrm>
          <a:prstGeom prst="roundRect">
            <a:avLst>
              <a:gd name="adj" fmla="val 16667"/>
            </a:avLst>
          </a:prstGeom>
          <a:solidFill>
            <a:srgbClr val="1E2761"/>
          </a:solidFill>
          <a:ln w="12700">
            <a:solidFill>
              <a:srgbClr val="1E2761"/>
            </a:solidFill>
            <a:prstDash val="solid"/>
          </a:ln>
        </p:spPr>
      </p:sp>
      <p:sp>
        <p:nvSpPr>
          <p:cNvPr id="20" name="Text 18"/>
          <p:cNvSpPr/>
          <p:nvPr/>
        </p:nvSpPr>
        <p:spPr>
          <a:xfrm>
            <a:off x="548640" y="45262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21" name="Text 19"/>
          <p:cNvSpPr/>
          <p:nvPr/>
        </p:nvSpPr>
        <p:spPr>
          <a:xfrm>
            <a:off x="932688" y="4480560"/>
            <a:ext cx="3749040" cy="36576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監査ログ要否の確定</a:t>
            </a:r>
            <a:endParaRPr lang="en-US" sz="1100" dirty="0"/>
          </a:p>
        </p:txBody>
      </p:sp>
      <p:sp>
        <p:nvSpPr>
          <p:cNvPr id="22" name="Text 20"/>
          <p:cNvSpPr/>
          <p:nvPr/>
        </p:nvSpPr>
        <p:spPr>
          <a:xfrm>
            <a:off x="4754880" y="4480560"/>
            <a:ext cx="6888175" cy="365760"/>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THDのご回答を受けて、Business / Enterprise を最終決定する</a:t>
            </a:r>
            <a:endParaRPr lang="en-US" sz="1000" dirty="0"/>
          </a:p>
        </p:txBody>
      </p:sp>
      <p:sp>
        <p:nvSpPr>
          <p:cNvPr id="23" name="Shape 21"/>
          <p:cNvSpPr/>
          <p:nvPr/>
        </p:nvSpPr>
        <p:spPr>
          <a:xfrm>
            <a:off x="548640" y="4910328"/>
            <a:ext cx="274320" cy="274320"/>
          </a:xfrm>
          <a:prstGeom prst="roundRect">
            <a:avLst>
              <a:gd name="adj" fmla="val 16667"/>
            </a:avLst>
          </a:prstGeom>
          <a:solidFill>
            <a:srgbClr val="1E2761"/>
          </a:solidFill>
          <a:ln w="12700">
            <a:solidFill>
              <a:srgbClr val="1E2761"/>
            </a:solidFill>
            <a:prstDash val="solid"/>
          </a:ln>
        </p:spPr>
      </p:sp>
      <p:sp>
        <p:nvSpPr>
          <p:cNvPr id="24" name="Text 22"/>
          <p:cNvSpPr/>
          <p:nvPr/>
        </p:nvSpPr>
        <p:spPr>
          <a:xfrm>
            <a:off x="548640" y="491032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5" name="Text 23"/>
          <p:cNvSpPr/>
          <p:nvPr/>
        </p:nvSpPr>
        <p:spPr>
          <a:xfrm>
            <a:off x="932688" y="4864608"/>
            <a:ext cx="3749040" cy="36576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正規代理店からの見積取得</a:t>
            </a:r>
            <a:endParaRPr lang="en-US" sz="1100" dirty="0"/>
          </a:p>
        </p:txBody>
      </p:sp>
      <p:sp>
        <p:nvSpPr>
          <p:cNvPr id="26" name="Text 24"/>
          <p:cNvSpPr/>
          <p:nvPr/>
        </p:nvSpPr>
        <p:spPr>
          <a:xfrm>
            <a:off x="4754880" y="4864608"/>
            <a:ext cx="6888175" cy="365760"/>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Business単価（$18〜$20）を確定し、コスト上限を確定値に更新する</a:t>
            </a:r>
            <a:endParaRPr lang="en-US" sz="1000" dirty="0"/>
          </a:p>
        </p:txBody>
      </p:sp>
      <p:sp>
        <p:nvSpPr>
          <p:cNvPr id="27" name="Shape 25"/>
          <p:cNvSpPr/>
          <p:nvPr/>
        </p:nvSpPr>
        <p:spPr>
          <a:xfrm>
            <a:off x="548640" y="5294376"/>
            <a:ext cx="274320" cy="274320"/>
          </a:xfrm>
          <a:prstGeom prst="roundRect">
            <a:avLst>
              <a:gd name="adj" fmla="val 16667"/>
            </a:avLst>
          </a:prstGeom>
          <a:solidFill>
            <a:srgbClr val="1E2761"/>
          </a:solidFill>
          <a:ln w="12700">
            <a:solidFill>
              <a:srgbClr val="1E2761"/>
            </a:solidFill>
            <a:prstDash val="solid"/>
          </a:ln>
        </p:spPr>
      </p:sp>
      <p:sp>
        <p:nvSpPr>
          <p:cNvPr id="28" name="Text 26"/>
          <p:cNvSpPr/>
          <p:nvPr/>
        </p:nvSpPr>
        <p:spPr>
          <a:xfrm>
            <a:off x="548640" y="529437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9" name="Text 27"/>
          <p:cNvSpPr/>
          <p:nvPr/>
        </p:nvSpPr>
        <p:spPr>
          <a:xfrm>
            <a:off x="932688" y="5248656"/>
            <a:ext cx="3749040" cy="36576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セキュリティチェックシートへの回答</a:t>
            </a:r>
            <a:endParaRPr lang="en-US" sz="1100" dirty="0"/>
          </a:p>
        </p:txBody>
      </p:sp>
      <p:sp>
        <p:nvSpPr>
          <p:cNvPr id="30" name="Text 28"/>
          <p:cNvSpPr/>
          <p:nvPr/>
        </p:nvSpPr>
        <p:spPr>
          <a:xfrm>
            <a:off x="4754880" y="5248656"/>
            <a:ext cx="6888175" cy="365760"/>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THD所定の様式がある場合、受領のうえ回答を作成する</a:t>
            </a:r>
            <a:endParaRPr lang="en-US" sz="1000" dirty="0"/>
          </a:p>
        </p:txBody>
      </p:sp>
      <p:sp>
        <p:nvSpPr>
          <p:cNvPr id="31" name="Shape 29"/>
          <p:cNvSpPr/>
          <p:nvPr/>
        </p:nvSpPr>
        <p:spPr>
          <a:xfrm>
            <a:off x="548640" y="5678424"/>
            <a:ext cx="274320" cy="274320"/>
          </a:xfrm>
          <a:prstGeom prst="roundRect">
            <a:avLst>
              <a:gd name="adj" fmla="val 16667"/>
            </a:avLst>
          </a:prstGeom>
          <a:solidFill>
            <a:srgbClr val="1E2761"/>
          </a:solidFill>
          <a:ln w="12700">
            <a:solidFill>
              <a:srgbClr val="1E2761"/>
            </a:solidFill>
            <a:prstDash val="solid"/>
          </a:ln>
        </p:spPr>
      </p:sp>
      <p:sp>
        <p:nvSpPr>
          <p:cNvPr id="32" name="Text 30"/>
          <p:cNvSpPr/>
          <p:nvPr/>
        </p:nvSpPr>
        <p:spPr>
          <a:xfrm>
            <a:off x="548640" y="567842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33" name="Text 31"/>
          <p:cNvSpPr/>
          <p:nvPr/>
        </p:nvSpPr>
        <p:spPr>
          <a:xfrm>
            <a:off x="932688" y="5632704"/>
            <a:ext cx="3749040" cy="36576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テンプレート・ミニマニュアルの整備</a:t>
            </a:r>
            <a:endParaRPr lang="en-US" sz="1100" dirty="0"/>
          </a:p>
        </p:txBody>
      </p:sp>
      <p:sp>
        <p:nvSpPr>
          <p:cNvPr id="34" name="Text 32"/>
          <p:cNvSpPr/>
          <p:nvPr/>
        </p:nvSpPr>
        <p:spPr>
          <a:xfrm>
            <a:off x="4754880" y="5632704"/>
            <a:ext cx="6888175" cy="365760"/>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Phase2展開の前提となる。会議設計テンプレートを含む（Appendix I）</a:t>
            </a:r>
            <a:endParaRPr lang="en-US" sz="1000" dirty="0"/>
          </a:p>
        </p:txBody>
      </p:sp>
      <p:sp>
        <p:nvSpPr>
          <p:cNvPr id="35" name="Shape 33"/>
          <p:cNvSpPr/>
          <p:nvPr/>
        </p:nvSpPr>
        <p:spPr>
          <a:xfrm>
            <a:off x="548640" y="6062472"/>
            <a:ext cx="274320" cy="274320"/>
          </a:xfrm>
          <a:prstGeom prst="roundRect">
            <a:avLst>
              <a:gd name="adj" fmla="val 16667"/>
            </a:avLst>
          </a:prstGeom>
          <a:solidFill>
            <a:srgbClr val="1E2761"/>
          </a:solidFill>
          <a:ln w="12700">
            <a:solidFill>
              <a:srgbClr val="1E2761"/>
            </a:solidFill>
            <a:prstDash val="solid"/>
          </a:ln>
        </p:spPr>
      </p:sp>
      <p:sp>
        <p:nvSpPr>
          <p:cNvPr id="36" name="Text 34"/>
          <p:cNvSpPr/>
          <p:nvPr/>
        </p:nvSpPr>
        <p:spPr>
          <a:xfrm>
            <a:off x="548640" y="606247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7" name="Text 35"/>
          <p:cNvSpPr/>
          <p:nvPr/>
        </p:nvSpPr>
        <p:spPr>
          <a:xfrm>
            <a:off x="932688" y="6016752"/>
            <a:ext cx="3749040" cy="365760"/>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ゲスト運用ルールの策定</a:t>
            </a:r>
            <a:endParaRPr lang="en-US" sz="1100" dirty="0"/>
          </a:p>
        </p:txBody>
      </p:sp>
      <p:sp>
        <p:nvSpPr>
          <p:cNvPr id="38" name="Text 36"/>
          <p:cNvSpPr/>
          <p:nvPr/>
        </p:nvSpPr>
        <p:spPr>
          <a:xfrm>
            <a:off x="4754880" y="6016752"/>
            <a:ext cx="6888175" cy="365760"/>
          </a:xfrm>
          <a:prstGeom prst="rect">
            <a:avLst/>
          </a:prstGeom>
          <a:noFill/>
          <a:ln/>
        </p:spPr>
        <p:txBody>
          <a:bodyPr wrap="square" lIns="0" tIns="0" rIns="0" bIns="0" rtlCol="0" anchor="ctr"/>
          <a:lstStyle/>
          <a:p>
            <a:pPr indent="0" marL="0">
              <a:buNone/>
            </a:pPr>
            <a:r>
              <a:rPr lang="en-US" sz="1000" dirty="0">
                <a:solidFill>
                  <a:srgbClr val="1A1A2E"/>
                </a:solidFill>
                <a:latin typeface="Meiryo" pitchFamily="34" charset="0"/>
                <a:ea typeface="Meiryo" pitchFamily="34" charset="-122"/>
                <a:cs typeface="Meiryo" pitchFamily="34" charset="-120"/>
              </a:rPr>
              <a:t>業務委託・社外パートナーの招待範囲と手続きを定める</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H</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出典一覧</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本資料に記載した仕様・プラン要件は、以下の公式情報で確認しています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26</a:t>
            </a:r>
            <a:endParaRPr lang="en-US" sz="1000" dirty="0"/>
          </a:p>
        </p:txBody>
      </p:sp>
      <p:sp>
        <p:nvSpPr>
          <p:cNvPr id="8" name="Shape 6"/>
          <p:cNvSpPr/>
          <p:nvPr/>
        </p:nvSpPr>
        <p:spPr>
          <a:xfrm>
            <a:off x="548640" y="2286000"/>
            <a:ext cx="11094415" cy="566928"/>
          </a:xfrm>
          <a:prstGeom prst="roundRect">
            <a:avLst>
              <a:gd name="adj" fmla="val 967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9" name="Text 7"/>
          <p:cNvSpPr/>
          <p:nvPr/>
        </p:nvSpPr>
        <p:spPr>
          <a:xfrm>
            <a:off x="777240" y="2286000"/>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ファイルアップロード上限</a:t>
            </a:r>
            <a:endParaRPr lang="en-US" sz="1100" dirty="0"/>
          </a:p>
        </p:txBody>
      </p:sp>
      <p:sp>
        <p:nvSpPr>
          <p:cNvPr id="10" name="Text 8"/>
          <p:cNvSpPr/>
          <p:nvPr/>
        </p:nvSpPr>
        <p:spPr>
          <a:xfrm>
            <a:off x="3931920" y="2322576"/>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Help Center — Images, files &amp; media</a:t>
            </a:r>
            <a:endParaRPr lang="en-US" sz="1050" dirty="0"/>
          </a:p>
        </p:txBody>
      </p:sp>
      <p:sp>
        <p:nvSpPr>
          <p:cNvPr id="11" name="Text 9"/>
          <p:cNvSpPr/>
          <p:nvPr/>
        </p:nvSpPr>
        <p:spPr>
          <a:xfrm>
            <a:off x="3931920" y="2578608"/>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www.notion.com/help/images-files-and-media</a:t>
            </a:r>
            <a:endParaRPr lang="en-US" sz="900" dirty="0"/>
          </a:p>
        </p:txBody>
      </p:sp>
      <p:sp>
        <p:nvSpPr>
          <p:cNvPr id="12" name="Text 10"/>
          <p:cNvSpPr/>
          <p:nvPr/>
        </p:nvSpPr>
        <p:spPr>
          <a:xfrm>
            <a:off x="8732520" y="2286000"/>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Free 5MB / 有料 5GB、PDF 20MB・画像 5MB の個別上限</a:t>
            </a:r>
            <a:endParaRPr lang="en-US" sz="900" dirty="0"/>
          </a:p>
        </p:txBody>
      </p:sp>
      <p:sp>
        <p:nvSpPr>
          <p:cNvPr id="13" name="Shape 11"/>
          <p:cNvSpPr/>
          <p:nvPr/>
        </p:nvSpPr>
        <p:spPr>
          <a:xfrm>
            <a:off x="548640" y="2944368"/>
            <a:ext cx="11094415" cy="566928"/>
          </a:xfrm>
          <a:prstGeom prst="roundRect">
            <a:avLst>
              <a:gd name="adj" fmla="val 9677"/>
            </a:avLst>
          </a:prstGeom>
          <a:solidFill>
            <a:srgbClr val="FAFC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4" name="Text 12"/>
          <p:cNvSpPr/>
          <p:nvPr/>
        </p:nvSpPr>
        <p:spPr>
          <a:xfrm>
            <a:off x="777240" y="2944368"/>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SAML SSO のプラン要件</a:t>
            </a:r>
            <a:endParaRPr lang="en-US" sz="1100" dirty="0"/>
          </a:p>
        </p:txBody>
      </p:sp>
      <p:sp>
        <p:nvSpPr>
          <p:cNvPr id="15" name="Text 13"/>
          <p:cNvSpPr/>
          <p:nvPr/>
        </p:nvSpPr>
        <p:spPr>
          <a:xfrm>
            <a:off x="3931920" y="2980944"/>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Help Center — SAML SSO configuration</a:t>
            </a:r>
            <a:endParaRPr lang="en-US" sz="1050" dirty="0"/>
          </a:p>
        </p:txBody>
      </p:sp>
      <p:sp>
        <p:nvSpPr>
          <p:cNvPr id="16" name="Text 14"/>
          <p:cNvSpPr/>
          <p:nvPr/>
        </p:nvSpPr>
        <p:spPr>
          <a:xfrm>
            <a:off x="3931920" y="3236976"/>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www.notion.com/help/saml-sso-configuration</a:t>
            </a:r>
            <a:endParaRPr lang="en-US" sz="900" dirty="0"/>
          </a:p>
        </p:txBody>
      </p:sp>
      <p:sp>
        <p:nvSpPr>
          <p:cNvPr id="17" name="Text 15"/>
          <p:cNvSpPr/>
          <p:nvPr/>
        </p:nvSpPr>
        <p:spPr>
          <a:xfrm>
            <a:off x="8732520" y="2944368"/>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Business プラン以上で利用可能。IdP は SAML 2.0 対応が必要</a:t>
            </a:r>
            <a:endParaRPr lang="en-US" sz="900" dirty="0"/>
          </a:p>
        </p:txBody>
      </p:sp>
      <p:sp>
        <p:nvSpPr>
          <p:cNvPr id="18" name="Shape 16"/>
          <p:cNvSpPr/>
          <p:nvPr/>
        </p:nvSpPr>
        <p:spPr>
          <a:xfrm>
            <a:off x="548640" y="3602736"/>
            <a:ext cx="11094415" cy="566928"/>
          </a:xfrm>
          <a:prstGeom prst="roundRect">
            <a:avLst>
              <a:gd name="adj" fmla="val 967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19" name="Text 17"/>
          <p:cNvSpPr/>
          <p:nvPr/>
        </p:nvSpPr>
        <p:spPr>
          <a:xfrm>
            <a:off x="777240" y="3602736"/>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監査ログのプラン要件</a:t>
            </a:r>
            <a:endParaRPr lang="en-US" sz="1100" dirty="0"/>
          </a:p>
        </p:txBody>
      </p:sp>
      <p:sp>
        <p:nvSpPr>
          <p:cNvPr id="20" name="Text 18"/>
          <p:cNvSpPr/>
          <p:nvPr/>
        </p:nvSpPr>
        <p:spPr>
          <a:xfrm>
            <a:off x="3931920" y="3639312"/>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Help Center — Workspace audit log</a:t>
            </a:r>
            <a:endParaRPr lang="en-US" sz="1050" dirty="0"/>
          </a:p>
        </p:txBody>
      </p:sp>
      <p:sp>
        <p:nvSpPr>
          <p:cNvPr id="21" name="Text 19"/>
          <p:cNvSpPr/>
          <p:nvPr/>
        </p:nvSpPr>
        <p:spPr>
          <a:xfrm>
            <a:off x="3931920" y="3895344"/>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www.notion.com/help/audit-log</a:t>
            </a:r>
            <a:endParaRPr lang="en-US" sz="900" dirty="0"/>
          </a:p>
        </p:txBody>
      </p:sp>
      <p:sp>
        <p:nvSpPr>
          <p:cNvPr id="22" name="Text 20"/>
          <p:cNvSpPr/>
          <p:nvPr/>
        </p:nvSpPr>
        <p:spPr>
          <a:xfrm>
            <a:off x="8732520" y="3602736"/>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Enterprise プランの組織オーナーのみ利用可能</a:t>
            </a:r>
            <a:endParaRPr lang="en-US" sz="900" dirty="0"/>
          </a:p>
        </p:txBody>
      </p:sp>
      <p:sp>
        <p:nvSpPr>
          <p:cNvPr id="23" name="Shape 21"/>
          <p:cNvSpPr/>
          <p:nvPr/>
        </p:nvSpPr>
        <p:spPr>
          <a:xfrm>
            <a:off x="548640" y="4261104"/>
            <a:ext cx="11094415" cy="566928"/>
          </a:xfrm>
          <a:prstGeom prst="roundRect">
            <a:avLst>
              <a:gd name="adj" fmla="val 9677"/>
            </a:avLst>
          </a:prstGeom>
          <a:solidFill>
            <a:srgbClr val="FAFC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4" name="Text 22"/>
          <p:cNvSpPr/>
          <p:nvPr/>
        </p:nvSpPr>
        <p:spPr>
          <a:xfrm>
            <a:off x="777240" y="4261104"/>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SCIM のプラン要件</a:t>
            </a:r>
            <a:endParaRPr lang="en-US" sz="1100" dirty="0"/>
          </a:p>
        </p:txBody>
      </p:sp>
      <p:sp>
        <p:nvSpPr>
          <p:cNvPr id="25" name="Text 23"/>
          <p:cNvSpPr/>
          <p:nvPr/>
        </p:nvSpPr>
        <p:spPr>
          <a:xfrm>
            <a:off x="3931920" y="4297680"/>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Help Center — Provision users &amp; groups with SCIM</a:t>
            </a:r>
            <a:endParaRPr lang="en-US" sz="1050" dirty="0"/>
          </a:p>
        </p:txBody>
      </p:sp>
      <p:sp>
        <p:nvSpPr>
          <p:cNvPr id="26" name="Text 24"/>
          <p:cNvSpPr/>
          <p:nvPr/>
        </p:nvSpPr>
        <p:spPr>
          <a:xfrm>
            <a:off x="3931920" y="4553712"/>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www.notion.com/help/provision-users-and-groups-with-scim</a:t>
            </a:r>
            <a:endParaRPr lang="en-US" sz="900" dirty="0"/>
          </a:p>
        </p:txBody>
      </p:sp>
      <p:sp>
        <p:nvSpPr>
          <p:cNvPr id="27" name="Text 25"/>
          <p:cNvSpPr/>
          <p:nvPr/>
        </p:nvSpPr>
        <p:spPr>
          <a:xfrm>
            <a:off x="8732520" y="4261104"/>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Enterprise プランでのみ利用可能</a:t>
            </a:r>
            <a:endParaRPr lang="en-US" sz="900" dirty="0"/>
          </a:p>
        </p:txBody>
      </p:sp>
      <p:sp>
        <p:nvSpPr>
          <p:cNvPr id="28" name="Shape 26"/>
          <p:cNvSpPr/>
          <p:nvPr/>
        </p:nvSpPr>
        <p:spPr>
          <a:xfrm>
            <a:off x="548640" y="4919472"/>
            <a:ext cx="11094415" cy="566928"/>
          </a:xfrm>
          <a:prstGeom prst="roundRect">
            <a:avLst>
              <a:gd name="adj" fmla="val 9677"/>
            </a:avLst>
          </a:prstGeom>
          <a:solidFill>
            <a:srgbClr val="FFFF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29" name="Text 27"/>
          <p:cNvSpPr/>
          <p:nvPr/>
        </p:nvSpPr>
        <p:spPr>
          <a:xfrm>
            <a:off x="777240" y="4919472"/>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セキュリティ認証の取得状況</a:t>
            </a:r>
            <a:endParaRPr lang="en-US" sz="1100" dirty="0"/>
          </a:p>
        </p:txBody>
      </p:sp>
      <p:sp>
        <p:nvSpPr>
          <p:cNvPr id="30" name="Text 28"/>
          <p:cNvSpPr/>
          <p:nvPr/>
        </p:nvSpPr>
        <p:spPr>
          <a:xfrm>
            <a:off x="3931920" y="4956048"/>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Trust Center</a:t>
            </a:r>
            <a:endParaRPr lang="en-US" sz="1050" dirty="0"/>
          </a:p>
        </p:txBody>
      </p:sp>
      <p:sp>
        <p:nvSpPr>
          <p:cNvPr id="31" name="Text 29"/>
          <p:cNvSpPr/>
          <p:nvPr/>
        </p:nvSpPr>
        <p:spPr>
          <a:xfrm>
            <a:off x="3931920" y="5212080"/>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trust.notion.com</a:t>
            </a:r>
            <a:endParaRPr lang="en-US" sz="900" dirty="0"/>
          </a:p>
        </p:txBody>
      </p:sp>
      <p:sp>
        <p:nvSpPr>
          <p:cNvPr id="32" name="Text 30"/>
          <p:cNvSpPr/>
          <p:nvPr/>
        </p:nvSpPr>
        <p:spPr>
          <a:xfrm>
            <a:off x="8732520" y="4919472"/>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SOC 2 Type II、ISO 27001/27017/27018/27701、BSI C5 等</a:t>
            </a:r>
            <a:endParaRPr lang="en-US" sz="900" dirty="0"/>
          </a:p>
        </p:txBody>
      </p:sp>
      <p:sp>
        <p:nvSpPr>
          <p:cNvPr id="33" name="Shape 31"/>
          <p:cNvSpPr/>
          <p:nvPr/>
        </p:nvSpPr>
        <p:spPr>
          <a:xfrm>
            <a:off x="548640" y="5577840"/>
            <a:ext cx="11094415" cy="566928"/>
          </a:xfrm>
          <a:prstGeom prst="roundRect">
            <a:avLst>
              <a:gd name="adj" fmla="val 9677"/>
            </a:avLst>
          </a:prstGeom>
          <a:solidFill>
            <a:srgbClr val="FAFCFF"/>
          </a:solidFill>
          <a:ln w="12700">
            <a:solidFill>
              <a:srgbClr val="D6DEEC"/>
            </a:solidFill>
            <a:prstDash val="solid"/>
          </a:ln>
          <a:effectLst>
            <a:outerShdw sx="100000" sy="100000" kx="0" ky="0" algn="bl" rotWithShape="0" blurRad="101600" dist="12700" dir="5400000">
              <a:srgbClr val="1E2761">
                <a:alpha val="10000"/>
              </a:srgbClr>
            </a:outerShdw>
          </a:effectLst>
        </p:spPr>
      </p:sp>
      <p:sp>
        <p:nvSpPr>
          <p:cNvPr id="34" name="Text 32"/>
          <p:cNvSpPr/>
          <p:nvPr/>
        </p:nvSpPr>
        <p:spPr>
          <a:xfrm>
            <a:off x="777240" y="5577840"/>
            <a:ext cx="3017520" cy="566928"/>
          </a:xfrm>
          <a:prstGeom prst="rect">
            <a:avLst/>
          </a:prstGeom>
          <a:noFill/>
          <a:ln/>
        </p:spPr>
        <p:txBody>
          <a:bodyPr wrap="square" lIns="0" tIns="0" rIns="0" bIns="0" rtlCol="0" anchor="ctr"/>
          <a:lstStyle/>
          <a:p>
            <a:pPr indent="0" marL="0">
              <a:buNone/>
            </a:pPr>
            <a:r>
              <a:rPr lang="en-US" sz="1100" b="1" dirty="0">
                <a:solidFill>
                  <a:srgbClr val="1E2761"/>
                </a:solidFill>
                <a:latin typeface="Meiryo" pitchFamily="34" charset="0"/>
                <a:ea typeface="Meiryo" pitchFamily="34" charset="-122"/>
                <a:cs typeface="Meiryo" pitchFamily="34" charset="-120"/>
              </a:rPr>
              <a:t>プラン別の機能・価格</a:t>
            </a:r>
            <a:endParaRPr lang="en-US" sz="1100" dirty="0"/>
          </a:p>
        </p:txBody>
      </p:sp>
      <p:sp>
        <p:nvSpPr>
          <p:cNvPr id="35" name="Text 33"/>
          <p:cNvSpPr/>
          <p:nvPr/>
        </p:nvSpPr>
        <p:spPr>
          <a:xfrm>
            <a:off x="3931920" y="5614416"/>
            <a:ext cx="4617720" cy="256032"/>
          </a:xfrm>
          <a:prstGeom prst="rect">
            <a:avLst/>
          </a:prstGeom>
          <a:noFill/>
          <a:ln/>
        </p:spPr>
        <p:txBody>
          <a:bodyPr wrap="square" lIns="0" tIns="0" rIns="0" bIns="0" rtlCol="0" anchor="ctr"/>
          <a:lstStyle/>
          <a:p>
            <a:pPr indent="0" marL="0">
              <a:buNone/>
            </a:pPr>
            <a:r>
              <a:rPr lang="en-US" sz="1050" dirty="0">
                <a:solidFill>
                  <a:srgbClr val="1A1A2E"/>
                </a:solidFill>
                <a:latin typeface="Meiryo" pitchFamily="34" charset="0"/>
                <a:ea typeface="Meiryo" pitchFamily="34" charset="-122"/>
                <a:cs typeface="Meiryo" pitchFamily="34" charset="-120"/>
              </a:rPr>
              <a:t>Notion Pricing</a:t>
            </a:r>
            <a:endParaRPr lang="en-US" sz="1050" dirty="0"/>
          </a:p>
        </p:txBody>
      </p:sp>
      <p:sp>
        <p:nvSpPr>
          <p:cNvPr id="36" name="Text 34"/>
          <p:cNvSpPr/>
          <p:nvPr/>
        </p:nvSpPr>
        <p:spPr>
          <a:xfrm>
            <a:off x="3931920" y="5870448"/>
            <a:ext cx="4617720" cy="237744"/>
          </a:xfrm>
          <a:prstGeom prst="rect">
            <a:avLst/>
          </a:prstGeom>
          <a:noFill/>
          <a:ln/>
        </p:spPr>
        <p:txBody>
          <a:bodyPr wrap="square" lIns="0" tIns="0" rIns="0" bIns="0" rtlCol="0" anchor="ctr"/>
          <a:lstStyle/>
          <a:p>
            <a:pPr indent="0" marL="0">
              <a:buNone/>
            </a:pPr>
            <a:r>
              <a:rPr lang="en-US" sz="900" dirty="0">
                <a:solidFill>
                  <a:srgbClr val="3A4A8F"/>
                </a:solidFill>
                <a:latin typeface="Meiryo" pitchFamily="34" charset="0"/>
                <a:ea typeface="Meiryo" pitchFamily="34" charset="-122"/>
                <a:cs typeface="Meiryo" pitchFamily="34" charset="-120"/>
              </a:rPr>
              <a:t>www.notion.com/pricing</a:t>
            </a:r>
            <a:endParaRPr lang="en-US" sz="900" dirty="0"/>
          </a:p>
        </p:txBody>
      </p:sp>
      <p:sp>
        <p:nvSpPr>
          <p:cNvPr id="37" name="Text 35"/>
          <p:cNvSpPr/>
          <p:nvPr/>
        </p:nvSpPr>
        <p:spPr>
          <a:xfrm>
            <a:off x="8732520" y="5577840"/>
            <a:ext cx="2681935" cy="566928"/>
          </a:xfrm>
          <a:prstGeom prst="rect">
            <a:avLst/>
          </a:prstGeom>
          <a:noFill/>
          <a:ln/>
        </p:spPr>
        <p:txBody>
          <a:bodyPr wrap="square" lIns="0" tIns="0" rIns="0" bIns="0" rtlCol="0" anchor="ctr"/>
          <a:lstStyle/>
          <a:p>
            <a:pPr indent="0" marL="0">
              <a:buNone/>
            </a:pPr>
            <a:r>
              <a:rPr lang="en-US" sz="900" dirty="0">
                <a:solidFill>
                  <a:srgbClr val="1A1A2E"/>
                </a:solidFill>
                <a:latin typeface="Meiryo" pitchFamily="34" charset="0"/>
                <a:ea typeface="Meiryo" pitchFamily="34" charset="-122"/>
                <a:cs typeface="Meiryo" pitchFamily="34" charset="-120"/>
              </a:rPr>
              <a:t>単価は改定される場合があるため、契約時に見積で確定する</a:t>
            </a:r>
            <a:endParaRPr lang="en-US" sz="900" dirty="0"/>
          </a:p>
        </p:txBody>
      </p:sp>
      <p:sp>
        <p:nvSpPr>
          <p:cNvPr id="38" name="Text 36"/>
          <p:cNvSpPr/>
          <p:nvPr/>
        </p:nvSpPr>
        <p:spPr>
          <a:xfrm>
            <a:off x="548640" y="6309360"/>
            <a:ext cx="11094415" cy="27432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 記載内容は2026年8月時点で確認したものです。プラン仕様・価格は改定される場合があるため、契約前に再確認します。</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234440" cy="310896"/>
          </a:xfrm>
          <a:prstGeom prst="roundRect">
            <a:avLst>
              <a:gd name="adj" fmla="val 17647"/>
            </a:avLst>
          </a:prstGeom>
          <a:solidFill>
            <a:srgbClr val="3A4A8F"/>
          </a:solidFill>
          <a:ln w="12700">
            <a:solidFill>
              <a:srgbClr val="3A4A8F"/>
            </a:solidFill>
            <a:prstDash val="solid"/>
          </a:ln>
        </p:spPr>
      </p:sp>
      <p:sp>
        <p:nvSpPr>
          <p:cNvPr id="3" name="Text 1"/>
          <p:cNvSpPr/>
          <p:nvPr/>
        </p:nvSpPr>
        <p:spPr>
          <a:xfrm>
            <a:off x="548640" y="365760"/>
            <a:ext cx="12344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Appendix I</a:t>
            </a:r>
            <a:endParaRPr lang="en-US" sz="1100" dirty="0"/>
          </a:p>
        </p:txBody>
      </p:sp>
      <p:sp>
        <p:nvSpPr>
          <p:cNvPr id="4" name="Text 2"/>
          <p:cNvSpPr/>
          <p:nvPr/>
        </p:nvSpPr>
        <p:spPr>
          <a:xfrm>
            <a:off x="548640" y="768096"/>
            <a:ext cx="11094415" cy="566928"/>
          </a:xfrm>
          <a:prstGeom prst="rect">
            <a:avLst/>
          </a:prstGeom>
          <a:noFill/>
          <a:ln/>
        </p:spPr>
        <p:txBody>
          <a:bodyPr wrap="square" lIns="0" tIns="0" rIns="0" bIns="0" rtlCol="0" anchor="ctr"/>
          <a:lstStyle/>
          <a:p>
            <a:pPr indent="0" marL="0">
              <a:buNone/>
            </a:pPr>
            <a:r>
              <a:rPr lang="en-US" sz="2700" b="1" dirty="0">
                <a:solidFill>
                  <a:srgbClr val="1E2761"/>
                </a:solidFill>
                <a:latin typeface="Meiryo" pitchFamily="34" charset="0"/>
                <a:ea typeface="Meiryo" pitchFamily="34" charset="-122"/>
                <a:cs typeface="Meiryo" pitchFamily="34" charset="-120"/>
              </a:rPr>
              <a:t>会議設計テンプレートと全社展開の権限設計</a:t>
            </a:r>
            <a:endParaRPr lang="en-US" sz="2700" dirty="0"/>
          </a:p>
        </p:txBody>
      </p:sp>
      <p:sp>
        <p:nvSpPr>
          <p:cNvPr id="5" name="Shape 3"/>
          <p:cNvSpPr/>
          <p:nvPr/>
        </p:nvSpPr>
        <p:spPr>
          <a:xfrm>
            <a:off x="548640" y="1426464"/>
            <a:ext cx="11094415" cy="658368"/>
          </a:xfrm>
          <a:prstGeom prst="roundRect">
            <a:avLst>
              <a:gd name="adj" fmla="val 11111"/>
            </a:avLst>
          </a:prstGeom>
          <a:solidFill>
            <a:srgbClr val="EDF3FD"/>
          </a:solidFill>
          <a:ln w="12700">
            <a:solidFill>
              <a:srgbClr val="CADCFC"/>
            </a:solidFill>
            <a:prstDash val="solid"/>
          </a:ln>
        </p:spPr>
      </p:sp>
      <p:sp>
        <p:nvSpPr>
          <p:cNvPr id="6" name="Text 4"/>
          <p:cNvSpPr/>
          <p:nvPr/>
        </p:nvSpPr>
        <p:spPr>
          <a:xfrm>
            <a:off x="749808" y="1426464"/>
            <a:ext cx="10692079" cy="658368"/>
          </a:xfrm>
          <a:prstGeom prst="rect">
            <a:avLst/>
          </a:prstGeom>
          <a:noFill/>
          <a:ln/>
        </p:spPr>
        <p:txBody>
          <a:bodyPr wrap="square" lIns="0" tIns="0" rIns="0" bIns="0" rtlCol="0" anchor="ctr"/>
          <a:lstStyle/>
          <a:p>
            <a:pPr indent="0" marL="0">
              <a:buNone/>
            </a:pPr>
            <a:r>
              <a:rPr lang="en-US" sz="1400" b="1" dirty="0">
                <a:solidFill>
                  <a:srgbClr val="1E2761"/>
                </a:solidFill>
                <a:latin typeface="Meiryo" pitchFamily="34" charset="0"/>
                <a:ea typeface="Meiryo" pitchFamily="34" charset="-122"/>
                <a:cs typeface="Meiryo" pitchFamily="34" charset="-120"/>
              </a:rPr>
              <a:t>第7章 7-1 でご説明した運用を、実際に成立させるための設計です</a:t>
            </a:r>
            <a:endParaRPr lang="en-US" sz="1400" dirty="0"/>
          </a:p>
        </p:txBody>
      </p:sp>
      <p:sp>
        <p:nvSpPr>
          <p:cNvPr id="7" name="Text 5"/>
          <p:cNvSpPr/>
          <p:nvPr/>
        </p:nvSpPr>
        <p:spPr>
          <a:xfrm>
            <a:off x="11277295" y="6419088"/>
            <a:ext cx="457200" cy="274320"/>
          </a:xfrm>
          <a:prstGeom prst="rect">
            <a:avLst/>
          </a:prstGeom>
          <a:noFill/>
          <a:ln/>
        </p:spPr>
        <p:txBody>
          <a:bodyPr wrap="square" rtlCol="0" anchor="ctr"/>
          <a:lstStyle/>
          <a:p>
            <a:pPr algn="r" indent="0" marL="0">
              <a:buNone/>
            </a:pPr>
            <a:r>
              <a:rPr lang="en-US" sz="1000" dirty="0">
                <a:solidFill>
                  <a:srgbClr val="6B7280"/>
                </a:solidFill>
                <a:latin typeface="Meiryo" pitchFamily="34" charset="0"/>
                <a:ea typeface="Meiryo" pitchFamily="34" charset="-122"/>
                <a:cs typeface="Meiryo" pitchFamily="34" charset="-120"/>
              </a:rPr>
              <a:t>27</a:t>
            </a:r>
            <a:endParaRPr lang="en-US" sz="1000" dirty="0"/>
          </a:p>
        </p:txBody>
      </p:sp>
      <p:sp>
        <p:nvSpPr>
          <p:cNvPr id="8" name="Text 6"/>
          <p:cNvSpPr/>
          <p:nvPr/>
        </p:nvSpPr>
        <p:spPr>
          <a:xfrm>
            <a:off x="548640" y="2212848"/>
            <a:ext cx="5669280" cy="274320"/>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① 会議設計テンプレート（議事録DBのページテンプレート）</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523744"/>
          <a:ext cx="5669280" cy="914400"/>
        </p:xfrm>
        <a:graphic>
          <a:graphicData uri="http://schemas.openxmlformats.org/drawingml/2006/table">
            <a:tbl>
              <a:tblPr/>
              <a:tblGrid>
                <a:gridCol w="2651760"/>
                <a:gridCol w="822960"/>
                <a:gridCol w="2194560"/>
              </a:tblGrid>
              <a:tr h="329184">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項目</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記入時点</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目的</a:t>
                      </a:r>
                      <a:endParaRPr lang="en-US" sz="105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2761"/>
                    </a:solidFill>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会議のゴール（この会議で決めること）</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E2761"/>
                          </a:solidFill>
                          <a:latin typeface="Meiryo" pitchFamily="34" charset="0"/>
                          <a:ea typeface="Meiryo" pitchFamily="34" charset="-122"/>
                          <a:cs typeface="Meiryo" pitchFamily="34" charset="-120"/>
                        </a:rPr>
                        <a:t>会議前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目的が曖昧な会議をなくす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アジェンダ（時間配分つき）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E2761"/>
                          </a:solidFill>
                          <a:latin typeface="Meiryo" pitchFamily="34" charset="0"/>
                          <a:ea typeface="Meiryo" pitchFamily="34" charset="-122"/>
                          <a:cs typeface="Meiryo" pitchFamily="34" charset="-120"/>
                        </a:rPr>
                        <a:t>会議前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参加者が準備して臨める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事前共有資料へのリンク</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b="1" dirty="0">
                          <a:solidFill>
                            <a:srgbClr val="1E2761"/>
                          </a:solidFill>
                          <a:latin typeface="Meiryo" pitchFamily="34" charset="0"/>
                          <a:ea typeface="Meiryo" pitchFamily="34" charset="-122"/>
                          <a:cs typeface="Meiryo" pitchFamily="34" charset="-120"/>
                        </a:rPr>
                        <a:t>会議前</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「資料どこ？」をなくす</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決定事項</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会議中</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後から検索・追跡できる形にする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宿題・ToDo（担当者・期限）</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会議中</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タスクDBへ連携する</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r h="329184">
                <a:tc>
                  <a:txBody>
                    <a:bodyPr/>
                    <a:lstStyle/>
                    <a:p>
                      <a:pPr indent="0" marL="0">
                        <a:buNone/>
                      </a:pPr>
                      <a:r>
                        <a:rPr lang="en-US" sz="1000" b="1" dirty="0">
                          <a:solidFill>
                            <a:srgbClr val="1A1A2E"/>
                          </a:solidFill>
                          <a:latin typeface="Meiryo" pitchFamily="34" charset="0"/>
                          <a:ea typeface="Meiryo" pitchFamily="34" charset="-122"/>
                          <a:cs typeface="Meiryo" pitchFamily="34" charset="-120"/>
                        </a:rPr>
                        <a:t>全社展開の要否</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algn="ctr" indent="0" marL="0">
                        <a:buNone/>
                      </a:pPr>
                      <a:r>
                        <a:rPr lang="en-US" sz="1000" dirty="0">
                          <a:solidFill>
                            <a:srgbClr val="1A1A2E"/>
                          </a:solidFill>
                          <a:latin typeface="Meiryo" pitchFamily="34" charset="0"/>
                          <a:ea typeface="Meiryo" pitchFamily="34" charset="-122"/>
                          <a:cs typeface="Meiryo" pitchFamily="34" charset="-120"/>
                        </a:rPr>
                        <a:t>会議後</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indent="0" marL="0">
                        <a:buNone/>
                      </a:pPr>
                      <a:r>
                        <a:rPr lang="en-US" sz="1000" dirty="0">
                          <a:solidFill>
                            <a:srgbClr val="1A1A2E"/>
                          </a:solidFill>
                          <a:latin typeface="Meiryo" pitchFamily="34" charset="0"/>
                          <a:ea typeface="Meiryo" pitchFamily="34" charset="-122"/>
                          <a:cs typeface="Meiryo" pitchFamily="34" charset="-120"/>
                        </a:rPr>
                        <a:t>展開漏れを防ぐフラグ</a:t>
                      </a:r>
                      <a:endParaRPr lang="en-US" sz="1000" dirty="0">
                        <a:latin typeface="Meiryo" charset="0"/>
                        <a:ea typeface="Meiryo" charset="0"/>
                        <a:cs typeface="Meiryo" charset="0"/>
                      </a:endParaRPr>
                    </a:p>
                  </a:txBody>
                  <a:tcPr marL="91440" marR="91440" marT="45720" marB="4572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r>
            </a:tbl>
          </a:graphicData>
        </a:graphic>
      </p:graphicFrame>
      <p:sp>
        <p:nvSpPr>
          <p:cNvPr id="10" name="Text 7"/>
          <p:cNvSpPr/>
          <p:nvPr/>
        </p:nvSpPr>
        <p:spPr>
          <a:xfrm>
            <a:off x="6519672" y="2212848"/>
            <a:ext cx="5120640" cy="274320"/>
          </a:xfrm>
          <a:prstGeom prst="rect">
            <a:avLst/>
          </a:prstGeom>
          <a:noFill/>
          <a:ln/>
        </p:spPr>
        <p:txBody>
          <a:bodyPr wrap="square" lIns="0" tIns="0" rIns="0" bIns="0" rtlCol="0" anchor="ctr"/>
          <a:lstStyle/>
          <a:p>
            <a:pPr indent="0" marL="0">
              <a:buNone/>
            </a:pPr>
            <a:r>
              <a:rPr lang="en-US" sz="1150" b="1" dirty="0">
                <a:solidFill>
                  <a:srgbClr val="1E2761"/>
                </a:solidFill>
                <a:latin typeface="Meiryo" pitchFamily="34" charset="0"/>
                <a:ea typeface="Meiryo" pitchFamily="34" charset="-122"/>
                <a:cs typeface="Meiryo" pitchFamily="34" charset="-120"/>
              </a:rPr>
              <a:t>② 全社展開のページ構成（同期ブロックの権限制約を踏まえた設計）</a:t>
            </a:r>
            <a:endParaRPr lang="en-US" sz="1150" dirty="0"/>
          </a:p>
        </p:txBody>
      </p:sp>
      <p:sp>
        <p:nvSpPr>
          <p:cNvPr id="11" name="Shape 8"/>
          <p:cNvSpPr/>
          <p:nvPr/>
        </p:nvSpPr>
        <p:spPr>
          <a:xfrm>
            <a:off x="6519672" y="2523744"/>
            <a:ext cx="5120640" cy="1783080"/>
          </a:xfrm>
          <a:prstGeom prst="roundRect">
            <a:avLst>
              <a:gd name="adj" fmla="val 3077"/>
            </a:avLst>
          </a:prstGeom>
          <a:solidFill>
            <a:srgbClr val="E9F5F0"/>
          </a:solidFill>
          <a:ln w="12700">
            <a:solidFill>
              <a:srgbClr val="1E7A5A"/>
            </a:solidFill>
            <a:prstDash val="solid"/>
          </a:ln>
          <a:effectLst>
            <a:outerShdw sx="100000" sy="100000" kx="0" ky="0" algn="bl" rotWithShape="0" blurRad="101600" dist="12700" dir="5400000">
              <a:srgbClr val="1E2761">
                <a:alpha val="10000"/>
              </a:srgbClr>
            </a:outerShdw>
          </a:effectLst>
        </p:spPr>
      </p:sp>
      <p:sp>
        <p:nvSpPr>
          <p:cNvPr id="12" name="Text 9"/>
          <p:cNvSpPr/>
          <p:nvPr/>
        </p:nvSpPr>
        <p:spPr>
          <a:xfrm>
            <a:off x="6720840" y="2615184"/>
            <a:ext cx="2743200" cy="237744"/>
          </a:xfrm>
          <a:prstGeom prst="rect">
            <a:avLst/>
          </a:prstGeom>
          <a:noFill/>
          <a:ln/>
        </p:spPr>
        <p:txBody>
          <a:bodyPr wrap="square" lIns="0" tIns="0" rIns="0" bIns="0" rtlCol="0" anchor="ctr"/>
          <a:lstStyle/>
          <a:p>
            <a:pPr indent="0" marL="0">
              <a:buNone/>
            </a:pPr>
            <a:r>
              <a:rPr lang="en-US" sz="1050" b="1" dirty="0">
                <a:solidFill>
                  <a:srgbClr val="1E7A5A"/>
                </a:solidFill>
                <a:latin typeface="Meiryo" pitchFamily="34" charset="0"/>
                <a:ea typeface="Meiryo" pitchFamily="34" charset="-122"/>
                <a:cs typeface="Meiryo" pitchFamily="34" charset="-120"/>
              </a:rPr>
              <a:t>正しい設計</a:t>
            </a:r>
            <a:endParaRPr lang="en-US" sz="1050" dirty="0"/>
          </a:p>
        </p:txBody>
      </p:sp>
      <p:sp>
        <p:nvSpPr>
          <p:cNvPr id="13" name="Text 10"/>
          <p:cNvSpPr/>
          <p:nvPr/>
        </p:nvSpPr>
        <p:spPr>
          <a:xfrm>
            <a:off x="6720840" y="2871216"/>
            <a:ext cx="4754880" cy="1371600"/>
          </a:xfrm>
          <a:prstGeom prst="rect">
            <a:avLst/>
          </a:prstGeom>
          <a:noFill/>
          <a:ln/>
        </p:spPr>
        <p:txBody>
          <a:bodyPr wrap="square" lIns="0" tIns="0" rIns="0" bIns="0" rtlCol="0" anchor="ctr"/>
          <a:lstStyle/>
          <a:p>
            <a:pPr indent="0" marL="0">
              <a:lnSpc>
                <a:spcPts val="1400"/>
              </a:lnSpc>
              <a:buNone/>
            </a:pPr>
            <a:r>
              <a:rPr lang="en-US" sz="900" dirty="0">
                <a:solidFill>
                  <a:srgbClr val="1A1A2E"/>
                </a:solidFill>
                <a:latin typeface="Meiryo" pitchFamily="34" charset="0"/>
                <a:ea typeface="Meiryo" pitchFamily="34" charset="-122"/>
                <a:cs typeface="Meiryo" pitchFamily="34" charset="-120"/>
              </a:rPr>
              <a:t>全社共有ページ（全社員=閲覧可）　← 原本をここに置く</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　├─ 同期先 → 営業部ページ</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　├─ 同期先 → 管理部ページ</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　└─ 同期先 → 各部門ページ</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経営会議 議事録（役員=限定公開）</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　└─ 全社共有ページへの「リンク」を置く</a:t>
            </a:r>
            <a:endParaRPr lang="en-US" sz="900" dirty="0"/>
          </a:p>
        </p:txBody>
      </p:sp>
      <p:sp>
        <p:nvSpPr>
          <p:cNvPr id="14" name="Shape 11"/>
          <p:cNvSpPr/>
          <p:nvPr/>
        </p:nvSpPr>
        <p:spPr>
          <a:xfrm>
            <a:off x="6519672" y="4434840"/>
            <a:ext cx="5120640" cy="1463040"/>
          </a:xfrm>
          <a:prstGeom prst="roundRect">
            <a:avLst>
              <a:gd name="adj" fmla="val 3750"/>
            </a:avLst>
          </a:prstGeom>
          <a:solidFill>
            <a:srgbClr val="FBEDEC"/>
          </a:solidFill>
          <a:ln w="12700">
            <a:solidFill>
              <a:srgbClr val="B3261E"/>
            </a:solidFill>
            <a:prstDash val="solid"/>
          </a:ln>
          <a:effectLst>
            <a:outerShdw sx="100000" sy="100000" kx="0" ky="0" algn="bl" rotWithShape="0" blurRad="101600" dist="12700" dir="5400000">
              <a:srgbClr val="1E2761">
                <a:alpha val="10000"/>
              </a:srgbClr>
            </a:outerShdw>
          </a:effectLst>
        </p:spPr>
      </p:sp>
      <p:sp>
        <p:nvSpPr>
          <p:cNvPr id="15" name="Text 12"/>
          <p:cNvSpPr/>
          <p:nvPr/>
        </p:nvSpPr>
        <p:spPr>
          <a:xfrm>
            <a:off x="6720840" y="4526280"/>
            <a:ext cx="4754880" cy="237744"/>
          </a:xfrm>
          <a:prstGeom prst="rect">
            <a:avLst/>
          </a:prstGeom>
          <a:noFill/>
          <a:ln/>
        </p:spPr>
        <p:txBody>
          <a:bodyPr wrap="square" lIns="0" tIns="0" rIns="0" bIns="0" rtlCol="0" anchor="ctr"/>
          <a:lstStyle/>
          <a:p>
            <a:pPr indent="0" marL="0">
              <a:buNone/>
            </a:pPr>
            <a:r>
              <a:rPr lang="en-US" sz="1050" b="1" dirty="0">
                <a:solidFill>
                  <a:srgbClr val="B3261E"/>
                </a:solidFill>
                <a:latin typeface="Meiryo" pitchFamily="34" charset="0"/>
                <a:ea typeface="Meiryo" pitchFamily="34" charset="-122"/>
                <a:cs typeface="Meiryo" pitchFamily="34" charset="-120"/>
              </a:rPr>
              <a:t>誤った設計 — 一般社員に表示されません</a:t>
            </a:r>
            <a:endParaRPr lang="en-US" sz="1050" dirty="0"/>
          </a:p>
        </p:txBody>
      </p:sp>
      <p:sp>
        <p:nvSpPr>
          <p:cNvPr id="16" name="Text 13"/>
          <p:cNvSpPr/>
          <p:nvPr/>
        </p:nvSpPr>
        <p:spPr>
          <a:xfrm>
            <a:off x="6720840" y="4782312"/>
            <a:ext cx="4754880" cy="1024128"/>
          </a:xfrm>
          <a:prstGeom prst="rect">
            <a:avLst/>
          </a:prstGeom>
          <a:noFill/>
          <a:ln/>
        </p:spPr>
        <p:txBody>
          <a:bodyPr wrap="square" lIns="0" tIns="0" rIns="0" bIns="0" rtlCol="0" anchor="ctr"/>
          <a:lstStyle/>
          <a:p>
            <a:pPr indent="0" marL="0">
              <a:lnSpc>
                <a:spcPts val="1400"/>
              </a:lnSpc>
              <a:buNone/>
            </a:pPr>
            <a:r>
              <a:rPr lang="en-US" sz="900" dirty="0">
                <a:solidFill>
                  <a:srgbClr val="1A1A2E"/>
                </a:solidFill>
                <a:latin typeface="Meiryo" pitchFamily="34" charset="0"/>
                <a:ea typeface="Meiryo" pitchFamily="34" charset="-122"/>
                <a:cs typeface="Meiryo" pitchFamily="34" charset="-120"/>
              </a:rPr>
              <a:t>経営会議 議事録（役員限定）に原本を置く</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　└─ 全社ページに同期先を貼る</a:t>
            </a:r>
            <a:endParaRPr lang="en-US" sz="900" dirty="0"/>
          </a:p>
          <a:p>
            <a:pPr indent="0" marL="0">
              <a:lnSpc>
                <a:spcPts val="1400"/>
              </a:lnSpc>
              <a:buNone/>
            </a:pP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同期元ページの閲覧権限が適用されるため、</a:t>
            </a:r>
            <a:endParaRPr lang="en-US" sz="900" dirty="0"/>
          </a:p>
          <a:p>
            <a:pPr indent="0" marL="0">
              <a:lnSpc>
                <a:spcPts val="1400"/>
              </a:lnSpc>
              <a:buNone/>
            </a:pPr>
            <a:r>
              <a:rPr lang="en-US" sz="900" dirty="0">
                <a:solidFill>
                  <a:srgbClr val="1A1A2E"/>
                </a:solidFill>
                <a:latin typeface="Meiryo" pitchFamily="34" charset="0"/>
                <a:ea typeface="Meiryo" pitchFamily="34" charset="-122"/>
                <a:cs typeface="Meiryo" pitchFamily="34" charset="-120"/>
              </a:rPr>
              <a:t>閲覧権限のない一般社員には中身が見えません。</a:t>
            </a:r>
            <a:endParaRPr lang="en-US" sz="900" dirty="0"/>
          </a:p>
        </p:txBody>
      </p:sp>
      <p:sp>
        <p:nvSpPr>
          <p:cNvPr id="17" name="Shape 14"/>
          <p:cNvSpPr/>
          <p:nvPr/>
        </p:nvSpPr>
        <p:spPr>
          <a:xfrm>
            <a:off x="548640" y="4937760"/>
            <a:ext cx="5669280" cy="1371600"/>
          </a:xfrm>
          <a:prstGeom prst="roundRect">
            <a:avLst>
              <a:gd name="adj" fmla="val 4000"/>
            </a:avLst>
          </a:prstGeom>
          <a:solidFill>
            <a:srgbClr val="EDF3FD"/>
          </a:solidFill>
          <a:ln w="12700">
            <a:solidFill>
              <a:srgbClr val="CADCFC"/>
            </a:solidFill>
            <a:prstDash val="solid"/>
          </a:ln>
          <a:effectLst>
            <a:outerShdw sx="100000" sy="100000" kx="0" ky="0" algn="bl" rotWithShape="0" blurRad="101600" dist="12700" dir="5400000">
              <a:srgbClr val="1E2761">
                <a:alpha val="10000"/>
              </a:srgbClr>
            </a:outerShdw>
          </a:effectLst>
        </p:spPr>
      </p:sp>
      <p:sp>
        <p:nvSpPr>
          <p:cNvPr id="18" name="Text 15"/>
          <p:cNvSpPr/>
          <p:nvPr/>
        </p:nvSpPr>
        <p:spPr>
          <a:xfrm>
            <a:off x="749808" y="5029200"/>
            <a:ext cx="5212080" cy="237744"/>
          </a:xfrm>
          <a:prstGeom prst="rect">
            <a:avLst/>
          </a:prstGeom>
          <a:noFill/>
          <a:ln/>
        </p:spPr>
        <p:txBody>
          <a:bodyPr wrap="square" lIns="0" tIns="0" rIns="0" bIns="0" rtlCol="0" anchor="ctr"/>
          <a:lstStyle/>
          <a:p>
            <a:pPr indent="0" marL="0">
              <a:buNone/>
            </a:pPr>
            <a:r>
              <a:rPr lang="en-US" sz="1050" b="1" dirty="0">
                <a:solidFill>
                  <a:srgbClr val="1E2761"/>
                </a:solidFill>
                <a:latin typeface="Meiryo" pitchFamily="34" charset="0"/>
                <a:ea typeface="Meiryo" pitchFamily="34" charset="-122"/>
                <a:cs typeface="Meiryo" pitchFamily="34" charset="-120"/>
              </a:rPr>
              <a:t>運用ルールとして明文化する2点</a:t>
            </a:r>
            <a:endParaRPr lang="en-US" sz="1050" dirty="0"/>
          </a:p>
        </p:txBody>
      </p:sp>
      <p:sp>
        <p:nvSpPr>
          <p:cNvPr id="19" name="Text 16"/>
          <p:cNvSpPr/>
          <p:nvPr/>
        </p:nvSpPr>
        <p:spPr>
          <a:xfrm>
            <a:off x="749808" y="5303520"/>
            <a:ext cx="5212080" cy="914400"/>
          </a:xfrm>
          <a:prstGeom prst="rect">
            <a:avLst/>
          </a:prstGeom>
          <a:noFill/>
          <a:ln/>
        </p:spPr>
        <p:txBody>
          <a:bodyPr wrap="square" lIns="0" tIns="0" rIns="0" bIns="0" rtlCol="0" anchor="ctr"/>
          <a:lstStyle/>
          <a:p>
            <a:pPr marL="342900" indent="-342900">
              <a:spcAft>
                <a:spcPts val="600"/>
              </a:spcAft>
              <a:buSzPct val="100000"/>
              <a:buFont typeface="+mj-lt"/>
              <a:buAutoNum type="arabicPeriod" startAt="1"/>
            </a:pPr>
            <a:r>
              <a:rPr lang="en-US" sz="950" dirty="0">
                <a:solidFill>
                  <a:srgbClr val="1A1A2E"/>
                </a:solidFill>
                <a:latin typeface="Meiryo" pitchFamily="34" charset="0"/>
                <a:ea typeface="Meiryo" pitchFamily="34" charset="-122"/>
                <a:cs typeface="Meiryo" pitchFamily="34" charset="-120"/>
              </a:rPr>
              <a:t>経営会議の生議事録と、全社に出す展開用の要約は、必ず別ページに分ける</a:t>
            </a:r>
            <a:endParaRPr lang="en-US" sz="950" dirty="0"/>
          </a:p>
          <a:p>
            <a:pPr marL="342900" indent="-342900">
              <a:spcAft>
                <a:spcPts val="600"/>
              </a:spcAft>
              <a:buSzPct val="100000"/>
              <a:buFont typeface="+mj-lt"/>
              <a:buAutoNum type="arabicPeriod" startAt="1"/>
            </a:pPr>
            <a:r>
              <a:rPr lang="en-US" sz="950" dirty="0">
                <a:solidFill>
                  <a:srgbClr val="1A1A2E"/>
                </a:solidFill>
                <a:latin typeface="Meiryo" pitchFamily="34" charset="0"/>
                <a:ea typeface="Meiryo" pitchFamily="34" charset="-122"/>
                <a:cs typeface="Meiryo" pitchFamily="34" charset="-120"/>
              </a:rPr>
              <a:t>同期ブロックの原本は、常に閲覧範囲が最も広いページ側に置く</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Notion導入のご説明</dc:title>
  <dc:subject>PptxGenJS Presentation</dc:subject>
  <dc:creator>PCA</dc:creator>
  <cp:lastModifiedBy>PCA</cp:lastModifiedBy>
  <cp:revision>1</cp:revision>
  <dcterms:created xsi:type="dcterms:W3CDTF">2026-08-17T05:09:18Z</dcterms:created>
  <dcterms:modified xsi:type="dcterms:W3CDTF">2026-08-17T05:09:18Z</dcterms:modified>
</cp:coreProperties>
</file>