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ご説明には実物のデモを併用する。ご承認いただきたいのは、①②に限定した正式導入・Businessプラン契約・コスト上限の3点。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冒頭30秒で全体像を示す。課題は2つ（PMO統括の不在／情報が探せない）ある点を先に共有する。金額は上限としての提示。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この章では課題に踏み込まず、再建フェーズという前提を共有する。組織変更の中身は次章で扱う。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組織変更の正確な実施日は確定次第差し替える。ここでは11月という月のみ記載している。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要件を先に固定する章のため、ここでは製品名を出さない。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要件1〜3は第3章の要件に対応している。表は読み上げず、最下段の「当社での試用」に触れて次ページへつなぐ。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C案は机上の比較ではなく当社の試用結果である。ガントチャートは有効だったが、目的とタスクの結びつきを管理できなかった点を具体的に補足する。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ここで実物のデモに切り替える。試した範囲は経営層であり、PMO・各部門での運用はこれからである点を明確に伝える。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デモでは、この3つのデータベースのつながりを実際に辿って見せる。案件→タスク→議事録の順で開くと分かりやすい。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会議の目的を先に決めて共有し、決まったことが確実に現場まで届く状態を作りたい、という経営の意向を口頭で補足する。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下段3行（Notion AI・ゲスト上限・ページ分析）がセキュリティ以外の差にあたる。詳細は次の 6-5 で説明する。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SSO の目的は利便性ではなく、退職者による情報持ち出しを会社として確実に防ぐことにある。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説明の言い回し例：「当社ではすでに全社のID認証基盤として Microsoft 365（Entra ID）を導入・運用しております。Notion は Business プラン以上の SAML SSO 機能で Entra ID と認証を統合します。これにより社員のパスワード管理リスクを排除し、多要素認証や端末制限ポリシーを Notion にも強制適用できます。退職時にも Microsoft 365 アカウントの無効化と同時に Notion へのアクセスが即座に遮断されます。」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理由2と3はセキュリティとは独立した論点。研修事業では社外講師・パートナーとの協働が多く、ゲスト枠が実務上の制約になる点を具体的に補足する。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対象は最初から140名。やめられる根拠は、対象範囲を①②に絞っている点にある。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ご確認事項②（監査ログの要否）へのご回答をもって、プランとコストが確定する。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47"/>
        </a:solidFill>
      </p:bgPr>
    </p:bg>
    <p:spTree>
      <p:nvGrpSpPr>
        <p:cNvPr id="1" name=""/>
        <p:cNvGrpSpPr/>
        <p:nvPr/>
      </p:nvGrpSpPr>
      <p:grpSpPr>
        <a:xfrm>
          <a:off x="0" y="0"/>
          <a:ext cx="0" cy="0"/>
          <a:chOff x="0" y="0"/>
          <a:chExt cx="0" cy="0"/>
        </a:xfrm>
      </p:grpSpPr>
      <p:sp>
        <p:nvSpPr>
          <p:cNvPr id="2" name="Shape 0"/>
          <p:cNvSpPr/>
          <p:nvPr/>
        </p:nvSpPr>
        <p:spPr>
          <a:xfrm>
            <a:off x="822960" y="1417320"/>
            <a:ext cx="2468880" cy="384048"/>
          </a:xfrm>
          <a:prstGeom prst="roundRect">
            <a:avLst>
              <a:gd name="adj" fmla="val 16667"/>
            </a:avLst>
          </a:prstGeom>
          <a:solidFill>
            <a:srgbClr val="3A4A8F"/>
          </a:solidFill>
          <a:ln w="12700">
            <a:solidFill>
              <a:srgbClr val="3A4A8F"/>
            </a:solidFill>
            <a:prstDash val="solid"/>
          </a:ln>
        </p:spPr>
      </p:sp>
      <p:sp>
        <p:nvSpPr>
          <p:cNvPr id="3" name="Text 1"/>
          <p:cNvSpPr/>
          <p:nvPr/>
        </p:nvSpPr>
        <p:spPr>
          <a:xfrm>
            <a:off x="822960" y="1417320"/>
            <a:ext cx="2468880" cy="384048"/>
          </a:xfrm>
          <a:prstGeom prst="rect">
            <a:avLst/>
          </a:prstGeom>
          <a:noFill/>
          <a:ln/>
        </p:spPr>
        <p:txBody>
          <a:bodyPr wrap="square" lIns="0" tIns="0" rIns="0" bIns="0" rtlCol="0" anchor="ctr"/>
          <a:lstStyle/>
          <a:p>
            <a:pPr algn="ctr" indent="0" marL="0">
              <a:buNone/>
            </a:pPr>
            <a:r>
              <a:rPr lang="en-US" sz="1200" b="1" dirty="0">
                <a:solidFill>
                  <a:srgbClr val="CADCFC"/>
                </a:solidFill>
                <a:latin typeface="Meiryo" pitchFamily="34" charset="0"/>
                <a:ea typeface="Meiryo" pitchFamily="34" charset="-122"/>
                <a:cs typeface="Meiryo" pitchFamily="34" charset="-120"/>
              </a:rPr>
              <a:t>THD ご説明資料</a:t>
            </a:r>
            <a:endParaRPr lang="en-US" sz="1200" dirty="0"/>
          </a:p>
        </p:txBody>
      </p:sp>
      <p:sp>
        <p:nvSpPr>
          <p:cNvPr id="4" name="Text 2"/>
          <p:cNvSpPr/>
          <p:nvPr/>
        </p:nvSpPr>
        <p:spPr>
          <a:xfrm>
            <a:off x="822960" y="2057400"/>
            <a:ext cx="10515600" cy="777240"/>
          </a:xfrm>
          <a:prstGeom prst="rect">
            <a:avLst/>
          </a:prstGeom>
          <a:noFill/>
          <a:ln/>
        </p:spPr>
        <p:txBody>
          <a:bodyPr wrap="square" lIns="0" tIns="0" rIns="0" bIns="0" rtlCol="0" anchor="ctr"/>
          <a:lstStyle/>
          <a:p>
            <a:pPr indent="0" marL="0">
              <a:buNone/>
            </a:pPr>
            <a:r>
              <a:rPr lang="en-US" sz="3800" b="1" dirty="0">
                <a:solidFill>
                  <a:srgbClr val="FFFFFF"/>
                </a:solidFill>
                <a:latin typeface="Meiryo" pitchFamily="34" charset="0"/>
                <a:ea typeface="Meiryo" pitchFamily="34" charset="-122"/>
                <a:cs typeface="Meiryo" pitchFamily="34" charset="-120"/>
              </a:rPr>
              <a:t>実行管理の仕組みの新規立ち上げ</a:t>
            </a:r>
            <a:endParaRPr lang="en-US" sz="3800" dirty="0"/>
          </a:p>
        </p:txBody>
      </p:sp>
      <p:sp>
        <p:nvSpPr>
          <p:cNvPr id="5" name="Text 3"/>
          <p:cNvSpPr/>
          <p:nvPr/>
        </p:nvSpPr>
        <p:spPr>
          <a:xfrm>
            <a:off x="822960" y="2880360"/>
            <a:ext cx="10515600" cy="457200"/>
          </a:xfrm>
          <a:prstGeom prst="rect">
            <a:avLst/>
          </a:prstGeom>
          <a:noFill/>
          <a:ln/>
        </p:spPr>
        <p:txBody>
          <a:bodyPr wrap="square" lIns="0" tIns="0" rIns="0" bIns="0" rtlCol="0" anchor="ctr"/>
          <a:lstStyle/>
          <a:p>
            <a:pPr indent="0" marL="0">
              <a:buNone/>
            </a:pPr>
            <a:r>
              <a:rPr lang="en-US" sz="1700" dirty="0">
                <a:solidFill>
                  <a:srgbClr val="CADCFC"/>
                </a:solidFill>
                <a:latin typeface="Meiryo" pitchFamily="34" charset="0"/>
                <a:ea typeface="Meiryo" pitchFamily="34" charset="-122"/>
                <a:cs typeface="Meiryo" pitchFamily="34" charset="-120"/>
              </a:rPr>
              <a:t>案件管理と議事録を1か所に — Notion の正式導入について</a:t>
            </a:r>
            <a:endParaRPr lang="en-US" sz="1700" dirty="0"/>
          </a:p>
        </p:txBody>
      </p:sp>
      <p:sp>
        <p:nvSpPr>
          <p:cNvPr id="6" name="Shape 4"/>
          <p:cNvSpPr/>
          <p:nvPr/>
        </p:nvSpPr>
        <p:spPr>
          <a:xfrm>
            <a:off x="841248" y="3611880"/>
            <a:ext cx="3108960" cy="18288"/>
          </a:xfrm>
          <a:prstGeom prst="rect">
            <a:avLst/>
          </a:prstGeom>
          <a:solidFill>
            <a:srgbClr val="3A4A8F"/>
          </a:solidFill>
          <a:ln w="12700">
            <a:solidFill>
              <a:srgbClr val="3A4A8F"/>
            </a:solidFill>
            <a:prstDash val="solid"/>
          </a:ln>
        </p:spPr>
      </p:sp>
      <p:sp>
        <p:nvSpPr>
          <p:cNvPr id="7" name="Text 5"/>
          <p:cNvSpPr/>
          <p:nvPr/>
        </p:nvSpPr>
        <p:spPr>
          <a:xfrm>
            <a:off x="822960" y="3886200"/>
            <a:ext cx="6858000" cy="1188720"/>
          </a:xfrm>
          <a:prstGeom prst="rect">
            <a:avLst/>
          </a:prstGeom>
          <a:noFill/>
          <a:ln/>
        </p:spPr>
        <p:txBody>
          <a:bodyPr wrap="square" lIns="0" tIns="0" rIns="0" bIns="0" rtlCol="0" anchor="ctr"/>
          <a:lstStyle/>
          <a:p>
            <a:pPr indent="0" marL="0">
              <a:lnSpc>
                <a:spcPts val="2400"/>
              </a:lnSpc>
              <a:buNone/>
            </a:pPr>
            <a:r>
              <a:rPr lang="en-US" sz="1300" b="1" dirty="0">
                <a:solidFill>
                  <a:srgbClr val="FFFFFF"/>
                </a:solidFill>
                <a:latin typeface="Meiryo" pitchFamily="34" charset="0"/>
                <a:ea typeface="Meiryo" pitchFamily="34" charset="-122"/>
                <a:cs typeface="Meiryo" pitchFamily="34" charset="-120"/>
              </a:rPr>
              <a:t>対象範囲　①案件管理　②議事録</a:t>
            </a:r>
            <a:endParaRPr lang="en-US" sz="1300" dirty="0"/>
          </a:p>
          <a:p>
            <a:pPr indent="0" marL="0">
              <a:lnSpc>
                <a:spcPts val="2400"/>
              </a:lnSpc>
              <a:buNone/>
            </a:pPr>
            <a:r>
              <a:rPr lang="en-US" sz="1300" b="1" dirty="0">
                <a:solidFill>
                  <a:srgbClr val="FFFFFF"/>
                </a:solidFill>
                <a:latin typeface="Meiryo" pitchFamily="34" charset="0"/>
                <a:ea typeface="Meiryo" pitchFamily="34" charset="-122"/>
                <a:cs typeface="Meiryo" pitchFamily="34" charset="-120"/>
              </a:rPr>
              <a:t>対象人数　140名</a:t>
            </a:r>
            <a:endParaRPr lang="en-US" sz="1300" dirty="0"/>
          </a:p>
          <a:p>
            <a:pPr indent="0" marL="0">
              <a:lnSpc>
                <a:spcPts val="2400"/>
              </a:lnSpc>
              <a:buNone/>
            </a:pPr>
            <a:r>
              <a:rPr lang="en-US" sz="1300" b="1" dirty="0">
                <a:solidFill>
                  <a:srgbClr val="FFFFFF"/>
                </a:solidFill>
                <a:latin typeface="Meiryo" pitchFamily="34" charset="0"/>
                <a:ea typeface="Meiryo" pitchFamily="34" charset="-122"/>
                <a:cs typeface="Meiryo" pitchFamily="34" charset="-120"/>
              </a:rPr>
              <a:t>契約プラン　Notion Business（SAML SSO 対応）</a:t>
            </a:r>
            <a:endParaRPr lang="en-US" sz="1300" dirty="0"/>
          </a:p>
        </p:txBody>
      </p:sp>
      <p:sp>
        <p:nvSpPr>
          <p:cNvPr id="8" name="Text 6"/>
          <p:cNvSpPr/>
          <p:nvPr/>
        </p:nvSpPr>
        <p:spPr>
          <a:xfrm>
            <a:off x="822960" y="5943600"/>
            <a:ext cx="5486400" cy="320040"/>
          </a:xfrm>
          <a:prstGeom prst="rect">
            <a:avLst/>
          </a:prstGeom>
          <a:noFill/>
          <a:ln/>
        </p:spPr>
        <p:txBody>
          <a:bodyPr wrap="square" lIns="0" tIns="0" rIns="0" bIns="0" rtlCol="0" anchor="ctr"/>
          <a:lstStyle/>
          <a:p>
            <a:pPr indent="0" marL="0">
              <a:buNone/>
            </a:pPr>
            <a:r>
              <a:rPr lang="en-US" sz="1200" dirty="0">
                <a:solidFill>
                  <a:srgbClr val="6B7280"/>
                </a:solidFill>
                <a:latin typeface="Meiryo" pitchFamily="34" charset="0"/>
                <a:ea typeface="Meiryo" pitchFamily="34" charset="-122"/>
                <a:cs typeface="Meiryo" pitchFamily="34" charset="-120"/>
              </a:rPr>
              <a:t>株式会社PCA　2026年8月</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1094415" cy="640080"/>
          </a:xfrm>
          <a:prstGeom prst="rect">
            <a:avLst/>
          </a:prstGeom>
          <a:noFill/>
          <a:ln/>
        </p:spPr>
        <p:txBody>
          <a:bodyPr wrap="square" lIns="0" tIns="0" rIns="0" bIns="0" rtlCol="0" anchor="ctr"/>
          <a:lstStyle/>
          <a:p>
            <a:pPr indent="0" marL="0">
              <a:buNone/>
            </a:pPr>
            <a:r>
              <a:rPr lang="en-US" sz="3000" b="1" dirty="0">
                <a:solidFill>
                  <a:srgbClr val="1E2761"/>
                </a:solidFill>
                <a:latin typeface="Meiryo" pitchFamily="34" charset="0"/>
                <a:ea typeface="Meiryo" pitchFamily="34" charset="-122"/>
                <a:cs typeface="Meiryo" pitchFamily="34" charset="-120"/>
              </a:rPr>
              <a:t>本日のご説明</a:t>
            </a:r>
            <a:endParaRPr lang="en-US" sz="3000" dirty="0"/>
          </a:p>
        </p:txBody>
      </p:sp>
      <p:sp>
        <p:nvSpPr>
          <p:cNvPr id="3" name="Text 1"/>
          <p:cNvSpPr/>
          <p:nvPr/>
        </p:nvSpPr>
        <p:spPr>
          <a:xfrm>
            <a:off x="548640" y="1143000"/>
            <a:ext cx="11094415" cy="365760"/>
          </a:xfrm>
          <a:prstGeom prst="rect">
            <a:avLst/>
          </a:prstGeom>
          <a:noFill/>
          <a:ln/>
        </p:spPr>
        <p:txBody>
          <a:bodyPr wrap="square" lIns="0" tIns="0" rIns="0" bIns="0" rtlCol="0" anchor="ctr"/>
          <a:lstStyle/>
          <a:p>
            <a:pPr indent="0" marL="0">
              <a:buNone/>
            </a:pPr>
            <a:r>
              <a:rPr lang="en-US" sz="1300" dirty="0">
                <a:solidFill>
                  <a:srgbClr val="6B7280"/>
                </a:solidFill>
                <a:latin typeface="Meiryo" pitchFamily="34" charset="0"/>
                <a:ea typeface="Meiryo" pitchFamily="34" charset="-122"/>
                <a:cs typeface="Meiryo" pitchFamily="34" charset="-120"/>
              </a:rPr>
              <a:t>背景 → 課題 → 要件 → 選定 → 試行 → セキュリティ → 計画 → お願い の順にご説明します</a:t>
            </a:r>
            <a:endParaRPr lang="en-US" sz="1300" dirty="0"/>
          </a:p>
        </p:txBody>
      </p:sp>
      <p:sp>
        <p:nvSpPr>
          <p:cNvPr id="4" name="Shape 2"/>
          <p:cNvSpPr/>
          <p:nvPr/>
        </p:nvSpPr>
        <p:spPr>
          <a:xfrm>
            <a:off x="548640" y="1691640"/>
            <a:ext cx="5440680" cy="475488"/>
          </a:xfrm>
          <a:prstGeom prst="roundRect">
            <a:avLst>
              <a:gd name="adj" fmla="val 1153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5" name="Shape 3"/>
          <p:cNvSpPr/>
          <p:nvPr/>
        </p:nvSpPr>
        <p:spPr>
          <a:xfrm>
            <a:off x="667512" y="1783080"/>
            <a:ext cx="384048" cy="292608"/>
          </a:xfrm>
          <a:prstGeom prst="roundRect">
            <a:avLst>
              <a:gd name="adj" fmla="val 15625"/>
            </a:avLst>
          </a:prstGeom>
          <a:solidFill>
            <a:srgbClr val="1E2761"/>
          </a:solidFill>
          <a:ln w="12700">
            <a:solidFill>
              <a:srgbClr val="1E2761"/>
            </a:solidFill>
            <a:prstDash val="solid"/>
          </a:ln>
        </p:spPr>
      </p:sp>
      <p:sp>
        <p:nvSpPr>
          <p:cNvPr id="6" name="Text 4"/>
          <p:cNvSpPr/>
          <p:nvPr/>
        </p:nvSpPr>
        <p:spPr>
          <a:xfrm>
            <a:off x="667512" y="1783080"/>
            <a:ext cx="38404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序</a:t>
            </a:r>
            <a:endParaRPr lang="en-US" sz="1000" dirty="0"/>
          </a:p>
        </p:txBody>
      </p:sp>
      <p:sp>
        <p:nvSpPr>
          <p:cNvPr id="7" name="Text 5"/>
          <p:cNvSpPr/>
          <p:nvPr/>
        </p:nvSpPr>
        <p:spPr>
          <a:xfrm>
            <a:off x="1170432" y="1691640"/>
            <a:ext cx="4709160" cy="475488"/>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30秒サマリー　</a:t>
            </a:r>
            <a:pPr indent="0" marL="0">
              <a:buNone/>
            </a:pPr>
            <a:r>
              <a:rPr lang="en-US" sz="950" dirty="0">
                <a:solidFill>
                  <a:srgbClr val="6B7280"/>
                </a:solidFill>
                <a:latin typeface="Meiryo" pitchFamily="34" charset="0"/>
                <a:ea typeface="Meiryo" pitchFamily="34" charset="-122"/>
                <a:cs typeface="Meiryo" pitchFamily="34" charset="-120"/>
              </a:rPr>
              <a:t>本日のご依頼事項</a:t>
            </a:r>
            <a:endParaRPr lang="en-US" sz="1150" dirty="0"/>
          </a:p>
        </p:txBody>
      </p:sp>
      <p:sp>
        <p:nvSpPr>
          <p:cNvPr id="8" name="Shape 6"/>
          <p:cNvSpPr/>
          <p:nvPr/>
        </p:nvSpPr>
        <p:spPr>
          <a:xfrm>
            <a:off x="548640" y="2286000"/>
            <a:ext cx="5440680" cy="475488"/>
          </a:xfrm>
          <a:prstGeom prst="roundRect">
            <a:avLst>
              <a:gd name="adj" fmla="val 1153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9" name="Shape 7"/>
          <p:cNvSpPr/>
          <p:nvPr/>
        </p:nvSpPr>
        <p:spPr>
          <a:xfrm>
            <a:off x="667512" y="2377440"/>
            <a:ext cx="384048" cy="292608"/>
          </a:xfrm>
          <a:prstGeom prst="roundRect">
            <a:avLst>
              <a:gd name="adj" fmla="val 15625"/>
            </a:avLst>
          </a:prstGeom>
          <a:solidFill>
            <a:srgbClr val="1E2761"/>
          </a:solidFill>
          <a:ln w="12700">
            <a:solidFill>
              <a:srgbClr val="1E2761"/>
            </a:solidFill>
            <a:prstDash val="solid"/>
          </a:ln>
        </p:spPr>
      </p:sp>
      <p:sp>
        <p:nvSpPr>
          <p:cNvPr id="10" name="Text 8"/>
          <p:cNvSpPr/>
          <p:nvPr/>
        </p:nvSpPr>
        <p:spPr>
          <a:xfrm>
            <a:off x="667512" y="2377440"/>
            <a:ext cx="38404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1</a:t>
            </a:r>
            <a:endParaRPr lang="en-US" sz="1000" dirty="0"/>
          </a:p>
        </p:txBody>
      </p:sp>
      <p:sp>
        <p:nvSpPr>
          <p:cNvPr id="11" name="Text 9"/>
          <p:cNvSpPr/>
          <p:nvPr/>
        </p:nvSpPr>
        <p:spPr>
          <a:xfrm>
            <a:off x="1170432" y="2286000"/>
            <a:ext cx="4709160" cy="475488"/>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背景　</a:t>
            </a:r>
            <a:pPr indent="0" marL="0">
              <a:buNone/>
            </a:pPr>
            <a:r>
              <a:rPr lang="en-US" sz="950" dirty="0">
                <a:solidFill>
                  <a:srgbClr val="6B7280"/>
                </a:solidFill>
                <a:latin typeface="Meiryo" pitchFamily="34" charset="0"/>
                <a:ea typeface="Meiryo" pitchFamily="34" charset="-122"/>
                <a:cs typeface="Meiryo" pitchFamily="34" charset="-120"/>
              </a:rPr>
              <a:t>PCAは再建の実行フェーズにある</a:t>
            </a:r>
            <a:endParaRPr lang="en-US" sz="1150" dirty="0"/>
          </a:p>
        </p:txBody>
      </p:sp>
      <p:sp>
        <p:nvSpPr>
          <p:cNvPr id="12" name="Shape 10"/>
          <p:cNvSpPr/>
          <p:nvPr/>
        </p:nvSpPr>
        <p:spPr>
          <a:xfrm>
            <a:off x="548640" y="2880360"/>
            <a:ext cx="5440680" cy="475488"/>
          </a:xfrm>
          <a:prstGeom prst="roundRect">
            <a:avLst>
              <a:gd name="adj" fmla="val 1153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13" name="Shape 11"/>
          <p:cNvSpPr/>
          <p:nvPr/>
        </p:nvSpPr>
        <p:spPr>
          <a:xfrm>
            <a:off x="667512" y="2971800"/>
            <a:ext cx="384048" cy="292608"/>
          </a:xfrm>
          <a:prstGeom prst="roundRect">
            <a:avLst>
              <a:gd name="adj" fmla="val 15625"/>
            </a:avLst>
          </a:prstGeom>
          <a:solidFill>
            <a:srgbClr val="1E2761"/>
          </a:solidFill>
          <a:ln w="12700">
            <a:solidFill>
              <a:srgbClr val="1E2761"/>
            </a:solidFill>
            <a:prstDash val="solid"/>
          </a:ln>
        </p:spPr>
      </p:sp>
      <p:sp>
        <p:nvSpPr>
          <p:cNvPr id="14" name="Text 12"/>
          <p:cNvSpPr/>
          <p:nvPr/>
        </p:nvSpPr>
        <p:spPr>
          <a:xfrm>
            <a:off x="667512" y="2971800"/>
            <a:ext cx="38404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2</a:t>
            </a:r>
            <a:endParaRPr lang="en-US" sz="1000" dirty="0"/>
          </a:p>
        </p:txBody>
      </p:sp>
      <p:sp>
        <p:nvSpPr>
          <p:cNvPr id="15" name="Text 13"/>
          <p:cNvSpPr/>
          <p:nvPr/>
        </p:nvSpPr>
        <p:spPr>
          <a:xfrm>
            <a:off x="1170432" y="2880360"/>
            <a:ext cx="4709160" cy="475488"/>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課題　</a:t>
            </a:r>
            <a:pPr indent="0" marL="0">
              <a:buNone/>
            </a:pPr>
            <a:r>
              <a:rPr lang="en-US" sz="950" dirty="0">
                <a:solidFill>
                  <a:srgbClr val="6B7280"/>
                </a:solidFill>
                <a:latin typeface="Meiryo" pitchFamily="34" charset="0"/>
                <a:ea typeface="Meiryo" pitchFamily="34" charset="-122"/>
                <a:cs typeface="Meiryo" pitchFamily="34" charset="-120"/>
              </a:rPr>
              <a:t>2つの意味で、案件を管理する仕組みがない</a:t>
            </a:r>
            <a:endParaRPr lang="en-US" sz="1150" dirty="0"/>
          </a:p>
        </p:txBody>
      </p:sp>
      <p:sp>
        <p:nvSpPr>
          <p:cNvPr id="16" name="Shape 14"/>
          <p:cNvSpPr/>
          <p:nvPr/>
        </p:nvSpPr>
        <p:spPr>
          <a:xfrm>
            <a:off x="548640" y="3474720"/>
            <a:ext cx="5440680" cy="475488"/>
          </a:xfrm>
          <a:prstGeom prst="roundRect">
            <a:avLst>
              <a:gd name="adj" fmla="val 1153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17" name="Shape 15"/>
          <p:cNvSpPr/>
          <p:nvPr/>
        </p:nvSpPr>
        <p:spPr>
          <a:xfrm>
            <a:off x="667512" y="3566160"/>
            <a:ext cx="384048" cy="292608"/>
          </a:xfrm>
          <a:prstGeom prst="roundRect">
            <a:avLst>
              <a:gd name="adj" fmla="val 15625"/>
            </a:avLst>
          </a:prstGeom>
          <a:solidFill>
            <a:srgbClr val="1E2761"/>
          </a:solidFill>
          <a:ln w="12700">
            <a:solidFill>
              <a:srgbClr val="1E2761"/>
            </a:solidFill>
            <a:prstDash val="solid"/>
          </a:ln>
        </p:spPr>
      </p:sp>
      <p:sp>
        <p:nvSpPr>
          <p:cNvPr id="18" name="Text 16"/>
          <p:cNvSpPr/>
          <p:nvPr/>
        </p:nvSpPr>
        <p:spPr>
          <a:xfrm>
            <a:off x="667512" y="3566160"/>
            <a:ext cx="38404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3</a:t>
            </a:r>
            <a:endParaRPr lang="en-US" sz="1000" dirty="0"/>
          </a:p>
        </p:txBody>
      </p:sp>
      <p:sp>
        <p:nvSpPr>
          <p:cNvPr id="19" name="Text 17"/>
          <p:cNvSpPr/>
          <p:nvPr/>
        </p:nvSpPr>
        <p:spPr>
          <a:xfrm>
            <a:off x="1170432" y="3474720"/>
            <a:ext cx="4709160" cy="475488"/>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要件　</a:t>
            </a:r>
            <a:pPr indent="0" marL="0">
              <a:buNone/>
            </a:pPr>
            <a:r>
              <a:rPr lang="en-US" sz="950" dirty="0">
                <a:solidFill>
                  <a:srgbClr val="6B7280"/>
                </a:solidFill>
                <a:latin typeface="Meiryo" pitchFamily="34" charset="0"/>
                <a:ea typeface="Meiryo" pitchFamily="34" charset="-122"/>
                <a:cs typeface="Meiryo" pitchFamily="34" charset="-120"/>
              </a:rPr>
              <a:t>誰が・いつまでに・何のためのタスクかが分かること</a:t>
            </a:r>
            <a:endParaRPr lang="en-US" sz="1150" dirty="0"/>
          </a:p>
        </p:txBody>
      </p:sp>
      <p:sp>
        <p:nvSpPr>
          <p:cNvPr id="20" name="Shape 18"/>
          <p:cNvSpPr/>
          <p:nvPr/>
        </p:nvSpPr>
        <p:spPr>
          <a:xfrm>
            <a:off x="548640" y="4069080"/>
            <a:ext cx="5440680" cy="475488"/>
          </a:xfrm>
          <a:prstGeom prst="roundRect">
            <a:avLst>
              <a:gd name="adj" fmla="val 1153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1" name="Shape 19"/>
          <p:cNvSpPr/>
          <p:nvPr/>
        </p:nvSpPr>
        <p:spPr>
          <a:xfrm>
            <a:off x="667512" y="4160520"/>
            <a:ext cx="384048" cy="292608"/>
          </a:xfrm>
          <a:prstGeom prst="roundRect">
            <a:avLst>
              <a:gd name="adj" fmla="val 15625"/>
            </a:avLst>
          </a:prstGeom>
          <a:solidFill>
            <a:srgbClr val="1E2761"/>
          </a:solidFill>
          <a:ln w="12700">
            <a:solidFill>
              <a:srgbClr val="1E2761"/>
            </a:solidFill>
            <a:prstDash val="solid"/>
          </a:ln>
        </p:spPr>
      </p:sp>
      <p:sp>
        <p:nvSpPr>
          <p:cNvPr id="22" name="Text 20"/>
          <p:cNvSpPr/>
          <p:nvPr/>
        </p:nvSpPr>
        <p:spPr>
          <a:xfrm>
            <a:off x="667512" y="4160520"/>
            <a:ext cx="38404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4</a:t>
            </a:r>
            <a:endParaRPr lang="en-US" sz="1000" dirty="0"/>
          </a:p>
        </p:txBody>
      </p:sp>
      <p:sp>
        <p:nvSpPr>
          <p:cNvPr id="23" name="Text 21"/>
          <p:cNvSpPr/>
          <p:nvPr/>
        </p:nvSpPr>
        <p:spPr>
          <a:xfrm>
            <a:off x="1170432" y="4069080"/>
            <a:ext cx="4709160" cy="475488"/>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選定　</a:t>
            </a:r>
            <a:pPr indent="0" marL="0">
              <a:buNone/>
            </a:pPr>
            <a:r>
              <a:rPr lang="en-US" sz="950" dirty="0">
                <a:solidFill>
                  <a:srgbClr val="6B7280"/>
                </a:solidFill>
                <a:latin typeface="Meiryo" pitchFamily="34" charset="0"/>
                <a:ea typeface="Meiryo" pitchFamily="34" charset="-122"/>
                <a:cs typeface="Meiryo" pitchFamily="34" charset="-120"/>
              </a:rPr>
              <a:t>4案を比較し、Notionのみが要件を充足</a:t>
            </a:r>
            <a:endParaRPr lang="en-US" sz="1150" dirty="0"/>
          </a:p>
        </p:txBody>
      </p:sp>
      <p:sp>
        <p:nvSpPr>
          <p:cNvPr id="24" name="Shape 22"/>
          <p:cNvSpPr/>
          <p:nvPr/>
        </p:nvSpPr>
        <p:spPr>
          <a:xfrm>
            <a:off x="6208776" y="1691640"/>
            <a:ext cx="5440680" cy="475488"/>
          </a:xfrm>
          <a:prstGeom prst="roundRect">
            <a:avLst>
              <a:gd name="adj" fmla="val 1153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5" name="Shape 23"/>
          <p:cNvSpPr/>
          <p:nvPr/>
        </p:nvSpPr>
        <p:spPr>
          <a:xfrm>
            <a:off x="6327648" y="1783080"/>
            <a:ext cx="384048" cy="292608"/>
          </a:xfrm>
          <a:prstGeom prst="roundRect">
            <a:avLst>
              <a:gd name="adj" fmla="val 15625"/>
            </a:avLst>
          </a:prstGeom>
          <a:solidFill>
            <a:srgbClr val="1E2761"/>
          </a:solidFill>
          <a:ln w="12700">
            <a:solidFill>
              <a:srgbClr val="1E2761"/>
            </a:solidFill>
            <a:prstDash val="solid"/>
          </a:ln>
        </p:spPr>
      </p:sp>
      <p:sp>
        <p:nvSpPr>
          <p:cNvPr id="26" name="Text 24"/>
          <p:cNvSpPr/>
          <p:nvPr/>
        </p:nvSpPr>
        <p:spPr>
          <a:xfrm>
            <a:off x="6327648" y="1783080"/>
            <a:ext cx="38404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5</a:t>
            </a:r>
            <a:endParaRPr lang="en-US" sz="1000" dirty="0"/>
          </a:p>
        </p:txBody>
      </p:sp>
      <p:sp>
        <p:nvSpPr>
          <p:cNvPr id="27" name="Text 25"/>
          <p:cNvSpPr/>
          <p:nvPr/>
        </p:nvSpPr>
        <p:spPr>
          <a:xfrm>
            <a:off x="6830568" y="1691640"/>
            <a:ext cx="4709160" cy="475488"/>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試行と運用イメージ　</a:t>
            </a:r>
            <a:pPr indent="0" marL="0">
              <a:buNone/>
            </a:pPr>
            <a:r>
              <a:rPr lang="en-US" sz="950" dirty="0">
                <a:solidFill>
                  <a:srgbClr val="6B7280"/>
                </a:solidFill>
                <a:latin typeface="Meiryo" pitchFamily="34" charset="0"/>
                <a:ea typeface="Meiryo" pitchFamily="34" charset="-122"/>
                <a:cs typeface="Meiryo" pitchFamily="34" charset="-120"/>
              </a:rPr>
              <a:t>経営層で3か月試した結果と、実際の使い方</a:t>
            </a:r>
            <a:endParaRPr lang="en-US" sz="1150" dirty="0"/>
          </a:p>
        </p:txBody>
      </p:sp>
      <p:sp>
        <p:nvSpPr>
          <p:cNvPr id="28" name="Shape 26"/>
          <p:cNvSpPr/>
          <p:nvPr/>
        </p:nvSpPr>
        <p:spPr>
          <a:xfrm>
            <a:off x="6208776" y="2286000"/>
            <a:ext cx="5440680" cy="475488"/>
          </a:xfrm>
          <a:prstGeom prst="roundRect">
            <a:avLst>
              <a:gd name="adj" fmla="val 1153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9" name="Shape 27"/>
          <p:cNvSpPr/>
          <p:nvPr/>
        </p:nvSpPr>
        <p:spPr>
          <a:xfrm>
            <a:off x="6327648" y="2377440"/>
            <a:ext cx="384048" cy="292608"/>
          </a:xfrm>
          <a:prstGeom prst="roundRect">
            <a:avLst>
              <a:gd name="adj" fmla="val 15625"/>
            </a:avLst>
          </a:prstGeom>
          <a:solidFill>
            <a:srgbClr val="1E2761"/>
          </a:solidFill>
          <a:ln w="12700">
            <a:solidFill>
              <a:srgbClr val="1E2761"/>
            </a:solidFill>
            <a:prstDash val="solid"/>
          </a:ln>
        </p:spPr>
      </p:sp>
      <p:sp>
        <p:nvSpPr>
          <p:cNvPr id="30" name="Text 28"/>
          <p:cNvSpPr/>
          <p:nvPr/>
        </p:nvSpPr>
        <p:spPr>
          <a:xfrm>
            <a:off x="6327648" y="2377440"/>
            <a:ext cx="38404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6</a:t>
            </a:r>
            <a:endParaRPr lang="en-US" sz="1000" dirty="0"/>
          </a:p>
        </p:txBody>
      </p:sp>
      <p:sp>
        <p:nvSpPr>
          <p:cNvPr id="31" name="Text 29"/>
          <p:cNvSpPr/>
          <p:nvPr/>
        </p:nvSpPr>
        <p:spPr>
          <a:xfrm>
            <a:off x="6830568" y="2286000"/>
            <a:ext cx="4709160" cy="475488"/>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セキュリティとプラン選定　</a:t>
            </a:r>
            <a:pPr indent="0" marL="0">
              <a:buNone/>
            </a:pPr>
            <a:r>
              <a:rPr lang="en-US" sz="950" dirty="0">
                <a:solidFill>
                  <a:srgbClr val="6B7280"/>
                </a:solidFill>
                <a:latin typeface="Meiryo" pitchFamily="34" charset="0"/>
                <a:ea typeface="Meiryo" pitchFamily="34" charset="-122"/>
                <a:cs typeface="Meiryo" pitchFamily="34" charset="-120"/>
              </a:rPr>
              <a:t>認証・SSO・Businessを選ぶ理由</a:t>
            </a:r>
            <a:endParaRPr lang="en-US" sz="1150" dirty="0"/>
          </a:p>
        </p:txBody>
      </p:sp>
      <p:sp>
        <p:nvSpPr>
          <p:cNvPr id="32" name="Shape 30"/>
          <p:cNvSpPr/>
          <p:nvPr/>
        </p:nvSpPr>
        <p:spPr>
          <a:xfrm>
            <a:off x="6208776" y="2880360"/>
            <a:ext cx="5440680" cy="475488"/>
          </a:xfrm>
          <a:prstGeom prst="roundRect">
            <a:avLst>
              <a:gd name="adj" fmla="val 1153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3" name="Shape 31"/>
          <p:cNvSpPr/>
          <p:nvPr/>
        </p:nvSpPr>
        <p:spPr>
          <a:xfrm>
            <a:off x="6327648" y="2971800"/>
            <a:ext cx="384048" cy="292608"/>
          </a:xfrm>
          <a:prstGeom prst="roundRect">
            <a:avLst>
              <a:gd name="adj" fmla="val 15625"/>
            </a:avLst>
          </a:prstGeom>
          <a:solidFill>
            <a:srgbClr val="1E2761"/>
          </a:solidFill>
          <a:ln w="12700">
            <a:solidFill>
              <a:srgbClr val="1E2761"/>
            </a:solidFill>
            <a:prstDash val="solid"/>
          </a:ln>
        </p:spPr>
      </p:sp>
      <p:sp>
        <p:nvSpPr>
          <p:cNvPr id="34" name="Text 32"/>
          <p:cNvSpPr/>
          <p:nvPr/>
        </p:nvSpPr>
        <p:spPr>
          <a:xfrm>
            <a:off x="6327648" y="2971800"/>
            <a:ext cx="38404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7</a:t>
            </a:r>
            <a:endParaRPr lang="en-US" sz="1000" dirty="0"/>
          </a:p>
        </p:txBody>
      </p:sp>
      <p:sp>
        <p:nvSpPr>
          <p:cNvPr id="35" name="Text 33"/>
          <p:cNvSpPr/>
          <p:nvPr/>
        </p:nvSpPr>
        <p:spPr>
          <a:xfrm>
            <a:off x="6830568" y="2880360"/>
            <a:ext cx="4709160" cy="475488"/>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導入計画とコスト　</a:t>
            </a:r>
            <a:pPr indent="0" marL="0">
              <a:buNone/>
            </a:pPr>
            <a:r>
              <a:rPr lang="en-US" sz="950" dirty="0">
                <a:solidFill>
                  <a:srgbClr val="6B7280"/>
                </a:solidFill>
                <a:latin typeface="Meiryo" pitchFamily="34" charset="0"/>
                <a:ea typeface="Meiryo" pitchFamily="34" charset="-122"/>
                <a:cs typeface="Meiryo" pitchFamily="34" charset="-120"/>
              </a:rPr>
              <a:t>対象範囲・コスト上限・続ける判断</a:t>
            </a:r>
            <a:endParaRPr lang="en-US" sz="1150" dirty="0"/>
          </a:p>
        </p:txBody>
      </p:sp>
      <p:sp>
        <p:nvSpPr>
          <p:cNvPr id="36" name="Shape 34"/>
          <p:cNvSpPr/>
          <p:nvPr/>
        </p:nvSpPr>
        <p:spPr>
          <a:xfrm>
            <a:off x="6208776" y="3474720"/>
            <a:ext cx="5440680" cy="475488"/>
          </a:xfrm>
          <a:prstGeom prst="roundRect">
            <a:avLst>
              <a:gd name="adj" fmla="val 1153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7" name="Shape 35"/>
          <p:cNvSpPr/>
          <p:nvPr/>
        </p:nvSpPr>
        <p:spPr>
          <a:xfrm>
            <a:off x="6327648" y="3566160"/>
            <a:ext cx="384048" cy="292608"/>
          </a:xfrm>
          <a:prstGeom prst="roundRect">
            <a:avLst>
              <a:gd name="adj" fmla="val 15625"/>
            </a:avLst>
          </a:prstGeom>
          <a:solidFill>
            <a:srgbClr val="1E2761"/>
          </a:solidFill>
          <a:ln w="12700">
            <a:solidFill>
              <a:srgbClr val="1E2761"/>
            </a:solidFill>
            <a:prstDash val="solid"/>
          </a:ln>
        </p:spPr>
      </p:sp>
      <p:sp>
        <p:nvSpPr>
          <p:cNvPr id="38" name="Text 36"/>
          <p:cNvSpPr/>
          <p:nvPr/>
        </p:nvSpPr>
        <p:spPr>
          <a:xfrm>
            <a:off x="6327648" y="3566160"/>
            <a:ext cx="38404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8</a:t>
            </a:r>
            <a:endParaRPr lang="en-US" sz="1000" dirty="0"/>
          </a:p>
        </p:txBody>
      </p:sp>
      <p:sp>
        <p:nvSpPr>
          <p:cNvPr id="39" name="Text 37"/>
          <p:cNvSpPr/>
          <p:nvPr/>
        </p:nvSpPr>
        <p:spPr>
          <a:xfrm>
            <a:off x="6830568" y="3474720"/>
            <a:ext cx="4709160" cy="475488"/>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お願い事項　</a:t>
            </a:r>
            <a:pPr indent="0" marL="0">
              <a:buNone/>
            </a:pPr>
            <a:r>
              <a:rPr lang="en-US" sz="950" dirty="0">
                <a:solidFill>
                  <a:srgbClr val="6B7280"/>
                </a:solidFill>
                <a:latin typeface="Meiryo" pitchFamily="34" charset="0"/>
                <a:ea typeface="Meiryo" pitchFamily="34" charset="-122"/>
                <a:cs typeface="Meiryo" pitchFamily="34" charset="-120"/>
              </a:rPr>
              <a:t>ご承認いただきたいこと／ご確認事項</a:t>
            </a:r>
            <a:endParaRPr lang="en-US" sz="1150" dirty="0"/>
          </a:p>
        </p:txBody>
      </p:sp>
      <p:sp>
        <p:nvSpPr>
          <p:cNvPr id="40" name="Shape 38"/>
          <p:cNvSpPr/>
          <p:nvPr/>
        </p:nvSpPr>
        <p:spPr>
          <a:xfrm>
            <a:off x="548640" y="4983480"/>
            <a:ext cx="11094415" cy="1234440"/>
          </a:xfrm>
          <a:prstGeom prst="roundRect">
            <a:avLst>
              <a:gd name="adj" fmla="val 4444"/>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41" name="Text 39"/>
          <p:cNvSpPr/>
          <p:nvPr/>
        </p:nvSpPr>
        <p:spPr>
          <a:xfrm>
            <a:off x="777240" y="5102352"/>
            <a:ext cx="10637215" cy="292608"/>
          </a:xfrm>
          <a:prstGeom prst="rect">
            <a:avLst/>
          </a:prstGeom>
          <a:noFill/>
          <a:ln/>
        </p:spPr>
        <p:txBody>
          <a:bodyPr wrap="square" lIns="0" tIns="0" rIns="0" bIns="0" rtlCol="0" anchor="ctr"/>
          <a:lstStyle/>
          <a:p>
            <a:pPr indent="0" marL="0">
              <a:buNone/>
            </a:pPr>
            <a:r>
              <a:rPr lang="en-US" sz="1250" b="1" dirty="0">
                <a:solidFill>
                  <a:srgbClr val="1E2761"/>
                </a:solidFill>
                <a:latin typeface="Meiryo" pitchFamily="34" charset="0"/>
                <a:ea typeface="Meiryo" pitchFamily="34" charset="-122"/>
                <a:cs typeface="Meiryo" pitchFamily="34" charset="-120"/>
              </a:rPr>
              <a:t>「案件を管理する仕組みがない」には、2つの意味があります</a:t>
            </a:r>
            <a:endParaRPr lang="en-US" sz="1250" dirty="0"/>
          </a:p>
        </p:txBody>
      </p:sp>
      <p:sp>
        <p:nvSpPr>
          <p:cNvPr id="42" name="Text 40"/>
          <p:cNvSpPr/>
          <p:nvPr/>
        </p:nvSpPr>
        <p:spPr>
          <a:xfrm>
            <a:off x="777240" y="5440680"/>
            <a:ext cx="5212080" cy="658368"/>
          </a:xfrm>
          <a:prstGeom prst="rect">
            <a:avLst/>
          </a:prstGeom>
          <a:noFill/>
          <a:ln/>
        </p:spPr>
        <p:txBody>
          <a:bodyPr wrap="square" lIns="0" tIns="0" rIns="0" bIns="0" rtlCol="0" anchor="ctr"/>
          <a:lstStyle/>
          <a:p>
            <a:pPr indent="0" marL="0">
              <a:buNone/>
            </a:pPr>
            <a:r>
              <a:rPr lang="en-US" sz="1100" b="1" dirty="0">
                <a:solidFill>
                  <a:srgbClr val="1E2761"/>
                </a:solidFill>
                <a:latin typeface="Meiryo" pitchFamily="34" charset="0"/>
                <a:ea typeface="Meiryo" pitchFamily="34" charset="-122"/>
                <a:cs typeface="Meiryo" pitchFamily="34" charset="-120"/>
              </a:rPr>
              <a:t>① プロジェクト全体を統括する仕組みがない</a:t>
            </a:r>
            <a:endParaRPr lang="en-US" sz="1100" dirty="0"/>
          </a:p>
          <a:p>
            <a:pPr indent="0" marL="0">
              <a:buNone/>
            </a:pPr>
            <a:r>
              <a:rPr lang="en-US" sz="1000" dirty="0">
                <a:solidFill>
                  <a:srgbClr val="1A1A2E"/>
                </a:solidFill>
                <a:latin typeface="Meiryo" pitchFamily="34" charset="0"/>
                <a:ea typeface="Meiryo" pitchFamily="34" charset="-122"/>
                <a:cs typeface="Meiryo" pitchFamily="34" charset="-120"/>
              </a:rPr>
              <a:t>11月にPMOを新設しますが、部署を越えて進捗と決定を束ねる道具がありません。</a:t>
            </a:r>
            <a:endParaRPr lang="en-US" sz="1100" dirty="0"/>
          </a:p>
        </p:txBody>
      </p:sp>
      <p:sp>
        <p:nvSpPr>
          <p:cNvPr id="43" name="Text 41"/>
          <p:cNvSpPr/>
          <p:nvPr/>
        </p:nvSpPr>
        <p:spPr>
          <a:xfrm>
            <a:off x="6355080" y="5440680"/>
            <a:ext cx="5212080" cy="658368"/>
          </a:xfrm>
          <a:prstGeom prst="rect">
            <a:avLst/>
          </a:prstGeom>
          <a:noFill/>
          <a:ln/>
        </p:spPr>
        <p:txBody>
          <a:bodyPr wrap="square" lIns="0" tIns="0" rIns="0" bIns="0" rtlCol="0" anchor="ctr"/>
          <a:lstStyle/>
          <a:p>
            <a:pPr indent="0" marL="0">
              <a:buNone/>
            </a:pPr>
            <a:r>
              <a:rPr lang="en-US" sz="1100" b="1" dirty="0">
                <a:solidFill>
                  <a:srgbClr val="1E2761"/>
                </a:solidFill>
                <a:latin typeface="Meiryo" pitchFamily="34" charset="0"/>
                <a:ea typeface="Meiryo" pitchFamily="34" charset="-122"/>
                <a:cs typeface="Meiryo" pitchFamily="34" charset="-120"/>
              </a:rPr>
              <a:t>② 案件と議事録が紐づかず、探せない</a:t>
            </a:r>
            <a:endParaRPr lang="en-US" sz="1100" dirty="0"/>
          </a:p>
          <a:p>
            <a:pPr indent="0" marL="0">
              <a:buNone/>
            </a:pPr>
            <a:r>
              <a:rPr lang="en-US" sz="1000" dirty="0">
                <a:solidFill>
                  <a:srgbClr val="1A1A2E"/>
                </a:solidFill>
                <a:latin typeface="Meiryo" pitchFamily="34" charset="0"/>
                <a:ea typeface="Meiryo" pitchFamily="34" charset="-122"/>
                <a:cs typeface="Meiryo" pitchFamily="34" charset="-120"/>
              </a:rPr>
              <a:t>決めたことがどこに残ったか分からず、探すところから仕事が始まっています。</a:t>
            </a:r>
            <a:endParaRPr lang="en-US" sz="1100" dirty="0"/>
          </a:p>
        </p:txBody>
      </p:sp>
      <p:sp>
        <p:nvSpPr>
          <p:cNvPr id="44" name="Text 42"/>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序</a:t>
            </a:r>
            <a:endParaRPr lang="en-US" sz="1050" dirty="0"/>
          </a:p>
        </p:txBody>
      </p:sp>
      <p:sp>
        <p:nvSpPr>
          <p:cNvPr id="4" name="Shape 2"/>
          <p:cNvSpPr/>
          <p:nvPr/>
        </p:nvSpPr>
        <p:spPr>
          <a:xfrm>
            <a:off x="9101023" y="402336"/>
            <a:ext cx="237744" cy="237744"/>
          </a:xfrm>
          <a:prstGeom prst="roundRect">
            <a:avLst>
              <a:gd name="adj" fmla="val 15385"/>
            </a:avLst>
          </a:prstGeom>
          <a:solidFill>
            <a:srgbClr val="1E2761"/>
          </a:solidFill>
          <a:ln w="12700">
            <a:solidFill>
              <a:srgbClr val="1E2761"/>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30秒サマリー</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決めたことをやり切る「実行管理の仕組み」を、PCAに新しく立ち上げます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2</a:t>
            </a:r>
            <a:endParaRPr lang="en-US" sz="1000" dirty="0"/>
          </a:p>
        </p:txBody>
      </p:sp>
      <p:sp>
        <p:nvSpPr>
          <p:cNvPr id="26" name="Shape 24"/>
          <p:cNvSpPr/>
          <p:nvPr/>
        </p:nvSpPr>
        <p:spPr>
          <a:xfrm>
            <a:off x="548640" y="2249424"/>
            <a:ext cx="7894015" cy="548640"/>
          </a:xfrm>
          <a:prstGeom prst="roundRect">
            <a:avLst>
              <a:gd name="adj" fmla="val 10000"/>
            </a:avLst>
          </a:prstGeom>
          <a:solidFill>
            <a:srgbClr val="FBEDEC"/>
          </a:solidFill>
          <a:ln w="12700">
            <a:solidFill>
              <a:srgbClr val="F0CFCC"/>
            </a:solidFill>
            <a:prstDash val="solid"/>
          </a:ln>
          <a:effectLst>
            <a:outerShdw sx="100000" sy="100000" kx="0" ky="0" algn="bl" rotWithShape="0" blurRad="101600" dist="12700" dir="5400000">
              <a:srgbClr val="1E2761">
                <a:alpha val="10000"/>
              </a:srgbClr>
            </a:outerShdw>
          </a:effectLst>
        </p:spPr>
      </p:sp>
      <p:sp>
        <p:nvSpPr>
          <p:cNvPr id="27" name="Shape 25"/>
          <p:cNvSpPr/>
          <p:nvPr/>
        </p:nvSpPr>
        <p:spPr>
          <a:xfrm>
            <a:off x="685800" y="2377440"/>
            <a:ext cx="292608" cy="292608"/>
          </a:xfrm>
          <a:prstGeom prst="roundRect">
            <a:avLst>
              <a:gd name="adj" fmla="val 50000"/>
            </a:avLst>
          </a:prstGeom>
          <a:solidFill>
            <a:srgbClr val="B3261E"/>
          </a:solidFill>
          <a:ln w="12700">
            <a:solidFill>
              <a:srgbClr val="B3261E"/>
            </a:solidFill>
            <a:prstDash val="solid"/>
          </a:ln>
        </p:spPr>
      </p:sp>
      <p:sp>
        <p:nvSpPr>
          <p:cNvPr id="28" name="Text 26"/>
          <p:cNvSpPr/>
          <p:nvPr/>
        </p:nvSpPr>
        <p:spPr>
          <a:xfrm>
            <a:off x="685800" y="23774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1</a:t>
            </a:r>
            <a:endParaRPr lang="en-US" sz="1000" dirty="0"/>
          </a:p>
        </p:txBody>
      </p:sp>
      <p:sp>
        <p:nvSpPr>
          <p:cNvPr id="29" name="Text 27"/>
          <p:cNvSpPr/>
          <p:nvPr/>
        </p:nvSpPr>
        <p:spPr>
          <a:xfrm>
            <a:off x="1097280" y="2286000"/>
            <a:ext cx="777240" cy="237744"/>
          </a:xfrm>
          <a:prstGeom prst="rect">
            <a:avLst/>
          </a:prstGeom>
          <a:noFill/>
          <a:ln/>
        </p:spPr>
        <p:txBody>
          <a:bodyPr wrap="square" lIns="0" tIns="0" rIns="0" bIns="0" rtlCol="0" anchor="ctr"/>
          <a:lstStyle/>
          <a:p>
            <a:pPr indent="0" marL="0">
              <a:buNone/>
            </a:pPr>
            <a:r>
              <a:rPr lang="en-US" sz="950" b="1" dirty="0">
                <a:solidFill>
                  <a:srgbClr val="6B7280"/>
                </a:solidFill>
                <a:latin typeface="Meiryo" pitchFamily="34" charset="0"/>
                <a:ea typeface="Meiryo" pitchFamily="34" charset="-122"/>
                <a:cs typeface="Meiryo" pitchFamily="34" charset="-120"/>
              </a:rPr>
              <a:t>課題①</a:t>
            </a:r>
            <a:endParaRPr lang="en-US" sz="950" dirty="0"/>
          </a:p>
        </p:txBody>
      </p:sp>
      <p:sp>
        <p:nvSpPr>
          <p:cNvPr id="30" name="Text 28"/>
          <p:cNvSpPr/>
          <p:nvPr/>
        </p:nvSpPr>
        <p:spPr>
          <a:xfrm>
            <a:off x="1901952" y="2267712"/>
            <a:ext cx="6217920" cy="256032"/>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プロジェクト全体を統括する仕組みが無い</a:t>
            </a:r>
            <a:endParaRPr lang="en-US" sz="1150" dirty="0"/>
          </a:p>
        </p:txBody>
      </p:sp>
      <p:sp>
        <p:nvSpPr>
          <p:cNvPr id="31" name="Text 29"/>
          <p:cNvSpPr/>
          <p:nvPr/>
        </p:nvSpPr>
        <p:spPr>
          <a:xfrm>
            <a:off x="1097280" y="2542032"/>
            <a:ext cx="7040880" cy="237744"/>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11月にPMOを新設しますが、部署を越えて束ねる道具がありません</a:t>
            </a:r>
            <a:endParaRPr lang="en-US" sz="900" dirty="0"/>
          </a:p>
        </p:txBody>
      </p:sp>
      <p:sp>
        <p:nvSpPr>
          <p:cNvPr id="32" name="Shape 30"/>
          <p:cNvSpPr/>
          <p:nvPr/>
        </p:nvSpPr>
        <p:spPr>
          <a:xfrm>
            <a:off x="548640" y="2916936"/>
            <a:ext cx="7894015" cy="548640"/>
          </a:xfrm>
          <a:prstGeom prst="roundRect">
            <a:avLst>
              <a:gd name="adj" fmla="val 10000"/>
            </a:avLst>
          </a:prstGeom>
          <a:solidFill>
            <a:srgbClr val="FBEDEC"/>
          </a:solidFill>
          <a:ln w="12700">
            <a:solidFill>
              <a:srgbClr val="F0CFCC"/>
            </a:solidFill>
            <a:prstDash val="solid"/>
          </a:ln>
          <a:effectLst>
            <a:outerShdw sx="100000" sy="100000" kx="0" ky="0" algn="bl" rotWithShape="0" blurRad="101600" dist="12700" dir="5400000">
              <a:srgbClr val="1E2761">
                <a:alpha val="10000"/>
              </a:srgbClr>
            </a:outerShdw>
          </a:effectLst>
        </p:spPr>
      </p:sp>
      <p:sp>
        <p:nvSpPr>
          <p:cNvPr id="33" name="Shape 31"/>
          <p:cNvSpPr/>
          <p:nvPr/>
        </p:nvSpPr>
        <p:spPr>
          <a:xfrm>
            <a:off x="685800" y="3044952"/>
            <a:ext cx="292608" cy="292608"/>
          </a:xfrm>
          <a:prstGeom prst="roundRect">
            <a:avLst>
              <a:gd name="adj" fmla="val 50000"/>
            </a:avLst>
          </a:prstGeom>
          <a:solidFill>
            <a:srgbClr val="B3261E"/>
          </a:solidFill>
          <a:ln w="12700">
            <a:solidFill>
              <a:srgbClr val="B3261E"/>
            </a:solidFill>
            <a:prstDash val="solid"/>
          </a:ln>
        </p:spPr>
      </p:sp>
      <p:sp>
        <p:nvSpPr>
          <p:cNvPr id="34" name="Text 32"/>
          <p:cNvSpPr/>
          <p:nvPr/>
        </p:nvSpPr>
        <p:spPr>
          <a:xfrm>
            <a:off x="685800" y="30449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2</a:t>
            </a:r>
            <a:endParaRPr lang="en-US" sz="1000" dirty="0"/>
          </a:p>
        </p:txBody>
      </p:sp>
      <p:sp>
        <p:nvSpPr>
          <p:cNvPr id="35" name="Text 33"/>
          <p:cNvSpPr/>
          <p:nvPr/>
        </p:nvSpPr>
        <p:spPr>
          <a:xfrm>
            <a:off x="1097280" y="2953512"/>
            <a:ext cx="777240" cy="237744"/>
          </a:xfrm>
          <a:prstGeom prst="rect">
            <a:avLst/>
          </a:prstGeom>
          <a:noFill/>
          <a:ln/>
        </p:spPr>
        <p:txBody>
          <a:bodyPr wrap="square" lIns="0" tIns="0" rIns="0" bIns="0" rtlCol="0" anchor="ctr"/>
          <a:lstStyle/>
          <a:p>
            <a:pPr indent="0" marL="0">
              <a:buNone/>
            </a:pPr>
            <a:r>
              <a:rPr lang="en-US" sz="950" b="1" dirty="0">
                <a:solidFill>
                  <a:srgbClr val="6B7280"/>
                </a:solidFill>
                <a:latin typeface="Meiryo" pitchFamily="34" charset="0"/>
                <a:ea typeface="Meiryo" pitchFamily="34" charset="-122"/>
                <a:cs typeface="Meiryo" pitchFamily="34" charset="-120"/>
              </a:rPr>
              <a:t>課題②</a:t>
            </a:r>
            <a:endParaRPr lang="en-US" sz="950" dirty="0"/>
          </a:p>
        </p:txBody>
      </p:sp>
      <p:sp>
        <p:nvSpPr>
          <p:cNvPr id="36" name="Text 34"/>
          <p:cNvSpPr/>
          <p:nvPr/>
        </p:nvSpPr>
        <p:spPr>
          <a:xfrm>
            <a:off x="1901952" y="2935224"/>
            <a:ext cx="6217920" cy="256032"/>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案件と議事録が紐づかず、探したいときに探せない</a:t>
            </a:r>
            <a:endParaRPr lang="en-US" sz="1150" dirty="0"/>
          </a:p>
        </p:txBody>
      </p:sp>
      <p:sp>
        <p:nvSpPr>
          <p:cNvPr id="37" name="Text 35"/>
          <p:cNvSpPr/>
          <p:nvPr/>
        </p:nvSpPr>
        <p:spPr>
          <a:xfrm>
            <a:off x="1097280" y="3209544"/>
            <a:ext cx="7040880" cy="237744"/>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議事録は OneNote・Word・個人メモに散在しています</a:t>
            </a:r>
            <a:endParaRPr lang="en-US" sz="900" dirty="0"/>
          </a:p>
        </p:txBody>
      </p:sp>
      <p:sp>
        <p:nvSpPr>
          <p:cNvPr id="38" name="Shape 36"/>
          <p:cNvSpPr/>
          <p:nvPr/>
        </p:nvSpPr>
        <p:spPr>
          <a:xfrm>
            <a:off x="548640" y="3584448"/>
            <a:ext cx="7894015" cy="548640"/>
          </a:xfrm>
          <a:prstGeom prst="roundRect">
            <a:avLst>
              <a:gd name="adj" fmla="val 100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9" name="Shape 37"/>
          <p:cNvSpPr/>
          <p:nvPr/>
        </p:nvSpPr>
        <p:spPr>
          <a:xfrm>
            <a:off x="685800" y="3712464"/>
            <a:ext cx="292608" cy="292608"/>
          </a:xfrm>
          <a:prstGeom prst="roundRect">
            <a:avLst>
              <a:gd name="adj" fmla="val 50000"/>
            </a:avLst>
          </a:prstGeom>
          <a:solidFill>
            <a:srgbClr val="1E2761"/>
          </a:solidFill>
          <a:ln w="12700">
            <a:solidFill>
              <a:srgbClr val="1E2761"/>
            </a:solidFill>
            <a:prstDash val="solid"/>
          </a:ln>
        </p:spPr>
      </p:sp>
      <p:sp>
        <p:nvSpPr>
          <p:cNvPr id="40" name="Text 38"/>
          <p:cNvSpPr/>
          <p:nvPr/>
        </p:nvSpPr>
        <p:spPr>
          <a:xfrm>
            <a:off x="685800" y="37124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3</a:t>
            </a:r>
            <a:endParaRPr lang="en-US" sz="1000" dirty="0"/>
          </a:p>
        </p:txBody>
      </p:sp>
      <p:sp>
        <p:nvSpPr>
          <p:cNvPr id="41" name="Text 39"/>
          <p:cNvSpPr/>
          <p:nvPr/>
        </p:nvSpPr>
        <p:spPr>
          <a:xfrm>
            <a:off x="1097280" y="3621024"/>
            <a:ext cx="777240" cy="237744"/>
          </a:xfrm>
          <a:prstGeom prst="rect">
            <a:avLst/>
          </a:prstGeom>
          <a:noFill/>
          <a:ln/>
        </p:spPr>
        <p:txBody>
          <a:bodyPr wrap="square" lIns="0" tIns="0" rIns="0" bIns="0" rtlCol="0" anchor="ctr"/>
          <a:lstStyle/>
          <a:p>
            <a:pPr indent="0" marL="0">
              <a:buNone/>
            </a:pPr>
            <a:r>
              <a:rPr lang="en-US" sz="950" b="1" dirty="0">
                <a:solidFill>
                  <a:srgbClr val="6B7280"/>
                </a:solidFill>
                <a:latin typeface="Meiryo" pitchFamily="34" charset="0"/>
                <a:ea typeface="Meiryo" pitchFamily="34" charset="-122"/>
                <a:cs typeface="Meiryo" pitchFamily="34" charset="-120"/>
              </a:rPr>
              <a:t>対応</a:t>
            </a:r>
            <a:endParaRPr lang="en-US" sz="950" dirty="0"/>
          </a:p>
        </p:txBody>
      </p:sp>
      <p:sp>
        <p:nvSpPr>
          <p:cNvPr id="42" name="Text 40"/>
          <p:cNvSpPr/>
          <p:nvPr/>
        </p:nvSpPr>
        <p:spPr>
          <a:xfrm>
            <a:off x="1901952" y="3602736"/>
            <a:ext cx="6217920" cy="256032"/>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①案件管理 ②議事録 に限定して新規立ち上げ</a:t>
            </a:r>
            <a:endParaRPr lang="en-US" sz="1150" dirty="0"/>
          </a:p>
        </p:txBody>
      </p:sp>
      <p:sp>
        <p:nvSpPr>
          <p:cNvPr id="43" name="Text 41"/>
          <p:cNvSpPr/>
          <p:nvPr/>
        </p:nvSpPr>
        <p:spPr>
          <a:xfrm>
            <a:off x="1097280" y="3877056"/>
            <a:ext cx="7040880" cy="237744"/>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③ファイル・④社内規定は SharePoint 継続。Microsoft 365 は置き換えません</a:t>
            </a:r>
            <a:endParaRPr lang="en-US" sz="900" dirty="0"/>
          </a:p>
        </p:txBody>
      </p:sp>
      <p:sp>
        <p:nvSpPr>
          <p:cNvPr id="44" name="Shape 42"/>
          <p:cNvSpPr/>
          <p:nvPr/>
        </p:nvSpPr>
        <p:spPr>
          <a:xfrm>
            <a:off x="548640" y="4251960"/>
            <a:ext cx="7894015" cy="548640"/>
          </a:xfrm>
          <a:prstGeom prst="roundRect">
            <a:avLst>
              <a:gd name="adj" fmla="val 100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5" name="Shape 43"/>
          <p:cNvSpPr/>
          <p:nvPr/>
        </p:nvSpPr>
        <p:spPr>
          <a:xfrm>
            <a:off x="685800" y="4379976"/>
            <a:ext cx="292608" cy="292608"/>
          </a:xfrm>
          <a:prstGeom prst="roundRect">
            <a:avLst>
              <a:gd name="adj" fmla="val 50000"/>
            </a:avLst>
          </a:prstGeom>
          <a:solidFill>
            <a:srgbClr val="1E2761"/>
          </a:solidFill>
          <a:ln w="12700">
            <a:solidFill>
              <a:srgbClr val="1E2761"/>
            </a:solidFill>
            <a:prstDash val="solid"/>
          </a:ln>
        </p:spPr>
      </p:sp>
      <p:sp>
        <p:nvSpPr>
          <p:cNvPr id="46" name="Text 44"/>
          <p:cNvSpPr/>
          <p:nvPr/>
        </p:nvSpPr>
        <p:spPr>
          <a:xfrm>
            <a:off x="685800" y="437997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4</a:t>
            </a:r>
            <a:endParaRPr lang="en-US" sz="1000" dirty="0"/>
          </a:p>
        </p:txBody>
      </p:sp>
      <p:sp>
        <p:nvSpPr>
          <p:cNvPr id="47" name="Text 45"/>
          <p:cNvSpPr/>
          <p:nvPr/>
        </p:nvSpPr>
        <p:spPr>
          <a:xfrm>
            <a:off x="1097280" y="4288536"/>
            <a:ext cx="777240" cy="237744"/>
          </a:xfrm>
          <a:prstGeom prst="rect">
            <a:avLst/>
          </a:prstGeom>
          <a:noFill/>
          <a:ln/>
        </p:spPr>
        <p:txBody>
          <a:bodyPr wrap="square" lIns="0" tIns="0" rIns="0" bIns="0" rtlCol="0" anchor="ctr"/>
          <a:lstStyle/>
          <a:p>
            <a:pPr indent="0" marL="0">
              <a:buNone/>
            </a:pPr>
            <a:r>
              <a:rPr lang="en-US" sz="950" b="1" dirty="0">
                <a:solidFill>
                  <a:srgbClr val="6B7280"/>
                </a:solidFill>
                <a:latin typeface="Meiryo" pitchFamily="34" charset="0"/>
                <a:ea typeface="Meiryo" pitchFamily="34" charset="-122"/>
                <a:cs typeface="Meiryo" pitchFamily="34" charset="-120"/>
              </a:rPr>
              <a:t>根拠</a:t>
            </a:r>
            <a:endParaRPr lang="en-US" sz="950" dirty="0"/>
          </a:p>
        </p:txBody>
      </p:sp>
      <p:sp>
        <p:nvSpPr>
          <p:cNvPr id="48" name="Text 46"/>
          <p:cNvSpPr/>
          <p:nvPr/>
        </p:nvSpPr>
        <p:spPr>
          <a:xfrm>
            <a:off x="1901952" y="4270248"/>
            <a:ext cx="6217920" cy="256032"/>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経営層で3か月試し、有効性を確認しました</a:t>
            </a:r>
            <a:endParaRPr lang="en-US" sz="1150" dirty="0"/>
          </a:p>
        </p:txBody>
      </p:sp>
      <p:sp>
        <p:nvSpPr>
          <p:cNvPr id="49" name="Text 47"/>
          <p:cNvSpPr/>
          <p:nvPr/>
        </p:nvSpPr>
        <p:spPr>
          <a:xfrm>
            <a:off x="1097280" y="4544568"/>
            <a:ext cx="7040880" cy="237744"/>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週次会議の管理台帳として、そのまま使えることを確認しています</a:t>
            </a:r>
            <a:endParaRPr lang="en-US" sz="900" dirty="0"/>
          </a:p>
        </p:txBody>
      </p:sp>
      <p:sp>
        <p:nvSpPr>
          <p:cNvPr id="50" name="Shape 48"/>
          <p:cNvSpPr/>
          <p:nvPr/>
        </p:nvSpPr>
        <p:spPr>
          <a:xfrm>
            <a:off x="548640" y="4919472"/>
            <a:ext cx="7894015" cy="548640"/>
          </a:xfrm>
          <a:prstGeom prst="roundRect">
            <a:avLst>
              <a:gd name="adj" fmla="val 100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51" name="Shape 49"/>
          <p:cNvSpPr/>
          <p:nvPr/>
        </p:nvSpPr>
        <p:spPr>
          <a:xfrm>
            <a:off x="685800" y="5047488"/>
            <a:ext cx="292608" cy="292608"/>
          </a:xfrm>
          <a:prstGeom prst="roundRect">
            <a:avLst>
              <a:gd name="adj" fmla="val 50000"/>
            </a:avLst>
          </a:prstGeom>
          <a:solidFill>
            <a:srgbClr val="1E2761"/>
          </a:solidFill>
          <a:ln w="12700">
            <a:solidFill>
              <a:srgbClr val="1E2761"/>
            </a:solidFill>
            <a:prstDash val="solid"/>
          </a:ln>
        </p:spPr>
      </p:sp>
      <p:sp>
        <p:nvSpPr>
          <p:cNvPr id="52" name="Text 50"/>
          <p:cNvSpPr/>
          <p:nvPr/>
        </p:nvSpPr>
        <p:spPr>
          <a:xfrm>
            <a:off x="685800" y="5047488"/>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5</a:t>
            </a:r>
            <a:endParaRPr lang="en-US" sz="1000" dirty="0"/>
          </a:p>
        </p:txBody>
      </p:sp>
      <p:sp>
        <p:nvSpPr>
          <p:cNvPr id="53" name="Text 51"/>
          <p:cNvSpPr/>
          <p:nvPr/>
        </p:nvSpPr>
        <p:spPr>
          <a:xfrm>
            <a:off x="1097280" y="4956048"/>
            <a:ext cx="777240" cy="237744"/>
          </a:xfrm>
          <a:prstGeom prst="rect">
            <a:avLst/>
          </a:prstGeom>
          <a:noFill/>
          <a:ln/>
        </p:spPr>
        <p:txBody>
          <a:bodyPr wrap="square" lIns="0" tIns="0" rIns="0" bIns="0" rtlCol="0" anchor="ctr"/>
          <a:lstStyle/>
          <a:p>
            <a:pPr indent="0" marL="0">
              <a:buNone/>
            </a:pPr>
            <a:r>
              <a:rPr lang="en-US" sz="950" b="1" dirty="0">
                <a:solidFill>
                  <a:srgbClr val="6B7280"/>
                </a:solidFill>
                <a:latin typeface="Meiryo" pitchFamily="34" charset="0"/>
                <a:ea typeface="Meiryo" pitchFamily="34" charset="-122"/>
                <a:cs typeface="Meiryo" pitchFamily="34" charset="-120"/>
              </a:rPr>
              <a:t>安全性</a:t>
            </a:r>
            <a:endParaRPr lang="en-US" sz="950" dirty="0"/>
          </a:p>
        </p:txBody>
      </p:sp>
      <p:sp>
        <p:nvSpPr>
          <p:cNvPr id="54" name="Text 52"/>
          <p:cNvSpPr/>
          <p:nvPr/>
        </p:nvSpPr>
        <p:spPr>
          <a:xfrm>
            <a:off x="1901952" y="4937760"/>
            <a:ext cx="6217920" cy="256032"/>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Business プランの SAML SSO で Microsoft 365 と統合</a:t>
            </a:r>
            <a:endParaRPr lang="en-US" sz="1150" dirty="0"/>
          </a:p>
        </p:txBody>
      </p:sp>
      <p:sp>
        <p:nvSpPr>
          <p:cNvPr id="55" name="Text 53"/>
          <p:cNvSpPr/>
          <p:nvPr/>
        </p:nvSpPr>
        <p:spPr>
          <a:xfrm>
            <a:off x="1097280" y="5212080"/>
            <a:ext cx="7040880" cy="237744"/>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当社の既存セキュリティポリシーがそのまま Notion にも適用されます</a:t>
            </a:r>
            <a:endParaRPr lang="en-US" sz="900" dirty="0"/>
          </a:p>
        </p:txBody>
      </p:sp>
      <p:sp>
        <p:nvSpPr>
          <p:cNvPr id="56" name="Shape 54"/>
          <p:cNvSpPr/>
          <p:nvPr/>
        </p:nvSpPr>
        <p:spPr>
          <a:xfrm>
            <a:off x="8625535" y="2249424"/>
            <a:ext cx="3017520" cy="3108960"/>
          </a:xfrm>
          <a:prstGeom prst="roundRect">
            <a:avLst>
              <a:gd name="adj" fmla="val 1818"/>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57" name="Text 55"/>
          <p:cNvSpPr/>
          <p:nvPr/>
        </p:nvSpPr>
        <p:spPr>
          <a:xfrm>
            <a:off x="8808415" y="2414016"/>
            <a:ext cx="2651760" cy="274320"/>
          </a:xfrm>
          <a:prstGeom prst="rect">
            <a:avLst/>
          </a:prstGeom>
          <a:noFill/>
          <a:ln/>
        </p:spPr>
        <p:txBody>
          <a:bodyPr wrap="square" lIns="0" tIns="0" rIns="0" bIns="0" rtlCol="0" anchor="ctr"/>
          <a:lstStyle/>
          <a:p>
            <a:pPr indent="0" marL="0">
              <a:buNone/>
            </a:pPr>
            <a:r>
              <a:rPr lang="en-US" sz="1200" b="1" dirty="0">
                <a:solidFill>
                  <a:srgbClr val="CADCFC"/>
                </a:solidFill>
                <a:latin typeface="Meiryo" pitchFamily="34" charset="0"/>
                <a:ea typeface="Meiryo" pitchFamily="34" charset="-122"/>
                <a:cs typeface="Meiryo" pitchFamily="34" charset="-120"/>
              </a:rPr>
              <a:t>本日のお願い</a:t>
            </a:r>
            <a:endParaRPr lang="en-US" sz="1200" dirty="0"/>
          </a:p>
        </p:txBody>
      </p:sp>
      <p:sp>
        <p:nvSpPr>
          <p:cNvPr id="58" name="Text 56"/>
          <p:cNvSpPr/>
          <p:nvPr/>
        </p:nvSpPr>
        <p:spPr>
          <a:xfrm>
            <a:off x="8808415" y="2743200"/>
            <a:ext cx="2651760" cy="658368"/>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140名</a:t>
            </a:r>
            <a:endParaRPr lang="en-US" sz="4000" dirty="0"/>
          </a:p>
        </p:txBody>
      </p:sp>
      <p:sp>
        <p:nvSpPr>
          <p:cNvPr id="59" name="Text 57"/>
          <p:cNvSpPr/>
          <p:nvPr/>
        </p:nvSpPr>
        <p:spPr>
          <a:xfrm>
            <a:off x="8808415" y="3383280"/>
            <a:ext cx="2651760" cy="237744"/>
          </a:xfrm>
          <a:prstGeom prst="rect">
            <a:avLst/>
          </a:prstGeom>
          <a:noFill/>
          <a:ln/>
        </p:spPr>
        <p:txBody>
          <a:bodyPr wrap="square" lIns="0" tIns="0" rIns="0" bIns="0" rtlCol="0" anchor="ctr"/>
          <a:lstStyle/>
          <a:p>
            <a:pPr indent="0" marL="0">
              <a:buNone/>
            </a:pPr>
            <a:r>
              <a:rPr lang="en-US" sz="950" dirty="0">
                <a:solidFill>
                  <a:srgbClr val="CADCFC"/>
                </a:solidFill>
                <a:latin typeface="Meiryo" pitchFamily="34" charset="0"/>
                <a:ea typeface="Meiryo" pitchFamily="34" charset="-122"/>
                <a:cs typeface="Meiryo" pitchFamily="34" charset="-120"/>
              </a:rPr>
              <a:t>対象人数</a:t>
            </a:r>
            <a:endParaRPr lang="en-US" sz="950" dirty="0"/>
          </a:p>
        </p:txBody>
      </p:sp>
      <p:sp>
        <p:nvSpPr>
          <p:cNvPr id="60" name="Text 58"/>
          <p:cNvSpPr/>
          <p:nvPr/>
        </p:nvSpPr>
        <p:spPr>
          <a:xfrm>
            <a:off x="8808415" y="3785616"/>
            <a:ext cx="2651760" cy="384048"/>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年額 約520.8万円</a:t>
            </a:r>
            <a:endParaRPr lang="en-US" sz="2000" dirty="0"/>
          </a:p>
        </p:txBody>
      </p:sp>
      <p:sp>
        <p:nvSpPr>
          <p:cNvPr id="61" name="Text 59"/>
          <p:cNvSpPr/>
          <p:nvPr/>
        </p:nvSpPr>
        <p:spPr>
          <a:xfrm>
            <a:off x="8808415" y="4206240"/>
            <a:ext cx="2651760" cy="548640"/>
          </a:xfrm>
          <a:prstGeom prst="rect">
            <a:avLst/>
          </a:prstGeom>
          <a:noFill/>
          <a:ln/>
        </p:spPr>
        <p:txBody>
          <a:bodyPr wrap="square" lIns="0" tIns="0" rIns="0" bIns="0" rtlCol="0" anchor="ctr"/>
          <a:lstStyle/>
          <a:p>
            <a:pPr indent="0" marL="0">
              <a:buNone/>
            </a:pPr>
            <a:r>
              <a:rPr lang="en-US" sz="950" dirty="0">
                <a:solidFill>
                  <a:srgbClr val="CADCFC"/>
                </a:solidFill>
                <a:latin typeface="Meiryo" pitchFamily="34" charset="0"/>
                <a:ea typeface="Meiryo" pitchFamily="34" charset="-122"/>
                <a:cs typeface="Meiryo" pitchFamily="34" charset="-120"/>
              </a:rPr>
              <a:t>Business プラン・年払</a:t>
            </a:r>
            <a:endParaRPr lang="en-US" sz="950" dirty="0"/>
          </a:p>
          <a:p>
            <a:pPr indent="0" marL="0">
              <a:buNone/>
            </a:pPr>
            <a:r>
              <a:rPr lang="en-US" sz="950" dirty="0">
                <a:solidFill>
                  <a:srgbClr val="CADCFC"/>
                </a:solidFill>
                <a:latin typeface="Meiryo" pitchFamily="34" charset="0"/>
                <a:ea typeface="Meiryo" pitchFamily="34" charset="-122"/>
                <a:cs typeface="Meiryo" pitchFamily="34" charset="-120"/>
              </a:rPr>
              <a:t>この金額を上限としてご承認ください</a:t>
            </a:r>
            <a:endParaRPr lang="en-US" sz="950" dirty="0"/>
          </a:p>
        </p:txBody>
      </p:sp>
      <p:sp>
        <p:nvSpPr>
          <p:cNvPr id="62" name="Text 60"/>
          <p:cNvSpPr/>
          <p:nvPr/>
        </p:nvSpPr>
        <p:spPr>
          <a:xfrm>
            <a:off x="8808415" y="4892040"/>
            <a:ext cx="2651760" cy="274320"/>
          </a:xfrm>
          <a:prstGeom prst="rect">
            <a:avLst/>
          </a:prstGeom>
          <a:noFill/>
          <a:ln/>
        </p:spPr>
        <p:txBody>
          <a:bodyPr wrap="square" lIns="0" tIns="0" rIns="0" bIns="0" rtlCol="0" anchor="ctr"/>
          <a:lstStyle/>
          <a:p>
            <a:pPr indent="0" marL="0">
              <a:buNone/>
            </a:pPr>
            <a:r>
              <a:rPr lang="en-US" sz="1000" b="1" i="1" dirty="0">
                <a:solidFill>
                  <a:srgbClr val="CADCFC"/>
                </a:solidFill>
                <a:latin typeface="Meiryo" pitchFamily="34" charset="0"/>
                <a:ea typeface="Meiryo" pitchFamily="34" charset="-122"/>
                <a:cs typeface="Meiryo" pitchFamily="34" charset="-120"/>
              </a:rPr>
              <a:t>1人あたり 1営業日 約169円</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第1章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1E2761"/>
          </a:solidFill>
          <a:ln w="12700">
            <a:solidFill>
              <a:srgbClr val="1E2761"/>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背景 — PCAは再建の実行フェーズにある</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再建の成否は、戦略の中身以上に「やり切る」実行管理で決まります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3</a:t>
            </a:r>
            <a:endParaRPr lang="en-US" sz="1000" dirty="0"/>
          </a:p>
        </p:txBody>
      </p:sp>
      <p:sp>
        <p:nvSpPr>
          <p:cNvPr id="26" name="Shape 24"/>
          <p:cNvSpPr/>
          <p:nvPr/>
        </p:nvSpPr>
        <p:spPr>
          <a:xfrm>
            <a:off x="548640" y="2331720"/>
            <a:ext cx="5410048" cy="1874520"/>
          </a:xfrm>
          <a:prstGeom prst="roundRect">
            <a:avLst>
              <a:gd name="adj" fmla="val 2927"/>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27" name="Shape 25"/>
          <p:cNvSpPr/>
          <p:nvPr/>
        </p:nvSpPr>
        <p:spPr>
          <a:xfrm>
            <a:off x="777240" y="2514600"/>
            <a:ext cx="868680" cy="310896"/>
          </a:xfrm>
          <a:prstGeom prst="roundRect">
            <a:avLst>
              <a:gd name="adj" fmla="val 14706"/>
            </a:avLst>
          </a:prstGeom>
          <a:solidFill>
            <a:srgbClr val="1E2761"/>
          </a:solidFill>
          <a:ln w="12700">
            <a:solidFill>
              <a:srgbClr val="1E2761"/>
            </a:solidFill>
            <a:prstDash val="solid"/>
          </a:ln>
        </p:spPr>
      </p:sp>
      <p:sp>
        <p:nvSpPr>
          <p:cNvPr id="28" name="Text 26"/>
          <p:cNvSpPr/>
          <p:nvPr/>
        </p:nvSpPr>
        <p:spPr>
          <a:xfrm>
            <a:off x="777240" y="2514600"/>
            <a:ext cx="86868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状況</a:t>
            </a:r>
            <a:endParaRPr lang="en-US" sz="1100" dirty="0"/>
          </a:p>
        </p:txBody>
      </p:sp>
      <p:sp>
        <p:nvSpPr>
          <p:cNvPr id="29" name="Text 27"/>
          <p:cNvSpPr/>
          <p:nvPr/>
        </p:nvSpPr>
        <p:spPr>
          <a:xfrm>
            <a:off x="777240" y="2944368"/>
            <a:ext cx="4952848" cy="109728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A1A2E"/>
                </a:solidFill>
                <a:latin typeface="Meiryo" pitchFamily="34" charset="0"/>
                <a:ea typeface="Meiryo" pitchFamily="34" charset="-122"/>
                <a:cs typeface="Meiryo" pitchFamily="34" charset="-120"/>
              </a:rPr>
              <a:t>中期経営計画 FY27-29 を実行中</a:t>
            </a:r>
            <a:endParaRPr lang="en-US" sz="1200" dirty="0"/>
          </a:p>
          <a:p>
            <a:pPr marL="342900" indent="-342900">
              <a:spcAft>
                <a:spcPts val="700"/>
              </a:spcAft>
              <a:buSzPct val="100000"/>
              <a:buChar char="•"/>
            </a:pPr>
            <a:r>
              <a:rPr lang="en-US" sz="1200" dirty="0">
                <a:solidFill>
                  <a:srgbClr val="1A1A2E"/>
                </a:solidFill>
                <a:latin typeface="Meiryo" pitchFamily="34" charset="0"/>
                <a:ea typeface="Meiryo" pitchFamily="34" charset="-122"/>
                <a:cs typeface="Meiryo" pitchFamily="34" charset="-120"/>
              </a:rPr>
              <a:t>10月に新体制を発表し、11月に組織変更</a:t>
            </a:r>
            <a:endParaRPr lang="en-US" sz="1200" dirty="0"/>
          </a:p>
          <a:p>
            <a:pPr marL="342900" indent="-342900">
              <a:spcAft>
                <a:spcPts val="700"/>
              </a:spcAft>
              <a:buSzPct val="100000"/>
              <a:buChar char="•"/>
            </a:pPr>
            <a:r>
              <a:rPr lang="en-US" sz="1200" dirty="0">
                <a:solidFill>
                  <a:srgbClr val="1A1A2E"/>
                </a:solidFill>
                <a:latin typeface="Meiryo" pitchFamily="34" charset="0"/>
                <a:ea typeface="Meiryo" pitchFamily="34" charset="-122"/>
                <a:cs typeface="Meiryo" pitchFamily="34" charset="-120"/>
              </a:rPr>
              <a:t>部門をまたぐ変革案件が同時多発</a:t>
            </a:r>
            <a:endParaRPr lang="en-US" sz="1200" dirty="0"/>
          </a:p>
        </p:txBody>
      </p:sp>
      <p:sp>
        <p:nvSpPr>
          <p:cNvPr id="30" name="Shape 28"/>
          <p:cNvSpPr/>
          <p:nvPr/>
        </p:nvSpPr>
        <p:spPr>
          <a:xfrm>
            <a:off x="6233008" y="2331720"/>
            <a:ext cx="5410048" cy="1874520"/>
          </a:xfrm>
          <a:prstGeom prst="roundRect">
            <a:avLst>
              <a:gd name="adj" fmla="val 2927"/>
            </a:avLst>
          </a:prstGeom>
          <a:solidFill>
            <a:srgbClr val="FBEDEC"/>
          </a:solidFill>
          <a:ln w="12700">
            <a:solidFill>
              <a:srgbClr val="F0CFCC"/>
            </a:solidFill>
            <a:prstDash val="solid"/>
          </a:ln>
          <a:effectLst>
            <a:outerShdw sx="100000" sy="100000" kx="0" ky="0" algn="bl" rotWithShape="0" blurRad="101600" dist="12700" dir="5400000">
              <a:srgbClr val="1E2761">
                <a:alpha val="10000"/>
              </a:srgbClr>
            </a:outerShdw>
          </a:effectLst>
        </p:spPr>
      </p:sp>
      <p:sp>
        <p:nvSpPr>
          <p:cNvPr id="31" name="Shape 29"/>
          <p:cNvSpPr/>
          <p:nvPr/>
        </p:nvSpPr>
        <p:spPr>
          <a:xfrm>
            <a:off x="6461608" y="2514600"/>
            <a:ext cx="868680" cy="310896"/>
          </a:xfrm>
          <a:prstGeom prst="roundRect">
            <a:avLst>
              <a:gd name="adj" fmla="val 14706"/>
            </a:avLst>
          </a:prstGeom>
          <a:solidFill>
            <a:srgbClr val="B3261E"/>
          </a:solidFill>
          <a:ln w="12700">
            <a:solidFill>
              <a:srgbClr val="B3261E"/>
            </a:solidFill>
            <a:prstDash val="solid"/>
          </a:ln>
        </p:spPr>
      </p:sp>
      <p:sp>
        <p:nvSpPr>
          <p:cNvPr id="32" name="Text 30"/>
          <p:cNvSpPr/>
          <p:nvPr/>
        </p:nvSpPr>
        <p:spPr>
          <a:xfrm>
            <a:off x="6461608" y="2514600"/>
            <a:ext cx="86868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帰結</a:t>
            </a:r>
            <a:endParaRPr lang="en-US" sz="1100" dirty="0"/>
          </a:p>
        </p:txBody>
      </p:sp>
      <p:sp>
        <p:nvSpPr>
          <p:cNvPr id="33" name="Text 31"/>
          <p:cNvSpPr/>
          <p:nvPr/>
        </p:nvSpPr>
        <p:spPr>
          <a:xfrm>
            <a:off x="6461608" y="2944368"/>
            <a:ext cx="4952848" cy="109728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A1A2E"/>
                </a:solidFill>
                <a:latin typeface="Meiryo" pitchFamily="34" charset="0"/>
                <a:ea typeface="Meiryo" pitchFamily="34" charset="-122"/>
                <a:cs typeface="Meiryo" pitchFamily="34" charset="-120"/>
              </a:rPr>
              <a:t>決めたことの実行漏れが最大のリスク</a:t>
            </a:r>
            <a:endParaRPr lang="en-US" sz="1200" dirty="0"/>
          </a:p>
          <a:p>
            <a:pPr marL="342900" indent="-342900">
              <a:spcAft>
                <a:spcPts val="700"/>
              </a:spcAft>
              <a:buSzPct val="100000"/>
              <a:buChar char="•"/>
            </a:pPr>
            <a:r>
              <a:rPr lang="en-US" sz="1200" dirty="0">
                <a:solidFill>
                  <a:srgbClr val="1A1A2E"/>
                </a:solidFill>
                <a:latin typeface="Meiryo" pitchFamily="34" charset="0"/>
                <a:ea typeface="Meiryo" pitchFamily="34" charset="-122"/>
                <a:cs typeface="Meiryo" pitchFamily="34" charset="-120"/>
              </a:rPr>
              <a:t>実行管理の巧拙が、そのまま業績に直結する</a:t>
            </a:r>
            <a:endParaRPr lang="en-US" sz="1200" dirty="0"/>
          </a:p>
        </p:txBody>
      </p:sp>
      <p:sp>
        <p:nvSpPr>
          <p:cNvPr id="34" name="Shape 32"/>
          <p:cNvSpPr/>
          <p:nvPr/>
        </p:nvSpPr>
        <p:spPr>
          <a:xfrm>
            <a:off x="548640" y="4434840"/>
            <a:ext cx="11094415" cy="1600200"/>
          </a:xfrm>
          <a:prstGeom prst="roundRect">
            <a:avLst>
              <a:gd name="adj" fmla="val 3429"/>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5" name="Text 33"/>
          <p:cNvSpPr/>
          <p:nvPr/>
        </p:nvSpPr>
        <p:spPr>
          <a:xfrm>
            <a:off x="804672" y="4572000"/>
            <a:ext cx="3657600" cy="274320"/>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いま起きていること</a:t>
            </a:r>
            <a:endParaRPr lang="en-US" sz="1200" dirty="0"/>
          </a:p>
        </p:txBody>
      </p:sp>
      <p:sp>
        <p:nvSpPr>
          <p:cNvPr id="36" name="Text 34"/>
          <p:cNvSpPr/>
          <p:nvPr/>
        </p:nvSpPr>
        <p:spPr>
          <a:xfrm>
            <a:off x="804672" y="4956048"/>
            <a:ext cx="3291840" cy="256032"/>
          </a:xfrm>
          <a:prstGeom prst="rect">
            <a:avLst/>
          </a:prstGeom>
          <a:noFill/>
          <a:ln/>
        </p:spPr>
        <p:txBody>
          <a:bodyPr wrap="square" lIns="0" tIns="0" rIns="0" bIns="0" rtlCol="0" anchor="ctr"/>
          <a:lstStyle/>
          <a:p>
            <a:pPr indent="0" marL="0">
              <a:buNone/>
            </a:pPr>
            <a:r>
              <a:rPr lang="en-US" sz="1000" b="1" dirty="0">
                <a:solidFill>
                  <a:srgbClr val="6B7280"/>
                </a:solidFill>
                <a:latin typeface="Meiryo" pitchFamily="34" charset="0"/>
                <a:ea typeface="Meiryo" pitchFamily="34" charset="-122"/>
                <a:cs typeface="Meiryo" pitchFamily="34" charset="-120"/>
              </a:rPr>
              <a:t>進捗の確認</a:t>
            </a:r>
            <a:endParaRPr lang="en-US" sz="1000" dirty="0"/>
          </a:p>
        </p:txBody>
      </p:sp>
      <p:sp>
        <p:nvSpPr>
          <p:cNvPr id="37" name="Text 35"/>
          <p:cNvSpPr/>
          <p:nvPr/>
        </p:nvSpPr>
        <p:spPr>
          <a:xfrm>
            <a:off x="804672" y="5212080"/>
            <a:ext cx="3291840" cy="548640"/>
          </a:xfrm>
          <a:prstGeom prst="rect">
            <a:avLst/>
          </a:prstGeom>
          <a:noFill/>
          <a:ln/>
        </p:spPr>
        <p:txBody>
          <a:bodyPr wrap="square" lIns="0" tIns="0" rIns="0" bIns="0" rtlCol="0" anchor="ctr"/>
          <a:lstStyle/>
          <a:p>
            <a:pPr indent="0" marL="0">
              <a:buNone/>
            </a:pPr>
            <a:r>
              <a:rPr lang="en-US" sz="1150" dirty="0">
                <a:solidFill>
                  <a:srgbClr val="1A1A2E"/>
                </a:solidFill>
                <a:latin typeface="Meiryo" pitchFamily="34" charset="0"/>
                <a:ea typeface="Meiryo" pitchFamily="34" charset="-122"/>
                <a:cs typeface="Meiryo" pitchFamily="34" charset="-120"/>
              </a:rPr>
              <a:t>会議での口頭確認に頼っている</a:t>
            </a:r>
            <a:endParaRPr lang="en-US" sz="1150" dirty="0"/>
          </a:p>
        </p:txBody>
      </p:sp>
      <p:sp>
        <p:nvSpPr>
          <p:cNvPr id="38" name="Text 36"/>
          <p:cNvSpPr/>
          <p:nvPr/>
        </p:nvSpPr>
        <p:spPr>
          <a:xfrm>
            <a:off x="4370832" y="4956048"/>
            <a:ext cx="3291840" cy="256032"/>
          </a:xfrm>
          <a:prstGeom prst="rect">
            <a:avLst/>
          </a:prstGeom>
          <a:noFill/>
          <a:ln/>
        </p:spPr>
        <p:txBody>
          <a:bodyPr wrap="square" lIns="0" tIns="0" rIns="0" bIns="0" rtlCol="0" anchor="ctr"/>
          <a:lstStyle/>
          <a:p>
            <a:pPr indent="0" marL="0">
              <a:buNone/>
            </a:pPr>
            <a:r>
              <a:rPr lang="en-US" sz="1000" b="1" dirty="0">
                <a:solidFill>
                  <a:srgbClr val="6B7280"/>
                </a:solidFill>
                <a:latin typeface="Meiryo" pitchFamily="34" charset="0"/>
                <a:ea typeface="Meiryo" pitchFamily="34" charset="-122"/>
                <a:cs typeface="Meiryo" pitchFamily="34" charset="-120"/>
              </a:rPr>
              <a:t>決定事項の追跡</a:t>
            </a:r>
            <a:endParaRPr lang="en-US" sz="1000" dirty="0"/>
          </a:p>
        </p:txBody>
      </p:sp>
      <p:sp>
        <p:nvSpPr>
          <p:cNvPr id="39" name="Text 37"/>
          <p:cNvSpPr/>
          <p:nvPr/>
        </p:nvSpPr>
        <p:spPr>
          <a:xfrm>
            <a:off x="4370832" y="5212080"/>
            <a:ext cx="3291840" cy="548640"/>
          </a:xfrm>
          <a:prstGeom prst="rect">
            <a:avLst/>
          </a:prstGeom>
          <a:noFill/>
          <a:ln/>
        </p:spPr>
        <p:txBody>
          <a:bodyPr wrap="square" lIns="0" tIns="0" rIns="0" bIns="0" rtlCol="0" anchor="ctr"/>
          <a:lstStyle/>
          <a:p>
            <a:pPr indent="0" marL="0">
              <a:buNone/>
            </a:pPr>
            <a:r>
              <a:rPr lang="en-US" sz="1150" dirty="0">
                <a:solidFill>
                  <a:srgbClr val="1A1A2E"/>
                </a:solidFill>
                <a:latin typeface="Meiryo" pitchFamily="34" charset="0"/>
                <a:ea typeface="Meiryo" pitchFamily="34" charset="-122"/>
                <a:cs typeface="Meiryo" pitchFamily="34" charset="-120"/>
              </a:rPr>
              <a:t>担当者の記憶と個人メモに依存している</a:t>
            </a:r>
            <a:endParaRPr lang="en-US" sz="1150" dirty="0"/>
          </a:p>
        </p:txBody>
      </p:sp>
      <p:sp>
        <p:nvSpPr>
          <p:cNvPr id="40" name="Text 38"/>
          <p:cNvSpPr/>
          <p:nvPr/>
        </p:nvSpPr>
        <p:spPr>
          <a:xfrm>
            <a:off x="7936992" y="4956048"/>
            <a:ext cx="3291840" cy="256032"/>
          </a:xfrm>
          <a:prstGeom prst="rect">
            <a:avLst/>
          </a:prstGeom>
          <a:noFill/>
          <a:ln/>
        </p:spPr>
        <p:txBody>
          <a:bodyPr wrap="square" lIns="0" tIns="0" rIns="0" bIns="0" rtlCol="0" anchor="ctr"/>
          <a:lstStyle/>
          <a:p>
            <a:pPr indent="0" marL="0">
              <a:buNone/>
            </a:pPr>
            <a:r>
              <a:rPr lang="en-US" sz="1000" b="1" dirty="0">
                <a:solidFill>
                  <a:srgbClr val="6B7280"/>
                </a:solidFill>
                <a:latin typeface="Meiryo" pitchFamily="34" charset="0"/>
                <a:ea typeface="Meiryo" pitchFamily="34" charset="-122"/>
                <a:cs typeface="Meiryo" pitchFamily="34" charset="-120"/>
              </a:rPr>
              <a:t>過去の経緯</a:t>
            </a:r>
            <a:endParaRPr lang="en-US" sz="1000" dirty="0"/>
          </a:p>
        </p:txBody>
      </p:sp>
      <p:sp>
        <p:nvSpPr>
          <p:cNvPr id="41" name="Text 39"/>
          <p:cNvSpPr/>
          <p:nvPr/>
        </p:nvSpPr>
        <p:spPr>
          <a:xfrm>
            <a:off x="7936992" y="5212080"/>
            <a:ext cx="3291840" cy="548640"/>
          </a:xfrm>
          <a:prstGeom prst="rect">
            <a:avLst/>
          </a:prstGeom>
          <a:noFill/>
          <a:ln/>
        </p:spPr>
        <p:txBody>
          <a:bodyPr wrap="square" lIns="0" tIns="0" rIns="0" bIns="0" rtlCol="0" anchor="ctr"/>
          <a:lstStyle/>
          <a:p>
            <a:pPr indent="0" marL="0">
              <a:buNone/>
            </a:pPr>
            <a:r>
              <a:rPr lang="en-US" sz="1150" dirty="0">
                <a:solidFill>
                  <a:srgbClr val="1A1A2E"/>
                </a:solidFill>
                <a:latin typeface="Meiryo" pitchFamily="34" charset="0"/>
                <a:ea typeface="Meiryo" pitchFamily="34" charset="-122"/>
                <a:cs typeface="Meiryo" pitchFamily="34" charset="-120"/>
              </a:rPr>
              <a:t>「どこにあるか」を探すところから始まる</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第2章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1E2761"/>
          </a:solidFill>
          <a:ln w="12700">
            <a:solidFill>
              <a:srgbClr val="1E2761"/>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課題① — プロジェクト全体を統括する仕組みがない</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11月にPMOを新設しますが、PMOが部署を越えて働くための仕組みがありません</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4</a:t>
            </a:r>
            <a:endParaRPr lang="en-US" sz="1000" dirty="0"/>
          </a:p>
        </p:txBody>
      </p:sp>
      <p:sp>
        <p:nvSpPr>
          <p:cNvPr id="26" name="Shape 24"/>
          <p:cNvSpPr/>
          <p:nvPr/>
        </p:nvSpPr>
        <p:spPr>
          <a:xfrm>
            <a:off x="548640" y="2231136"/>
            <a:ext cx="4846320" cy="2606040"/>
          </a:xfrm>
          <a:prstGeom prst="roundRect">
            <a:avLst>
              <a:gd name="adj" fmla="val 2105"/>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7" name="Text 25"/>
          <p:cNvSpPr/>
          <p:nvPr/>
        </p:nvSpPr>
        <p:spPr>
          <a:xfrm>
            <a:off x="777240" y="2340864"/>
            <a:ext cx="4389120" cy="274320"/>
          </a:xfrm>
          <a:prstGeom prst="rect">
            <a:avLst/>
          </a:prstGeom>
          <a:noFill/>
          <a:ln/>
        </p:spPr>
        <p:txBody>
          <a:bodyPr wrap="square" lIns="0" tIns="0" rIns="0" bIns="0" rtlCol="0" anchor="ctr"/>
          <a:lstStyle/>
          <a:p>
            <a:pPr indent="0" marL="0">
              <a:buNone/>
            </a:pPr>
            <a:r>
              <a:rPr lang="en-US" sz="1200" b="1" dirty="0">
                <a:solidFill>
                  <a:srgbClr val="6B7280"/>
                </a:solidFill>
                <a:latin typeface="Meiryo" pitchFamily="34" charset="0"/>
                <a:ea typeface="Meiryo" pitchFamily="34" charset="-122"/>
                <a:cs typeface="Meiryo" pitchFamily="34" charset="-120"/>
              </a:rPr>
              <a:t>これまで（4部門）</a:t>
            </a:r>
            <a:endParaRPr lang="en-US" sz="1200" dirty="0"/>
          </a:p>
        </p:txBody>
      </p:sp>
      <p:sp>
        <p:nvSpPr>
          <p:cNvPr id="28" name="Shape 26"/>
          <p:cNvSpPr/>
          <p:nvPr/>
        </p:nvSpPr>
        <p:spPr>
          <a:xfrm>
            <a:off x="777240" y="2670048"/>
            <a:ext cx="4389120" cy="274320"/>
          </a:xfrm>
          <a:prstGeom prst="roundRect">
            <a:avLst>
              <a:gd name="adj" fmla="val 13333"/>
            </a:avLst>
          </a:prstGeom>
          <a:solidFill>
            <a:srgbClr val="F4F6FA"/>
          </a:solidFill>
          <a:ln w="12700">
            <a:solidFill>
              <a:srgbClr val="D6DEEC"/>
            </a:solidFill>
            <a:prstDash val="solid"/>
          </a:ln>
        </p:spPr>
      </p:sp>
      <p:sp>
        <p:nvSpPr>
          <p:cNvPr id="29" name="Text 27"/>
          <p:cNvSpPr/>
          <p:nvPr/>
        </p:nvSpPr>
        <p:spPr>
          <a:xfrm>
            <a:off x="960120" y="2670048"/>
            <a:ext cx="4023360" cy="274320"/>
          </a:xfrm>
          <a:prstGeom prst="rect">
            <a:avLst/>
          </a:prstGeom>
          <a:noFill/>
          <a:ln/>
        </p:spPr>
        <p:txBody>
          <a:bodyPr wrap="square" lIns="0" tIns="0" rIns="0" bIns="0" rtlCol="0" anchor="ctr"/>
          <a:lstStyle/>
          <a:p>
            <a:pPr indent="0" marL="0">
              <a:buNone/>
            </a:pPr>
            <a:r>
              <a:rPr lang="en-US" sz="1100" dirty="0">
                <a:solidFill>
                  <a:srgbClr val="1A1A2E"/>
                </a:solidFill>
                <a:latin typeface="Meiryo" pitchFamily="34" charset="0"/>
                <a:ea typeface="Meiryo" pitchFamily="34" charset="-122"/>
                <a:cs typeface="Meiryo" pitchFamily="34" charset="-120"/>
              </a:rPr>
              <a:t>営業</a:t>
            </a:r>
            <a:endParaRPr lang="en-US" sz="1100" dirty="0"/>
          </a:p>
        </p:txBody>
      </p:sp>
      <p:sp>
        <p:nvSpPr>
          <p:cNvPr id="30" name="Shape 28"/>
          <p:cNvSpPr/>
          <p:nvPr/>
        </p:nvSpPr>
        <p:spPr>
          <a:xfrm>
            <a:off x="777240" y="2999232"/>
            <a:ext cx="4389120" cy="274320"/>
          </a:xfrm>
          <a:prstGeom prst="roundRect">
            <a:avLst>
              <a:gd name="adj" fmla="val 13333"/>
            </a:avLst>
          </a:prstGeom>
          <a:solidFill>
            <a:srgbClr val="F4F6FA"/>
          </a:solidFill>
          <a:ln w="12700">
            <a:solidFill>
              <a:srgbClr val="D6DEEC"/>
            </a:solidFill>
            <a:prstDash val="solid"/>
          </a:ln>
        </p:spPr>
      </p:sp>
      <p:sp>
        <p:nvSpPr>
          <p:cNvPr id="31" name="Text 29"/>
          <p:cNvSpPr/>
          <p:nvPr/>
        </p:nvSpPr>
        <p:spPr>
          <a:xfrm>
            <a:off x="960120" y="2999232"/>
            <a:ext cx="4023360" cy="274320"/>
          </a:xfrm>
          <a:prstGeom prst="rect">
            <a:avLst/>
          </a:prstGeom>
          <a:noFill/>
          <a:ln/>
        </p:spPr>
        <p:txBody>
          <a:bodyPr wrap="square" lIns="0" tIns="0" rIns="0" bIns="0" rtlCol="0" anchor="ctr"/>
          <a:lstStyle/>
          <a:p>
            <a:pPr indent="0" marL="0">
              <a:buNone/>
            </a:pPr>
            <a:r>
              <a:rPr lang="en-US" sz="1100" dirty="0">
                <a:solidFill>
                  <a:srgbClr val="1A1A2E"/>
                </a:solidFill>
                <a:latin typeface="Meiryo" pitchFamily="34" charset="0"/>
                <a:ea typeface="Meiryo" pitchFamily="34" charset="-122"/>
                <a:cs typeface="Meiryo" pitchFamily="34" charset="-120"/>
              </a:rPr>
              <a:t>運営</a:t>
            </a:r>
            <a:endParaRPr lang="en-US" sz="1100" dirty="0"/>
          </a:p>
        </p:txBody>
      </p:sp>
      <p:sp>
        <p:nvSpPr>
          <p:cNvPr id="32" name="Shape 30"/>
          <p:cNvSpPr/>
          <p:nvPr/>
        </p:nvSpPr>
        <p:spPr>
          <a:xfrm>
            <a:off x="777240" y="3328416"/>
            <a:ext cx="4389120" cy="274320"/>
          </a:xfrm>
          <a:prstGeom prst="roundRect">
            <a:avLst>
              <a:gd name="adj" fmla="val 13333"/>
            </a:avLst>
          </a:prstGeom>
          <a:solidFill>
            <a:srgbClr val="F4F6FA"/>
          </a:solidFill>
          <a:ln w="12700">
            <a:solidFill>
              <a:srgbClr val="D6DEEC"/>
            </a:solidFill>
            <a:prstDash val="solid"/>
          </a:ln>
        </p:spPr>
      </p:sp>
      <p:sp>
        <p:nvSpPr>
          <p:cNvPr id="33" name="Text 31"/>
          <p:cNvSpPr/>
          <p:nvPr/>
        </p:nvSpPr>
        <p:spPr>
          <a:xfrm>
            <a:off x="960120" y="3328416"/>
            <a:ext cx="4023360" cy="274320"/>
          </a:xfrm>
          <a:prstGeom prst="rect">
            <a:avLst/>
          </a:prstGeom>
          <a:noFill/>
          <a:ln/>
        </p:spPr>
        <p:txBody>
          <a:bodyPr wrap="square" lIns="0" tIns="0" rIns="0" bIns="0" rtlCol="0" anchor="ctr"/>
          <a:lstStyle/>
          <a:p>
            <a:pPr indent="0" marL="0">
              <a:buNone/>
            </a:pPr>
            <a:r>
              <a:rPr lang="en-US" sz="1100" dirty="0">
                <a:solidFill>
                  <a:srgbClr val="1A1A2E"/>
                </a:solidFill>
                <a:latin typeface="Meiryo" pitchFamily="34" charset="0"/>
                <a:ea typeface="Meiryo" pitchFamily="34" charset="-122"/>
                <a:cs typeface="Meiryo" pitchFamily="34" charset="-120"/>
              </a:rPr>
              <a:t>講師管理</a:t>
            </a:r>
            <a:endParaRPr lang="en-US" sz="1100" dirty="0"/>
          </a:p>
        </p:txBody>
      </p:sp>
      <p:sp>
        <p:nvSpPr>
          <p:cNvPr id="34" name="Shape 32"/>
          <p:cNvSpPr/>
          <p:nvPr/>
        </p:nvSpPr>
        <p:spPr>
          <a:xfrm>
            <a:off x="777240" y="3657600"/>
            <a:ext cx="4389120" cy="274320"/>
          </a:xfrm>
          <a:prstGeom prst="roundRect">
            <a:avLst>
              <a:gd name="adj" fmla="val 13333"/>
            </a:avLst>
          </a:prstGeom>
          <a:solidFill>
            <a:srgbClr val="F4F6FA"/>
          </a:solidFill>
          <a:ln w="12700">
            <a:solidFill>
              <a:srgbClr val="D6DEEC"/>
            </a:solidFill>
            <a:prstDash val="solid"/>
          </a:ln>
        </p:spPr>
      </p:sp>
      <p:sp>
        <p:nvSpPr>
          <p:cNvPr id="35" name="Text 33"/>
          <p:cNvSpPr/>
          <p:nvPr/>
        </p:nvSpPr>
        <p:spPr>
          <a:xfrm>
            <a:off x="960120" y="3657600"/>
            <a:ext cx="4023360" cy="274320"/>
          </a:xfrm>
          <a:prstGeom prst="rect">
            <a:avLst/>
          </a:prstGeom>
          <a:noFill/>
          <a:ln/>
        </p:spPr>
        <p:txBody>
          <a:bodyPr wrap="square" lIns="0" tIns="0" rIns="0" bIns="0" rtlCol="0" anchor="ctr"/>
          <a:lstStyle/>
          <a:p>
            <a:pPr indent="0" marL="0">
              <a:buNone/>
            </a:pPr>
            <a:r>
              <a:rPr lang="en-US" sz="1100" dirty="0">
                <a:solidFill>
                  <a:srgbClr val="1A1A2E"/>
                </a:solidFill>
                <a:latin typeface="Meiryo" pitchFamily="34" charset="0"/>
                <a:ea typeface="Meiryo" pitchFamily="34" charset="-122"/>
                <a:cs typeface="Meiryo" pitchFamily="34" charset="-120"/>
              </a:rPr>
              <a:t>講師</a:t>
            </a:r>
            <a:endParaRPr lang="en-US" sz="1100" dirty="0"/>
          </a:p>
        </p:txBody>
      </p:sp>
      <p:sp>
        <p:nvSpPr>
          <p:cNvPr id="36" name="Shape 34"/>
          <p:cNvSpPr/>
          <p:nvPr/>
        </p:nvSpPr>
        <p:spPr>
          <a:xfrm>
            <a:off x="777240" y="4069080"/>
            <a:ext cx="4389120" cy="621792"/>
          </a:xfrm>
          <a:prstGeom prst="roundRect">
            <a:avLst>
              <a:gd name="adj" fmla="val 7353"/>
            </a:avLst>
          </a:prstGeom>
          <a:solidFill>
            <a:srgbClr val="FBEDEC"/>
          </a:solidFill>
          <a:ln w="12700">
            <a:solidFill>
              <a:srgbClr val="B3261E"/>
            </a:solidFill>
            <a:prstDash val="solid"/>
          </a:ln>
        </p:spPr>
      </p:sp>
      <p:sp>
        <p:nvSpPr>
          <p:cNvPr id="37" name="Text 35"/>
          <p:cNvSpPr/>
          <p:nvPr/>
        </p:nvSpPr>
        <p:spPr>
          <a:xfrm>
            <a:off x="914400" y="4069080"/>
            <a:ext cx="4114800" cy="621792"/>
          </a:xfrm>
          <a:prstGeom prst="rect">
            <a:avLst/>
          </a:prstGeom>
          <a:noFill/>
          <a:ln/>
        </p:spPr>
        <p:txBody>
          <a:bodyPr wrap="square" lIns="0" tIns="0" rIns="0" bIns="0" rtlCol="0" anchor="ctr"/>
          <a:lstStyle/>
          <a:p>
            <a:pPr indent="0" marL="0">
              <a:lnSpc>
                <a:spcPts val="1500"/>
              </a:lnSpc>
              <a:buNone/>
            </a:pPr>
            <a:r>
              <a:rPr lang="en-US" sz="1050" b="1" dirty="0">
                <a:solidFill>
                  <a:srgbClr val="B3261E"/>
                </a:solidFill>
                <a:latin typeface="Meiryo" pitchFamily="34" charset="0"/>
                <a:ea typeface="Meiryo" pitchFamily="34" charset="-122"/>
                <a:cs typeface="Meiryo" pitchFamily="34" charset="-120"/>
              </a:rPr>
              <a:t>研修案件（プロジェクト）ごとに</a:t>
            </a:r>
            <a:endParaRPr lang="en-US" sz="1050" dirty="0"/>
          </a:p>
          <a:p>
            <a:pPr indent="0" marL="0">
              <a:lnSpc>
                <a:spcPts val="1500"/>
              </a:lnSpc>
              <a:buNone/>
            </a:pPr>
            <a:r>
              <a:rPr lang="en-US" sz="1050" b="1" dirty="0">
                <a:solidFill>
                  <a:srgbClr val="B3261E"/>
                </a:solidFill>
                <a:latin typeface="Meiryo" pitchFamily="34" charset="0"/>
                <a:ea typeface="Meiryo" pitchFamily="34" charset="-122"/>
                <a:cs typeface="Meiryo" pitchFamily="34" charset="-120"/>
              </a:rPr>
              <a:t>全体を見る立場が不在</a:t>
            </a:r>
            <a:endParaRPr lang="en-US" sz="1050" dirty="0"/>
          </a:p>
        </p:txBody>
      </p:sp>
      <p:sp>
        <p:nvSpPr>
          <p:cNvPr id="38" name="Text 36"/>
          <p:cNvSpPr/>
          <p:nvPr/>
        </p:nvSpPr>
        <p:spPr>
          <a:xfrm>
            <a:off x="5504688" y="3200400"/>
            <a:ext cx="640080" cy="365760"/>
          </a:xfrm>
          <a:prstGeom prst="rect">
            <a:avLst/>
          </a:prstGeom>
          <a:noFill/>
          <a:ln/>
        </p:spPr>
        <p:txBody>
          <a:bodyPr wrap="square" lIns="0" tIns="0" rIns="0" bIns="0" rtlCol="0" anchor="ctr"/>
          <a:lstStyle/>
          <a:p>
            <a:pPr algn="ctr" indent="0" marL="0">
              <a:buNone/>
            </a:pPr>
            <a:r>
              <a:rPr lang="en-US" sz="1800" dirty="0">
                <a:solidFill>
                  <a:srgbClr val="3A4A8F"/>
                </a:solidFill>
                <a:latin typeface="Meiryo" pitchFamily="34" charset="0"/>
                <a:ea typeface="Meiryo" pitchFamily="34" charset="-122"/>
                <a:cs typeface="Meiryo" pitchFamily="34" charset="-120"/>
              </a:rPr>
              <a:t>▶</a:t>
            </a:r>
            <a:endParaRPr lang="en-US" sz="1800" dirty="0"/>
          </a:p>
        </p:txBody>
      </p:sp>
      <p:sp>
        <p:nvSpPr>
          <p:cNvPr id="39" name="Shape 37"/>
          <p:cNvSpPr/>
          <p:nvPr/>
        </p:nvSpPr>
        <p:spPr>
          <a:xfrm>
            <a:off x="6245352" y="2231136"/>
            <a:ext cx="5394960" cy="2606040"/>
          </a:xfrm>
          <a:prstGeom prst="roundRect">
            <a:avLst>
              <a:gd name="adj" fmla="val 2105"/>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40" name="Text 38"/>
          <p:cNvSpPr/>
          <p:nvPr/>
        </p:nvSpPr>
        <p:spPr>
          <a:xfrm>
            <a:off x="6473952" y="2340864"/>
            <a:ext cx="4937760" cy="274320"/>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今後（7部門・11月〜）</a:t>
            </a:r>
            <a:endParaRPr lang="en-US" sz="1200" dirty="0"/>
          </a:p>
        </p:txBody>
      </p:sp>
      <p:sp>
        <p:nvSpPr>
          <p:cNvPr id="41" name="Shape 39"/>
          <p:cNvSpPr/>
          <p:nvPr/>
        </p:nvSpPr>
        <p:spPr>
          <a:xfrm>
            <a:off x="6473952" y="2670048"/>
            <a:ext cx="4937760" cy="256032"/>
          </a:xfrm>
          <a:prstGeom prst="roundRect">
            <a:avLst>
              <a:gd name="adj" fmla="val 14286"/>
            </a:avLst>
          </a:prstGeom>
          <a:solidFill>
            <a:srgbClr val="FFFFFF"/>
          </a:solidFill>
          <a:ln w="12700">
            <a:solidFill>
              <a:srgbClr val="D6DEEC"/>
            </a:solidFill>
            <a:prstDash val="solid"/>
          </a:ln>
        </p:spPr>
      </p:sp>
      <p:sp>
        <p:nvSpPr>
          <p:cNvPr id="42" name="Text 40"/>
          <p:cNvSpPr/>
          <p:nvPr/>
        </p:nvSpPr>
        <p:spPr>
          <a:xfrm>
            <a:off x="6656832" y="2670048"/>
            <a:ext cx="3108960" cy="256032"/>
          </a:xfrm>
          <a:prstGeom prst="rect">
            <a:avLst/>
          </a:prstGeom>
          <a:noFill/>
          <a:ln/>
        </p:spPr>
        <p:txBody>
          <a:bodyPr wrap="square" lIns="0" tIns="0" rIns="0" bIns="0" rtlCol="0" anchor="ctr"/>
          <a:lstStyle/>
          <a:p>
            <a:pPr indent="0" marL="0">
              <a:buNone/>
            </a:pPr>
            <a:r>
              <a:rPr lang="en-US" sz="1050" dirty="0">
                <a:solidFill>
                  <a:srgbClr val="1A1A2E"/>
                </a:solidFill>
                <a:latin typeface="Meiryo" pitchFamily="34" charset="0"/>
                <a:ea typeface="Meiryo" pitchFamily="34" charset="-122"/>
                <a:cs typeface="Meiryo" pitchFamily="34" charset="-120"/>
              </a:rPr>
              <a:t>営業</a:t>
            </a:r>
            <a:endParaRPr lang="en-US" sz="1050" dirty="0"/>
          </a:p>
        </p:txBody>
      </p:sp>
      <p:sp>
        <p:nvSpPr>
          <p:cNvPr id="43" name="Shape 41"/>
          <p:cNvSpPr/>
          <p:nvPr/>
        </p:nvSpPr>
        <p:spPr>
          <a:xfrm>
            <a:off x="6473952" y="2971800"/>
            <a:ext cx="4937760" cy="256032"/>
          </a:xfrm>
          <a:prstGeom prst="roundRect">
            <a:avLst>
              <a:gd name="adj" fmla="val 14286"/>
            </a:avLst>
          </a:prstGeom>
          <a:solidFill>
            <a:srgbClr val="1E2761"/>
          </a:solidFill>
          <a:ln w="12700">
            <a:solidFill>
              <a:srgbClr val="1E2761"/>
            </a:solidFill>
            <a:prstDash val="solid"/>
          </a:ln>
        </p:spPr>
      </p:sp>
      <p:sp>
        <p:nvSpPr>
          <p:cNvPr id="44" name="Text 42"/>
          <p:cNvSpPr/>
          <p:nvPr/>
        </p:nvSpPr>
        <p:spPr>
          <a:xfrm>
            <a:off x="6656832" y="2971800"/>
            <a:ext cx="3108960" cy="256032"/>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PMO</a:t>
            </a:r>
            <a:endParaRPr lang="en-US" sz="1050" dirty="0"/>
          </a:p>
        </p:txBody>
      </p:sp>
      <p:sp>
        <p:nvSpPr>
          <p:cNvPr id="45" name="Text 43"/>
          <p:cNvSpPr/>
          <p:nvPr/>
        </p:nvSpPr>
        <p:spPr>
          <a:xfrm>
            <a:off x="10149840" y="2971800"/>
            <a:ext cx="1097280" cy="256032"/>
          </a:xfrm>
          <a:prstGeom prst="rect">
            <a:avLst/>
          </a:prstGeom>
          <a:noFill/>
          <a:ln/>
        </p:spPr>
        <p:txBody>
          <a:bodyPr wrap="square" lIns="0" tIns="0" rIns="0" bIns="0" rtlCol="0" anchor="ctr"/>
          <a:lstStyle/>
          <a:p>
            <a:pPr algn="r" indent="0" marL="0">
              <a:buNone/>
            </a:pPr>
            <a:r>
              <a:rPr lang="en-US" sz="850" b="1" dirty="0">
                <a:solidFill>
                  <a:srgbClr val="CADCFC"/>
                </a:solidFill>
                <a:latin typeface="Meiryo" pitchFamily="34" charset="0"/>
                <a:ea typeface="Meiryo" pitchFamily="34" charset="-122"/>
                <a:cs typeface="Meiryo" pitchFamily="34" charset="-120"/>
              </a:rPr>
              <a:t>新設</a:t>
            </a:r>
            <a:endParaRPr lang="en-US" sz="850" dirty="0"/>
          </a:p>
        </p:txBody>
      </p:sp>
      <p:sp>
        <p:nvSpPr>
          <p:cNvPr id="46" name="Shape 44"/>
          <p:cNvSpPr/>
          <p:nvPr/>
        </p:nvSpPr>
        <p:spPr>
          <a:xfrm>
            <a:off x="6473952" y="3273552"/>
            <a:ext cx="4937760" cy="256032"/>
          </a:xfrm>
          <a:prstGeom prst="roundRect">
            <a:avLst>
              <a:gd name="adj" fmla="val 14286"/>
            </a:avLst>
          </a:prstGeom>
          <a:solidFill>
            <a:srgbClr val="1E2761"/>
          </a:solidFill>
          <a:ln w="12700">
            <a:solidFill>
              <a:srgbClr val="1E2761"/>
            </a:solidFill>
            <a:prstDash val="solid"/>
          </a:ln>
        </p:spPr>
      </p:sp>
      <p:sp>
        <p:nvSpPr>
          <p:cNvPr id="47" name="Text 45"/>
          <p:cNvSpPr/>
          <p:nvPr/>
        </p:nvSpPr>
        <p:spPr>
          <a:xfrm>
            <a:off x="6656832" y="3273552"/>
            <a:ext cx="3108960" cy="256032"/>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コンテンツ制作</a:t>
            </a:r>
            <a:endParaRPr lang="en-US" sz="1050" dirty="0"/>
          </a:p>
        </p:txBody>
      </p:sp>
      <p:sp>
        <p:nvSpPr>
          <p:cNvPr id="48" name="Text 46"/>
          <p:cNvSpPr/>
          <p:nvPr/>
        </p:nvSpPr>
        <p:spPr>
          <a:xfrm>
            <a:off x="10149840" y="3273552"/>
            <a:ext cx="1097280" cy="256032"/>
          </a:xfrm>
          <a:prstGeom prst="rect">
            <a:avLst/>
          </a:prstGeom>
          <a:noFill/>
          <a:ln/>
        </p:spPr>
        <p:txBody>
          <a:bodyPr wrap="square" lIns="0" tIns="0" rIns="0" bIns="0" rtlCol="0" anchor="ctr"/>
          <a:lstStyle/>
          <a:p>
            <a:pPr algn="r" indent="0" marL="0">
              <a:buNone/>
            </a:pPr>
            <a:r>
              <a:rPr lang="en-US" sz="850" b="1" dirty="0">
                <a:solidFill>
                  <a:srgbClr val="CADCFC"/>
                </a:solidFill>
                <a:latin typeface="Meiryo" pitchFamily="34" charset="0"/>
                <a:ea typeface="Meiryo" pitchFamily="34" charset="-122"/>
                <a:cs typeface="Meiryo" pitchFamily="34" charset="-120"/>
              </a:rPr>
              <a:t>新設</a:t>
            </a:r>
            <a:endParaRPr lang="en-US" sz="850" dirty="0"/>
          </a:p>
        </p:txBody>
      </p:sp>
      <p:sp>
        <p:nvSpPr>
          <p:cNvPr id="49" name="Shape 47"/>
          <p:cNvSpPr/>
          <p:nvPr/>
        </p:nvSpPr>
        <p:spPr>
          <a:xfrm>
            <a:off x="6473952" y="3575304"/>
            <a:ext cx="4937760" cy="256032"/>
          </a:xfrm>
          <a:prstGeom prst="roundRect">
            <a:avLst>
              <a:gd name="adj" fmla="val 14286"/>
            </a:avLst>
          </a:prstGeom>
          <a:solidFill>
            <a:srgbClr val="FFFFFF"/>
          </a:solidFill>
          <a:ln w="12700">
            <a:solidFill>
              <a:srgbClr val="D6DEEC"/>
            </a:solidFill>
            <a:prstDash val="solid"/>
          </a:ln>
        </p:spPr>
      </p:sp>
      <p:sp>
        <p:nvSpPr>
          <p:cNvPr id="50" name="Text 48"/>
          <p:cNvSpPr/>
          <p:nvPr/>
        </p:nvSpPr>
        <p:spPr>
          <a:xfrm>
            <a:off x="6656832" y="3575304"/>
            <a:ext cx="3108960" cy="256032"/>
          </a:xfrm>
          <a:prstGeom prst="rect">
            <a:avLst/>
          </a:prstGeom>
          <a:noFill/>
          <a:ln/>
        </p:spPr>
        <p:txBody>
          <a:bodyPr wrap="square" lIns="0" tIns="0" rIns="0" bIns="0" rtlCol="0" anchor="ctr"/>
          <a:lstStyle/>
          <a:p>
            <a:pPr indent="0" marL="0">
              <a:buNone/>
            </a:pPr>
            <a:r>
              <a:rPr lang="en-US" sz="1050" dirty="0">
                <a:solidFill>
                  <a:srgbClr val="1A1A2E"/>
                </a:solidFill>
                <a:latin typeface="Meiryo" pitchFamily="34" charset="0"/>
                <a:ea typeface="Meiryo" pitchFamily="34" charset="-122"/>
                <a:cs typeface="Meiryo" pitchFamily="34" charset="-120"/>
              </a:rPr>
              <a:t>講師管理</a:t>
            </a:r>
            <a:endParaRPr lang="en-US" sz="1050" dirty="0"/>
          </a:p>
        </p:txBody>
      </p:sp>
      <p:sp>
        <p:nvSpPr>
          <p:cNvPr id="51" name="Shape 49"/>
          <p:cNvSpPr/>
          <p:nvPr/>
        </p:nvSpPr>
        <p:spPr>
          <a:xfrm>
            <a:off x="6473952" y="3877056"/>
            <a:ext cx="4937760" cy="256032"/>
          </a:xfrm>
          <a:prstGeom prst="roundRect">
            <a:avLst>
              <a:gd name="adj" fmla="val 14286"/>
            </a:avLst>
          </a:prstGeom>
          <a:solidFill>
            <a:srgbClr val="FFFFFF"/>
          </a:solidFill>
          <a:ln w="12700">
            <a:solidFill>
              <a:srgbClr val="D6DEEC"/>
            </a:solidFill>
            <a:prstDash val="solid"/>
          </a:ln>
        </p:spPr>
      </p:sp>
      <p:sp>
        <p:nvSpPr>
          <p:cNvPr id="52" name="Text 50"/>
          <p:cNvSpPr/>
          <p:nvPr/>
        </p:nvSpPr>
        <p:spPr>
          <a:xfrm>
            <a:off x="6656832" y="3877056"/>
            <a:ext cx="3108960" cy="256032"/>
          </a:xfrm>
          <a:prstGeom prst="rect">
            <a:avLst/>
          </a:prstGeom>
          <a:noFill/>
          <a:ln/>
        </p:spPr>
        <p:txBody>
          <a:bodyPr wrap="square" lIns="0" tIns="0" rIns="0" bIns="0" rtlCol="0" anchor="ctr"/>
          <a:lstStyle/>
          <a:p>
            <a:pPr indent="0" marL="0">
              <a:buNone/>
            </a:pPr>
            <a:r>
              <a:rPr lang="en-US" sz="1050" dirty="0">
                <a:solidFill>
                  <a:srgbClr val="1A1A2E"/>
                </a:solidFill>
                <a:latin typeface="Meiryo" pitchFamily="34" charset="0"/>
                <a:ea typeface="Meiryo" pitchFamily="34" charset="-122"/>
                <a:cs typeface="Meiryo" pitchFamily="34" charset="-120"/>
              </a:rPr>
              <a:t>講師</a:t>
            </a:r>
            <a:endParaRPr lang="en-US" sz="1050" dirty="0"/>
          </a:p>
        </p:txBody>
      </p:sp>
      <p:sp>
        <p:nvSpPr>
          <p:cNvPr id="53" name="Shape 51"/>
          <p:cNvSpPr/>
          <p:nvPr/>
        </p:nvSpPr>
        <p:spPr>
          <a:xfrm>
            <a:off x="6473952" y="4178808"/>
            <a:ext cx="4937760" cy="256032"/>
          </a:xfrm>
          <a:prstGeom prst="roundRect">
            <a:avLst>
              <a:gd name="adj" fmla="val 14286"/>
            </a:avLst>
          </a:prstGeom>
          <a:solidFill>
            <a:srgbClr val="FFFFFF"/>
          </a:solidFill>
          <a:ln w="12700">
            <a:solidFill>
              <a:srgbClr val="D6DEEC"/>
            </a:solidFill>
            <a:prstDash val="solid"/>
          </a:ln>
        </p:spPr>
      </p:sp>
      <p:sp>
        <p:nvSpPr>
          <p:cNvPr id="54" name="Text 52"/>
          <p:cNvSpPr/>
          <p:nvPr/>
        </p:nvSpPr>
        <p:spPr>
          <a:xfrm>
            <a:off x="6656832" y="4178808"/>
            <a:ext cx="3108960" cy="256032"/>
          </a:xfrm>
          <a:prstGeom prst="rect">
            <a:avLst/>
          </a:prstGeom>
          <a:noFill/>
          <a:ln/>
        </p:spPr>
        <p:txBody>
          <a:bodyPr wrap="square" lIns="0" tIns="0" rIns="0" bIns="0" rtlCol="0" anchor="ctr"/>
          <a:lstStyle/>
          <a:p>
            <a:pPr indent="0" marL="0">
              <a:buNone/>
            </a:pPr>
            <a:r>
              <a:rPr lang="en-US" sz="1050" dirty="0">
                <a:solidFill>
                  <a:srgbClr val="1A1A2E"/>
                </a:solidFill>
                <a:latin typeface="Meiryo" pitchFamily="34" charset="0"/>
                <a:ea typeface="Meiryo" pitchFamily="34" charset="-122"/>
                <a:cs typeface="Meiryo" pitchFamily="34" charset="-120"/>
              </a:rPr>
              <a:t>運営</a:t>
            </a:r>
            <a:endParaRPr lang="en-US" sz="1050" dirty="0"/>
          </a:p>
        </p:txBody>
      </p:sp>
      <p:sp>
        <p:nvSpPr>
          <p:cNvPr id="55" name="Shape 53"/>
          <p:cNvSpPr/>
          <p:nvPr/>
        </p:nvSpPr>
        <p:spPr>
          <a:xfrm>
            <a:off x="6473952" y="4480560"/>
            <a:ext cx="4937760" cy="256032"/>
          </a:xfrm>
          <a:prstGeom prst="roundRect">
            <a:avLst>
              <a:gd name="adj" fmla="val 14286"/>
            </a:avLst>
          </a:prstGeom>
          <a:solidFill>
            <a:srgbClr val="1E2761"/>
          </a:solidFill>
          <a:ln w="12700">
            <a:solidFill>
              <a:srgbClr val="1E2761"/>
            </a:solidFill>
            <a:prstDash val="solid"/>
          </a:ln>
        </p:spPr>
      </p:sp>
      <p:sp>
        <p:nvSpPr>
          <p:cNvPr id="56" name="Text 54"/>
          <p:cNvSpPr/>
          <p:nvPr/>
        </p:nvSpPr>
        <p:spPr>
          <a:xfrm>
            <a:off x="6656832" y="4480560"/>
            <a:ext cx="3108960" cy="256032"/>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システム</a:t>
            </a:r>
            <a:endParaRPr lang="en-US" sz="1050" dirty="0"/>
          </a:p>
        </p:txBody>
      </p:sp>
      <p:sp>
        <p:nvSpPr>
          <p:cNvPr id="57" name="Text 55"/>
          <p:cNvSpPr/>
          <p:nvPr/>
        </p:nvSpPr>
        <p:spPr>
          <a:xfrm>
            <a:off x="10149840" y="4480560"/>
            <a:ext cx="1097280" cy="256032"/>
          </a:xfrm>
          <a:prstGeom prst="rect">
            <a:avLst/>
          </a:prstGeom>
          <a:noFill/>
          <a:ln/>
        </p:spPr>
        <p:txBody>
          <a:bodyPr wrap="square" lIns="0" tIns="0" rIns="0" bIns="0" rtlCol="0" anchor="ctr"/>
          <a:lstStyle/>
          <a:p>
            <a:pPr algn="r" indent="0" marL="0">
              <a:buNone/>
            </a:pPr>
            <a:r>
              <a:rPr lang="en-US" sz="850" b="1" dirty="0">
                <a:solidFill>
                  <a:srgbClr val="CADCFC"/>
                </a:solidFill>
                <a:latin typeface="Meiryo" pitchFamily="34" charset="0"/>
                <a:ea typeface="Meiryo" pitchFamily="34" charset="-122"/>
                <a:cs typeface="Meiryo" pitchFamily="34" charset="-120"/>
              </a:rPr>
              <a:t>新設</a:t>
            </a:r>
            <a:endParaRPr lang="en-US" sz="850" dirty="0"/>
          </a:p>
        </p:txBody>
      </p:sp>
      <p:sp>
        <p:nvSpPr>
          <p:cNvPr id="58" name="Shape 56"/>
          <p:cNvSpPr/>
          <p:nvPr/>
        </p:nvSpPr>
        <p:spPr>
          <a:xfrm>
            <a:off x="548640" y="4956048"/>
            <a:ext cx="11094415" cy="822960"/>
          </a:xfrm>
          <a:prstGeom prst="roundRect">
            <a:avLst>
              <a:gd name="adj" fmla="val 6667"/>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59" name="Text 57"/>
          <p:cNvSpPr/>
          <p:nvPr/>
        </p:nvSpPr>
        <p:spPr>
          <a:xfrm>
            <a:off x="868680" y="4956048"/>
            <a:ext cx="10454335" cy="822960"/>
          </a:xfrm>
          <a:prstGeom prst="rect">
            <a:avLst/>
          </a:prstGeom>
          <a:noFill/>
          <a:ln/>
        </p:spPr>
        <p:txBody>
          <a:bodyPr wrap="square" lIns="0" tIns="0" rIns="0" bIns="0" rtlCol="0" anchor="ctr"/>
          <a:lstStyle/>
          <a:p>
            <a:pPr indent="0" marL="0">
              <a:lnSpc>
                <a:spcPts val="2200"/>
              </a:lnSpc>
              <a:buNone/>
            </a:pPr>
            <a:r>
              <a:rPr lang="en-US" sz="1250" b="1" dirty="0">
                <a:solidFill>
                  <a:srgbClr val="FFFFFF"/>
                </a:solidFill>
                <a:latin typeface="Meiryo" pitchFamily="34" charset="0"/>
                <a:ea typeface="Meiryo" pitchFamily="34" charset="-122"/>
                <a:cs typeface="Meiryo" pitchFamily="34" charset="-120"/>
              </a:rPr>
              <a:t>これまで PCA には、研修案件ごとに全体を見る立場がありませんでした。11月にその役割として PMO を置きますが、</a:t>
            </a:r>
            <a:endParaRPr lang="en-US" sz="1250" dirty="0"/>
          </a:p>
          <a:p>
            <a:pPr indent="0" marL="0">
              <a:lnSpc>
                <a:spcPts val="2200"/>
              </a:lnSpc>
              <a:buNone/>
            </a:pPr>
            <a:r>
              <a:rPr lang="en-US" sz="1250" b="1" dirty="0">
                <a:solidFill>
                  <a:srgbClr val="FFFFFF"/>
                </a:solidFill>
                <a:latin typeface="Meiryo" pitchFamily="34" charset="0"/>
                <a:ea typeface="Meiryo" pitchFamily="34" charset="-122"/>
                <a:cs typeface="Meiryo" pitchFamily="34" charset="-120"/>
              </a:rPr>
              <a:t>部署を越えて進捗・決定・課題を束ねるための仕組みは、現在どこにもありません。</a:t>
            </a:r>
            <a:endParaRPr lang="en-US" sz="1250" dirty="0"/>
          </a:p>
        </p:txBody>
      </p:sp>
      <p:sp>
        <p:nvSpPr>
          <p:cNvPr id="60" name="Text 58"/>
          <p:cNvSpPr/>
          <p:nvPr/>
        </p:nvSpPr>
        <p:spPr>
          <a:xfrm>
            <a:off x="548640" y="5888736"/>
            <a:ext cx="11094415" cy="274320"/>
          </a:xfrm>
          <a:prstGeom prst="rect">
            <a:avLst/>
          </a:prstGeom>
          <a:noFill/>
          <a:ln/>
        </p:spPr>
        <p:txBody>
          <a:bodyPr wrap="square" lIns="0" tIns="0" rIns="0" bIns="0" rtlCol="0" anchor="ctr"/>
          <a:lstStyle/>
          <a:p>
            <a:pPr indent="0" marL="0">
              <a:buNone/>
            </a:pPr>
            <a:r>
              <a:rPr lang="en-US" sz="1000" dirty="0">
                <a:solidFill>
                  <a:srgbClr val="1A1A2E"/>
                </a:solidFill>
                <a:latin typeface="Meiryo" pitchFamily="34" charset="0"/>
                <a:ea typeface="Meiryo" pitchFamily="34" charset="-122"/>
                <a:cs typeface="Meiryo" pitchFamily="34" charset="-120"/>
              </a:rPr>
              <a:t>PMO は営業・コンテンツ制作・講師管理・運営・システムの5部門にまたがって1つの案件を見る立場になります。新設される役割ほど、拠り所となる仕組みが必要です。</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第2章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1E2761"/>
          </a:solidFill>
          <a:ln w="12700">
            <a:solidFill>
              <a:srgbClr val="1E2761"/>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課題② — 案件と議事録が紐づかず、探せない</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決めたことが、どこに残ったか分からなくなります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5</a:t>
            </a:r>
            <a:endParaRPr lang="en-US" sz="1000" dirty="0"/>
          </a:p>
        </p:txBody>
      </p:sp>
      <p:sp>
        <p:nvSpPr>
          <p:cNvPr id="26" name="Shape 24"/>
          <p:cNvSpPr/>
          <p:nvPr/>
        </p:nvSpPr>
        <p:spPr>
          <a:xfrm>
            <a:off x="548640" y="2286000"/>
            <a:ext cx="5394960" cy="1737360"/>
          </a:xfrm>
          <a:prstGeom prst="roundRect">
            <a:avLst>
              <a:gd name="adj" fmla="val 315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7" name="Text 25"/>
          <p:cNvSpPr/>
          <p:nvPr/>
        </p:nvSpPr>
        <p:spPr>
          <a:xfrm>
            <a:off x="777240" y="2423160"/>
            <a:ext cx="1828800" cy="274320"/>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現状</a:t>
            </a:r>
            <a:endParaRPr lang="en-US" sz="1200" dirty="0"/>
          </a:p>
        </p:txBody>
      </p:sp>
      <p:sp>
        <p:nvSpPr>
          <p:cNvPr id="28" name="Text 26"/>
          <p:cNvSpPr/>
          <p:nvPr/>
        </p:nvSpPr>
        <p:spPr>
          <a:xfrm>
            <a:off x="777240" y="2788920"/>
            <a:ext cx="4937760" cy="100584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1A1A2E"/>
                </a:solidFill>
                <a:latin typeface="Meiryo" pitchFamily="34" charset="0"/>
                <a:ea typeface="Meiryo" pitchFamily="34" charset="-122"/>
                <a:cs typeface="Meiryo" pitchFamily="34" charset="-120"/>
              </a:rPr>
              <a:t>案件と議事録を結びつける仕組みが無い</a:t>
            </a:r>
            <a:endParaRPr lang="en-US" sz="1250" dirty="0"/>
          </a:p>
          <a:p>
            <a:pPr marL="342900" indent="-342900">
              <a:spcAft>
                <a:spcPts val="1000"/>
              </a:spcAft>
              <a:buSzPct val="100000"/>
              <a:buChar char="•"/>
            </a:pPr>
            <a:r>
              <a:rPr lang="en-US" sz="1250" dirty="0">
                <a:solidFill>
                  <a:srgbClr val="1A1A2E"/>
                </a:solidFill>
                <a:latin typeface="Meiryo" pitchFamily="34" charset="0"/>
                <a:ea typeface="Meiryo" pitchFamily="34" charset="-122"/>
                <a:cs typeface="Meiryo" pitchFamily="34" charset="-120"/>
              </a:rPr>
              <a:t>議事録は OneNote・Word・個人メモに散在</a:t>
            </a:r>
            <a:endParaRPr lang="en-US" sz="1250" dirty="0"/>
          </a:p>
        </p:txBody>
      </p:sp>
      <p:sp>
        <p:nvSpPr>
          <p:cNvPr id="29" name="Shape 27"/>
          <p:cNvSpPr/>
          <p:nvPr/>
        </p:nvSpPr>
        <p:spPr>
          <a:xfrm>
            <a:off x="6245352" y="2286000"/>
            <a:ext cx="5394960" cy="1737360"/>
          </a:xfrm>
          <a:prstGeom prst="roundRect">
            <a:avLst>
              <a:gd name="adj" fmla="val 315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0" name="Text 28"/>
          <p:cNvSpPr/>
          <p:nvPr/>
        </p:nvSpPr>
        <p:spPr>
          <a:xfrm>
            <a:off x="6473952" y="2423160"/>
            <a:ext cx="1828800" cy="274320"/>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影響</a:t>
            </a:r>
            <a:endParaRPr lang="en-US" sz="1200" dirty="0"/>
          </a:p>
        </p:txBody>
      </p:sp>
      <p:sp>
        <p:nvSpPr>
          <p:cNvPr id="31" name="Text 29"/>
          <p:cNvSpPr/>
          <p:nvPr/>
        </p:nvSpPr>
        <p:spPr>
          <a:xfrm>
            <a:off x="6473952" y="2788920"/>
            <a:ext cx="4937760" cy="100584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1A1A2E"/>
                </a:solidFill>
                <a:latin typeface="Meiryo" pitchFamily="34" charset="0"/>
                <a:ea typeface="Meiryo" pitchFamily="34" charset="-122"/>
                <a:cs typeface="Meiryo" pitchFamily="34" charset="-120"/>
              </a:rPr>
              <a:t>進捗は会議の口頭確認頼み</a:t>
            </a:r>
            <a:endParaRPr lang="en-US" sz="1250" dirty="0"/>
          </a:p>
          <a:p>
            <a:pPr marL="342900" indent="-342900">
              <a:spcAft>
                <a:spcPts val="1000"/>
              </a:spcAft>
              <a:buSzPct val="100000"/>
              <a:buChar char="•"/>
            </a:pPr>
            <a:r>
              <a:rPr lang="en-US" sz="1250" dirty="0">
                <a:solidFill>
                  <a:srgbClr val="1A1A2E"/>
                </a:solidFill>
                <a:latin typeface="Meiryo" pitchFamily="34" charset="0"/>
                <a:ea typeface="Meiryo" pitchFamily="34" charset="-122"/>
                <a:cs typeface="Meiryo" pitchFamily="34" charset="-120"/>
              </a:rPr>
              <a:t>決定事項の追跡が属人的になっている</a:t>
            </a:r>
            <a:endParaRPr lang="en-US" sz="1250" dirty="0"/>
          </a:p>
        </p:txBody>
      </p:sp>
      <p:sp>
        <p:nvSpPr>
          <p:cNvPr id="32" name="Shape 30"/>
          <p:cNvSpPr/>
          <p:nvPr/>
        </p:nvSpPr>
        <p:spPr>
          <a:xfrm>
            <a:off x="548640" y="4251960"/>
            <a:ext cx="11094415" cy="1828800"/>
          </a:xfrm>
          <a:prstGeom prst="roundRect">
            <a:avLst>
              <a:gd name="adj" fmla="val 3000"/>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33" name="Text 31"/>
          <p:cNvSpPr/>
          <p:nvPr/>
        </p:nvSpPr>
        <p:spPr>
          <a:xfrm>
            <a:off x="914400" y="4480560"/>
            <a:ext cx="5943600" cy="50292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探したいときに、探せない</a:t>
            </a:r>
            <a:endParaRPr lang="en-US" sz="2600" dirty="0"/>
          </a:p>
        </p:txBody>
      </p:sp>
      <p:sp>
        <p:nvSpPr>
          <p:cNvPr id="34" name="Text 32"/>
          <p:cNvSpPr/>
          <p:nvPr/>
        </p:nvSpPr>
        <p:spPr>
          <a:xfrm>
            <a:off x="914400" y="5029200"/>
            <a:ext cx="6583680" cy="777240"/>
          </a:xfrm>
          <a:prstGeom prst="rect">
            <a:avLst/>
          </a:prstGeom>
          <a:noFill/>
          <a:ln/>
        </p:spPr>
        <p:txBody>
          <a:bodyPr wrap="square" lIns="0" tIns="0" rIns="0" bIns="0" rtlCol="0" anchor="ctr"/>
          <a:lstStyle/>
          <a:p>
            <a:pPr indent="0" marL="0">
              <a:lnSpc>
                <a:spcPts val="2000"/>
              </a:lnSpc>
              <a:buNone/>
            </a:pPr>
            <a:r>
              <a:rPr lang="en-US" sz="1250" dirty="0">
                <a:solidFill>
                  <a:srgbClr val="CADCFC"/>
                </a:solidFill>
                <a:latin typeface="Meiryo" pitchFamily="34" charset="0"/>
                <a:ea typeface="Meiryo" pitchFamily="34" charset="-122"/>
                <a:cs typeface="Meiryo" pitchFamily="34" charset="-120"/>
              </a:rPr>
              <a:t>「あの件どうなった？」「あの資料どこ？」を探すところから仕事が始まっています。</a:t>
            </a:r>
            <a:endParaRPr lang="en-US" sz="1250" dirty="0"/>
          </a:p>
          <a:p>
            <a:pPr indent="0" marL="0">
              <a:lnSpc>
                <a:spcPts val="2000"/>
              </a:lnSpc>
              <a:buNone/>
            </a:pPr>
            <a:r>
              <a:rPr lang="en-US" sz="1250" dirty="0">
                <a:solidFill>
                  <a:srgbClr val="CADCFC"/>
                </a:solidFill>
                <a:latin typeface="Meiryo" pitchFamily="34" charset="0"/>
                <a:ea typeface="Meiryo" pitchFamily="34" charset="-122"/>
                <a:cs typeface="Meiryo" pitchFamily="34" charset="-120"/>
              </a:rPr>
              <a:t>情報が無いのではなく、たどり着けない状態です。</a:t>
            </a:r>
            <a:endParaRPr lang="en-US" sz="1250" dirty="0"/>
          </a:p>
        </p:txBody>
      </p:sp>
      <p:sp>
        <p:nvSpPr>
          <p:cNvPr id="35" name="Shape 33"/>
          <p:cNvSpPr/>
          <p:nvPr/>
        </p:nvSpPr>
        <p:spPr>
          <a:xfrm>
            <a:off x="8046720" y="4526280"/>
            <a:ext cx="3291840" cy="1280160"/>
          </a:xfrm>
          <a:prstGeom prst="roundRect">
            <a:avLst>
              <a:gd name="adj" fmla="val 5714"/>
            </a:avLst>
          </a:prstGeom>
          <a:solidFill>
            <a:srgbClr val="3A4A8F"/>
          </a:solidFill>
          <a:ln w="12700">
            <a:solidFill>
              <a:srgbClr val="3A4A8F"/>
            </a:solidFill>
            <a:prstDash val="solid"/>
          </a:ln>
        </p:spPr>
      </p:sp>
      <p:sp>
        <p:nvSpPr>
          <p:cNvPr id="36" name="Text 34"/>
          <p:cNvSpPr/>
          <p:nvPr/>
        </p:nvSpPr>
        <p:spPr>
          <a:xfrm>
            <a:off x="8183880" y="4526280"/>
            <a:ext cx="3017520" cy="1280160"/>
          </a:xfrm>
          <a:prstGeom prst="rect">
            <a:avLst/>
          </a:prstGeom>
          <a:noFill/>
          <a:ln/>
        </p:spPr>
        <p:txBody>
          <a:bodyPr wrap="square" lIns="0" tIns="0" rIns="0" bIns="0" rtlCol="0" anchor="ctr"/>
          <a:lstStyle/>
          <a:p>
            <a:pPr algn="ctr" indent="0" marL="0">
              <a:lnSpc>
                <a:spcPts val="2200"/>
              </a:lnSpc>
              <a:buNone/>
            </a:pPr>
            <a:r>
              <a:rPr lang="en-US" sz="1250" b="1" dirty="0">
                <a:solidFill>
                  <a:srgbClr val="FFFFFF"/>
                </a:solidFill>
                <a:latin typeface="Meiryo" pitchFamily="34" charset="0"/>
                <a:ea typeface="Meiryo" pitchFamily="34" charset="-122"/>
                <a:cs typeface="Meiryo" pitchFamily="34" charset="-120"/>
              </a:rPr>
              <a:t>この「探す時間」が、</a:t>
            </a:r>
            <a:endParaRPr lang="en-US" sz="1250" dirty="0"/>
          </a:p>
          <a:p>
            <a:pPr algn="ctr" indent="0" marL="0">
              <a:lnSpc>
                <a:spcPts val="2200"/>
              </a:lnSpc>
              <a:buNone/>
            </a:pPr>
            <a:r>
              <a:rPr lang="en-US" sz="1250" b="1" dirty="0">
                <a:solidFill>
                  <a:srgbClr val="FFFFFF"/>
                </a:solidFill>
                <a:latin typeface="Meiryo" pitchFamily="34" charset="0"/>
                <a:ea typeface="Meiryo" pitchFamily="34" charset="-122"/>
                <a:cs typeface="Meiryo" pitchFamily="34" charset="-120"/>
              </a:rPr>
              <a:t>再建の実行スピードを</a:t>
            </a:r>
            <a:endParaRPr lang="en-US" sz="1250" dirty="0"/>
          </a:p>
          <a:p>
            <a:pPr algn="ctr" indent="0" marL="0">
              <a:lnSpc>
                <a:spcPts val="2200"/>
              </a:lnSpc>
              <a:buNone/>
            </a:pPr>
            <a:r>
              <a:rPr lang="en-US" sz="1250" b="1" dirty="0">
                <a:solidFill>
                  <a:srgbClr val="FFFFFF"/>
                </a:solidFill>
                <a:latin typeface="Meiryo" pitchFamily="34" charset="0"/>
                <a:ea typeface="Meiryo" pitchFamily="34" charset="-122"/>
                <a:cs typeface="Meiryo" pitchFamily="34" charset="-120"/>
              </a:rPr>
              <a:t>直接削っています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第3章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1E2761"/>
          </a:solidFill>
          <a:ln w="12700">
            <a:solidFill>
              <a:srgbClr val="1E2761"/>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要件 — 必要なのは「つながる」管理基盤</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誰が・いつまでに・何のためのタスクなのかが、常に分かる状態が必要です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6</a:t>
            </a:r>
            <a:endParaRPr lang="en-US" sz="1000" dirty="0"/>
          </a:p>
        </p:txBody>
      </p:sp>
      <p:sp>
        <p:nvSpPr>
          <p:cNvPr id="26" name="Text 24"/>
          <p:cNvSpPr/>
          <p:nvPr/>
        </p:nvSpPr>
        <p:spPr>
          <a:xfrm>
            <a:off x="548640" y="2240280"/>
            <a:ext cx="2743200" cy="274320"/>
          </a:xfrm>
          <a:prstGeom prst="rect">
            <a:avLst/>
          </a:prstGeom>
          <a:noFill/>
          <a:ln/>
        </p:spPr>
        <p:txBody>
          <a:bodyPr wrap="square" lIns="0" tIns="0" rIns="0" bIns="0" rtlCol="0" anchor="ctr"/>
          <a:lstStyle/>
          <a:p>
            <a:pPr indent="0" marL="0">
              <a:buNone/>
            </a:pPr>
            <a:r>
              <a:rPr lang="en-US" sz="1200" b="1" dirty="0">
                <a:solidFill>
                  <a:srgbClr val="6B7280"/>
                </a:solidFill>
                <a:latin typeface="Meiryo" pitchFamily="34" charset="0"/>
                <a:ea typeface="Meiryo" pitchFamily="34" charset="-122"/>
                <a:cs typeface="Meiryo" pitchFamily="34" charset="-120"/>
              </a:rPr>
              <a:t>機能要件</a:t>
            </a:r>
            <a:endParaRPr lang="en-US" sz="1200" dirty="0"/>
          </a:p>
        </p:txBody>
      </p:sp>
      <p:sp>
        <p:nvSpPr>
          <p:cNvPr id="27" name="Shape 25"/>
          <p:cNvSpPr/>
          <p:nvPr/>
        </p:nvSpPr>
        <p:spPr>
          <a:xfrm>
            <a:off x="548640" y="2560320"/>
            <a:ext cx="5437480" cy="749808"/>
          </a:xfrm>
          <a:prstGeom prst="roundRect">
            <a:avLst>
              <a:gd name="adj" fmla="val 731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8" name="Shape 26"/>
          <p:cNvSpPr/>
          <p:nvPr/>
        </p:nvSpPr>
        <p:spPr>
          <a:xfrm>
            <a:off x="713232" y="2779776"/>
            <a:ext cx="310896" cy="310896"/>
          </a:xfrm>
          <a:prstGeom prst="roundRect">
            <a:avLst>
              <a:gd name="adj" fmla="val 50000"/>
            </a:avLst>
          </a:prstGeom>
          <a:solidFill>
            <a:srgbClr val="CADCFC"/>
          </a:solidFill>
          <a:ln w="12700">
            <a:solidFill>
              <a:srgbClr val="CADCFC"/>
            </a:solidFill>
            <a:prstDash val="solid"/>
          </a:ln>
        </p:spPr>
      </p:sp>
      <p:sp>
        <p:nvSpPr>
          <p:cNvPr id="29" name="Text 27"/>
          <p:cNvSpPr/>
          <p:nvPr/>
        </p:nvSpPr>
        <p:spPr>
          <a:xfrm>
            <a:off x="713232" y="2779776"/>
            <a:ext cx="310896" cy="310896"/>
          </a:xfrm>
          <a:prstGeom prst="rect">
            <a:avLst/>
          </a:prstGeom>
          <a:noFill/>
          <a:ln/>
        </p:spPr>
        <p:txBody>
          <a:bodyPr wrap="square" lIns="0" tIns="0" rIns="0" bIns="0" rtlCol="0" anchor="ctr"/>
          <a:lstStyle/>
          <a:p>
            <a:pPr algn="ctr" indent="0" marL="0">
              <a:buNone/>
            </a:pPr>
            <a:r>
              <a:rPr lang="en-US" sz="1000" b="1" dirty="0">
                <a:solidFill>
                  <a:srgbClr val="1E2761"/>
                </a:solidFill>
                <a:latin typeface="Meiryo" pitchFamily="34" charset="0"/>
                <a:ea typeface="Meiryo" pitchFamily="34" charset="-122"/>
                <a:cs typeface="Meiryo" pitchFamily="34" charset="-120"/>
              </a:rPr>
              <a:t>1</a:t>
            </a:r>
            <a:endParaRPr lang="en-US" sz="1000" dirty="0"/>
          </a:p>
        </p:txBody>
      </p:sp>
      <p:sp>
        <p:nvSpPr>
          <p:cNvPr id="30" name="Text 28"/>
          <p:cNvSpPr/>
          <p:nvPr/>
        </p:nvSpPr>
        <p:spPr>
          <a:xfrm>
            <a:off x="1115568" y="2633472"/>
            <a:ext cx="4705960" cy="274320"/>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タスクに「誰が・いつまでに」が必ず付く</a:t>
            </a:r>
            <a:endParaRPr lang="en-US" sz="1200" dirty="0"/>
          </a:p>
        </p:txBody>
      </p:sp>
      <p:sp>
        <p:nvSpPr>
          <p:cNvPr id="31" name="Text 29"/>
          <p:cNvSpPr/>
          <p:nvPr/>
        </p:nvSpPr>
        <p:spPr>
          <a:xfrm>
            <a:off x="1115568" y="2907792"/>
            <a:ext cx="4705960" cy="347472"/>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担当者と期限が空欄のまま放置されない。誰の手元で止まっているかが常に分かる</a:t>
            </a:r>
            <a:endParaRPr lang="en-US" sz="900" dirty="0"/>
          </a:p>
        </p:txBody>
      </p:sp>
      <p:sp>
        <p:nvSpPr>
          <p:cNvPr id="32" name="Shape 30"/>
          <p:cNvSpPr/>
          <p:nvPr/>
        </p:nvSpPr>
        <p:spPr>
          <a:xfrm>
            <a:off x="6205576" y="2560320"/>
            <a:ext cx="5437480" cy="749808"/>
          </a:xfrm>
          <a:prstGeom prst="roundRect">
            <a:avLst>
              <a:gd name="adj" fmla="val 731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3" name="Shape 31"/>
          <p:cNvSpPr/>
          <p:nvPr/>
        </p:nvSpPr>
        <p:spPr>
          <a:xfrm>
            <a:off x="6370168" y="2779776"/>
            <a:ext cx="310896" cy="310896"/>
          </a:xfrm>
          <a:prstGeom prst="roundRect">
            <a:avLst>
              <a:gd name="adj" fmla="val 50000"/>
            </a:avLst>
          </a:prstGeom>
          <a:solidFill>
            <a:srgbClr val="CADCFC"/>
          </a:solidFill>
          <a:ln w="12700">
            <a:solidFill>
              <a:srgbClr val="CADCFC"/>
            </a:solidFill>
            <a:prstDash val="solid"/>
          </a:ln>
        </p:spPr>
      </p:sp>
      <p:sp>
        <p:nvSpPr>
          <p:cNvPr id="34" name="Text 32"/>
          <p:cNvSpPr/>
          <p:nvPr/>
        </p:nvSpPr>
        <p:spPr>
          <a:xfrm>
            <a:off x="6370168" y="2779776"/>
            <a:ext cx="310896" cy="310896"/>
          </a:xfrm>
          <a:prstGeom prst="rect">
            <a:avLst/>
          </a:prstGeom>
          <a:noFill/>
          <a:ln/>
        </p:spPr>
        <p:txBody>
          <a:bodyPr wrap="square" lIns="0" tIns="0" rIns="0" bIns="0" rtlCol="0" anchor="ctr"/>
          <a:lstStyle/>
          <a:p>
            <a:pPr algn="ctr" indent="0" marL="0">
              <a:buNone/>
            </a:pPr>
            <a:r>
              <a:rPr lang="en-US" sz="1000" b="1" dirty="0">
                <a:solidFill>
                  <a:srgbClr val="1E2761"/>
                </a:solidFill>
                <a:latin typeface="Meiryo" pitchFamily="34" charset="0"/>
                <a:ea typeface="Meiryo" pitchFamily="34" charset="-122"/>
                <a:cs typeface="Meiryo" pitchFamily="34" charset="-120"/>
              </a:rPr>
              <a:t>2</a:t>
            </a:r>
            <a:endParaRPr lang="en-US" sz="1000" dirty="0"/>
          </a:p>
        </p:txBody>
      </p:sp>
      <p:sp>
        <p:nvSpPr>
          <p:cNvPr id="35" name="Text 33"/>
          <p:cNvSpPr/>
          <p:nvPr/>
        </p:nvSpPr>
        <p:spPr>
          <a:xfrm>
            <a:off x="6772504" y="2633472"/>
            <a:ext cx="4705960" cy="274320"/>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遅れが自動で浮かび上がる</a:t>
            </a:r>
            <a:endParaRPr lang="en-US" sz="1200" dirty="0"/>
          </a:p>
        </p:txBody>
      </p:sp>
      <p:sp>
        <p:nvSpPr>
          <p:cNvPr id="36" name="Text 34"/>
          <p:cNvSpPr/>
          <p:nvPr/>
        </p:nvSpPr>
        <p:spPr>
          <a:xfrm>
            <a:off x="6772504" y="2907792"/>
            <a:ext cx="4705960" cy="347472"/>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期限を過ぎたタスクを部署をまたいで一覧できる。PMOは「遅れているものだけ」を見て動ける</a:t>
            </a:r>
            <a:endParaRPr lang="en-US" sz="900" dirty="0"/>
          </a:p>
        </p:txBody>
      </p:sp>
      <p:sp>
        <p:nvSpPr>
          <p:cNvPr id="37" name="Shape 35"/>
          <p:cNvSpPr/>
          <p:nvPr/>
        </p:nvSpPr>
        <p:spPr>
          <a:xfrm>
            <a:off x="548640" y="3429000"/>
            <a:ext cx="5437480" cy="749808"/>
          </a:xfrm>
          <a:prstGeom prst="roundRect">
            <a:avLst>
              <a:gd name="adj" fmla="val 731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8" name="Shape 36"/>
          <p:cNvSpPr/>
          <p:nvPr/>
        </p:nvSpPr>
        <p:spPr>
          <a:xfrm>
            <a:off x="713232" y="3648456"/>
            <a:ext cx="310896" cy="310896"/>
          </a:xfrm>
          <a:prstGeom prst="roundRect">
            <a:avLst>
              <a:gd name="adj" fmla="val 50000"/>
            </a:avLst>
          </a:prstGeom>
          <a:solidFill>
            <a:srgbClr val="CADCFC"/>
          </a:solidFill>
          <a:ln w="12700">
            <a:solidFill>
              <a:srgbClr val="CADCFC"/>
            </a:solidFill>
            <a:prstDash val="solid"/>
          </a:ln>
        </p:spPr>
      </p:sp>
      <p:sp>
        <p:nvSpPr>
          <p:cNvPr id="39" name="Text 37"/>
          <p:cNvSpPr/>
          <p:nvPr/>
        </p:nvSpPr>
        <p:spPr>
          <a:xfrm>
            <a:off x="713232" y="3648456"/>
            <a:ext cx="310896" cy="310896"/>
          </a:xfrm>
          <a:prstGeom prst="rect">
            <a:avLst/>
          </a:prstGeom>
          <a:noFill/>
          <a:ln/>
        </p:spPr>
        <p:txBody>
          <a:bodyPr wrap="square" lIns="0" tIns="0" rIns="0" bIns="0" rtlCol="0" anchor="ctr"/>
          <a:lstStyle/>
          <a:p>
            <a:pPr algn="ctr" indent="0" marL="0">
              <a:buNone/>
            </a:pPr>
            <a:r>
              <a:rPr lang="en-US" sz="1000" b="1" dirty="0">
                <a:solidFill>
                  <a:srgbClr val="1E2761"/>
                </a:solidFill>
                <a:latin typeface="Meiryo" pitchFamily="34" charset="0"/>
                <a:ea typeface="Meiryo" pitchFamily="34" charset="-122"/>
                <a:cs typeface="Meiryo" pitchFamily="34" charset="-120"/>
              </a:rPr>
              <a:t>3</a:t>
            </a:r>
            <a:endParaRPr lang="en-US" sz="1000" dirty="0"/>
          </a:p>
        </p:txBody>
      </p:sp>
      <p:sp>
        <p:nvSpPr>
          <p:cNvPr id="40" name="Text 38"/>
          <p:cNvSpPr/>
          <p:nvPr/>
        </p:nvSpPr>
        <p:spPr>
          <a:xfrm>
            <a:off x="1115568" y="3502152"/>
            <a:ext cx="4705960" cy="274320"/>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そのタスクが何のためのものか辿れる</a:t>
            </a:r>
            <a:endParaRPr lang="en-US" sz="1200" dirty="0"/>
          </a:p>
        </p:txBody>
      </p:sp>
      <p:sp>
        <p:nvSpPr>
          <p:cNvPr id="41" name="Text 39"/>
          <p:cNvSpPr/>
          <p:nvPr/>
        </p:nvSpPr>
        <p:spPr>
          <a:xfrm>
            <a:off x="1115568" y="3776472"/>
            <a:ext cx="4705960" cy="347472"/>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タスクから案件へ、案件から決定事項・議事録へ遡れる</a:t>
            </a:r>
            <a:endParaRPr lang="en-US" sz="900" dirty="0"/>
          </a:p>
        </p:txBody>
      </p:sp>
      <p:sp>
        <p:nvSpPr>
          <p:cNvPr id="42" name="Shape 40"/>
          <p:cNvSpPr/>
          <p:nvPr/>
        </p:nvSpPr>
        <p:spPr>
          <a:xfrm>
            <a:off x="6205576" y="3429000"/>
            <a:ext cx="5437480" cy="749808"/>
          </a:xfrm>
          <a:prstGeom prst="roundRect">
            <a:avLst>
              <a:gd name="adj" fmla="val 731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3" name="Shape 41"/>
          <p:cNvSpPr/>
          <p:nvPr/>
        </p:nvSpPr>
        <p:spPr>
          <a:xfrm>
            <a:off x="6370168" y="3648456"/>
            <a:ext cx="310896" cy="310896"/>
          </a:xfrm>
          <a:prstGeom prst="roundRect">
            <a:avLst>
              <a:gd name="adj" fmla="val 50000"/>
            </a:avLst>
          </a:prstGeom>
          <a:solidFill>
            <a:srgbClr val="CADCFC"/>
          </a:solidFill>
          <a:ln w="12700">
            <a:solidFill>
              <a:srgbClr val="CADCFC"/>
            </a:solidFill>
            <a:prstDash val="solid"/>
          </a:ln>
        </p:spPr>
      </p:sp>
      <p:sp>
        <p:nvSpPr>
          <p:cNvPr id="44" name="Text 42"/>
          <p:cNvSpPr/>
          <p:nvPr/>
        </p:nvSpPr>
        <p:spPr>
          <a:xfrm>
            <a:off x="6370168" y="3648456"/>
            <a:ext cx="310896" cy="310896"/>
          </a:xfrm>
          <a:prstGeom prst="rect">
            <a:avLst/>
          </a:prstGeom>
          <a:noFill/>
          <a:ln/>
        </p:spPr>
        <p:txBody>
          <a:bodyPr wrap="square" lIns="0" tIns="0" rIns="0" bIns="0" rtlCol="0" anchor="ctr"/>
          <a:lstStyle/>
          <a:p>
            <a:pPr algn="ctr" indent="0" marL="0">
              <a:buNone/>
            </a:pPr>
            <a:r>
              <a:rPr lang="en-US" sz="1000" b="1" dirty="0">
                <a:solidFill>
                  <a:srgbClr val="1E2761"/>
                </a:solidFill>
                <a:latin typeface="Meiryo" pitchFamily="34" charset="0"/>
                <a:ea typeface="Meiryo" pitchFamily="34" charset="-122"/>
                <a:cs typeface="Meiryo" pitchFamily="34" charset="-120"/>
              </a:rPr>
              <a:t>4</a:t>
            </a:r>
            <a:endParaRPr lang="en-US" sz="1000" dirty="0"/>
          </a:p>
        </p:txBody>
      </p:sp>
      <p:sp>
        <p:nvSpPr>
          <p:cNvPr id="45" name="Text 43"/>
          <p:cNvSpPr/>
          <p:nvPr/>
        </p:nvSpPr>
        <p:spPr>
          <a:xfrm>
            <a:off x="6772504" y="3502152"/>
            <a:ext cx="4705960" cy="274320"/>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立場ごとに見え方を変えられる</a:t>
            </a:r>
            <a:endParaRPr lang="en-US" sz="1200" dirty="0"/>
          </a:p>
        </p:txBody>
      </p:sp>
      <p:sp>
        <p:nvSpPr>
          <p:cNvPr id="46" name="Text 44"/>
          <p:cNvSpPr/>
          <p:nvPr/>
        </p:nvSpPr>
        <p:spPr>
          <a:xfrm>
            <a:off x="6772504" y="3776472"/>
            <a:ext cx="4705960" cy="347472"/>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PMOは全案件を横断、部門は自分の担当分、経営は全体を、同じデータから見る</a:t>
            </a:r>
            <a:endParaRPr lang="en-US" sz="900" dirty="0"/>
          </a:p>
        </p:txBody>
      </p:sp>
      <p:sp>
        <p:nvSpPr>
          <p:cNvPr id="47" name="Text 45"/>
          <p:cNvSpPr/>
          <p:nvPr/>
        </p:nvSpPr>
        <p:spPr>
          <a:xfrm>
            <a:off x="548640" y="4343400"/>
            <a:ext cx="2743200" cy="274320"/>
          </a:xfrm>
          <a:prstGeom prst="rect">
            <a:avLst/>
          </a:prstGeom>
          <a:noFill/>
          <a:ln/>
        </p:spPr>
        <p:txBody>
          <a:bodyPr wrap="square" lIns="0" tIns="0" rIns="0" bIns="0" rtlCol="0" anchor="ctr"/>
          <a:lstStyle/>
          <a:p>
            <a:pPr indent="0" marL="0">
              <a:buNone/>
            </a:pPr>
            <a:r>
              <a:rPr lang="en-US" sz="1200" b="1" dirty="0">
                <a:solidFill>
                  <a:srgbClr val="6B7280"/>
                </a:solidFill>
                <a:latin typeface="Meiryo" pitchFamily="34" charset="0"/>
                <a:ea typeface="Meiryo" pitchFamily="34" charset="-122"/>
                <a:cs typeface="Meiryo" pitchFamily="34" charset="-120"/>
              </a:rPr>
              <a:t>運用要件</a:t>
            </a:r>
            <a:endParaRPr lang="en-US" sz="1200" dirty="0"/>
          </a:p>
        </p:txBody>
      </p:sp>
      <p:sp>
        <p:nvSpPr>
          <p:cNvPr id="48" name="Shape 46"/>
          <p:cNvSpPr/>
          <p:nvPr/>
        </p:nvSpPr>
        <p:spPr>
          <a:xfrm>
            <a:off x="548640" y="4663440"/>
            <a:ext cx="3643274" cy="914400"/>
          </a:xfrm>
          <a:prstGeom prst="roundRect">
            <a:avLst>
              <a:gd name="adj" fmla="val 60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9" name="Text 47"/>
          <p:cNvSpPr/>
          <p:nvPr/>
        </p:nvSpPr>
        <p:spPr>
          <a:xfrm>
            <a:off x="731520" y="4791456"/>
            <a:ext cx="3277514" cy="402336"/>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非エンジニアの全員が使えること</a:t>
            </a:r>
            <a:endParaRPr lang="en-US" sz="1200" dirty="0"/>
          </a:p>
        </p:txBody>
      </p:sp>
      <p:sp>
        <p:nvSpPr>
          <p:cNvPr id="50" name="Text 48"/>
          <p:cNvSpPr/>
          <p:nvPr/>
        </p:nvSpPr>
        <p:spPr>
          <a:xfrm>
            <a:off x="731520" y="5193792"/>
            <a:ext cx="3277514" cy="274320"/>
          </a:xfrm>
          <a:prstGeom prst="rect">
            <a:avLst/>
          </a:prstGeom>
          <a:noFill/>
          <a:ln/>
        </p:spPr>
        <p:txBody>
          <a:bodyPr wrap="square" lIns="0" tIns="0" rIns="0" bIns="0" rtlCol="0" anchor="ctr"/>
          <a:lstStyle/>
          <a:p>
            <a:pPr indent="0" marL="0">
              <a:buNone/>
            </a:pPr>
            <a:r>
              <a:rPr lang="en-US" sz="950" dirty="0">
                <a:solidFill>
                  <a:srgbClr val="6B7280"/>
                </a:solidFill>
                <a:latin typeface="Meiryo" pitchFamily="34" charset="0"/>
                <a:ea typeface="Meiryo" pitchFamily="34" charset="-122"/>
                <a:cs typeface="Meiryo" pitchFamily="34" charset="-120"/>
              </a:rPr>
              <a:t>特別な教育を前提にしない</a:t>
            </a:r>
            <a:endParaRPr lang="en-US" sz="950" dirty="0"/>
          </a:p>
        </p:txBody>
      </p:sp>
      <p:sp>
        <p:nvSpPr>
          <p:cNvPr id="51" name="Shape 49"/>
          <p:cNvSpPr/>
          <p:nvPr/>
        </p:nvSpPr>
        <p:spPr>
          <a:xfrm>
            <a:off x="4274210" y="4663440"/>
            <a:ext cx="3643274" cy="914400"/>
          </a:xfrm>
          <a:prstGeom prst="roundRect">
            <a:avLst>
              <a:gd name="adj" fmla="val 6000"/>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52" name="Text 50"/>
          <p:cNvSpPr/>
          <p:nvPr/>
        </p:nvSpPr>
        <p:spPr>
          <a:xfrm>
            <a:off x="4457090" y="4791456"/>
            <a:ext cx="3277514" cy="402336"/>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SSO・権限による統制</a:t>
            </a:r>
            <a:endParaRPr lang="en-US" sz="1200" dirty="0"/>
          </a:p>
        </p:txBody>
      </p:sp>
      <p:sp>
        <p:nvSpPr>
          <p:cNvPr id="53" name="Text 51"/>
          <p:cNvSpPr/>
          <p:nvPr/>
        </p:nvSpPr>
        <p:spPr>
          <a:xfrm>
            <a:off x="4457090" y="5193792"/>
            <a:ext cx="3277514" cy="274320"/>
          </a:xfrm>
          <a:prstGeom prst="rect">
            <a:avLst/>
          </a:prstGeom>
          <a:noFill/>
          <a:ln/>
        </p:spPr>
        <p:txBody>
          <a:bodyPr wrap="square" lIns="0" tIns="0" rIns="0" bIns="0" rtlCol="0" anchor="ctr"/>
          <a:lstStyle/>
          <a:p>
            <a:pPr indent="0" marL="0">
              <a:buNone/>
            </a:pPr>
            <a:r>
              <a:rPr lang="en-US" sz="950" b="1" dirty="0">
                <a:solidFill>
                  <a:srgbClr val="1E2761"/>
                </a:solidFill>
                <a:latin typeface="Meiryo" pitchFamily="34" charset="0"/>
                <a:ea typeface="Meiryo" pitchFamily="34" charset="-122"/>
                <a:cs typeface="Meiryo" pitchFamily="34" charset="-120"/>
              </a:rPr>
              <a:t>→ 第6章で詳しくご説明します</a:t>
            </a:r>
            <a:endParaRPr lang="en-US" sz="950" dirty="0"/>
          </a:p>
        </p:txBody>
      </p:sp>
      <p:sp>
        <p:nvSpPr>
          <p:cNvPr id="54" name="Shape 52"/>
          <p:cNvSpPr/>
          <p:nvPr/>
        </p:nvSpPr>
        <p:spPr>
          <a:xfrm>
            <a:off x="7999781" y="4663440"/>
            <a:ext cx="3643274" cy="914400"/>
          </a:xfrm>
          <a:prstGeom prst="roundRect">
            <a:avLst>
              <a:gd name="adj" fmla="val 60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55" name="Text 53"/>
          <p:cNvSpPr/>
          <p:nvPr/>
        </p:nvSpPr>
        <p:spPr>
          <a:xfrm>
            <a:off x="8182661" y="4791456"/>
            <a:ext cx="3277514" cy="402336"/>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1製品で完結すること</a:t>
            </a:r>
            <a:endParaRPr lang="en-US" sz="1200" dirty="0"/>
          </a:p>
        </p:txBody>
      </p:sp>
      <p:sp>
        <p:nvSpPr>
          <p:cNvPr id="56" name="Text 54"/>
          <p:cNvSpPr/>
          <p:nvPr/>
        </p:nvSpPr>
        <p:spPr>
          <a:xfrm>
            <a:off x="8182661" y="5193792"/>
            <a:ext cx="3277514" cy="274320"/>
          </a:xfrm>
          <a:prstGeom prst="rect">
            <a:avLst/>
          </a:prstGeom>
          <a:noFill/>
          <a:ln/>
        </p:spPr>
        <p:txBody>
          <a:bodyPr wrap="square" lIns="0" tIns="0" rIns="0" bIns="0" rtlCol="0" anchor="ctr"/>
          <a:lstStyle/>
          <a:p>
            <a:pPr indent="0" marL="0">
              <a:buNone/>
            </a:pPr>
            <a:r>
              <a:rPr lang="en-US" sz="950" dirty="0">
                <a:solidFill>
                  <a:srgbClr val="6B7280"/>
                </a:solidFill>
                <a:latin typeface="Meiryo" pitchFamily="34" charset="0"/>
                <a:ea typeface="Meiryo" pitchFamily="34" charset="-122"/>
                <a:cs typeface="Meiryo" pitchFamily="34" charset="-120"/>
              </a:rPr>
              <a:t>教育コストと現場の混乱を最小化する</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第4章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1E2761"/>
          </a:solidFill>
          <a:ln w="12700">
            <a:solidFill>
              <a:srgbClr val="1E2761"/>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選定 — 要件を固定したうえで、4案を比較する</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要件を先に決めてから比較すると、1製品で満たせるのは Notion だけでした</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7</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94415" cy="914400"/>
        </p:xfrm>
        <a:graphic>
          <a:graphicData uri="http://schemas.openxmlformats.org/drawingml/2006/table">
            <a:tbl>
              <a:tblPr/>
              <a:tblGrid>
                <a:gridCol w="3200400"/>
                <a:gridCol w="1975104"/>
                <a:gridCol w="1975104"/>
                <a:gridCol w="1975104"/>
                <a:gridCol w="1965960"/>
              </a:tblGrid>
              <a:tr h="384048">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要件</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A. Microsoft 365 の組合せ</a:t>
                      </a:r>
                      <a:endParaRPr lang="en-US" sz="1050" dirty="0">
                        <a:latin typeface="Meiryo" charset="0"/>
                        <a:ea typeface="Meiryo" charset="0"/>
                        <a:cs typeface="Meiryo" charset="0"/>
                      </a:endParaRPr>
                    </a:p>
                    <a:p>
                      <a:pPr algn="ctr" indent="0" marL="0">
                        <a:buNone/>
                      </a:pPr>
                      <a:r>
                        <a:rPr lang="en-US" sz="1050" b="1" dirty="0">
                          <a:solidFill>
                            <a:srgbClr val="FFFFFF"/>
                          </a:solidFill>
                          <a:latin typeface="Meiryo" pitchFamily="34" charset="0"/>
                          <a:ea typeface="Meiryo" pitchFamily="34" charset="-122"/>
                          <a:cs typeface="Meiryo" pitchFamily="34" charset="-120"/>
                        </a:rPr>
                        <a:t>(Planner/Lists/Loop)</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B. 無料ツール</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C. 専用ツール</a:t>
                      </a:r>
                      <a:endParaRPr lang="en-US" sz="1050" dirty="0">
                        <a:latin typeface="Meiryo" charset="0"/>
                        <a:ea typeface="Meiryo" charset="0"/>
                        <a:cs typeface="Meiryo" charset="0"/>
                      </a:endParaRPr>
                    </a:p>
                    <a:p>
                      <a:pPr algn="ctr" indent="0" marL="0">
                        <a:buNone/>
                      </a:pPr>
                      <a:r>
                        <a:rPr lang="en-US" sz="1050" b="1" dirty="0">
                          <a:solidFill>
                            <a:srgbClr val="FFFFFF"/>
                          </a:solidFill>
                          <a:latin typeface="Meiryo" pitchFamily="34" charset="0"/>
                          <a:ea typeface="Meiryo" pitchFamily="34" charset="-122"/>
                          <a:cs typeface="Meiryo" pitchFamily="34" charset="-120"/>
                        </a:rPr>
                        <a:t>(Asana/Backlog等)</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D. Notion</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r>
              <a:tr h="36576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1. タスクに担当者・期限が必ず付く</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ツールごとに運用がばらつく</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必須化できない</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タスク管理は得意</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必須プロパティで担保</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292608">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2. 遅れを部署横断で一覧できる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ツールをまたぐと不可</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限定的</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ツール内のみ</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横断ビューで抽出</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6576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3. 何のためのタスクか辿れる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案件と議事録が別管理</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機能不足</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親子課題までが限界</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案件・議事録まで遡れる</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292608">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4. 立場別のビューを切り替えられる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不可</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限定的</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対応</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同一データで切替</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6576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5. ガバナンス（SSO・権限）</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Microsoft 365 の統制下</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統制不可</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対応</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SSO=Business以上（第6章）</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292608">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6. 1製品で完結（教育コスト最小化）</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3製品以上の併用</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用途ごとに別ツール</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議事録・wikiは別</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1製品</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29184">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（参考）当社での試用</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Backlogを試用（4-2）</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経営層で3か月試用</a:t>
                      </a:r>
                      <a:endParaRPr lang="en-US" sz="8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bl>
          </a:graphicData>
        </a:graphic>
      </p:graphicFrame>
      <p:sp>
        <p:nvSpPr>
          <p:cNvPr id="27" name="Text 24"/>
          <p:cNvSpPr/>
          <p:nvPr/>
        </p:nvSpPr>
        <p:spPr>
          <a:xfrm>
            <a:off x="548640" y="5669280"/>
            <a:ext cx="11094415" cy="274320"/>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次ページで、A・B・C の3案が外れる理由をそれぞれご説明します。</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第4章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1E2761"/>
          </a:solidFill>
          <a:ln w="12700">
            <a:solidFill>
              <a:srgbClr val="1E2761"/>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選定 — 他の3案が外れる理由</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3案が外れる理由は、それぞれ性質が異なります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8</a:t>
            </a:r>
            <a:endParaRPr lang="en-US" sz="1000" dirty="0"/>
          </a:p>
        </p:txBody>
      </p:sp>
      <p:sp>
        <p:nvSpPr>
          <p:cNvPr id="26" name="Shape 24"/>
          <p:cNvSpPr/>
          <p:nvPr/>
        </p:nvSpPr>
        <p:spPr>
          <a:xfrm>
            <a:off x="548640" y="2231136"/>
            <a:ext cx="11094415" cy="1115568"/>
          </a:xfrm>
          <a:prstGeom prst="roundRect">
            <a:avLst>
              <a:gd name="adj" fmla="val 491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7" name="Shape 25"/>
          <p:cNvSpPr/>
          <p:nvPr/>
        </p:nvSpPr>
        <p:spPr>
          <a:xfrm>
            <a:off x="749808" y="2414016"/>
            <a:ext cx="384048" cy="384048"/>
          </a:xfrm>
          <a:prstGeom prst="roundRect">
            <a:avLst>
              <a:gd name="adj" fmla="val 14286"/>
            </a:avLst>
          </a:prstGeom>
          <a:solidFill>
            <a:srgbClr val="1E2761"/>
          </a:solidFill>
          <a:ln w="12700">
            <a:solidFill>
              <a:srgbClr val="1E2761"/>
            </a:solidFill>
            <a:prstDash val="solid"/>
          </a:ln>
        </p:spPr>
      </p:sp>
      <p:sp>
        <p:nvSpPr>
          <p:cNvPr id="28" name="Text 26"/>
          <p:cNvSpPr/>
          <p:nvPr/>
        </p:nvSpPr>
        <p:spPr>
          <a:xfrm>
            <a:off x="749808" y="24140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a:t>
            </a:r>
            <a:endParaRPr lang="en-US" sz="1300" dirty="0"/>
          </a:p>
        </p:txBody>
      </p:sp>
      <p:sp>
        <p:nvSpPr>
          <p:cNvPr id="29" name="Text 27"/>
          <p:cNvSpPr/>
          <p:nvPr/>
        </p:nvSpPr>
        <p:spPr>
          <a:xfrm>
            <a:off x="1261872" y="2377440"/>
            <a:ext cx="10180015" cy="292608"/>
          </a:xfrm>
          <a:prstGeom prst="rect">
            <a:avLst/>
          </a:prstGeom>
          <a:noFill/>
          <a:ln/>
        </p:spPr>
        <p:txBody>
          <a:bodyPr wrap="square" lIns="0" tIns="0" rIns="0" bIns="0" rtlCol="0" anchor="ctr"/>
          <a:lstStyle/>
          <a:p>
            <a:pPr indent="0" marL="0">
              <a:buNone/>
            </a:pPr>
            <a:r>
              <a:rPr lang="en-US" sz="1300" b="1" dirty="0">
                <a:solidFill>
                  <a:srgbClr val="1E2761"/>
                </a:solidFill>
                <a:latin typeface="Meiryo" pitchFamily="34" charset="0"/>
                <a:ea typeface="Meiryo" pitchFamily="34" charset="-122"/>
                <a:cs typeface="Meiryo" pitchFamily="34" charset="-120"/>
              </a:rPr>
              <a:t>Microsoft 365 の組合せ</a:t>
            </a:r>
            <a:endParaRPr lang="en-US" sz="1300" dirty="0"/>
          </a:p>
        </p:txBody>
      </p:sp>
      <p:sp>
        <p:nvSpPr>
          <p:cNvPr id="30" name="Text 28"/>
          <p:cNvSpPr/>
          <p:nvPr/>
        </p:nvSpPr>
        <p:spPr>
          <a:xfrm>
            <a:off x="1261872" y="2688336"/>
            <a:ext cx="10134295" cy="566928"/>
          </a:xfrm>
          <a:prstGeom prst="rect">
            <a:avLst/>
          </a:prstGeom>
          <a:noFill/>
          <a:ln/>
        </p:spPr>
        <p:txBody>
          <a:bodyPr wrap="square" lIns="0" tIns="0" rIns="0" bIns="0" rtlCol="0" anchor="ctr"/>
          <a:lstStyle/>
          <a:p>
            <a:pPr indent="0" marL="0">
              <a:lnSpc>
                <a:spcPts val="1700"/>
              </a:lnSpc>
              <a:buNone/>
            </a:pPr>
            <a:r>
              <a:rPr lang="en-US" sz="1050" dirty="0">
                <a:solidFill>
                  <a:srgbClr val="1A1A2E"/>
                </a:solidFill>
                <a:latin typeface="Meiryo" pitchFamily="34" charset="0"/>
                <a:ea typeface="Meiryo" pitchFamily="34" charset="-122"/>
                <a:cs typeface="Meiryo" pitchFamily="34" charset="-120"/>
              </a:rPr>
              <a:t>Microsoft 365 で解決できるのであれば、この数年のあいだにすでに解決できていたはずです。複数のアプリを組み合わせる形は、情報が散らばる状態を作り直すことになり、いま解決したい課題そのものになってしまいます。</a:t>
            </a:r>
            <a:endParaRPr lang="en-US" sz="1050" dirty="0"/>
          </a:p>
        </p:txBody>
      </p:sp>
      <p:sp>
        <p:nvSpPr>
          <p:cNvPr id="31" name="Shape 29"/>
          <p:cNvSpPr/>
          <p:nvPr/>
        </p:nvSpPr>
        <p:spPr>
          <a:xfrm>
            <a:off x="548640" y="3465576"/>
            <a:ext cx="11094415" cy="1115568"/>
          </a:xfrm>
          <a:prstGeom prst="roundRect">
            <a:avLst>
              <a:gd name="adj" fmla="val 4918"/>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2" name="Shape 30"/>
          <p:cNvSpPr/>
          <p:nvPr/>
        </p:nvSpPr>
        <p:spPr>
          <a:xfrm>
            <a:off x="749808" y="3648456"/>
            <a:ext cx="384048" cy="384048"/>
          </a:xfrm>
          <a:prstGeom prst="roundRect">
            <a:avLst>
              <a:gd name="adj" fmla="val 14286"/>
            </a:avLst>
          </a:prstGeom>
          <a:solidFill>
            <a:srgbClr val="1E2761"/>
          </a:solidFill>
          <a:ln w="12700">
            <a:solidFill>
              <a:srgbClr val="1E2761"/>
            </a:solidFill>
            <a:prstDash val="solid"/>
          </a:ln>
        </p:spPr>
      </p:sp>
      <p:sp>
        <p:nvSpPr>
          <p:cNvPr id="33" name="Text 31"/>
          <p:cNvSpPr/>
          <p:nvPr/>
        </p:nvSpPr>
        <p:spPr>
          <a:xfrm>
            <a:off x="749808" y="36484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B</a:t>
            </a:r>
            <a:endParaRPr lang="en-US" sz="1300" dirty="0"/>
          </a:p>
        </p:txBody>
      </p:sp>
      <p:sp>
        <p:nvSpPr>
          <p:cNvPr id="34" name="Text 32"/>
          <p:cNvSpPr/>
          <p:nvPr/>
        </p:nvSpPr>
        <p:spPr>
          <a:xfrm>
            <a:off x="1261872" y="3611880"/>
            <a:ext cx="10180015" cy="292608"/>
          </a:xfrm>
          <a:prstGeom prst="rect">
            <a:avLst/>
          </a:prstGeom>
          <a:noFill/>
          <a:ln/>
        </p:spPr>
        <p:txBody>
          <a:bodyPr wrap="square" lIns="0" tIns="0" rIns="0" bIns="0" rtlCol="0" anchor="ctr"/>
          <a:lstStyle/>
          <a:p>
            <a:pPr indent="0" marL="0">
              <a:buNone/>
            </a:pPr>
            <a:r>
              <a:rPr lang="en-US" sz="1300" b="1" dirty="0">
                <a:solidFill>
                  <a:srgbClr val="1E2761"/>
                </a:solidFill>
                <a:latin typeface="Meiryo" pitchFamily="34" charset="0"/>
                <a:ea typeface="Meiryo" pitchFamily="34" charset="-122"/>
                <a:cs typeface="Meiryo" pitchFamily="34" charset="-120"/>
              </a:rPr>
              <a:t>無料ツール</a:t>
            </a:r>
            <a:endParaRPr lang="en-US" sz="1300" dirty="0"/>
          </a:p>
        </p:txBody>
      </p:sp>
      <p:sp>
        <p:nvSpPr>
          <p:cNvPr id="35" name="Text 33"/>
          <p:cNvSpPr/>
          <p:nvPr/>
        </p:nvSpPr>
        <p:spPr>
          <a:xfrm>
            <a:off x="1261872" y="3922776"/>
            <a:ext cx="10134295" cy="566928"/>
          </a:xfrm>
          <a:prstGeom prst="rect">
            <a:avLst/>
          </a:prstGeom>
          <a:noFill/>
          <a:ln/>
        </p:spPr>
        <p:txBody>
          <a:bodyPr wrap="square" lIns="0" tIns="0" rIns="0" bIns="0" rtlCol="0" anchor="ctr"/>
          <a:lstStyle/>
          <a:p>
            <a:pPr indent="0" marL="0">
              <a:lnSpc>
                <a:spcPts val="1700"/>
              </a:lnSpc>
              <a:buNone/>
            </a:pPr>
            <a:r>
              <a:rPr lang="en-US" sz="1050" dirty="0">
                <a:solidFill>
                  <a:srgbClr val="1A1A2E"/>
                </a:solidFill>
                <a:latin typeface="Meiryo" pitchFamily="34" charset="0"/>
                <a:ea typeface="Meiryo" pitchFamily="34" charset="-122"/>
                <a:cs typeface="Meiryo" pitchFamily="34" charset="-120"/>
              </a:rPr>
              <a:t>部門ごとに無料ツールが乱立する状態こそ、会社として把握できないシャドーITのリスクになります。有料の1製品に統制するほうが、ガバナンスはむしろ強くなります。</a:t>
            </a:r>
            <a:endParaRPr lang="en-US" sz="1050" dirty="0"/>
          </a:p>
        </p:txBody>
      </p:sp>
      <p:sp>
        <p:nvSpPr>
          <p:cNvPr id="36" name="Shape 34"/>
          <p:cNvSpPr/>
          <p:nvPr/>
        </p:nvSpPr>
        <p:spPr>
          <a:xfrm>
            <a:off x="548640" y="4700016"/>
            <a:ext cx="11094415" cy="1115568"/>
          </a:xfrm>
          <a:prstGeom prst="roundRect">
            <a:avLst>
              <a:gd name="adj" fmla="val 4918"/>
            </a:avLst>
          </a:prstGeom>
          <a:solidFill>
            <a:srgbClr val="FBEDEC"/>
          </a:solidFill>
          <a:ln w="12700">
            <a:solidFill>
              <a:srgbClr val="B3261E"/>
            </a:solidFill>
            <a:prstDash val="solid"/>
          </a:ln>
          <a:effectLst>
            <a:outerShdw sx="100000" sy="100000" kx="0" ky="0" algn="bl" rotWithShape="0" blurRad="101600" dist="12700" dir="5400000">
              <a:srgbClr val="1E2761">
                <a:alpha val="10000"/>
              </a:srgbClr>
            </a:outerShdw>
          </a:effectLst>
        </p:spPr>
      </p:sp>
      <p:sp>
        <p:nvSpPr>
          <p:cNvPr id="37" name="Shape 35"/>
          <p:cNvSpPr/>
          <p:nvPr/>
        </p:nvSpPr>
        <p:spPr>
          <a:xfrm>
            <a:off x="749808" y="4882896"/>
            <a:ext cx="384048" cy="384048"/>
          </a:xfrm>
          <a:prstGeom prst="roundRect">
            <a:avLst>
              <a:gd name="adj" fmla="val 14286"/>
            </a:avLst>
          </a:prstGeom>
          <a:solidFill>
            <a:srgbClr val="B3261E"/>
          </a:solidFill>
          <a:ln w="12700">
            <a:solidFill>
              <a:srgbClr val="B3261E"/>
            </a:solidFill>
            <a:prstDash val="solid"/>
          </a:ln>
        </p:spPr>
      </p:sp>
      <p:sp>
        <p:nvSpPr>
          <p:cNvPr id="38" name="Text 36"/>
          <p:cNvSpPr/>
          <p:nvPr/>
        </p:nvSpPr>
        <p:spPr>
          <a:xfrm>
            <a:off x="749808" y="48828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C</a:t>
            </a:r>
            <a:endParaRPr lang="en-US" sz="1300" dirty="0"/>
          </a:p>
        </p:txBody>
      </p:sp>
      <p:sp>
        <p:nvSpPr>
          <p:cNvPr id="39" name="Text 37"/>
          <p:cNvSpPr/>
          <p:nvPr/>
        </p:nvSpPr>
        <p:spPr>
          <a:xfrm>
            <a:off x="1261872" y="4846320"/>
            <a:ext cx="10180015" cy="292608"/>
          </a:xfrm>
          <a:prstGeom prst="rect">
            <a:avLst/>
          </a:prstGeom>
          <a:noFill/>
          <a:ln/>
        </p:spPr>
        <p:txBody>
          <a:bodyPr wrap="square" lIns="0" tIns="0" rIns="0" bIns="0" rtlCol="0" anchor="ctr"/>
          <a:lstStyle/>
          <a:p>
            <a:pPr indent="0" marL="0">
              <a:buNone/>
            </a:pPr>
            <a:r>
              <a:rPr lang="en-US" sz="1300" b="1" dirty="0">
                <a:solidFill>
                  <a:srgbClr val="B3261E"/>
                </a:solidFill>
                <a:latin typeface="Meiryo" pitchFamily="34" charset="0"/>
                <a:ea typeface="Meiryo" pitchFamily="34" charset="-122"/>
                <a:cs typeface="Meiryo" pitchFamily="34" charset="-120"/>
              </a:rPr>
              <a:t>専用ツール（Asana / Backlog 等）</a:t>
            </a:r>
            <a:endParaRPr lang="en-US" sz="1300" dirty="0"/>
          </a:p>
        </p:txBody>
      </p:sp>
      <p:sp>
        <p:nvSpPr>
          <p:cNvPr id="40" name="Text 38"/>
          <p:cNvSpPr/>
          <p:nvPr/>
        </p:nvSpPr>
        <p:spPr>
          <a:xfrm>
            <a:off x="1261872" y="5157216"/>
            <a:ext cx="10134295" cy="566928"/>
          </a:xfrm>
          <a:prstGeom prst="rect">
            <a:avLst/>
          </a:prstGeom>
          <a:noFill/>
          <a:ln/>
        </p:spPr>
        <p:txBody>
          <a:bodyPr wrap="square" lIns="0" tIns="0" rIns="0" bIns="0" rtlCol="0" anchor="ctr"/>
          <a:lstStyle/>
          <a:p>
            <a:pPr indent="0" marL="0">
              <a:lnSpc>
                <a:spcPts val="1700"/>
              </a:lnSpc>
              <a:buNone/>
            </a:pPr>
            <a:r>
              <a:rPr lang="en-US" sz="1050" dirty="0">
                <a:solidFill>
                  <a:srgbClr val="1A1A2E"/>
                </a:solidFill>
                <a:latin typeface="Meiryo" pitchFamily="34" charset="0"/>
                <a:ea typeface="Meiryo" pitchFamily="34" charset="-122"/>
                <a:cs typeface="Meiryo" pitchFamily="34" charset="-120"/>
              </a:rPr>
              <a:t>当社での試用結果：システム部門で Backlog を試用しました。ガントチャートでのタスク管理は有効でしたが、親子課題までしか紐づけられず、「そのタスクが何の目的で存在するのか」を管理できませんでした。第3章の要件3を満たしません。</a:t>
            </a:r>
            <a:endParaRPr lang="en-US" sz="1050" dirty="0"/>
          </a:p>
        </p:txBody>
      </p:sp>
      <p:sp>
        <p:nvSpPr>
          <p:cNvPr id="41" name="Shape 39"/>
          <p:cNvSpPr/>
          <p:nvPr/>
        </p:nvSpPr>
        <p:spPr>
          <a:xfrm>
            <a:off x="548640" y="5943600"/>
            <a:ext cx="11094415" cy="502920"/>
          </a:xfrm>
          <a:prstGeom prst="roundRect">
            <a:avLst>
              <a:gd name="adj" fmla="val 10909"/>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42" name="Text 40"/>
          <p:cNvSpPr/>
          <p:nvPr/>
        </p:nvSpPr>
        <p:spPr>
          <a:xfrm>
            <a:off x="822960" y="5943600"/>
            <a:ext cx="10545775" cy="502920"/>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では、すでに全社導入している Microsoft 365 はどうなるのか。次ページでご説明します。</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第4章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1E2761"/>
          </a:solidFill>
          <a:ln w="12700">
            <a:solidFill>
              <a:srgbClr val="1E2761"/>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選定 — Microsoft 365 とは併用します</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Microsoft 365 は置き換えません。役割が異なるため、それぞれの得意分野で使い分けます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9</a:t>
            </a:r>
            <a:endParaRPr lang="en-US" sz="1000" dirty="0"/>
          </a:p>
        </p:txBody>
      </p:sp>
      <p:sp>
        <p:nvSpPr>
          <p:cNvPr id="26" name="Text 24"/>
          <p:cNvSpPr/>
          <p:nvPr/>
        </p:nvSpPr>
        <p:spPr>
          <a:xfrm>
            <a:off x="548640" y="2212848"/>
            <a:ext cx="11094415" cy="274320"/>
          </a:xfrm>
          <a:prstGeom prst="rect">
            <a:avLst/>
          </a:prstGeom>
          <a:noFill/>
          <a:ln/>
        </p:spPr>
        <p:txBody>
          <a:bodyPr wrap="square" lIns="0" tIns="0" rIns="0" bIns="0" rtlCol="0" anchor="ctr"/>
          <a:lstStyle/>
          <a:p>
            <a:pPr indent="0" marL="0">
              <a:buNone/>
            </a:pPr>
            <a:r>
              <a:rPr lang="en-US" sz="1150" dirty="0">
                <a:solidFill>
                  <a:srgbClr val="1A1A2E"/>
                </a:solidFill>
                <a:latin typeface="Meiryo" pitchFamily="34" charset="0"/>
                <a:ea typeface="Meiryo" pitchFamily="34" charset="-122"/>
                <a:cs typeface="Meiryo" pitchFamily="34" charset="-120"/>
              </a:rPr>
              <a:t>前ページのとおり Microsoft 365 の組合せでは要件を満たせませんが、これは Microsoft 365 が不要という意味ではありません。</a:t>
            </a:r>
            <a:endParaRPr lang="en-US" sz="1150" dirty="0"/>
          </a:p>
        </p:txBody>
      </p:sp>
      <p:sp>
        <p:nvSpPr>
          <p:cNvPr id="27" name="Text 25"/>
          <p:cNvSpPr/>
          <p:nvPr/>
        </p:nvSpPr>
        <p:spPr>
          <a:xfrm>
            <a:off x="548640" y="2560320"/>
            <a:ext cx="3657600" cy="256032"/>
          </a:xfrm>
          <a:prstGeom prst="rect">
            <a:avLst/>
          </a:prstGeom>
          <a:noFill/>
          <a:ln/>
        </p:spPr>
        <p:txBody>
          <a:bodyPr wrap="square" lIns="0" tIns="0" rIns="0" bIns="0" rtlCol="0" anchor="ctr"/>
          <a:lstStyle/>
          <a:p>
            <a:pPr indent="0" marL="0">
              <a:buNone/>
            </a:pPr>
            <a:r>
              <a:rPr lang="en-US" sz="1150" b="1" dirty="0">
                <a:solidFill>
                  <a:srgbClr val="6B7280"/>
                </a:solidFill>
                <a:latin typeface="Meiryo" pitchFamily="34" charset="0"/>
                <a:ea typeface="Meiryo" pitchFamily="34" charset="-122"/>
                <a:cs typeface="Meiryo" pitchFamily="34" charset="-120"/>
              </a:rPr>
              <a:t>役割の住み分け</a:t>
            </a:r>
            <a:endParaRPr lang="en-US" sz="1150" dirty="0"/>
          </a:p>
        </p:txBody>
      </p:sp>
      <p:sp>
        <p:nvSpPr>
          <p:cNvPr id="28" name="Shape 26"/>
          <p:cNvSpPr/>
          <p:nvPr/>
        </p:nvSpPr>
        <p:spPr>
          <a:xfrm>
            <a:off x="548640" y="2871216"/>
            <a:ext cx="3570122" cy="1920240"/>
          </a:xfrm>
          <a:prstGeom prst="roundRect">
            <a:avLst>
              <a:gd name="adj" fmla="val 2857"/>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29" name="Text 27"/>
          <p:cNvSpPr/>
          <p:nvPr/>
        </p:nvSpPr>
        <p:spPr>
          <a:xfrm>
            <a:off x="777240" y="3035808"/>
            <a:ext cx="3112922" cy="347472"/>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Notion</a:t>
            </a:r>
            <a:endParaRPr lang="en-US" sz="1700" dirty="0"/>
          </a:p>
        </p:txBody>
      </p:sp>
      <p:sp>
        <p:nvSpPr>
          <p:cNvPr id="30" name="Text 28"/>
          <p:cNvSpPr/>
          <p:nvPr/>
        </p:nvSpPr>
        <p:spPr>
          <a:xfrm>
            <a:off x="777240" y="3401568"/>
            <a:ext cx="3112922" cy="256032"/>
          </a:xfrm>
          <a:prstGeom prst="rect">
            <a:avLst/>
          </a:prstGeom>
          <a:noFill/>
          <a:ln/>
        </p:spPr>
        <p:txBody>
          <a:bodyPr wrap="square" lIns="0" tIns="0" rIns="0" bIns="0" rtlCol="0" anchor="ctr"/>
          <a:lstStyle/>
          <a:p>
            <a:pPr indent="0" marL="0">
              <a:buNone/>
            </a:pPr>
            <a:r>
              <a:rPr lang="en-US" sz="1100" b="1" dirty="0">
                <a:solidFill>
                  <a:srgbClr val="CADCFC"/>
                </a:solidFill>
                <a:latin typeface="Meiryo" pitchFamily="34" charset="0"/>
                <a:ea typeface="Meiryo" pitchFamily="34" charset="-122"/>
                <a:cs typeface="Meiryo" pitchFamily="34" charset="-120"/>
              </a:rPr>
              <a:t>案件と議事録</a:t>
            </a:r>
            <a:endParaRPr lang="en-US" sz="1100" dirty="0"/>
          </a:p>
        </p:txBody>
      </p:sp>
      <p:sp>
        <p:nvSpPr>
          <p:cNvPr id="31" name="Text 29"/>
          <p:cNvSpPr/>
          <p:nvPr/>
        </p:nvSpPr>
        <p:spPr>
          <a:xfrm>
            <a:off x="777240" y="3749040"/>
            <a:ext cx="3112922" cy="91440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CADCFC"/>
                </a:solidFill>
                <a:latin typeface="Meiryo" pitchFamily="34" charset="0"/>
                <a:ea typeface="Meiryo" pitchFamily="34" charset="-122"/>
                <a:cs typeface="Meiryo" pitchFamily="34" charset="-120"/>
              </a:rPr>
              <a:t>案件・タスク・議事録の管理</a:t>
            </a:r>
            <a:endParaRPr lang="en-US" sz="1000" dirty="0"/>
          </a:p>
          <a:p>
            <a:pPr marL="342900" indent="-342900">
              <a:spcAft>
                <a:spcPts val="500"/>
              </a:spcAft>
              <a:buSzPct val="100000"/>
              <a:buChar char="•"/>
            </a:pPr>
            <a:r>
              <a:rPr lang="en-US" sz="1000" dirty="0">
                <a:solidFill>
                  <a:srgbClr val="CADCFC"/>
                </a:solidFill>
                <a:latin typeface="Meiryo" pitchFamily="34" charset="0"/>
                <a:ea typeface="Meiryo" pitchFamily="34" charset="-122"/>
                <a:cs typeface="Meiryo" pitchFamily="34" charset="-120"/>
              </a:rPr>
              <a:t>相互リンクと横断検索</a:t>
            </a:r>
            <a:endParaRPr lang="en-US" sz="1000" dirty="0"/>
          </a:p>
          <a:p>
            <a:pPr marL="342900" indent="-342900">
              <a:spcAft>
                <a:spcPts val="500"/>
              </a:spcAft>
              <a:buSzPct val="100000"/>
              <a:buChar char="•"/>
            </a:pPr>
            <a:r>
              <a:rPr lang="en-US" sz="1000" dirty="0">
                <a:solidFill>
                  <a:srgbClr val="CADCFC"/>
                </a:solidFill>
                <a:latin typeface="Meiryo" pitchFamily="34" charset="0"/>
                <a:ea typeface="Meiryo" pitchFamily="34" charset="-122"/>
                <a:cs typeface="Meiryo" pitchFamily="34" charset="-120"/>
              </a:rPr>
              <a:t>立場別のビュー</a:t>
            </a:r>
            <a:endParaRPr lang="en-US" sz="1000" dirty="0"/>
          </a:p>
        </p:txBody>
      </p:sp>
      <p:sp>
        <p:nvSpPr>
          <p:cNvPr id="32" name="Shape 30"/>
          <p:cNvSpPr/>
          <p:nvPr/>
        </p:nvSpPr>
        <p:spPr>
          <a:xfrm>
            <a:off x="4310786" y="2871216"/>
            <a:ext cx="3570122" cy="1920240"/>
          </a:xfrm>
          <a:prstGeom prst="roundRect">
            <a:avLst>
              <a:gd name="adj" fmla="val 285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3" name="Text 31"/>
          <p:cNvSpPr/>
          <p:nvPr/>
        </p:nvSpPr>
        <p:spPr>
          <a:xfrm>
            <a:off x="4539386" y="3035808"/>
            <a:ext cx="3112922" cy="347472"/>
          </a:xfrm>
          <a:prstGeom prst="rect">
            <a:avLst/>
          </a:prstGeom>
          <a:noFill/>
          <a:ln/>
        </p:spPr>
        <p:txBody>
          <a:bodyPr wrap="square" lIns="0" tIns="0" rIns="0" bIns="0" rtlCol="0" anchor="ctr"/>
          <a:lstStyle/>
          <a:p>
            <a:pPr indent="0" marL="0">
              <a:buNone/>
            </a:pPr>
            <a:r>
              <a:rPr lang="en-US" sz="1700" b="1" dirty="0">
                <a:solidFill>
                  <a:srgbClr val="1E2761"/>
                </a:solidFill>
                <a:latin typeface="Meiryo" pitchFamily="34" charset="0"/>
                <a:ea typeface="Meiryo" pitchFamily="34" charset="-122"/>
                <a:cs typeface="Meiryo" pitchFamily="34" charset="-120"/>
              </a:rPr>
              <a:t>SharePoint</a:t>
            </a:r>
            <a:endParaRPr lang="en-US" sz="1700" dirty="0"/>
          </a:p>
        </p:txBody>
      </p:sp>
      <p:sp>
        <p:nvSpPr>
          <p:cNvPr id="34" name="Text 32"/>
          <p:cNvSpPr/>
          <p:nvPr/>
        </p:nvSpPr>
        <p:spPr>
          <a:xfrm>
            <a:off x="4539386" y="3401568"/>
            <a:ext cx="3112922" cy="256032"/>
          </a:xfrm>
          <a:prstGeom prst="rect">
            <a:avLst/>
          </a:prstGeom>
          <a:noFill/>
          <a:ln/>
        </p:spPr>
        <p:txBody>
          <a:bodyPr wrap="square" lIns="0" tIns="0" rIns="0" bIns="0" rtlCol="0" anchor="ctr"/>
          <a:lstStyle/>
          <a:p>
            <a:pPr indent="0" marL="0">
              <a:buNone/>
            </a:pPr>
            <a:r>
              <a:rPr lang="en-US" sz="1100" b="1" dirty="0">
                <a:solidFill>
                  <a:srgbClr val="6B7280"/>
                </a:solidFill>
                <a:latin typeface="Meiryo" pitchFamily="34" charset="0"/>
                <a:ea typeface="Meiryo" pitchFamily="34" charset="-122"/>
                <a:cs typeface="Meiryo" pitchFamily="34" charset="-120"/>
              </a:rPr>
              <a:t>ファイルの正本</a:t>
            </a:r>
            <a:endParaRPr lang="en-US" sz="1100" dirty="0"/>
          </a:p>
        </p:txBody>
      </p:sp>
      <p:sp>
        <p:nvSpPr>
          <p:cNvPr id="35" name="Text 33"/>
          <p:cNvSpPr/>
          <p:nvPr/>
        </p:nvSpPr>
        <p:spPr>
          <a:xfrm>
            <a:off x="4539386" y="3749040"/>
            <a:ext cx="3112922" cy="91440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1A1A2E"/>
                </a:solidFill>
                <a:latin typeface="Meiryo" pitchFamily="34" charset="0"/>
                <a:ea typeface="Meiryo" pitchFamily="34" charset="-122"/>
                <a:cs typeface="Meiryo" pitchFamily="34" charset="-120"/>
              </a:rPr>
              <a:t>案件関連ファイルの保管</a:t>
            </a:r>
            <a:endParaRPr lang="en-US" sz="1000" dirty="0"/>
          </a:p>
          <a:p>
            <a:pPr marL="342900" indent="-342900">
              <a:spcAft>
                <a:spcPts val="500"/>
              </a:spcAft>
              <a:buSzPct val="100000"/>
              <a:buChar char="•"/>
            </a:pPr>
            <a:r>
              <a:rPr lang="en-US" sz="1000" dirty="0">
                <a:solidFill>
                  <a:srgbClr val="1A1A2E"/>
                </a:solidFill>
                <a:latin typeface="Meiryo" pitchFamily="34" charset="0"/>
                <a:ea typeface="Meiryo" pitchFamily="34" charset="-122"/>
                <a:cs typeface="Meiryo" pitchFamily="34" charset="-120"/>
              </a:rPr>
              <a:t>社内規定・マニュアル</a:t>
            </a:r>
            <a:endParaRPr lang="en-US" sz="1000" dirty="0"/>
          </a:p>
          <a:p>
            <a:pPr marL="342900" indent="-342900">
              <a:spcAft>
                <a:spcPts val="500"/>
              </a:spcAft>
              <a:buSzPct val="100000"/>
              <a:buChar char="•"/>
            </a:pPr>
            <a:r>
              <a:rPr lang="en-US" sz="1000" dirty="0">
                <a:solidFill>
                  <a:srgbClr val="1A1A2E"/>
                </a:solidFill>
                <a:latin typeface="Meiryo" pitchFamily="34" charset="0"/>
                <a:ea typeface="Meiryo" pitchFamily="34" charset="-122"/>
                <a:cs typeface="Meiryo" pitchFamily="34" charset="-120"/>
              </a:rPr>
              <a:t>既存運用をそのまま継続</a:t>
            </a:r>
            <a:endParaRPr lang="en-US" sz="1000" dirty="0"/>
          </a:p>
        </p:txBody>
      </p:sp>
      <p:sp>
        <p:nvSpPr>
          <p:cNvPr id="36" name="Shape 34"/>
          <p:cNvSpPr/>
          <p:nvPr/>
        </p:nvSpPr>
        <p:spPr>
          <a:xfrm>
            <a:off x="8072933" y="2871216"/>
            <a:ext cx="3570122" cy="1920240"/>
          </a:xfrm>
          <a:prstGeom prst="roundRect">
            <a:avLst>
              <a:gd name="adj" fmla="val 285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7" name="Text 35"/>
          <p:cNvSpPr/>
          <p:nvPr/>
        </p:nvSpPr>
        <p:spPr>
          <a:xfrm>
            <a:off x="8301533" y="3035808"/>
            <a:ext cx="3112922" cy="347472"/>
          </a:xfrm>
          <a:prstGeom prst="rect">
            <a:avLst/>
          </a:prstGeom>
          <a:noFill/>
          <a:ln/>
        </p:spPr>
        <p:txBody>
          <a:bodyPr wrap="square" lIns="0" tIns="0" rIns="0" bIns="0" rtlCol="0" anchor="ctr"/>
          <a:lstStyle/>
          <a:p>
            <a:pPr indent="0" marL="0">
              <a:buNone/>
            </a:pPr>
            <a:r>
              <a:rPr lang="en-US" sz="1700" b="1" dirty="0">
                <a:solidFill>
                  <a:srgbClr val="1E2761"/>
                </a:solidFill>
                <a:latin typeface="Meiryo" pitchFamily="34" charset="0"/>
                <a:ea typeface="Meiryo" pitchFamily="34" charset="-122"/>
                <a:cs typeface="Meiryo" pitchFamily="34" charset="-120"/>
              </a:rPr>
              <a:t>Teams</a:t>
            </a:r>
            <a:endParaRPr lang="en-US" sz="1700" dirty="0"/>
          </a:p>
        </p:txBody>
      </p:sp>
      <p:sp>
        <p:nvSpPr>
          <p:cNvPr id="38" name="Text 36"/>
          <p:cNvSpPr/>
          <p:nvPr/>
        </p:nvSpPr>
        <p:spPr>
          <a:xfrm>
            <a:off x="8301533" y="3401568"/>
            <a:ext cx="3112922" cy="256032"/>
          </a:xfrm>
          <a:prstGeom prst="rect">
            <a:avLst/>
          </a:prstGeom>
          <a:noFill/>
          <a:ln/>
        </p:spPr>
        <p:txBody>
          <a:bodyPr wrap="square" lIns="0" tIns="0" rIns="0" bIns="0" rtlCol="0" anchor="ctr"/>
          <a:lstStyle/>
          <a:p>
            <a:pPr indent="0" marL="0">
              <a:buNone/>
            </a:pPr>
            <a:r>
              <a:rPr lang="en-US" sz="1100" b="1" dirty="0">
                <a:solidFill>
                  <a:srgbClr val="6B7280"/>
                </a:solidFill>
                <a:latin typeface="Meiryo" pitchFamily="34" charset="0"/>
                <a:ea typeface="Meiryo" pitchFamily="34" charset="-122"/>
                <a:cs typeface="Meiryo" pitchFamily="34" charset="-120"/>
              </a:rPr>
              <a:t>伝達・コミュニケーション</a:t>
            </a:r>
            <a:endParaRPr lang="en-US" sz="1100" dirty="0"/>
          </a:p>
        </p:txBody>
      </p:sp>
      <p:sp>
        <p:nvSpPr>
          <p:cNvPr id="39" name="Text 37"/>
          <p:cNvSpPr/>
          <p:nvPr/>
        </p:nvSpPr>
        <p:spPr>
          <a:xfrm>
            <a:off x="8301533" y="3749040"/>
            <a:ext cx="3112922" cy="91440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1A1A2E"/>
                </a:solidFill>
                <a:latin typeface="Meiryo" pitchFamily="34" charset="0"/>
                <a:ea typeface="Meiryo" pitchFamily="34" charset="-122"/>
                <a:cs typeface="Meiryo" pitchFamily="34" charset="-120"/>
              </a:rPr>
              <a:t>チャット・会議</a:t>
            </a:r>
            <a:endParaRPr lang="en-US" sz="1000" dirty="0"/>
          </a:p>
          <a:p>
            <a:pPr marL="342900" indent="-342900">
              <a:spcAft>
                <a:spcPts val="500"/>
              </a:spcAft>
              <a:buSzPct val="100000"/>
              <a:buChar char="•"/>
            </a:pPr>
            <a:r>
              <a:rPr lang="en-US" sz="1000" dirty="0">
                <a:solidFill>
                  <a:srgbClr val="1A1A2E"/>
                </a:solidFill>
                <a:latin typeface="Meiryo" pitchFamily="34" charset="0"/>
                <a:ea typeface="Meiryo" pitchFamily="34" charset="-122"/>
                <a:cs typeface="Meiryo" pitchFamily="34" charset="-120"/>
              </a:rPr>
              <a:t>日々のやりとり</a:t>
            </a:r>
            <a:endParaRPr lang="en-US" sz="1000" dirty="0"/>
          </a:p>
          <a:p>
            <a:pPr marL="342900" indent="-342900">
              <a:spcAft>
                <a:spcPts val="500"/>
              </a:spcAft>
              <a:buSzPct val="100000"/>
              <a:buChar char="•"/>
            </a:pPr>
            <a:r>
              <a:rPr lang="en-US" sz="1000" dirty="0">
                <a:solidFill>
                  <a:srgbClr val="1A1A2E"/>
                </a:solidFill>
                <a:latin typeface="Meiryo" pitchFamily="34" charset="0"/>
                <a:ea typeface="Meiryo" pitchFamily="34" charset="-122"/>
                <a:cs typeface="Meiryo" pitchFamily="34" charset="-120"/>
              </a:rPr>
              <a:t>既存運用をそのまま継続</a:t>
            </a:r>
            <a:endParaRPr lang="en-US" sz="1000" dirty="0"/>
          </a:p>
        </p:txBody>
      </p:sp>
      <p:sp>
        <p:nvSpPr>
          <p:cNvPr id="40" name="Shape 38"/>
          <p:cNvSpPr/>
          <p:nvPr/>
        </p:nvSpPr>
        <p:spPr>
          <a:xfrm>
            <a:off x="548640" y="4983480"/>
            <a:ext cx="11094415" cy="777240"/>
          </a:xfrm>
          <a:prstGeom prst="roundRect">
            <a:avLst>
              <a:gd name="adj" fmla="val 7059"/>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41" name="Text 39"/>
          <p:cNvSpPr/>
          <p:nvPr/>
        </p:nvSpPr>
        <p:spPr>
          <a:xfrm>
            <a:off x="822960" y="4983480"/>
            <a:ext cx="10545775" cy="777240"/>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PCA側のお約束　③案件関連ファイル と ④社内規定・マニュアル は SharePoint を継続します。Microsoft 365 の置き換え・二重投資にはあたりません。</a:t>
            </a:r>
            <a:endParaRPr lang="en-US" sz="1200" dirty="0"/>
          </a:p>
        </p:txBody>
      </p:sp>
      <p:sp>
        <p:nvSpPr>
          <p:cNvPr id="42" name="Text 40"/>
          <p:cNvSpPr/>
          <p:nvPr/>
        </p:nvSpPr>
        <p:spPr>
          <a:xfrm>
            <a:off x="548640" y="5897880"/>
            <a:ext cx="11094415" cy="274320"/>
          </a:xfrm>
          <a:prstGeom prst="rect">
            <a:avLst/>
          </a:prstGeom>
          <a:noFill/>
          <a:ln/>
        </p:spPr>
        <p:txBody>
          <a:bodyPr wrap="square" lIns="0" tIns="0" rIns="0" bIns="0" rtlCol="0" anchor="ctr"/>
          <a:lstStyle/>
          <a:p>
            <a:pPr indent="0" marL="0">
              <a:buNone/>
            </a:pPr>
            <a:r>
              <a:rPr lang="en-US" sz="1000" dirty="0">
                <a:solidFill>
                  <a:srgbClr val="6B7280"/>
                </a:solidFill>
                <a:latin typeface="Meiryo" pitchFamily="34" charset="0"/>
                <a:ea typeface="Meiryo" pitchFamily="34" charset="-122"/>
                <a:cs typeface="Meiryo" pitchFamily="34" charset="-120"/>
              </a:rPr>
              <a:t>Microsoft 365 Copilot についてもご質問をいただくことがありますが、Copilot は検索・要約の道具であり、案件管理の仕組み自体は提供しません（Appendix B）。</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第5章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1E2761"/>
          </a:solidFill>
          <a:ln w="12700">
            <a:solidFill>
              <a:srgbClr val="1E2761"/>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試行 — 経営層で3か月試した結果</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経営層で3か月試し、週次の管理台帳として使えることを確認しました</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10</a:t>
            </a:r>
            <a:endParaRPr lang="en-US" sz="1000" dirty="0"/>
          </a:p>
        </p:txBody>
      </p:sp>
      <p:sp>
        <p:nvSpPr>
          <p:cNvPr id="26" name="Shape 24"/>
          <p:cNvSpPr/>
          <p:nvPr/>
        </p:nvSpPr>
        <p:spPr>
          <a:xfrm>
            <a:off x="548640" y="2231136"/>
            <a:ext cx="3401568" cy="1463040"/>
          </a:xfrm>
          <a:prstGeom prst="roundRect">
            <a:avLst>
              <a:gd name="adj" fmla="val 375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7" name="Text 25"/>
          <p:cNvSpPr/>
          <p:nvPr/>
        </p:nvSpPr>
        <p:spPr>
          <a:xfrm>
            <a:off x="749808" y="2359152"/>
            <a:ext cx="2999232" cy="292608"/>
          </a:xfrm>
          <a:prstGeom prst="rect">
            <a:avLst/>
          </a:prstGeom>
          <a:noFill/>
          <a:ln/>
        </p:spPr>
        <p:txBody>
          <a:bodyPr wrap="square" lIns="0" tIns="0" rIns="0" bIns="0" rtlCol="0" anchor="ctr"/>
          <a:lstStyle/>
          <a:p>
            <a:pPr indent="0" marL="0">
              <a:buNone/>
            </a:pPr>
            <a:r>
              <a:rPr lang="en-US" sz="1300" b="1" dirty="0">
                <a:solidFill>
                  <a:srgbClr val="1E2761"/>
                </a:solidFill>
                <a:latin typeface="Meiryo" pitchFamily="34" charset="0"/>
                <a:ea typeface="Meiryo" pitchFamily="34" charset="-122"/>
                <a:cs typeface="Meiryo" pitchFamily="34" charset="-120"/>
              </a:rPr>
              <a:t>経営イシューマップ</a:t>
            </a:r>
            <a:endParaRPr lang="en-US" sz="1300" dirty="0"/>
          </a:p>
        </p:txBody>
      </p:sp>
      <p:sp>
        <p:nvSpPr>
          <p:cNvPr id="28" name="Shape 26"/>
          <p:cNvSpPr/>
          <p:nvPr/>
        </p:nvSpPr>
        <p:spPr>
          <a:xfrm>
            <a:off x="749808" y="2679192"/>
            <a:ext cx="2999232" cy="256032"/>
          </a:xfrm>
          <a:prstGeom prst="roundRect">
            <a:avLst>
              <a:gd name="adj" fmla="val 17857"/>
            </a:avLst>
          </a:prstGeom>
          <a:solidFill>
            <a:srgbClr val="EDF3FD"/>
          </a:solidFill>
          <a:ln w="12700">
            <a:solidFill>
              <a:srgbClr val="CADCFC"/>
            </a:solidFill>
            <a:prstDash val="solid"/>
          </a:ln>
        </p:spPr>
      </p:sp>
      <p:sp>
        <p:nvSpPr>
          <p:cNvPr id="29" name="Text 27"/>
          <p:cNvSpPr/>
          <p:nvPr/>
        </p:nvSpPr>
        <p:spPr>
          <a:xfrm>
            <a:off x="749808" y="2679192"/>
            <a:ext cx="2999232" cy="256032"/>
          </a:xfrm>
          <a:prstGeom prst="rect">
            <a:avLst/>
          </a:prstGeom>
          <a:noFill/>
          <a:ln/>
        </p:spPr>
        <p:txBody>
          <a:bodyPr wrap="square" lIns="0" tIns="0" rIns="0" bIns="0" rtlCol="0" anchor="ctr"/>
          <a:lstStyle/>
          <a:p>
            <a:pPr algn="ctr" indent="0" marL="0">
              <a:buNone/>
            </a:pPr>
            <a:r>
              <a:rPr lang="en-US" sz="950" b="1" dirty="0">
                <a:solidFill>
                  <a:srgbClr val="1E2761"/>
                </a:solidFill>
                <a:latin typeface="Meiryo" pitchFamily="34" charset="0"/>
                <a:ea typeface="Meiryo" pitchFamily="34" charset="-122"/>
                <a:cs typeface="Meiryo" pitchFamily="34" charset="-120"/>
              </a:rPr>
              <a:t>7領域・40件超</a:t>
            </a:r>
            <a:endParaRPr lang="en-US" sz="950" dirty="0"/>
          </a:p>
        </p:txBody>
      </p:sp>
      <p:sp>
        <p:nvSpPr>
          <p:cNvPr id="30" name="Text 28"/>
          <p:cNvSpPr/>
          <p:nvPr/>
        </p:nvSpPr>
        <p:spPr>
          <a:xfrm>
            <a:off x="749808" y="2999232"/>
            <a:ext cx="2999232" cy="603504"/>
          </a:xfrm>
          <a:prstGeom prst="rect">
            <a:avLst/>
          </a:prstGeom>
          <a:noFill/>
          <a:ln/>
        </p:spPr>
        <p:txBody>
          <a:bodyPr wrap="square" lIns="0" tIns="0" rIns="0" bIns="0" rtlCol="0" anchor="ctr"/>
          <a:lstStyle/>
          <a:p>
            <a:pPr indent="0" marL="0">
              <a:buNone/>
            </a:pPr>
            <a:r>
              <a:rPr lang="en-US" sz="950" dirty="0">
                <a:solidFill>
                  <a:srgbClr val="1A1A2E"/>
                </a:solidFill>
                <a:latin typeface="Meiryo" pitchFamily="34" charset="0"/>
                <a:ea typeface="Meiryo" pitchFamily="34" charset="-122"/>
                <a:cs typeface="Meiryo" pitchFamily="34" charset="-120"/>
              </a:rPr>
              <a:t>経営課題を7つの領域に整理し、案件単位で進捗を管理した</a:t>
            </a:r>
            <a:endParaRPr lang="en-US" sz="950" dirty="0"/>
          </a:p>
        </p:txBody>
      </p:sp>
      <p:sp>
        <p:nvSpPr>
          <p:cNvPr id="31" name="Shape 29"/>
          <p:cNvSpPr/>
          <p:nvPr/>
        </p:nvSpPr>
        <p:spPr>
          <a:xfrm>
            <a:off x="4169664" y="2231136"/>
            <a:ext cx="3401568" cy="1463040"/>
          </a:xfrm>
          <a:prstGeom prst="roundRect">
            <a:avLst>
              <a:gd name="adj" fmla="val 375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2" name="Text 30"/>
          <p:cNvSpPr/>
          <p:nvPr/>
        </p:nvSpPr>
        <p:spPr>
          <a:xfrm>
            <a:off x="4370832" y="2359152"/>
            <a:ext cx="2999232" cy="292608"/>
          </a:xfrm>
          <a:prstGeom prst="rect">
            <a:avLst/>
          </a:prstGeom>
          <a:noFill/>
          <a:ln/>
        </p:spPr>
        <p:txBody>
          <a:bodyPr wrap="square" lIns="0" tIns="0" rIns="0" bIns="0" rtlCol="0" anchor="ctr"/>
          <a:lstStyle/>
          <a:p>
            <a:pPr indent="0" marL="0">
              <a:buNone/>
            </a:pPr>
            <a:r>
              <a:rPr lang="en-US" sz="1300" b="1" dirty="0">
                <a:solidFill>
                  <a:srgbClr val="1E2761"/>
                </a:solidFill>
                <a:latin typeface="Meiryo" pitchFamily="34" charset="0"/>
                <a:ea typeface="Meiryo" pitchFamily="34" charset="-122"/>
                <a:cs typeface="Meiryo" pitchFamily="34" charset="-120"/>
              </a:rPr>
              <a:t>タスクDB</a:t>
            </a:r>
            <a:endParaRPr lang="en-US" sz="1300" dirty="0"/>
          </a:p>
        </p:txBody>
      </p:sp>
      <p:sp>
        <p:nvSpPr>
          <p:cNvPr id="33" name="Shape 31"/>
          <p:cNvSpPr/>
          <p:nvPr/>
        </p:nvSpPr>
        <p:spPr>
          <a:xfrm>
            <a:off x="4370832" y="2679192"/>
            <a:ext cx="2999232" cy="256032"/>
          </a:xfrm>
          <a:prstGeom prst="roundRect">
            <a:avLst>
              <a:gd name="adj" fmla="val 17857"/>
            </a:avLst>
          </a:prstGeom>
          <a:solidFill>
            <a:srgbClr val="EDF3FD"/>
          </a:solidFill>
          <a:ln w="12700">
            <a:solidFill>
              <a:srgbClr val="CADCFC"/>
            </a:solidFill>
            <a:prstDash val="solid"/>
          </a:ln>
        </p:spPr>
      </p:sp>
      <p:sp>
        <p:nvSpPr>
          <p:cNvPr id="34" name="Text 32"/>
          <p:cNvSpPr/>
          <p:nvPr/>
        </p:nvSpPr>
        <p:spPr>
          <a:xfrm>
            <a:off x="4370832" y="2679192"/>
            <a:ext cx="2999232" cy="256032"/>
          </a:xfrm>
          <a:prstGeom prst="rect">
            <a:avLst/>
          </a:prstGeom>
          <a:noFill/>
          <a:ln/>
        </p:spPr>
        <p:txBody>
          <a:bodyPr wrap="square" lIns="0" tIns="0" rIns="0" bIns="0" rtlCol="0" anchor="ctr"/>
          <a:lstStyle/>
          <a:p>
            <a:pPr algn="ctr" indent="0" marL="0">
              <a:buNone/>
            </a:pPr>
            <a:r>
              <a:rPr lang="en-US" sz="950" b="1" dirty="0">
                <a:solidFill>
                  <a:srgbClr val="1E2761"/>
                </a:solidFill>
                <a:latin typeface="Meiryo" pitchFamily="34" charset="0"/>
                <a:ea typeface="Meiryo" pitchFamily="34" charset="-122"/>
                <a:cs typeface="Meiryo" pitchFamily="34" charset="-120"/>
              </a:rPr>
              <a:t>イシューと双方向連携</a:t>
            </a:r>
            <a:endParaRPr lang="en-US" sz="950" dirty="0"/>
          </a:p>
        </p:txBody>
      </p:sp>
      <p:sp>
        <p:nvSpPr>
          <p:cNvPr id="35" name="Text 33"/>
          <p:cNvSpPr/>
          <p:nvPr/>
        </p:nvSpPr>
        <p:spPr>
          <a:xfrm>
            <a:off x="4370832" y="2999232"/>
            <a:ext cx="2999232" cy="603504"/>
          </a:xfrm>
          <a:prstGeom prst="rect">
            <a:avLst/>
          </a:prstGeom>
          <a:noFill/>
          <a:ln/>
        </p:spPr>
        <p:txBody>
          <a:bodyPr wrap="square" lIns="0" tIns="0" rIns="0" bIns="0" rtlCol="0" anchor="ctr"/>
          <a:lstStyle/>
          <a:p>
            <a:pPr indent="0" marL="0">
              <a:buNone/>
            </a:pPr>
            <a:r>
              <a:rPr lang="en-US" sz="950" dirty="0">
                <a:solidFill>
                  <a:srgbClr val="1A1A2E"/>
                </a:solidFill>
                <a:latin typeface="Meiryo" pitchFamily="34" charset="0"/>
                <a:ea typeface="Meiryo" pitchFamily="34" charset="-122"/>
                <a:cs typeface="Meiryo" pitchFamily="34" charset="-120"/>
              </a:rPr>
              <a:t>イシューを開けば担当タスクが、タスクからはイシューが辿れる</a:t>
            </a:r>
            <a:endParaRPr lang="en-US" sz="950" dirty="0"/>
          </a:p>
        </p:txBody>
      </p:sp>
      <p:sp>
        <p:nvSpPr>
          <p:cNvPr id="36" name="Shape 34"/>
          <p:cNvSpPr/>
          <p:nvPr/>
        </p:nvSpPr>
        <p:spPr>
          <a:xfrm>
            <a:off x="7790688" y="2231136"/>
            <a:ext cx="3401568" cy="1463040"/>
          </a:xfrm>
          <a:prstGeom prst="roundRect">
            <a:avLst>
              <a:gd name="adj" fmla="val 375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7" name="Text 35"/>
          <p:cNvSpPr/>
          <p:nvPr/>
        </p:nvSpPr>
        <p:spPr>
          <a:xfrm>
            <a:off x="7991856" y="2359152"/>
            <a:ext cx="2999232" cy="292608"/>
          </a:xfrm>
          <a:prstGeom prst="rect">
            <a:avLst/>
          </a:prstGeom>
          <a:noFill/>
          <a:ln/>
        </p:spPr>
        <p:txBody>
          <a:bodyPr wrap="square" lIns="0" tIns="0" rIns="0" bIns="0" rtlCol="0" anchor="ctr"/>
          <a:lstStyle/>
          <a:p>
            <a:pPr indent="0" marL="0">
              <a:buNone/>
            </a:pPr>
            <a:r>
              <a:rPr lang="en-US" sz="1300" b="1" dirty="0">
                <a:solidFill>
                  <a:srgbClr val="1E2761"/>
                </a:solidFill>
                <a:latin typeface="Meiryo" pitchFamily="34" charset="0"/>
                <a:ea typeface="Meiryo" pitchFamily="34" charset="-122"/>
                <a:cs typeface="Meiryo" pitchFamily="34" charset="-120"/>
              </a:rPr>
              <a:t>議事録DB</a:t>
            </a:r>
            <a:endParaRPr lang="en-US" sz="1300" dirty="0"/>
          </a:p>
        </p:txBody>
      </p:sp>
      <p:sp>
        <p:nvSpPr>
          <p:cNvPr id="38" name="Shape 36"/>
          <p:cNvSpPr/>
          <p:nvPr/>
        </p:nvSpPr>
        <p:spPr>
          <a:xfrm>
            <a:off x="7991856" y="2679192"/>
            <a:ext cx="2999232" cy="256032"/>
          </a:xfrm>
          <a:prstGeom prst="roundRect">
            <a:avLst>
              <a:gd name="adj" fmla="val 17857"/>
            </a:avLst>
          </a:prstGeom>
          <a:solidFill>
            <a:srgbClr val="EDF3FD"/>
          </a:solidFill>
          <a:ln w="12700">
            <a:solidFill>
              <a:srgbClr val="CADCFC"/>
            </a:solidFill>
            <a:prstDash val="solid"/>
          </a:ln>
        </p:spPr>
      </p:sp>
      <p:sp>
        <p:nvSpPr>
          <p:cNvPr id="39" name="Text 37"/>
          <p:cNvSpPr/>
          <p:nvPr/>
        </p:nvSpPr>
        <p:spPr>
          <a:xfrm>
            <a:off x="7991856" y="2679192"/>
            <a:ext cx="2999232" cy="256032"/>
          </a:xfrm>
          <a:prstGeom prst="rect">
            <a:avLst/>
          </a:prstGeom>
          <a:noFill/>
          <a:ln/>
        </p:spPr>
        <p:txBody>
          <a:bodyPr wrap="square" lIns="0" tIns="0" rIns="0" bIns="0" rtlCol="0" anchor="ctr"/>
          <a:lstStyle/>
          <a:p>
            <a:pPr algn="ctr" indent="0" marL="0">
              <a:buNone/>
            </a:pPr>
            <a:r>
              <a:rPr lang="en-US" sz="950" b="1" dirty="0">
                <a:solidFill>
                  <a:srgbClr val="1E2761"/>
                </a:solidFill>
                <a:latin typeface="Meiryo" pitchFamily="34" charset="0"/>
                <a:ea typeface="Meiryo" pitchFamily="34" charset="-122"/>
                <a:cs typeface="Meiryo" pitchFamily="34" charset="-120"/>
              </a:rPr>
              <a:t>会議体別・カレンダー</a:t>
            </a:r>
            <a:endParaRPr lang="en-US" sz="950" dirty="0"/>
          </a:p>
        </p:txBody>
      </p:sp>
      <p:sp>
        <p:nvSpPr>
          <p:cNvPr id="40" name="Text 38"/>
          <p:cNvSpPr/>
          <p:nvPr/>
        </p:nvSpPr>
        <p:spPr>
          <a:xfrm>
            <a:off x="7991856" y="2999232"/>
            <a:ext cx="2999232" cy="603504"/>
          </a:xfrm>
          <a:prstGeom prst="rect">
            <a:avLst/>
          </a:prstGeom>
          <a:noFill/>
          <a:ln/>
        </p:spPr>
        <p:txBody>
          <a:bodyPr wrap="square" lIns="0" tIns="0" rIns="0" bIns="0" rtlCol="0" anchor="ctr"/>
          <a:lstStyle/>
          <a:p>
            <a:pPr indent="0" marL="0">
              <a:buNone/>
            </a:pPr>
            <a:r>
              <a:rPr lang="en-US" sz="950" dirty="0">
                <a:solidFill>
                  <a:srgbClr val="1A1A2E"/>
                </a:solidFill>
                <a:latin typeface="Meiryo" pitchFamily="34" charset="0"/>
                <a:ea typeface="Meiryo" pitchFamily="34" charset="-122"/>
                <a:cs typeface="Meiryo" pitchFamily="34" charset="-120"/>
              </a:rPr>
              <a:t>会議体ごとに整理し、カレンダーから議事録に直接到達できる</a:t>
            </a:r>
            <a:endParaRPr lang="en-US" sz="950" dirty="0"/>
          </a:p>
        </p:txBody>
      </p:sp>
      <p:sp>
        <p:nvSpPr>
          <p:cNvPr id="41" name="Text 39"/>
          <p:cNvSpPr/>
          <p:nvPr/>
        </p:nvSpPr>
        <p:spPr>
          <a:xfrm>
            <a:off x="548640" y="3840480"/>
            <a:ext cx="4572000" cy="274320"/>
          </a:xfrm>
          <a:prstGeom prst="rect">
            <a:avLst/>
          </a:prstGeom>
          <a:noFill/>
          <a:ln/>
        </p:spPr>
        <p:txBody>
          <a:bodyPr wrap="square" lIns="0" tIns="0" rIns="0" bIns="0" rtlCol="0" anchor="ctr"/>
          <a:lstStyle/>
          <a:p>
            <a:pPr indent="0" marL="0">
              <a:buNone/>
            </a:pPr>
            <a:r>
              <a:rPr lang="en-US" sz="1150" b="1" dirty="0">
                <a:solidFill>
                  <a:srgbClr val="6B7280"/>
                </a:solidFill>
                <a:latin typeface="Meiryo" pitchFamily="34" charset="0"/>
                <a:ea typeface="Meiryo" pitchFamily="34" charset="-122"/>
                <a:cs typeface="Meiryo" pitchFamily="34" charset="-120"/>
              </a:rPr>
              <a:t>3か月試して分かったこと</a:t>
            </a:r>
            <a:endParaRPr lang="en-US" sz="1150" dirty="0"/>
          </a:p>
        </p:txBody>
      </p:sp>
      <p:sp>
        <p:nvSpPr>
          <p:cNvPr id="42" name="Shape 40"/>
          <p:cNvSpPr/>
          <p:nvPr/>
        </p:nvSpPr>
        <p:spPr>
          <a:xfrm>
            <a:off x="548640" y="4151376"/>
            <a:ext cx="6858000" cy="384048"/>
          </a:xfrm>
          <a:prstGeom prst="roundRect">
            <a:avLst>
              <a:gd name="adj" fmla="val 14286"/>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3" name="Shape 41"/>
          <p:cNvSpPr/>
          <p:nvPr/>
        </p:nvSpPr>
        <p:spPr>
          <a:xfrm>
            <a:off x="713232" y="4206240"/>
            <a:ext cx="274320" cy="274320"/>
          </a:xfrm>
          <a:prstGeom prst="roundRect">
            <a:avLst>
              <a:gd name="adj" fmla="val 50000"/>
            </a:avLst>
          </a:prstGeom>
          <a:solidFill>
            <a:srgbClr val="1E7A5A"/>
          </a:solidFill>
          <a:ln w="12700">
            <a:solidFill>
              <a:srgbClr val="1E7A5A"/>
            </a:solidFill>
            <a:prstDash val="solid"/>
          </a:ln>
        </p:spPr>
      </p:sp>
      <p:sp>
        <p:nvSpPr>
          <p:cNvPr id="44" name="Text 42"/>
          <p:cNvSpPr/>
          <p:nvPr/>
        </p:nvSpPr>
        <p:spPr>
          <a:xfrm>
            <a:off x="713232" y="420624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a:t>
            </a:r>
            <a:endParaRPr lang="en-US" sz="1000" dirty="0"/>
          </a:p>
        </p:txBody>
      </p:sp>
      <p:sp>
        <p:nvSpPr>
          <p:cNvPr id="45" name="Text 43"/>
          <p:cNvSpPr/>
          <p:nvPr/>
        </p:nvSpPr>
        <p:spPr>
          <a:xfrm>
            <a:off x="1097280" y="4151376"/>
            <a:ext cx="6126480" cy="384048"/>
          </a:xfrm>
          <a:prstGeom prst="rect">
            <a:avLst/>
          </a:prstGeom>
          <a:noFill/>
          <a:ln/>
        </p:spPr>
        <p:txBody>
          <a:bodyPr wrap="square" lIns="0" tIns="0" rIns="0" bIns="0" rtlCol="0" anchor="ctr"/>
          <a:lstStyle/>
          <a:p>
            <a:pPr indent="0" marL="0">
              <a:buNone/>
            </a:pPr>
            <a:r>
              <a:rPr lang="en-US" sz="1100" dirty="0">
                <a:solidFill>
                  <a:srgbClr val="1A1A2E"/>
                </a:solidFill>
                <a:latin typeface="Meiryo" pitchFamily="34" charset="0"/>
                <a:ea typeface="Meiryo" pitchFamily="34" charset="-122"/>
                <a:cs typeface="Meiryo" pitchFamily="34" charset="-120"/>
              </a:rPr>
              <a:t>週次会議の場で、そのまま管理台帳として使えた</a:t>
            </a:r>
            <a:endParaRPr lang="en-US" sz="1100" dirty="0"/>
          </a:p>
        </p:txBody>
      </p:sp>
      <p:sp>
        <p:nvSpPr>
          <p:cNvPr id="46" name="Shape 44"/>
          <p:cNvSpPr/>
          <p:nvPr/>
        </p:nvSpPr>
        <p:spPr>
          <a:xfrm>
            <a:off x="548640" y="4608576"/>
            <a:ext cx="6858000" cy="384048"/>
          </a:xfrm>
          <a:prstGeom prst="roundRect">
            <a:avLst>
              <a:gd name="adj" fmla="val 14286"/>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7" name="Shape 45"/>
          <p:cNvSpPr/>
          <p:nvPr/>
        </p:nvSpPr>
        <p:spPr>
          <a:xfrm>
            <a:off x="713232" y="4663440"/>
            <a:ext cx="274320" cy="274320"/>
          </a:xfrm>
          <a:prstGeom prst="roundRect">
            <a:avLst>
              <a:gd name="adj" fmla="val 50000"/>
            </a:avLst>
          </a:prstGeom>
          <a:solidFill>
            <a:srgbClr val="1E7A5A"/>
          </a:solidFill>
          <a:ln w="12700">
            <a:solidFill>
              <a:srgbClr val="1E7A5A"/>
            </a:solidFill>
            <a:prstDash val="solid"/>
          </a:ln>
        </p:spPr>
      </p:sp>
      <p:sp>
        <p:nvSpPr>
          <p:cNvPr id="48" name="Text 46"/>
          <p:cNvSpPr/>
          <p:nvPr/>
        </p:nvSpPr>
        <p:spPr>
          <a:xfrm>
            <a:off x="713232" y="466344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a:t>
            </a:r>
            <a:endParaRPr lang="en-US" sz="1000" dirty="0"/>
          </a:p>
        </p:txBody>
      </p:sp>
      <p:sp>
        <p:nvSpPr>
          <p:cNvPr id="49" name="Text 47"/>
          <p:cNvSpPr/>
          <p:nvPr/>
        </p:nvSpPr>
        <p:spPr>
          <a:xfrm>
            <a:off x="1097280" y="4608576"/>
            <a:ext cx="6126480" cy="384048"/>
          </a:xfrm>
          <a:prstGeom prst="rect">
            <a:avLst/>
          </a:prstGeom>
          <a:noFill/>
          <a:ln/>
        </p:spPr>
        <p:txBody>
          <a:bodyPr wrap="square" lIns="0" tIns="0" rIns="0" bIns="0" rtlCol="0" anchor="ctr"/>
          <a:lstStyle/>
          <a:p>
            <a:pPr indent="0" marL="0">
              <a:buNone/>
            </a:pPr>
            <a:r>
              <a:rPr lang="en-US" sz="1100" dirty="0">
                <a:solidFill>
                  <a:srgbClr val="1A1A2E"/>
                </a:solidFill>
                <a:latin typeface="Meiryo" pitchFamily="34" charset="0"/>
                <a:ea typeface="Meiryo" pitchFamily="34" charset="-122"/>
                <a:cs typeface="Meiryo" pitchFamily="34" charset="-120"/>
              </a:rPr>
              <a:t>カレンダーから議事録へ直接たどり着けるようになった</a:t>
            </a:r>
            <a:endParaRPr lang="en-US" sz="1100" dirty="0"/>
          </a:p>
        </p:txBody>
      </p:sp>
      <p:sp>
        <p:nvSpPr>
          <p:cNvPr id="50" name="Shape 48"/>
          <p:cNvSpPr/>
          <p:nvPr/>
        </p:nvSpPr>
        <p:spPr>
          <a:xfrm>
            <a:off x="548640" y="5065776"/>
            <a:ext cx="6858000" cy="384048"/>
          </a:xfrm>
          <a:prstGeom prst="roundRect">
            <a:avLst>
              <a:gd name="adj" fmla="val 14286"/>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51" name="Shape 49"/>
          <p:cNvSpPr/>
          <p:nvPr/>
        </p:nvSpPr>
        <p:spPr>
          <a:xfrm>
            <a:off x="713232" y="5120640"/>
            <a:ext cx="274320" cy="274320"/>
          </a:xfrm>
          <a:prstGeom prst="roundRect">
            <a:avLst>
              <a:gd name="adj" fmla="val 50000"/>
            </a:avLst>
          </a:prstGeom>
          <a:solidFill>
            <a:srgbClr val="1E7A5A"/>
          </a:solidFill>
          <a:ln w="12700">
            <a:solidFill>
              <a:srgbClr val="1E7A5A"/>
            </a:solidFill>
            <a:prstDash val="solid"/>
          </a:ln>
        </p:spPr>
      </p:sp>
      <p:sp>
        <p:nvSpPr>
          <p:cNvPr id="52" name="Text 50"/>
          <p:cNvSpPr/>
          <p:nvPr/>
        </p:nvSpPr>
        <p:spPr>
          <a:xfrm>
            <a:off x="713232" y="512064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a:t>
            </a:r>
            <a:endParaRPr lang="en-US" sz="1000" dirty="0"/>
          </a:p>
        </p:txBody>
      </p:sp>
      <p:sp>
        <p:nvSpPr>
          <p:cNvPr id="53" name="Text 51"/>
          <p:cNvSpPr/>
          <p:nvPr/>
        </p:nvSpPr>
        <p:spPr>
          <a:xfrm>
            <a:off x="1097280" y="5065776"/>
            <a:ext cx="6126480" cy="384048"/>
          </a:xfrm>
          <a:prstGeom prst="rect">
            <a:avLst/>
          </a:prstGeom>
          <a:noFill/>
          <a:ln/>
        </p:spPr>
        <p:txBody>
          <a:bodyPr wrap="square" lIns="0" tIns="0" rIns="0" bIns="0" rtlCol="0" anchor="ctr"/>
          <a:lstStyle/>
          <a:p>
            <a:pPr indent="0" marL="0">
              <a:buNone/>
            </a:pPr>
            <a:r>
              <a:rPr lang="en-US" sz="1100" dirty="0">
                <a:solidFill>
                  <a:srgbClr val="1A1A2E"/>
                </a:solidFill>
                <a:latin typeface="Meiryo" pitchFamily="34" charset="0"/>
                <a:ea typeface="Meiryo" pitchFamily="34" charset="-122"/>
                <a:cs typeface="Meiryo" pitchFamily="34" charset="-120"/>
              </a:rPr>
              <a:t>決定事項が会議単位ではなく案件単位で蓄積された</a:t>
            </a:r>
            <a:endParaRPr lang="en-US" sz="1100" dirty="0"/>
          </a:p>
        </p:txBody>
      </p:sp>
      <p:sp>
        <p:nvSpPr>
          <p:cNvPr id="54" name="Shape 52"/>
          <p:cNvSpPr/>
          <p:nvPr/>
        </p:nvSpPr>
        <p:spPr>
          <a:xfrm>
            <a:off x="7635240" y="4151376"/>
            <a:ext cx="4005072" cy="1737360"/>
          </a:xfrm>
          <a:prstGeom prst="roundRect">
            <a:avLst>
              <a:gd name="adj" fmla="val 3158"/>
            </a:avLst>
          </a:prstGeom>
          <a:solidFill>
            <a:srgbClr val="FDF6E7"/>
          </a:solidFill>
          <a:ln w="12700">
            <a:solidFill>
              <a:srgbClr val="9A6700"/>
            </a:solidFill>
            <a:prstDash val="solid"/>
          </a:ln>
          <a:effectLst>
            <a:outerShdw sx="100000" sy="100000" kx="0" ky="0" algn="bl" rotWithShape="0" blurRad="101600" dist="12700" dir="5400000">
              <a:srgbClr val="1E2761">
                <a:alpha val="10000"/>
              </a:srgbClr>
            </a:outerShdw>
          </a:effectLst>
        </p:spPr>
      </p:sp>
      <p:sp>
        <p:nvSpPr>
          <p:cNvPr id="55" name="Text 53"/>
          <p:cNvSpPr/>
          <p:nvPr/>
        </p:nvSpPr>
        <p:spPr>
          <a:xfrm>
            <a:off x="7836408" y="4261104"/>
            <a:ext cx="3611880" cy="256032"/>
          </a:xfrm>
          <a:prstGeom prst="rect">
            <a:avLst/>
          </a:prstGeom>
          <a:noFill/>
          <a:ln/>
        </p:spPr>
        <p:txBody>
          <a:bodyPr wrap="square" lIns="0" tIns="0" rIns="0" bIns="0" rtlCol="0" anchor="ctr"/>
          <a:lstStyle/>
          <a:p>
            <a:pPr indent="0" marL="0">
              <a:buNone/>
            </a:pPr>
            <a:r>
              <a:rPr lang="en-US" sz="1100" b="1" dirty="0">
                <a:solidFill>
                  <a:srgbClr val="9A6700"/>
                </a:solidFill>
                <a:latin typeface="Meiryo" pitchFamily="34" charset="0"/>
                <a:ea typeface="Meiryo" pitchFamily="34" charset="-122"/>
                <a:cs typeface="Meiryo" pitchFamily="34" charset="-120"/>
              </a:rPr>
              <a:t>試した範囲について</a:t>
            </a:r>
            <a:endParaRPr lang="en-US" sz="1100" dirty="0"/>
          </a:p>
        </p:txBody>
      </p:sp>
      <p:sp>
        <p:nvSpPr>
          <p:cNvPr id="56" name="Text 54"/>
          <p:cNvSpPr/>
          <p:nvPr/>
        </p:nvSpPr>
        <p:spPr>
          <a:xfrm>
            <a:off x="7836408" y="4535424"/>
            <a:ext cx="3611880" cy="1234440"/>
          </a:xfrm>
          <a:prstGeom prst="rect">
            <a:avLst/>
          </a:prstGeom>
          <a:noFill/>
          <a:ln/>
        </p:spPr>
        <p:txBody>
          <a:bodyPr wrap="square" lIns="0" tIns="0" rIns="0" bIns="0" rtlCol="0" anchor="ctr"/>
          <a:lstStyle/>
          <a:p>
            <a:pPr indent="0" marL="0">
              <a:lnSpc>
                <a:spcPts val="1500"/>
              </a:lnSpc>
              <a:buNone/>
            </a:pPr>
            <a:r>
              <a:rPr lang="en-US" sz="950" dirty="0">
                <a:solidFill>
                  <a:srgbClr val="1A1A2E"/>
                </a:solidFill>
                <a:latin typeface="Meiryo" pitchFamily="34" charset="0"/>
                <a:ea typeface="Meiryo" pitchFamily="34" charset="-122"/>
                <a:cs typeface="Meiryo" pitchFamily="34" charset="-120"/>
              </a:rPr>
              <a:t>試したのは経営層です。PMO・各部門での運用はこれからになります。</a:t>
            </a:r>
            <a:endParaRPr lang="en-US" sz="950" dirty="0"/>
          </a:p>
          <a:p>
            <a:pPr indent="0" marL="0">
              <a:lnSpc>
                <a:spcPts val="1500"/>
              </a:lnSpc>
              <a:buNone/>
            </a:pPr>
            <a:endParaRPr lang="en-US" sz="950" dirty="0"/>
          </a:p>
          <a:p>
            <a:pPr indent="0" marL="0">
              <a:lnSpc>
                <a:spcPts val="1500"/>
              </a:lnSpc>
              <a:buNone/>
            </a:pPr>
            <a:r>
              <a:rPr lang="en-US" sz="950" dirty="0">
                <a:solidFill>
                  <a:srgbClr val="1A1A2E"/>
                </a:solidFill>
                <a:latin typeface="Meiryo" pitchFamily="34" charset="0"/>
                <a:ea typeface="Meiryo" pitchFamily="34" charset="-122"/>
                <a:cs typeface="Meiryo" pitchFamily="34" charset="-120"/>
              </a:rPr>
              <a:t>本資料でご説明する運用イメージ（次ページ）は、この試行を踏まえた設計であり、実績ではありません。</a:t>
            </a:r>
            <a:endParaRPr lang="en-US" sz="950" dirty="0"/>
          </a:p>
        </p:txBody>
      </p:sp>
      <p:sp>
        <p:nvSpPr>
          <p:cNvPr id="57" name="Text 55"/>
          <p:cNvSpPr/>
          <p:nvPr/>
        </p:nvSpPr>
        <p:spPr>
          <a:xfrm>
            <a:off x="548640" y="5943600"/>
            <a:ext cx="6858000" cy="274320"/>
          </a:xfrm>
          <a:prstGeom prst="rect">
            <a:avLst/>
          </a:prstGeom>
          <a:noFill/>
          <a:ln/>
        </p:spPr>
        <p:txBody>
          <a:bodyPr wrap="square" lIns="0" tIns="0" rIns="0" bIns="0" rtlCol="0" anchor="ctr"/>
          <a:lstStyle/>
          <a:p>
            <a:pPr indent="0" marL="0">
              <a:buNone/>
            </a:pPr>
            <a:r>
              <a:rPr lang="en-US" sz="1100" b="1" dirty="0">
                <a:solidFill>
                  <a:srgbClr val="1E2761"/>
                </a:solidFill>
                <a:latin typeface="Meiryo" pitchFamily="34" charset="0"/>
                <a:ea typeface="Meiryo" pitchFamily="34" charset="-122"/>
                <a:cs typeface="Meiryo" pitchFamily="34" charset="-120"/>
              </a:rPr>
              <a:t>THDご説明の場では、実物のデモをご覧いただきます。</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第5章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1E2761"/>
          </a:solidFill>
          <a:ln w="12700">
            <a:solidFill>
              <a:srgbClr val="1E2761"/>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運用イメージ — 3つのデータベースをつないで使う</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1つの案件を開けば、誰が・いつまでに・何をしていて、どこで何が決まったかが1画面に集まります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11</a:t>
            </a:r>
            <a:endParaRPr lang="en-US" sz="1000" dirty="0"/>
          </a:p>
        </p:txBody>
      </p:sp>
      <p:sp>
        <p:nvSpPr>
          <p:cNvPr id="26" name="Shape 24"/>
          <p:cNvSpPr/>
          <p:nvPr/>
        </p:nvSpPr>
        <p:spPr>
          <a:xfrm>
            <a:off x="548640" y="2231136"/>
            <a:ext cx="3520440" cy="1627632"/>
          </a:xfrm>
          <a:prstGeom prst="roundRect">
            <a:avLst>
              <a:gd name="adj" fmla="val 3371"/>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27" name="Text 25"/>
          <p:cNvSpPr/>
          <p:nvPr/>
        </p:nvSpPr>
        <p:spPr>
          <a:xfrm>
            <a:off x="749808" y="2304288"/>
            <a:ext cx="3118104" cy="27432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案件DB</a:t>
            </a:r>
            <a:endParaRPr lang="en-US" sz="1450" dirty="0"/>
          </a:p>
        </p:txBody>
      </p:sp>
      <p:sp>
        <p:nvSpPr>
          <p:cNvPr id="28" name="Text 26"/>
          <p:cNvSpPr/>
          <p:nvPr/>
        </p:nvSpPr>
        <p:spPr>
          <a:xfrm>
            <a:off x="749808" y="2578608"/>
            <a:ext cx="3118104" cy="201168"/>
          </a:xfrm>
          <a:prstGeom prst="rect">
            <a:avLst/>
          </a:prstGeom>
          <a:noFill/>
          <a:ln/>
        </p:spPr>
        <p:txBody>
          <a:bodyPr wrap="square" lIns="0" tIns="0" rIns="0" bIns="0" rtlCol="0" anchor="ctr"/>
          <a:lstStyle/>
          <a:p>
            <a:pPr indent="0" marL="0">
              <a:buNone/>
            </a:pPr>
            <a:r>
              <a:rPr lang="en-US" sz="850" dirty="0">
                <a:solidFill>
                  <a:srgbClr val="CADCFC"/>
                </a:solidFill>
                <a:latin typeface="Meiryo" pitchFamily="34" charset="0"/>
                <a:ea typeface="Meiryo" pitchFamily="34" charset="-122"/>
                <a:cs typeface="Meiryo" pitchFamily="34" charset="-120"/>
              </a:rPr>
              <a:t>1研修案件 ＝ 1レコード</a:t>
            </a:r>
            <a:endParaRPr lang="en-US" sz="850" dirty="0"/>
          </a:p>
        </p:txBody>
      </p:sp>
      <p:sp>
        <p:nvSpPr>
          <p:cNvPr id="29" name="Text 27"/>
          <p:cNvSpPr/>
          <p:nvPr/>
        </p:nvSpPr>
        <p:spPr>
          <a:xfrm>
            <a:off x="749808" y="2816352"/>
            <a:ext cx="3118104" cy="969264"/>
          </a:xfrm>
          <a:prstGeom prst="rect">
            <a:avLst/>
          </a:prstGeom>
          <a:noFill/>
          <a:ln/>
        </p:spPr>
        <p:txBody>
          <a:bodyPr wrap="square" lIns="0" tIns="0" rIns="0" bIns="0" rtlCol="0" anchor="ctr"/>
          <a:lstStyle/>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クライアント／案件名</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PMO担当・営業担当</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ステータス</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開始日・納品日</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関連部門</a:t>
            </a:r>
            <a:endParaRPr lang="en-US" sz="850" dirty="0"/>
          </a:p>
        </p:txBody>
      </p:sp>
      <p:sp>
        <p:nvSpPr>
          <p:cNvPr id="30" name="Text 28"/>
          <p:cNvSpPr/>
          <p:nvPr/>
        </p:nvSpPr>
        <p:spPr>
          <a:xfrm>
            <a:off x="4078224" y="2907792"/>
            <a:ext cx="246888" cy="274320"/>
          </a:xfrm>
          <a:prstGeom prst="rect">
            <a:avLst/>
          </a:prstGeom>
          <a:noFill/>
          <a:ln/>
        </p:spPr>
        <p:txBody>
          <a:bodyPr wrap="square" lIns="0" tIns="0" rIns="0" bIns="0" rtlCol="0" anchor="ctr"/>
          <a:lstStyle/>
          <a:p>
            <a:pPr algn="ctr" indent="0" marL="0">
              <a:buNone/>
            </a:pPr>
            <a:r>
              <a:rPr lang="en-US" sz="1400" b="1" dirty="0">
                <a:solidFill>
                  <a:srgbClr val="3A4A8F"/>
                </a:solidFill>
                <a:latin typeface="Meiryo" pitchFamily="34" charset="0"/>
                <a:ea typeface="Meiryo" pitchFamily="34" charset="-122"/>
                <a:cs typeface="Meiryo" pitchFamily="34" charset="-120"/>
              </a:rPr>
              <a:t>⇔</a:t>
            </a:r>
            <a:endParaRPr lang="en-US" sz="1400" dirty="0"/>
          </a:p>
        </p:txBody>
      </p:sp>
      <p:sp>
        <p:nvSpPr>
          <p:cNvPr id="31" name="Shape 29"/>
          <p:cNvSpPr/>
          <p:nvPr/>
        </p:nvSpPr>
        <p:spPr>
          <a:xfrm>
            <a:off x="548640" y="4187952"/>
            <a:ext cx="3520440" cy="548640"/>
          </a:xfrm>
          <a:prstGeom prst="roundRect">
            <a:avLst>
              <a:gd name="adj" fmla="val 10000"/>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32" name="Text 30"/>
          <p:cNvSpPr/>
          <p:nvPr/>
        </p:nvSpPr>
        <p:spPr>
          <a:xfrm>
            <a:off x="713232" y="4187952"/>
            <a:ext cx="3191256" cy="548640"/>
          </a:xfrm>
          <a:prstGeom prst="rect">
            <a:avLst/>
          </a:prstGeom>
          <a:noFill/>
          <a:ln/>
        </p:spPr>
        <p:txBody>
          <a:bodyPr wrap="square" lIns="0" tIns="0" rIns="0" bIns="0" rtlCol="0" anchor="ctr"/>
          <a:lstStyle/>
          <a:p>
            <a:pPr indent="0" marL="0">
              <a:lnSpc>
                <a:spcPts val="1200"/>
              </a:lnSpc>
              <a:buNone/>
            </a:pPr>
            <a:r>
              <a:rPr lang="en-US" sz="850" dirty="0">
                <a:solidFill>
                  <a:srgbClr val="1E2761"/>
                </a:solidFill>
                <a:latin typeface="Meiryo" pitchFamily="34" charset="0"/>
                <a:ea typeface="Meiryo" pitchFamily="34" charset="-122"/>
                <a:cs typeface="Meiryo" pitchFamily="34" charset="-120"/>
              </a:rPr>
              <a:t>ガント（全案件の時系列）</a:t>
            </a:r>
            <a:endParaRPr lang="en-US" sz="850" dirty="0"/>
          </a:p>
          <a:p>
            <a:pPr indent="0" marL="0">
              <a:lnSpc>
                <a:spcPts val="1200"/>
              </a:lnSpc>
              <a:buNone/>
            </a:pPr>
            <a:r>
              <a:rPr lang="en-US" sz="850" dirty="0">
                <a:solidFill>
                  <a:srgbClr val="1E2761"/>
                </a:solidFill>
                <a:latin typeface="Meiryo" pitchFamily="34" charset="0"/>
                <a:ea typeface="Meiryo" pitchFamily="34" charset="-122"/>
                <a:cs typeface="Meiryo" pitchFamily="34" charset="-120"/>
              </a:rPr>
              <a:t>ボード（ステータス別）</a:t>
            </a:r>
            <a:endParaRPr lang="en-US" sz="850" dirty="0"/>
          </a:p>
        </p:txBody>
      </p:sp>
      <p:sp>
        <p:nvSpPr>
          <p:cNvPr id="33" name="Shape 31"/>
          <p:cNvSpPr/>
          <p:nvPr/>
        </p:nvSpPr>
        <p:spPr>
          <a:xfrm>
            <a:off x="4334256" y="2231136"/>
            <a:ext cx="3520440" cy="1627632"/>
          </a:xfrm>
          <a:prstGeom prst="roundRect">
            <a:avLst>
              <a:gd name="adj" fmla="val 3371"/>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34" name="Text 32"/>
          <p:cNvSpPr/>
          <p:nvPr/>
        </p:nvSpPr>
        <p:spPr>
          <a:xfrm>
            <a:off x="4535424" y="2304288"/>
            <a:ext cx="3118104" cy="27432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タスクDB</a:t>
            </a:r>
            <a:endParaRPr lang="en-US" sz="1450" dirty="0"/>
          </a:p>
        </p:txBody>
      </p:sp>
      <p:sp>
        <p:nvSpPr>
          <p:cNvPr id="35" name="Text 33"/>
          <p:cNvSpPr/>
          <p:nvPr/>
        </p:nvSpPr>
        <p:spPr>
          <a:xfrm>
            <a:off x="4535424" y="2578608"/>
            <a:ext cx="3118104" cy="201168"/>
          </a:xfrm>
          <a:prstGeom prst="rect">
            <a:avLst/>
          </a:prstGeom>
          <a:noFill/>
          <a:ln/>
        </p:spPr>
        <p:txBody>
          <a:bodyPr wrap="square" lIns="0" tIns="0" rIns="0" bIns="0" rtlCol="0" anchor="ctr"/>
          <a:lstStyle/>
          <a:p>
            <a:pPr indent="0" marL="0">
              <a:buNone/>
            </a:pPr>
            <a:r>
              <a:rPr lang="en-US" sz="850" dirty="0">
                <a:solidFill>
                  <a:srgbClr val="CADCFC"/>
                </a:solidFill>
                <a:latin typeface="Meiryo" pitchFamily="34" charset="0"/>
                <a:ea typeface="Meiryo" pitchFamily="34" charset="-122"/>
                <a:cs typeface="Meiryo" pitchFamily="34" charset="-120"/>
              </a:rPr>
              <a:t>案件にぶら下がる作業</a:t>
            </a:r>
            <a:endParaRPr lang="en-US" sz="850" dirty="0"/>
          </a:p>
        </p:txBody>
      </p:sp>
      <p:sp>
        <p:nvSpPr>
          <p:cNvPr id="36" name="Text 34"/>
          <p:cNvSpPr/>
          <p:nvPr/>
        </p:nvSpPr>
        <p:spPr>
          <a:xfrm>
            <a:off x="4535424" y="2816352"/>
            <a:ext cx="3118104" cy="969264"/>
          </a:xfrm>
          <a:prstGeom prst="rect">
            <a:avLst/>
          </a:prstGeom>
          <a:noFill/>
          <a:ln/>
        </p:spPr>
        <p:txBody>
          <a:bodyPr wrap="square" lIns="0" tIns="0" rIns="0" bIns="0" rtlCol="0" anchor="ctr"/>
          <a:lstStyle/>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担当者</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期限</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ステータス・遅延</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所属案件（リレーション）</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担当部門</a:t>
            </a:r>
            <a:endParaRPr lang="en-US" sz="850" dirty="0"/>
          </a:p>
        </p:txBody>
      </p:sp>
      <p:sp>
        <p:nvSpPr>
          <p:cNvPr id="37" name="Text 35"/>
          <p:cNvSpPr/>
          <p:nvPr/>
        </p:nvSpPr>
        <p:spPr>
          <a:xfrm>
            <a:off x="7863840" y="2907792"/>
            <a:ext cx="246888" cy="274320"/>
          </a:xfrm>
          <a:prstGeom prst="rect">
            <a:avLst/>
          </a:prstGeom>
          <a:noFill/>
          <a:ln/>
        </p:spPr>
        <p:txBody>
          <a:bodyPr wrap="square" lIns="0" tIns="0" rIns="0" bIns="0" rtlCol="0" anchor="ctr"/>
          <a:lstStyle/>
          <a:p>
            <a:pPr algn="ctr" indent="0" marL="0">
              <a:buNone/>
            </a:pPr>
            <a:r>
              <a:rPr lang="en-US" sz="1400" b="1" dirty="0">
                <a:solidFill>
                  <a:srgbClr val="3A4A8F"/>
                </a:solidFill>
                <a:latin typeface="Meiryo" pitchFamily="34" charset="0"/>
                <a:ea typeface="Meiryo" pitchFamily="34" charset="-122"/>
                <a:cs typeface="Meiryo" pitchFamily="34" charset="-120"/>
              </a:rPr>
              <a:t>⇔</a:t>
            </a:r>
            <a:endParaRPr lang="en-US" sz="1400" dirty="0"/>
          </a:p>
        </p:txBody>
      </p:sp>
      <p:sp>
        <p:nvSpPr>
          <p:cNvPr id="38" name="Shape 36"/>
          <p:cNvSpPr/>
          <p:nvPr/>
        </p:nvSpPr>
        <p:spPr>
          <a:xfrm>
            <a:off x="4334256" y="4187952"/>
            <a:ext cx="3520440" cy="548640"/>
          </a:xfrm>
          <a:prstGeom prst="roundRect">
            <a:avLst>
              <a:gd name="adj" fmla="val 10000"/>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39" name="Text 37"/>
          <p:cNvSpPr/>
          <p:nvPr/>
        </p:nvSpPr>
        <p:spPr>
          <a:xfrm>
            <a:off x="4498848" y="4187952"/>
            <a:ext cx="3191256" cy="548640"/>
          </a:xfrm>
          <a:prstGeom prst="rect">
            <a:avLst/>
          </a:prstGeom>
          <a:noFill/>
          <a:ln/>
        </p:spPr>
        <p:txBody>
          <a:bodyPr wrap="square" lIns="0" tIns="0" rIns="0" bIns="0" rtlCol="0" anchor="ctr"/>
          <a:lstStyle/>
          <a:p>
            <a:pPr indent="0" marL="0">
              <a:lnSpc>
                <a:spcPts val="1200"/>
              </a:lnSpc>
              <a:buNone/>
            </a:pPr>
            <a:r>
              <a:rPr lang="en-US" sz="850" dirty="0">
                <a:solidFill>
                  <a:srgbClr val="1E2761"/>
                </a:solidFill>
                <a:latin typeface="Meiryo" pitchFamily="34" charset="0"/>
                <a:ea typeface="Meiryo" pitchFamily="34" charset="-122"/>
                <a:cs typeface="Meiryo" pitchFamily="34" charset="-120"/>
              </a:rPr>
              <a:t>遅延中のみ／担当者別</a:t>
            </a:r>
            <a:endParaRPr lang="en-US" sz="850" dirty="0"/>
          </a:p>
          <a:p>
            <a:pPr indent="0" marL="0">
              <a:lnSpc>
                <a:spcPts val="1200"/>
              </a:lnSpc>
              <a:buNone/>
            </a:pPr>
            <a:r>
              <a:rPr lang="en-US" sz="850" dirty="0">
                <a:solidFill>
                  <a:srgbClr val="1E2761"/>
                </a:solidFill>
                <a:latin typeface="Meiryo" pitchFamily="34" charset="0"/>
                <a:ea typeface="Meiryo" pitchFamily="34" charset="-122"/>
                <a:cs typeface="Meiryo" pitchFamily="34" charset="-120"/>
              </a:rPr>
              <a:t>今週やること</a:t>
            </a:r>
            <a:endParaRPr lang="en-US" sz="850" dirty="0"/>
          </a:p>
        </p:txBody>
      </p:sp>
      <p:sp>
        <p:nvSpPr>
          <p:cNvPr id="40" name="Shape 38"/>
          <p:cNvSpPr/>
          <p:nvPr/>
        </p:nvSpPr>
        <p:spPr>
          <a:xfrm>
            <a:off x="8119872" y="2231136"/>
            <a:ext cx="3520440" cy="1627632"/>
          </a:xfrm>
          <a:prstGeom prst="roundRect">
            <a:avLst>
              <a:gd name="adj" fmla="val 3371"/>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41" name="Text 39"/>
          <p:cNvSpPr/>
          <p:nvPr/>
        </p:nvSpPr>
        <p:spPr>
          <a:xfrm>
            <a:off x="8321040" y="2304288"/>
            <a:ext cx="3118104" cy="27432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議事録DB</a:t>
            </a:r>
            <a:endParaRPr lang="en-US" sz="1450" dirty="0"/>
          </a:p>
        </p:txBody>
      </p:sp>
      <p:sp>
        <p:nvSpPr>
          <p:cNvPr id="42" name="Text 40"/>
          <p:cNvSpPr/>
          <p:nvPr/>
        </p:nvSpPr>
        <p:spPr>
          <a:xfrm>
            <a:off x="8321040" y="2578608"/>
            <a:ext cx="3118104" cy="201168"/>
          </a:xfrm>
          <a:prstGeom prst="rect">
            <a:avLst/>
          </a:prstGeom>
          <a:noFill/>
          <a:ln/>
        </p:spPr>
        <p:txBody>
          <a:bodyPr wrap="square" lIns="0" tIns="0" rIns="0" bIns="0" rtlCol="0" anchor="ctr"/>
          <a:lstStyle/>
          <a:p>
            <a:pPr indent="0" marL="0">
              <a:buNone/>
            </a:pPr>
            <a:r>
              <a:rPr lang="en-US" sz="850" dirty="0">
                <a:solidFill>
                  <a:srgbClr val="CADCFC"/>
                </a:solidFill>
                <a:latin typeface="Meiryo" pitchFamily="34" charset="0"/>
                <a:ea typeface="Meiryo" pitchFamily="34" charset="-122"/>
                <a:cs typeface="Meiryo" pitchFamily="34" charset="-120"/>
              </a:rPr>
              <a:t>会議の記録</a:t>
            </a:r>
            <a:endParaRPr lang="en-US" sz="850" dirty="0"/>
          </a:p>
        </p:txBody>
      </p:sp>
      <p:sp>
        <p:nvSpPr>
          <p:cNvPr id="43" name="Text 41"/>
          <p:cNvSpPr/>
          <p:nvPr/>
        </p:nvSpPr>
        <p:spPr>
          <a:xfrm>
            <a:off x="8321040" y="2816352"/>
            <a:ext cx="3118104" cy="969264"/>
          </a:xfrm>
          <a:prstGeom prst="rect">
            <a:avLst/>
          </a:prstGeom>
          <a:noFill/>
          <a:ln/>
        </p:spPr>
        <p:txBody>
          <a:bodyPr wrap="square" lIns="0" tIns="0" rIns="0" bIns="0" rtlCol="0" anchor="ctr"/>
          <a:lstStyle/>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会議体・日付</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参加者</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関連案件（リレーション）</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決定事項</a:t>
            </a:r>
            <a:endParaRPr lang="en-US" sz="850" dirty="0"/>
          </a:p>
          <a:p>
            <a:pPr marL="342900" indent="-342900">
              <a:spcAft>
                <a:spcPts val="100"/>
              </a:spcAft>
              <a:buSzPct val="100000"/>
              <a:buChar char="•"/>
            </a:pPr>
            <a:r>
              <a:rPr lang="en-US" sz="850" dirty="0">
                <a:solidFill>
                  <a:srgbClr val="CADCFC"/>
                </a:solidFill>
                <a:latin typeface="Meiryo" pitchFamily="34" charset="0"/>
                <a:ea typeface="Meiryo" pitchFamily="34" charset="-122"/>
                <a:cs typeface="Meiryo" pitchFamily="34" charset="-120"/>
              </a:rPr>
              <a:t>宿題（タスクへ連携）</a:t>
            </a:r>
            <a:endParaRPr lang="en-US" sz="850" dirty="0"/>
          </a:p>
        </p:txBody>
      </p:sp>
      <p:sp>
        <p:nvSpPr>
          <p:cNvPr id="44" name="Shape 42"/>
          <p:cNvSpPr/>
          <p:nvPr/>
        </p:nvSpPr>
        <p:spPr>
          <a:xfrm>
            <a:off x="8119872" y="4187952"/>
            <a:ext cx="3520440" cy="548640"/>
          </a:xfrm>
          <a:prstGeom prst="roundRect">
            <a:avLst>
              <a:gd name="adj" fmla="val 10000"/>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45" name="Text 43"/>
          <p:cNvSpPr/>
          <p:nvPr/>
        </p:nvSpPr>
        <p:spPr>
          <a:xfrm>
            <a:off x="8284464" y="4187952"/>
            <a:ext cx="3191256" cy="548640"/>
          </a:xfrm>
          <a:prstGeom prst="rect">
            <a:avLst/>
          </a:prstGeom>
          <a:noFill/>
          <a:ln/>
        </p:spPr>
        <p:txBody>
          <a:bodyPr wrap="square" lIns="0" tIns="0" rIns="0" bIns="0" rtlCol="0" anchor="ctr"/>
          <a:lstStyle/>
          <a:p>
            <a:pPr indent="0" marL="0">
              <a:lnSpc>
                <a:spcPts val="1200"/>
              </a:lnSpc>
              <a:buNone/>
            </a:pPr>
            <a:r>
              <a:rPr lang="en-US" sz="850" dirty="0">
                <a:solidFill>
                  <a:srgbClr val="1E2761"/>
                </a:solidFill>
                <a:latin typeface="Meiryo" pitchFamily="34" charset="0"/>
                <a:ea typeface="Meiryo" pitchFamily="34" charset="-122"/>
                <a:cs typeface="Meiryo" pitchFamily="34" charset="-120"/>
              </a:rPr>
              <a:t>カレンダー／案件別</a:t>
            </a:r>
            <a:endParaRPr lang="en-US" sz="850" dirty="0"/>
          </a:p>
        </p:txBody>
      </p:sp>
      <p:sp>
        <p:nvSpPr>
          <p:cNvPr id="46" name="Text 44"/>
          <p:cNvSpPr/>
          <p:nvPr/>
        </p:nvSpPr>
        <p:spPr>
          <a:xfrm>
            <a:off x="548640" y="3913632"/>
            <a:ext cx="3657600" cy="219456"/>
          </a:xfrm>
          <a:prstGeom prst="rect">
            <a:avLst/>
          </a:prstGeom>
          <a:noFill/>
          <a:ln/>
        </p:spPr>
        <p:txBody>
          <a:bodyPr wrap="square" lIns="0" tIns="0" rIns="0" bIns="0" rtlCol="0" anchor="ctr"/>
          <a:lstStyle/>
          <a:p>
            <a:pPr indent="0" marL="0">
              <a:buNone/>
            </a:pPr>
            <a:r>
              <a:rPr lang="en-US" sz="950" b="1" dirty="0">
                <a:solidFill>
                  <a:srgbClr val="6B7280"/>
                </a:solidFill>
                <a:latin typeface="Meiryo" pitchFamily="34" charset="0"/>
                <a:ea typeface="Meiryo" pitchFamily="34" charset="-122"/>
                <a:cs typeface="Meiryo" pitchFamily="34" charset="-120"/>
              </a:rPr>
              <a:t>PMOが使う主なビュー</a:t>
            </a:r>
            <a:endParaRPr lang="en-US" sz="950" dirty="0"/>
          </a:p>
        </p:txBody>
      </p:sp>
      <p:sp>
        <p:nvSpPr>
          <p:cNvPr id="47" name="Shape 45"/>
          <p:cNvSpPr/>
          <p:nvPr/>
        </p:nvSpPr>
        <p:spPr>
          <a:xfrm>
            <a:off x="548640" y="4901184"/>
            <a:ext cx="6858000" cy="1371600"/>
          </a:xfrm>
          <a:prstGeom prst="roundRect">
            <a:avLst>
              <a:gd name="adj" fmla="val 40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8" name="Text 46"/>
          <p:cNvSpPr/>
          <p:nvPr/>
        </p:nvSpPr>
        <p:spPr>
          <a:xfrm>
            <a:off x="777240" y="4992624"/>
            <a:ext cx="6400800" cy="237744"/>
          </a:xfrm>
          <a:prstGeom prst="rect">
            <a:avLst/>
          </a:prstGeom>
          <a:noFill/>
          <a:ln/>
        </p:spPr>
        <p:txBody>
          <a:bodyPr wrap="square" lIns="0" tIns="0" rIns="0" bIns="0" rtlCol="0" anchor="ctr"/>
          <a:lstStyle/>
          <a:p>
            <a:pPr indent="0" marL="0">
              <a:buNone/>
            </a:pPr>
            <a:r>
              <a:rPr lang="en-US" sz="1100" b="1" dirty="0">
                <a:solidFill>
                  <a:srgbClr val="1E2761"/>
                </a:solidFill>
                <a:latin typeface="Meiryo" pitchFamily="34" charset="0"/>
                <a:ea typeface="Meiryo" pitchFamily="34" charset="-122"/>
                <a:cs typeface="Meiryo" pitchFamily="34" charset="-120"/>
              </a:rPr>
              <a:t>3つがつながると、こうなります</a:t>
            </a:r>
            <a:endParaRPr lang="en-US" sz="1100" dirty="0"/>
          </a:p>
        </p:txBody>
      </p:sp>
      <p:sp>
        <p:nvSpPr>
          <p:cNvPr id="49" name="Text 47"/>
          <p:cNvSpPr/>
          <p:nvPr/>
        </p:nvSpPr>
        <p:spPr>
          <a:xfrm>
            <a:off x="777240" y="5266944"/>
            <a:ext cx="6400800" cy="9144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1A1A2E"/>
                </a:solidFill>
                <a:latin typeface="Meiryo" pitchFamily="34" charset="0"/>
                <a:ea typeface="Meiryo" pitchFamily="34" charset="-122"/>
                <a:cs typeface="Meiryo" pitchFamily="34" charset="-120"/>
              </a:rPr>
              <a:t>案件を開く → その案件のタスク一覧・議事録・決定事項が同じ画面に並ぶ</a:t>
            </a:r>
            <a:endParaRPr lang="en-US" sz="950" dirty="0"/>
          </a:p>
          <a:p>
            <a:pPr marL="342900" indent="-342900">
              <a:spcAft>
                <a:spcPts val="500"/>
              </a:spcAft>
              <a:buSzPct val="100000"/>
              <a:buChar char="•"/>
            </a:pPr>
            <a:r>
              <a:rPr lang="en-US" sz="950" dirty="0">
                <a:solidFill>
                  <a:srgbClr val="1A1A2E"/>
                </a:solidFill>
                <a:latin typeface="Meiryo" pitchFamily="34" charset="0"/>
                <a:ea typeface="Meiryo" pitchFamily="34" charset="-122"/>
                <a:cs typeface="Meiryo" pitchFamily="34" charset="-120"/>
              </a:rPr>
              <a:t>タスクを開く → どの案件のどの目的の作業か分かる（Backlogでできなかった点）</a:t>
            </a:r>
            <a:endParaRPr lang="en-US" sz="950" dirty="0"/>
          </a:p>
          <a:p>
            <a:pPr marL="342900" indent="-342900">
              <a:spcAft>
                <a:spcPts val="500"/>
              </a:spcAft>
              <a:buSzPct val="100000"/>
              <a:buChar char="•"/>
            </a:pPr>
            <a:r>
              <a:rPr lang="en-US" sz="950" dirty="0">
                <a:solidFill>
                  <a:srgbClr val="1A1A2E"/>
                </a:solidFill>
                <a:latin typeface="Meiryo" pitchFamily="34" charset="0"/>
                <a:ea typeface="Meiryo" pitchFamily="34" charset="-122"/>
                <a:cs typeface="Meiryo" pitchFamily="34" charset="-120"/>
              </a:rPr>
              <a:t>議事録を開く → どの案件の会議か、宿題がどのタスクになったかを辿れる</a:t>
            </a:r>
            <a:endParaRPr lang="en-US" sz="950" dirty="0"/>
          </a:p>
        </p:txBody>
      </p:sp>
      <p:sp>
        <p:nvSpPr>
          <p:cNvPr id="50" name="Shape 48"/>
          <p:cNvSpPr/>
          <p:nvPr/>
        </p:nvSpPr>
        <p:spPr>
          <a:xfrm>
            <a:off x="7635240" y="4901184"/>
            <a:ext cx="4005072" cy="1371600"/>
          </a:xfrm>
          <a:prstGeom prst="roundRect">
            <a:avLst>
              <a:gd name="adj" fmla="val 4000"/>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51" name="Text 49"/>
          <p:cNvSpPr/>
          <p:nvPr/>
        </p:nvSpPr>
        <p:spPr>
          <a:xfrm>
            <a:off x="7836408" y="4992624"/>
            <a:ext cx="3611880" cy="237744"/>
          </a:xfrm>
          <a:prstGeom prst="rect">
            <a:avLst/>
          </a:prstGeom>
          <a:noFill/>
          <a:ln/>
        </p:spPr>
        <p:txBody>
          <a:bodyPr wrap="square" lIns="0" tIns="0" rIns="0" bIns="0" rtlCol="0" anchor="ctr"/>
          <a:lstStyle/>
          <a:p>
            <a:pPr indent="0" marL="0">
              <a:buNone/>
            </a:pPr>
            <a:r>
              <a:rPr lang="en-US" sz="1100" b="1" dirty="0">
                <a:solidFill>
                  <a:srgbClr val="CADCFC"/>
                </a:solidFill>
                <a:latin typeface="Meiryo" pitchFamily="34" charset="0"/>
                <a:ea typeface="Meiryo" pitchFamily="34" charset="-122"/>
                <a:cs typeface="Meiryo" pitchFamily="34" charset="-120"/>
              </a:rPr>
              <a:t>PMOの一週間</a:t>
            </a:r>
            <a:endParaRPr lang="en-US" sz="1100" dirty="0"/>
          </a:p>
        </p:txBody>
      </p:sp>
      <p:sp>
        <p:nvSpPr>
          <p:cNvPr id="52" name="Text 50"/>
          <p:cNvSpPr/>
          <p:nvPr/>
        </p:nvSpPr>
        <p:spPr>
          <a:xfrm>
            <a:off x="7836408" y="5266944"/>
            <a:ext cx="3611880" cy="914400"/>
          </a:xfrm>
          <a:prstGeom prst="rect">
            <a:avLst/>
          </a:prstGeom>
          <a:noFill/>
          <a:ln/>
        </p:spPr>
        <p:txBody>
          <a:bodyPr wrap="square" lIns="0" tIns="0" rIns="0" bIns="0" rtlCol="0" anchor="ctr"/>
          <a:lstStyle/>
          <a:p>
            <a:pPr marL="342900" indent="-342900">
              <a:spcAft>
                <a:spcPts val="400"/>
              </a:spcAft>
              <a:buSzPct val="100000"/>
              <a:buChar char="•"/>
            </a:pPr>
            <a:r>
              <a:rPr lang="en-US" sz="850" dirty="0">
                <a:solidFill>
                  <a:srgbClr val="FFFFFF"/>
                </a:solidFill>
                <a:latin typeface="Meiryo" pitchFamily="34" charset="0"/>
                <a:ea typeface="Meiryo" pitchFamily="34" charset="-122"/>
                <a:cs typeface="Meiryo" pitchFamily="34" charset="-120"/>
              </a:rPr>
              <a:t>週初：「遅延中」ビューで、部署をまたいで遅れているタスクだけを確認する</a:t>
            </a:r>
            <a:endParaRPr lang="en-US" sz="850" dirty="0"/>
          </a:p>
          <a:p>
            <a:pPr marL="342900" indent="-342900">
              <a:spcAft>
                <a:spcPts val="400"/>
              </a:spcAft>
              <a:buSzPct val="100000"/>
              <a:buChar char="•"/>
            </a:pPr>
            <a:r>
              <a:rPr lang="en-US" sz="850" dirty="0">
                <a:solidFill>
                  <a:srgbClr val="FFFFFF"/>
                </a:solidFill>
                <a:latin typeface="Meiryo" pitchFamily="34" charset="0"/>
                <a:ea typeface="Meiryo" pitchFamily="34" charset="-122"/>
                <a:cs typeface="Meiryo" pitchFamily="34" charset="-120"/>
              </a:rPr>
              <a:t>週次会議：議事録をその場で作り、決定事項をタスクに変える</a:t>
            </a:r>
            <a:endParaRPr lang="en-US" sz="850" dirty="0"/>
          </a:p>
          <a:p>
            <a:pPr marL="342900" indent="-342900">
              <a:spcAft>
                <a:spcPts val="400"/>
              </a:spcAft>
              <a:buSzPct val="100000"/>
              <a:buChar char="•"/>
            </a:pPr>
            <a:r>
              <a:rPr lang="en-US" sz="850" dirty="0">
                <a:solidFill>
                  <a:srgbClr val="FFFFFF"/>
                </a:solidFill>
                <a:latin typeface="Meiryo" pitchFamily="34" charset="0"/>
                <a:ea typeface="Meiryo" pitchFamily="34" charset="-122"/>
                <a:cs typeface="Meiryo" pitchFamily="34" charset="-120"/>
              </a:rPr>
              <a:t>随時：案件ガントで全案件の山谷を見て、要員の偏りを把握する</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第5章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1E2761"/>
          </a:solidFill>
          <a:ln w="12700">
            <a:solidFill>
              <a:srgbClr val="1E2761"/>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運用イメージ — 会議の設計と、決定事項の全社展開</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会議の目的を先に決め、決まったことが確実に現場まで届く状態にします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12</a:t>
            </a:r>
            <a:endParaRPr lang="en-US" sz="1000" dirty="0"/>
          </a:p>
        </p:txBody>
      </p:sp>
      <p:sp>
        <p:nvSpPr>
          <p:cNvPr id="26" name="Shape 24"/>
          <p:cNvSpPr/>
          <p:nvPr/>
        </p:nvSpPr>
        <p:spPr>
          <a:xfrm>
            <a:off x="548640" y="2231136"/>
            <a:ext cx="2601468" cy="1828800"/>
          </a:xfrm>
          <a:prstGeom prst="roundRect">
            <a:avLst>
              <a:gd name="adj" fmla="val 30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7" name="Shape 25"/>
          <p:cNvSpPr/>
          <p:nvPr/>
        </p:nvSpPr>
        <p:spPr>
          <a:xfrm>
            <a:off x="731520" y="2386584"/>
            <a:ext cx="329184" cy="329184"/>
          </a:xfrm>
          <a:prstGeom prst="roundRect">
            <a:avLst>
              <a:gd name="adj" fmla="val 50000"/>
            </a:avLst>
          </a:prstGeom>
          <a:solidFill>
            <a:srgbClr val="1E2761"/>
          </a:solidFill>
          <a:ln w="12700">
            <a:solidFill>
              <a:srgbClr val="1E2761"/>
            </a:solidFill>
            <a:prstDash val="solid"/>
          </a:ln>
        </p:spPr>
      </p:sp>
      <p:sp>
        <p:nvSpPr>
          <p:cNvPr id="28" name="Text 26"/>
          <p:cNvSpPr/>
          <p:nvPr/>
        </p:nvSpPr>
        <p:spPr>
          <a:xfrm>
            <a:off x="73152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a:t>
            </a:r>
            <a:endParaRPr lang="en-US" sz="1100" dirty="0"/>
          </a:p>
        </p:txBody>
      </p:sp>
      <p:sp>
        <p:nvSpPr>
          <p:cNvPr id="29" name="Text 27"/>
          <p:cNvSpPr/>
          <p:nvPr/>
        </p:nvSpPr>
        <p:spPr>
          <a:xfrm>
            <a:off x="1143000" y="2386584"/>
            <a:ext cx="1824228" cy="329184"/>
          </a:xfrm>
          <a:prstGeom prst="rect">
            <a:avLst/>
          </a:prstGeom>
          <a:noFill/>
          <a:ln/>
        </p:spPr>
        <p:txBody>
          <a:bodyPr wrap="square" lIns="0" tIns="0" rIns="0" bIns="0" rtlCol="0" anchor="ctr"/>
          <a:lstStyle/>
          <a:p>
            <a:pPr indent="0" marL="0">
              <a:buNone/>
            </a:pPr>
            <a:r>
              <a:rPr lang="en-US" sz="1300" b="1" dirty="0">
                <a:solidFill>
                  <a:srgbClr val="1E2761"/>
                </a:solidFill>
                <a:latin typeface="Meiryo" pitchFamily="34" charset="0"/>
                <a:ea typeface="Meiryo" pitchFamily="34" charset="-122"/>
                <a:cs typeface="Meiryo" pitchFamily="34" charset="-120"/>
              </a:rPr>
              <a:t>会議前</a:t>
            </a:r>
            <a:endParaRPr lang="en-US" sz="1300" dirty="0"/>
          </a:p>
        </p:txBody>
      </p:sp>
      <p:sp>
        <p:nvSpPr>
          <p:cNvPr id="30" name="Text 28"/>
          <p:cNvSpPr/>
          <p:nvPr/>
        </p:nvSpPr>
        <p:spPr>
          <a:xfrm>
            <a:off x="731520" y="2807208"/>
            <a:ext cx="2235708" cy="512064"/>
          </a:xfrm>
          <a:prstGeom prst="rect">
            <a:avLst/>
          </a:prstGeom>
          <a:noFill/>
          <a:ln/>
        </p:spPr>
        <p:txBody>
          <a:bodyPr wrap="square" lIns="0" tIns="0" rIns="0" bIns="0" rtlCol="0" anchor="ctr"/>
          <a:lstStyle/>
          <a:p>
            <a:pPr indent="0" marL="0">
              <a:buNone/>
            </a:pPr>
            <a:r>
              <a:rPr lang="en-US" sz="1100" b="1" dirty="0">
                <a:solidFill>
                  <a:srgbClr val="1A1A2E"/>
                </a:solidFill>
                <a:latin typeface="Meiryo" pitchFamily="34" charset="0"/>
                <a:ea typeface="Meiryo" pitchFamily="34" charset="-122"/>
                <a:cs typeface="Meiryo" pitchFamily="34" charset="-120"/>
              </a:rPr>
              <a:t>ゴールとアジェンダを作って共有</a:t>
            </a:r>
            <a:endParaRPr lang="en-US" sz="1100" dirty="0"/>
          </a:p>
        </p:txBody>
      </p:sp>
      <p:sp>
        <p:nvSpPr>
          <p:cNvPr id="31" name="Text 29"/>
          <p:cNvSpPr/>
          <p:nvPr/>
        </p:nvSpPr>
        <p:spPr>
          <a:xfrm>
            <a:off x="731520" y="3337560"/>
            <a:ext cx="2235708" cy="640080"/>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議事録ページを会議の前に起票し、この会議で決めることを明示する。参加者が準備して臨める。</a:t>
            </a:r>
            <a:endParaRPr lang="en-US" sz="900" dirty="0"/>
          </a:p>
        </p:txBody>
      </p:sp>
      <p:sp>
        <p:nvSpPr>
          <p:cNvPr id="32" name="Text 30"/>
          <p:cNvSpPr/>
          <p:nvPr/>
        </p:nvSpPr>
        <p:spPr>
          <a:xfrm>
            <a:off x="3159252" y="2916936"/>
            <a:ext cx="210312" cy="274320"/>
          </a:xfrm>
          <a:prstGeom prst="rect">
            <a:avLst/>
          </a:prstGeom>
          <a:noFill/>
          <a:ln/>
        </p:spPr>
        <p:txBody>
          <a:bodyPr wrap="square" lIns="0" tIns="0" rIns="0" bIns="0" rtlCol="0" anchor="ctr"/>
          <a:lstStyle/>
          <a:p>
            <a:pPr algn="ctr" indent="0" marL="0">
              <a:buNone/>
            </a:pPr>
            <a:r>
              <a:rPr lang="en-US" sz="1100" dirty="0">
                <a:solidFill>
                  <a:srgbClr val="3A4A8F"/>
                </a:solidFill>
                <a:latin typeface="Meiryo" pitchFamily="34" charset="0"/>
                <a:ea typeface="Meiryo" pitchFamily="34" charset="-122"/>
                <a:cs typeface="Meiryo" pitchFamily="34" charset="-120"/>
              </a:rPr>
              <a:t>▶</a:t>
            </a:r>
            <a:endParaRPr lang="en-US" sz="1100" dirty="0"/>
          </a:p>
        </p:txBody>
      </p:sp>
      <p:sp>
        <p:nvSpPr>
          <p:cNvPr id="33" name="Shape 31"/>
          <p:cNvSpPr/>
          <p:nvPr/>
        </p:nvSpPr>
        <p:spPr>
          <a:xfrm>
            <a:off x="3378708" y="2231136"/>
            <a:ext cx="2601468" cy="1828800"/>
          </a:xfrm>
          <a:prstGeom prst="roundRect">
            <a:avLst>
              <a:gd name="adj" fmla="val 30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4" name="Shape 32"/>
          <p:cNvSpPr/>
          <p:nvPr/>
        </p:nvSpPr>
        <p:spPr>
          <a:xfrm>
            <a:off x="3561588" y="2386584"/>
            <a:ext cx="329184" cy="329184"/>
          </a:xfrm>
          <a:prstGeom prst="roundRect">
            <a:avLst>
              <a:gd name="adj" fmla="val 50000"/>
            </a:avLst>
          </a:prstGeom>
          <a:solidFill>
            <a:srgbClr val="1E2761"/>
          </a:solidFill>
          <a:ln w="12700">
            <a:solidFill>
              <a:srgbClr val="1E2761"/>
            </a:solidFill>
            <a:prstDash val="solid"/>
          </a:ln>
        </p:spPr>
      </p:sp>
      <p:sp>
        <p:nvSpPr>
          <p:cNvPr id="35" name="Text 33"/>
          <p:cNvSpPr/>
          <p:nvPr/>
        </p:nvSpPr>
        <p:spPr>
          <a:xfrm>
            <a:off x="3561588"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a:t>
            </a:r>
            <a:endParaRPr lang="en-US" sz="1100" dirty="0"/>
          </a:p>
        </p:txBody>
      </p:sp>
      <p:sp>
        <p:nvSpPr>
          <p:cNvPr id="36" name="Text 34"/>
          <p:cNvSpPr/>
          <p:nvPr/>
        </p:nvSpPr>
        <p:spPr>
          <a:xfrm>
            <a:off x="3973068" y="2386584"/>
            <a:ext cx="1824228" cy="329184"/>
          </a:xfrm>
          <a:prstGeom prst="rect">
            <a:avLst/>
          </a:prstGeom>
          <a:noFill/>
          <a:ln/>
        </p:spPr>
        <p:txBody>
          <a:bodyPr wrap="square" lIns="0" tIns="0" rIns="0" bIns="0" rtlCol="0" anchor="ctr"/>
          <a:lstStyle/>
          <a:p>
            <a:pPr indent="0" marL="0">
              <a:buNone/>
            </a:pPr>
            <a:r>
              <a:rPr lang="en-US" sz="1300" b="1" dirty="0">
                <a:solidFill>
                  <a:srgbClr val="1E2761"/>
                </a:solidFill>
                <a:latin typeface="Meiryo" pitchFamily="34" charset="0"/>
                <a:ea typeface="Meiryo" pitchFamily="34" charset="-122"/>
                <a:cs typeface="Meiryo" pitchFamily="34" charset="-120"/>
              </a:rPr>
              <a:t>会議中</a:t>
            </a:r>
            <a:endParaRPr lang="en-US" sz="1300" dirty="0"/>
          </a:p>
        </p:txBody>
      </p:sp>
      <p:sp>
        <p:nvSpPr>
          <p:cNvPr id="37" name="Text 35"/>
          <p:cNvSpPr/>
          <p:nvPr/>
        </p:nvSpPr>
        <p:spPr>
          <a:xfrm>
            <a:off x="3561588" y="2807208"/>
            <a:ext cx="2235708" cy="512064"/>
          </a:xfrm>
          <a:prstGeom prst="rect">
            <a:avLst/>
          </a:prstGeom>
          <a:noFill/>
          <a:ln/>
        </p:spPr>
        <p:txBody>
          <a:bodyPr wrap="square" lIns="0" tIns="0" rIns="0" bIns="0" rtlCol="0" anchor="ctr"/>
          <a:lstStyle/>
          <a:p>
            <a:pPr indent="0" marL="0">
              <a:buNone/>
            </a:pPr>
            <a:r>
              <a:rPr lang="en-US" sz="1100" b="1" dirty="0">
                <a:solidFill>
                  <a:srgbClr val="1A1A2E"/>
                </a:solidFill>
                <a:latin typeface="Meiryo" pitchFamily="34" charset="0"/>
                <a:ea typeface="Meiryo" pitchFamily="34" charset="-122"/>
                <a:cs typeface="Meiryo" pitchFamily="34" charset="-120"/>
              </a:rPr>
              <a:t>その場で議事録化</a:t>
            </a:r>
            <a:endParaRPr lang="en-US" sz="1100" dirty="0"/>
          </a:p>
        </p:txBody>
      </p:sp>
      <p:sp>
        <p:nvSpPr>
          <p:cNvPr id="38" name="Text 36"/>
          <p:cNvSpPr/>
          <p:nvPr/>
        </p:nvSpPr>
        <p:spPr>
          <a:xfrm>
            <a:off x="3561588" y="3337560"/>
            <a:ext cx="2235708" cy="640080"/>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決定事項と宿題（担当者・期限）を、会議の場で確定させる。</a:t>
            </a:r>
            <a:endParaRPr lang="en-US" sz="900" dirty="0"/>
          </a:p>
        </p:txBody>
      </p:sp>
      <p:sp>
        <p:nvSpPr>
          <p:cNvPr id="39" name="Text 37"/>
          <p:cNvSpPr/>
          <p:nvPr/>
        </p:nvSpPr>
        <p:spPr>
          <a:xfrm>
            <a:off x="5989320" y="2916936"/>
            <a:ext cx="210312" cy="274320"/>
          </a:xfrm>
          <a:prstGeom prst="rect">
            <a:avLst/>
          </a:prstGeom>
          <a:noFill/>
          <a:ln/>
        </p:spPr>
        <p:txBody>
          <a:bodyPr wrap="square" lIns="0" tIns="0" rIns="0" bIns="0" rtlCol="0" anchor="ctr"/>
          <a:lstStyle/>
          <a:p>
            <a:pPr algn="ctr" indent="0" marL="0">
              <a:buNone/>
            </a:pPr>
            <a:r>
              <a:rPr lang="en-US" sz="1100" dirty="0">
                <a:solidFill>
                  <a:srgbClr val="3A4A8F"/>
                </a:solidFill>
                <a:latin typeface="Meiryo" pitchFamily="34" charset="0"/>
                <a:ea typeface="Meiryo" pitchFamily="34" charset="-122"/>
                <a:cs typeface="Meiryo" pitchFamily="34" charset="-120"/>
              </a:rPr>
              <a:t>▶</a:t>
            </a:r>
            <a:endParaRPr lang="en-US" sz="1100" dirty="0"/>
          </a:p>
        </p:txBody>
      </p:sp>
      <p:sp>
        <p:nvSpPr>
          <p:cNvPr id="40" name="Shape 38"/>
          <p:cNvSpPr/>
          <p:nvPr/>
        </p:nvSpPr>
        <p:spPr>
          <a:xfrm>
            <a:off x="6208776" y="2231136"/>
            <a:ext cx="2601468" cy="1828800"/>
          </a:xfrm>
          <a:prstGeom prst="roundRect">
            <a:avLst>
              <a:gd name="adj" fmla="val 30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1" name="Shape 39"/>
          <p:cNvSpPr/>
          <p:nvPr/>
        </p:nvSpPr>
        <p:spPr>
          <a:xfrm>
            <a:off x="6391656" y="2386584"/>
            <a:ext cx="329184" cy="329184"/>
          </a:xfrm>
          <a:prstGeom prst="roundRect">
            <a:avLst>
              <a:gd name="adj" fmla="val 50000"/>
            </a:avLst>
          </a:prstGeom>
          <a:solidFill>
            <a:srgbClr val="1E2761"/>
          </a:solidFill>
          <a:ln w="12700">
            <a:solidFill>
              <a:srgbClr val="1E2761"/>
            </a:solidFill>
            <a:prstDash val="solid"/>
          </a:ln>
        </p:spPr>
      </p:sp>
      <p:sp>
        <p:nvSpPr>
          <p:cNvPr id="42" name="Text 40"/>
          <p:cNvSpPr/>
          <p:nvPr/>
        </p:nvSpPr>
        <p:spPr>
          <a:xfrm>
            <a:off x="6391656"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3</a:t>
            </a:r>
            <a:endParaRPr lang="en-US" sz="1100" dirty="0"/>
          </a:p>
        </p:txBody>
      </p:sp>
      <p:sp>
        <p:nvSpPr>
          <p:cNvPr id="43" name="Text 41"/>
          <p:cNvSpPr/>
          <p:nvPr/>
        </p:nvSpPr>
        <p:spPr>
          <a:xfrm>
            <a:off x="6803136" y="2386584"/>
            <a:ext cx="1824228" cy="329184"/>
          </a:xfrm>
          <a:prstGeom prst="rect">
            <a:avLst/>
          </a:prstGeom>
          <a:noFill/>
          <a:ln/>
        </p:spPr>
        <p:txBody>
          <a:bodyPr wrap="square" lIns="0" tIns="0" rIns="0" bIns="0" rtlCol="0" anchor="ctr"/>
          <a:lstStyle/>
          <a:p>
            <a:pPr indent="0" marL="0">
              <a:buNone/>
            </a:pPr>
            <a:r>
              <a:rPr lang="en-US" sz="1300" b="1" dirty="0">
                <a:solidFill>
                  <a:srgbClr val="1E2761"/>
                </a:solidFill>
                <a:latin typeface="Meiryo" pitchFamily="34" charset="0"/>
                <a:ea typeface="Meiryo" pitchFamily="34" charset="-122"/>
                <a:cs typeface="Meiryo" pitchFamily="34" charset="-120"/>
              </a:rPr>
              <a:t>会議後</a:t>
            </a:r>
            <a:endParaRPr lang="en-US" sz="1300" dirty="0"/>
          </a:p>
        </p:txBody>
      </p:sp>
      <p:sp>
        <p:nvSpPr>
          <p:cNvPr id="44" name="Text 42"/>
          <p:cNvSpPr/>
          <p:nvPr/>
        </p:nvSpPr>
        <p:spPr>
          <a:xfrm>
            <a:off x="6391656" y="2807208"/>
            <a:ext cx="2235708" cy="512064"/>
          </a:xfrm>
          <a:prstGeom prst="rect">
            <a:avLst/>
          </a:prstGeom>
          <a:noFill/>
          <a:ln/>
        </p:spPr>
        <p:txBody>
          <a:bodyPr wrap="square" lIns="0" tIns="0" rIns="0" bIns="0" rtlCol="0" anchor="ctr"/>
          <a:lstStyle/>
          <a:p>
            <a:pPr indent="0" marL="0">
              <a:buNone/>
            </a:pPr>
            <a:r>
              <a:rPr lang="en-US" sz="1100" b="1" dirty="0">
                <a:solidFill>
                  <a:srgbClr val="1A1A2E"/>
                </a:solidFill>
                <a:latin typeface="Meiryo" pitchFamily="34" charset="0"/>
                <a:ea typeface="Meiryo" pitchFamily="34" charset="-122"/>
                <a:cs typeface="Meiryo" pitchFamily="34" charset="-120"/>
              </a:rPr>
              <a:t>タスクと案件に接続</a:t>
            </a:r>
            <a:endParaRPr lang="en-US" sz="1100" dirty="0"/>
          </a:p>
        </p:txBody>
      </p:sp>
      <p:sp>
        <p:nvSpPr>
          <p:cNvPr id="45" name="Text 43"/>
          <p:cNvSpPr/>
          <p:nvPr/>
        </p:nvSpPr>
        <p:spPr>
          <a:xfrm>
            <a:off x="6391656" y="3337560"/>
            <a:ext cx="2235708" cy="640080"/>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決定事項がタスクDBに紐づき、案件・イシューにつながる。</a:t>
            </a:r>
            <a:endParaRPr lang="en-US" sz="900" dirty="0"/>
          </a:p>
        </p:txBody>
      </p:sp>
      <p:sp>
        <p:nvSpPr>
          <p:cNvPr id="46" name="Text 44"/>
          <p:cNvSpPr/>
          <p:nvPr/>
        </p:nvSpPr>
        <p:spPr>
          <a:xfrm>
            <a:off x="8819388" y="2916936"/>
            <a:ext cx="210312" cy="274320"/>
          </a:xfrm>
          <a:prstGeom prst="rect">
            <a:avLst/>
          </a:prstGeom>
          <a:noFill/>
          <a:ln/>
        </p:spPr>
        <p:txBody>
          <a:bodyPr wrap="square" lIns="0" tIns="0" rIns="0" bIns="0" rtlCol="0" anchor="ctr"/>
          <a:lstStyle/>
          <a:p>
            <a:pPr algn="ctr" indent="0" marL="0">
              <a:buNone/>
            </a:pPr>
            <a:r>
              <a:rPr lang="en-US" sz="1100" dirty="0">
                <a:solidFill>
                  <a:srgbClr val="3A4A8F"/>
                </a:solidFill>
                <a:latin typeface="Meiryo" pitchFamily="34" charset="0"/>
                <a:ea typeface="Meiryo" pitchFamily="34" charset="-122"/>
                <a:cs typeface="Meiryo" pitchFamily="34" charset="-120"/>
              </a:rPr>
              <a:t>▶</a:t>
            </a:r>
            <a:endParaRPr lang="en-US" sz="1100" dirty="0"/>
          </a:p>
        </p:txBody>
      </p:sp>
      <p:sp>
        <p:nvSpPr>
          <p:cNvPr id="47" name="Shape 45"/>
          <p:cNvSpPr/>
          <p:nvPr/>
        </p:nvSpPr>
        <p:spPr>
          <a:xfrm>
            <a:off x="9038844" y="2231136"/>
            <a:ext cx="2601468" cy="1828800"/>
          </a:xfrm>
          <a:prstGeom prst="roundRect">
            <a:avLst>
              <a:gd name="adj" fmla="val 3000"/>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48" name="Shape 46"/>
          <p:cNvSpPr/>
          <p:nvPr/>
        </p:nvSpPr>
        <p:spPr>
          <a:xfrm>
            <a:off x="9221724" y="2386584"/>
            <a:ext cx="329184" cy="329184"/>
          </a:xfrm>
          <a:prstGeom prst="roundRect">
            <a:avLst>
              <a:gd name="adj" fmla="val 50000"/>
            </a:avLst>
          </a:prstGeom>
          <a:solidFill>
            <a:srgbClr val="1E2761"/>
          </a:solidFill>
          <a:ln w="12700">
            <a:solidFill>
              <a:srgbClr val="1E2761"/>
            </a:solidFill>
            <a:prstDash val="solid"/>
          </a:ln>
        </p:spPr>
      </p:sp>
      <p:sp>
        <p:nvSpPr>
          <p:cNvPr id="49" name="Text 47"/>
          <p:cNvSpPr/>
          <p:nvPr/>
        </p:nvSpPr>
        <p:spPr>
          <a:xfrm>
            <a:off x="9221724"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4</a:t>
            </a:r>
            <a:endParaRPr lang="en-US" sz="1100" dirty="0"/>
          </a:p>
        </p:txBody>
      </p:sp>
      <p:sp>
        <p:nvSpPr>
          <p:cNvPr id="50" name="Text 48"/>
          <p:cNvSpPr/>
          <p:nvPr/>
        </p:nvSpPr>
        <p:spPr>
          <a:xfrm>
            <a:off x="9633204" y="2386584"/>
            <a:ext cx="1824228" cy="329184"/>
          </a:xfrm>
          <a:prstGeom prst="rect">
            <a:avLst/>
          </a:prstGeom>
          <a:noFill/>
          <a:ln/>
        </p:spPr>
        <p:txBody>
          <a:bodyPr wrap="square" lIns="0" tIns="0" rIns="0" bIns="0" rtlCol="0" anchor="ctr"/>
          <a:lstStyle/>
          <a:p>
            <a:pPr indent="0" marL="0">
              <a:buNone/>
            </a:pPr>
            <a:r>
              <a:rPr lang="en-US" sz="1300" b="1" dirty="0">
                <a:solidFill>
                  <a:srgbClr val="1E2761"/>
                </a:solidFill>
                <a:latin typeface="Meiryo" pitchFamily="34" charset="0"/>
                <a:ea typeface="Meiryo" pitchFamily="34" charset="-122"/>
                <a:cs typeface="Meiryo" pitchFamily="34" charset="-120"/>
              </a:rPr>
              <a:t>全社展開</a:t>
            </a:r>
            <a:endParaRPr lang="en-US" sz="1300" dirty="0"/>
          </a:p>
        </p:txBody>
      </p:sp>
      <p:sp>
        <p:nvSpPr>
          <p:cNvPr id="51" name="Text 49"/>
          <p:cNvSpPr/>
          <p:nvPr/>
        </p:nvSpPr>
        <p:spPr>
          <a:xfrm>
            <a:off x="9221724" y="2807208"/>
            <a:ext cx="2235708" cy="512064"/>
          </a:xfrm>
          <a:prstGeom prst="rect">
            <a:avLst/>
          </a:prstGeom>
          <a:noFill/>
          <a:ln/>
        </p:spPr>
        <p:txBody>
          <a:bodyPr wrap="square" lIns="0" tIns="0" rIns="0" bIns="0" rtlCol="0" anchor="ctr"/>
          <a:lstStyle/>
          <a:p>
            <a:pPr indent="0" marL="0">
              <a:buNone/>
            </a:pPr>
            <a:r>
              <a:rPr lang="en-US" sz="1100" b="1" dirty="0">
                <a:solidFill>
                  <a:srgbClr val="1A1A2E"/>
                </a:solidFill>
                <a:latin typeface="Meiryo" pitchFamily="34" charset="0"/>
                <a:ea typeface="Meiryo" pitchFamily="34" charset="-122"/>
                <a:cs typeface="Meiryo" pitchFamily="34" charset="-120"/>
              </a:rPr>
              <a:t>各MGを通じて現場まで届ける</a:t>
            </a:r>
            <a:endParaRPr lang="en-US" sz="1100" dirty="0"/>
          </a:p>
        </p:txBody>
      </p:sp>
      <p:sp>
        <p:nvSpPr>
          <p:cNvPr id="52" name="Text 50"/>
          <p:cNvSpPr/>
          <p:nvPr/>
        </p:nvSpPr>
        <p:spPr>
          <a:xfrm>
            <a:off x="9221724" y="3337560"/>
            <a:ext cx="2235708" cy="640080"/>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全社共有用ページを用意し、同期ブロック（シンクロ）で各部門ページへ配信する。</a:t>
            </a:r>
            <a:endParaRPr lang="en-US" sz="900" dirty="0"/>
          </a:p>
        </p:txBody>
      </p:sp>
      <p:sp>
        <p:nvSpPr>
          <p:cNvPr id="53" name="Shape 51"/>
          <p:cNvSpPr/>
          <p:nvPr/>
        </p:nvSpPr>
        <p:spPr>
          <a:xfrm>
            <a:off x="548640" y="4242816"/>
            <a:ext cx="6903720" cy="1600200"/>
          </a:xfrm>
          <a:prstGeom prst="roundRect">
            <a:avLst>
              <a:gd name="adj" fmla="val 3429"/>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54" name="Text 52"/>
          <p:cNvSpPr/>
          <p:nvPr/>
        </p:nvSpPr>
        <p:spPr>
          <a:xfrm>
            <a:off x="777240" y="4361688"/>
            <a:ext cx="3657600" cy="256032"/>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全社展開のイメージ</a:t>
            </a:r>
            <a:endParaRPr lang="en-US" sz="1150" dirty="0"/>
          </a:p>
        </p:txBody>
      </p:sp>
      <p:sp>
        <p:nvSpPr>
          <p:cNvPr id="55" name="Text 53"/>
          <p:cNvSpPr/>
          <p:nvPr/>
        </p:nvSpPr>
        <p:spPr>
          <a:xfrm>
            <a:off x="777240" y="4654296"/>
            <a:ext cx="6446520" cy="1051560"/>
          </a:xfrm>
          <a:prstGeom prst="rect">
            <a:avLst/>
          </a:prstGeom>
          <a:noFill/>
          <a:ln/>
        </p:spPr>
        <p:txBody>
          <a:bodyPr wrap="square" lIns="0" tIns="0" rIns="0" bIns="0" rtlCol="0" anchor="ctr"/>
          <a:lstStyle/>
          <a:p>
            <a:pPr indent="0" marL="0">
              <a:lnSpc>
                <a:spcPts val="1600"/>
              </a:lnSpc>
              <a:buNone/>
            </a:pPr>
            <a:r>
              <a:rPr lang="en-US" sz="1000" dirty="0">
                <a:solidFill>
                  <a:srgbClr val="1A1A2E"/>
                </a:solidFill>
                <a:latin typeface="Meiryo" pitchFamily="34" charset="0"/>
                <a:ea typeface="Meiryo" pitchFamily="34" charset="-122"/>
                <a:cs typeface="Meiryo" pitchFamily="34" charset="-120"/>
              </a:rPr>
              <a:t>例：経営会議で決定した全社方針を、全部門へ展開する必要が生じたとき。全社共有用ページの内容を各部門ページへ同期配信し、原本を1回直せば展開先すべてに即時反映されます。各MGが個別に転記・再作成する必要がなくなり、伝達漏れ・版ズレ・「言った／聞いてない」がなくなります。</a:t>
            </a:r>
            <a:endParaRPr lang="en-US" sz="1000" dirty="0"/>
          </a:p>
        </p:txBody>
      </p:sp>
      <p:sp>
        <p:nvSpPr>
          <p:cNvPr id="56" name="Shape 54"/>
          <p:cNvSpPr/>
          <p:nvPr/>
        </p:nvSpPr>
        <p:spPr>
          <a:xfrm>
            <a:off x="7662672" y="4242816"/>
            <a:ext cx="3977640" cy="1600200"/>
          </a:xfrm>
          <a:prstGeom prst="roundRect">
            <a:avLst>
              <a:gd name="adj" fmla="val 3429"/>
            </a:avLst>
          </a:prstGeom>
          <a:solidFill>
            <a:srgbClr val="FBEDEC"/>
          </a:solidFill>
          <a:ln w="12700">
            <a:solidFill>
              <a:srgbClr val="B3261E"/>
            </a:solidFill>
            <a:prstDash val="solid"/>
          </a:ln>
          <a:effectLst>
            <a:outerShdw sx="100000" sy="100000" kx="0" ky="0" algn="bl" rotWithShape="0" blurRad="101600" dist="12700" dir="5400000">
              <a:srgbClr val="1E2761">
                <a:alpha val="10000"/>
              </a:srgbClr>
            </a:outerShdw>
          </a:effectLst>
        </p:spPr>
      </p:sp>
      <p:sp>
        <p:nvSpPr>
          <p:cNvPr id="57" name="Text 55"/>
          <p:cNvSpPr/>
          <p:nvPr/>
        </p:nvSpPr>
        <p:spPr>
          <a:xfrm>
            <a:off x="7863840" y="4361688"/>
            <a:ext cx="3566160" cy="256032"/>
          </a:xfrm>
          <a:prstGeom prst="rect">
            <a:avLst/>
          </a:prstGeom>
          <a:noFill/>
          <a:ln/>
        </p:spPr>
        <p:txBody>
          <a:bodyPr wrap="square" lIns="0" tIns="0" rIns="0" bIns="0" rtlCol="0" anchor="ctr"/>
          <a:lstStyle/>
          <a:p>
            <a:pPr indent="0" marL="0">
              <a:buNone/>
            </a:pPr>
            <a:r>
              <a:rPr lang="en-US" sz="1150" b="1" dirty="0">
                <a:solidFill>
                  <a:srgbClr val="B3261E"/>
                </a:solidFill>
                <a:latin typeface="Meiryo" pitchFamily="34" charset="0"/>
                <a:ea typeface="Meiryo" pitchFamily="34" charset="-122"/>
                <a:cs typeface="Meiryo" pitchFamily="34" charset="-120"/>
              </a:rPr>
              <a:t>設計上の注意（重要）</a:t>
            </a:r>
            <a:endParaRPr lang="en-US" sz="1150" dirty="0"/>
          </a:p>
        </p:txBody>
      </p:sp>
      <p:sp>
        <p:nvSpPr>
          <p:cNvPr id="58" name="Text 56"/>
          <p:cNvSpPr/>
          <p:nvPr/>
        </p:nvSpPr>
        <p:spPr>
          <a:xfrm>
            <a:off x="7863840" y="4654296"/>
            <a:ext cx="3566160" cy="1051560"/>
          </a:xfrm>
          <a:prstGeom prst="rect">
            <a:avLst/>
          </a:prstGeom>
          <a:noFill/>
          <a:ln/>
        </p:spPr>
        <p:txBody>
          <a:bodyPr wrap="square" lIns="0" tIns="0" rIns="0" bIns="0" rtlCol="0" anchor="ctr"/>
          <a:lstStyle/>
          <a:p>
            <a:pPr indent="0" marL="0">
              <a:lnSpc>
                <a:spcPts val="1500"/>
              </a:lnSpc>
              <a:buNone/>
            </a:pPr>
            <a:r>
              <a:rPr lang="en-US" sz="950" dirty="0">
                <a:solidFill>
                  <a:srgbClr val="1A1A2E"/>
                </a:solidFill>
                <a:latin typeface="Meiryo" pitchFamily="34" charset="0"/>
                <a:ea typeface="Meiryo" pitchFamily="34" charset="-122"/>
                <a:cs typeface="Meiryo" pitchFamily="34" charset="-120"/>
              </a:rPr>
              <a:t>同期ブロックは「同期元ページの閲覧権限」が適用されます。経営会議の議事録（非公開）に原本を置くと、一般社員には中身が表示されません。原本は必ず全社共有ページ側に置きます（Appendix H）。</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第6章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1E2761"/>
          </a:solidFill>
          <a:ln w="12700">
            <a:solidFill>
              <a:srgbClr val="1E2761"/>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セキュリティ — 第三者認証の取得状況</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国際的な第三者監査を毎年受けており、認証の面でのご懸念はありません</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13</a:t>
            </a:r>
            <a:endParaRPr lang="en-US" sz="1000" dirty="0"/>
          </a:p>
        </p:txBody>
      </p:sp>
      <p:sp>
        <p:nvSpPr>
          <p:cNvPr id="26" name="Shape 24"/>
          <p:cNvSpPr/>
          <p:nvPr/>
        </p:nvSpPr>
        <p:spPr>
          <a:xfrm>
            <a:off x="548640" y="2286000"/>
            <a:ext cx="2627300" cy="1024128"/>
          </a:xfrm>
          <a:prstGeom prst="roundRect">
            <a:avLst>
              <a:gd name="adj" fmla="val 535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7" name="Shape 25"/>
          <p:cNvSpPr/>
          <p:nvPr/>
        </p:nvSpPr>
        <p:spPr>
          <a:xfrm>
            <a:off x="731520" y="2450592"/>
            <a:ext cx="310896" cy="310896"/>
          </a:xfrm>
          <a:prstGeom prst="roundRect">
            <a:avLst>
              <a:gd name="adj" fmla="val 50000"/>
            </a:avLst>
          </a:prstGeom>
          <a:solidFill>
            <a:srgbClr val="CADCFC"/>
          </a:solidFill>
          <a:ln w="12700">
            <a:solidFill>
              <a:srgbClr val="CADCFC"/>
            </a:solidFill>
            <a:prstDash val="solid"/>
          </a:ln>
        </p:spPr>
      </p:sp>
      <p:sp>
        <p:nvSpPr>
          <p:cNvPr id="28" name="Text 26"/>
          <p:cNvSpPr/>
          <p:nvPr/>
        </p:nvSpPr>
        <p:spPr>
          <a:xfrm>
            <a:off x="731520" y="2450592"/>
            <a:ext cx="310896"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Meiryo" pitchFamily="34" charset="0"/>
                <a:ea typeface="Meiryo" pitchFamily="34" charset="-122"/>
                <a:cs typeface="Meiryo" pitchFamily="34" charset="-120"/>
              </a:rPr>
              <a:t>✓</a:t>
            </a:r>
            <a:endParaRPr lang="en-US" sz="1100" dirty="0"/>
          </a:p>
        </p:txBody>
      </p:sp>
      <p:sp>
        <p:nvSpPr>
          <p:cNvPr id="29" name="Text 27"/>
          <p:cNvSpPr/>
          <p:nvPr/>
        </p:nvSpPr>
        <p:spPr>
          <a:xfrm>
            <a:off x="1124712" y="2450592"/>
            <a:ext cx="1868348" cy="310896"/>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SOC 2 Type II</a:t>
            </a:r>
            <a:endParaRPr lang="en-US" sz="1200" dirty="0"/>
          </a:p>
        </p:txBody>
      </p:sp>
      <p:sp>
        <p:nvSpPr>
          <p:cNvPr id="30" name="Text 28"/>
          <p:cNvSpPr/>
          <p:nvPr/>
        </p:nvSpPr>
        <p:spPr>
          <a:xfrm>
            <a:off x="731520" y="2816352"/>
            <a:ext cx="2261540" cy="402336"/>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セキュリティ・可用性・機密性に関する第三者監査報告書</a:t>
            </a:r>
            <a:endParaRPr lang="en-US" sz="900" dirty="0"/>
          </a:p>
        </p:txBody>
      </p:sp>
      <p:sp>
        <p:nvSpPr>
          <p:cNvPr id="31" name="Shape 29"/>
          <p:cNvSpPr/>
          <p:nvPr/>
        </p:nvSpPr>
        <p:spPr>
          <a:xfrm>
            <a:off x="3370707" y="2286000"/>
            <a:ext cx="2627300" cy="1024128"/>
          </a:xfrm>
          <a:prstGeom prst="roundRect">
            <a:avLst>
              <a:gd name="adj" fmla="val 535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2" name="Shape 30"/>
          <p:cNvSpPr/>
          <p:nvPr/>
        </p:nvSpPr>
        <p:spPr>
          <a:xfrm>
            <a:off x="3553587" y="2450592"/>
            <a:ext cx="310896" cy="310896"/>
          </a:xfrm>
          <a:prstGeom prst="roundRect">
            <a:avLst>
              <a:gd name="adj" fmla="val 50000"/>
            </a:avLst>
          </a:prstGeom>
          <a:solidFill>
            <a:srgbClr val="CADCFC"/>
          </a:solidFill>
          <a:ln w="12700">
            <a:solidFill>
              <a:srgbClr val="CADCFC"/>
            </a:solidFill>
            <a:prstDash val="solid"/>
          </a:ln>
        </p:spPr>
      </p:sp>
      <p:sp>
        <p:nvSpPr>
          <p:cNvPr id="33" name="Text 31"/>
          <p:cNvSpPr/>
          <p:nvPr/>
        </p:nvSpPr>
        <p:spPr>
          <a:xfrm>
            <a:off x="3553587" y="2450592"/>
            <a:ext cx="310896"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Meiryo" pitchFamily="34" charset="0"/>
                <a:ea typeface="Meiryo" pitchFamily="34" charset="-122"/>
                <a:cs typeface="Meiryo" pitchFamily="34" charset="-120"/>
              </a:rPr>
              <a:t>✓</a:t>
            </a:r>
            <a:endParaRPr lang="en-US" sz="1100" dirty="0"/>
          </a:p>
        </p:txBody>
      </p:sp>
      <p:sp>
        <p:nvSpPr>
          <p:cNvPr id="34" name="Text 32"/>
          <p:cNvSpPr/>
          <p:nvPr/>
        </p:nvSpPr>
        <p:spPr>
          <a:xfrm>
            <a:off x="3946779" y="2450592"/>
            <a:ext cx="1868348" cy="310896"/>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SOC 3</a:t>
            </a:r>
            <a:endParaRPr lang="en-US" sz="1200" dirty="0"/>
          </a:p>
        </p:txBody>
      </p:sp>
      <p:sp>
        <p:nvSpPr>
          <p:cNvPr id="35" name="Text 33"/>
          <p:cNvSpPr/>
          <p:nvPr/>
        </p:nvSpPr>
        <p:spPr>
          <a:xfrm>
            <a:off x="3553587" y="2816352"/>
            <a:ext cx="2261540" cy="402336"/>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一般公開向けの監査報告書</a:t>
            </a:r>
            <a:endParaRPr lang="en-US" sz="900" dirty="0"/>
          </a:p>
        </p:txBody>
      </p:sp>
      <p:sp>
        <p:nvSpPr>
          <p:cNvPr id="36" name="Shape 34"/>
          <p:cNvSpPr/>
          <p:nvPr/>
        </p:nvSpPr>
        <p:spPr>
          <a:xfrm>
            <a:off x="6192774" y="2286000"/>
            <a:ext cx="2627300" cy="1024128"/>
          </a:xfrm>
          <a:prstGeom prst="roundRect">
            <a:avLst>
              <a:gd name="adj" fmla="val 535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7" name="Shape 35"/>
          <p:cNvSpPr/>
          <p:nvPr/>
        </p:nvSpPr>
        <p:spPr>
          <a:xfrm>
            <a:off x="6375654" y="2450592"/>
            <a:ext cx="310896" cy="310896"/>
          </a:xfrm>
          <a:prstGeom prst="roundRect">
            <a:avLst>
              <a:gd name="adj" fmla="val 50000"/>
            </a:avLst>
          </a:prstGeom>
          <a:solidFill>
            <a:srgbClr val="CADCFC"/>
          </a:solidFill>
          <a:ln w="12700">
            <a:solidFill>
              <a:srgbClr val="CADCFC"/>
            </a:solidFill>
            <a:prstDash val="solid"/>
          </a:ln>
        </p:spPr>
      </p:sp>
      <p:sp>
        <p:nvSpPr>
          <p:cNvPr id="38" name="Text 36"/>
          <p:cNvSpPr/>
          <p:nvPr/>
        </p:nvSpPr>
        <p:spPr>
          <a:xfrm>
            <a:off x="6375654" y="2450592"/>
            <a:ext cx="310896"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Meiryo" pitchFamily="34" charset="0"/>
                <a:ea typeface="Meiryo" pitchFamily="34" charset="-122"/>
                <a:cs typeface="Meiryo" pitchFamily="34" charset="-120"/>
              </a:rPr>
              <a:t>✓</a:t>
            </a:r>
            <a:endParaRPr lang="en-US" sz="1100" dirty="0"/>
          </a:p>
        </p:txBody>
      </p:sp>
      <p:sp>
        <p:nvSpPr>
          <p:cNvPr id="39" name="Text 37"/>
          <p:cNvSpPr/>
          <p:nvPr/>
        </p:nvSpPr>
        <p:spPr>
          <a:xfrm>
            <a:off x="6768846" y="2450592"/>
            <a:ext cx="1868348" cy="310896"/>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ISO/IEC 27001</a:t>
            </a:r>
            <a:endParaRPr lang="en-US" sz="1200" dirty="0"/>
          </a:p>
        </p:txBody>
      </p:sp>
      <p:sp>
        <p:nvSpPr>
          <p:cNvPr id="40" name="Text 38"/>
          <p:cNvSpPr/>
          <p:nvPr/>
        </p:nvSpPr>
        <p:spPr>
          <a:xfrm>
            <a:off x="6375654" y="2816352"/>
            <a:ext cx="2261540" cy="402336"/>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情報セキュリティマネジメントシステム（ISMS）</a:t>
            </a:r>
            <a:endParaRPr lang="en-US" sz="900" dirty="0"/>
          </a:p>
        </p:txBody>
      </p:sp>
      <p:sp>
        <p:nvSpPr>
          <p:cNvPr id="41" name="Shape 39"/>
          <p:cNvSpPr/>
          <p:nvPr/>
        </p:nvSpPr>
        <p:spPr>
          <a:xfrm>
            <a:off x="9014841" y="2286000"/>
            <a:ext cx="2627300" cy="1024128"/>
          </a:xfrm>
          <a:prstGeom prst="roundRect">
            <a:avLst>
              <a:gd name="adj" fmla="val 535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2" name="Shape 40"/>
          <p:cNvSpPr/>
          <p:nvPr/>
        </p:nvSpPr>
        <p:spPr>
          <a:xfrm>
            <a:off x="9197721" y="2450592"/>
            <a:ext cx="310896" cy="310896"/>
          </a:xfrm>
          <a:prstGeom prst="roundRect">
            <a:avLst>
              <a:gd name="adj" fmla="val 50000"/>
            </a:avLst>
          </a:prstGeom>
          <a:solidFill>
            <a:srgbClr val="CADCFC"/>
          </a:solidFill>
          <a:ln w="12700">
            <a:solidFill>
              <a:srgbClr val="CADCFC"/>
            </a:solidFill>
            <a:prstDash val="solid"/>
          </a:ln>
        </p:spPr>
      </p:sp>
      <p:sp>
        <p:nvSpPr>
          <p:cNvPr id="43" name="Text 41"/>
          <p:cNvSpPr/>
          <p:nvPr/>
        </p:nvSpPr>
        <p:spPr>
          <a:xfrm>
            <a:off x="9197721" y="2450592"/>
            <a:ext cx="310896"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Meiryo" pitchFamily="34" charset="0"/>
                <a:ea typeface="Meiryo" pitchFamily="34" charset="-122"/>
                <a:cs typeface="Meiryo" pitchFamily="34" charset="-120"/>
              </a:rPr>
              <a:t>✓</a:t>
            </a:r>
            <a:endParaRPr lang="en-US" sz="1100" dirty="0"/>
          </a:p>
        </p:txBody>
      </p:sp>
      <p:sp>
        <p:nvSpPr>
          <p:cNvPr id="44" name="Text 42"/>
          <p:cNvSpPr/>
          <p:nvPr/>
        </p:nvSpPr>
        <p:spPr>
          <a:xfrm>
            <a:off x="9590913" y="2450592"/>
            <a:ext cx="1868348" cy="310896"/>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ISO/IEC 27017</a:t>
            </a:r>
            <a:endParaRPr lang="en-US" sz="1200" dirty="0"/>
          </a:p>
        </p:txBody>
      </p:sp>
      <p:sp>
        <p:nvSpPr>
          <p:cNvPr id="45" name="Text 43"/>
          <p:cNvSpPr/>
          <p:nvPr/>
        </p:nvSpPr>
        <p:spPr>
          <a:xfrm>
            <a:off x="9197721" y="2816352"/>
            <a:ext cx="2261540" cy="402336"/>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クラウドサービスのセキュリティ</a:t>
            </a:r>
            <a:endParaRPr lang="en-US" sz="900" dirty="0"/>
          </a:p>
        </p:txBody>
      </p:sp>
      <p:sp>
        <p:nvSpPr>
          <p:cNvPr id="46" name="Shape 44"/>
          <p:cNvSpPr/>
          <p:nvPr/>
        </p:nvSpPr>
        <p:spPr>
          <a:xfrm>
            <a:off x="548640" y="3456432"/>
            <a:ext cx="2627300" cy="1024128"/>
          </a:xfrm>
          <a:prstGeom prst="roundRect">
            <a:avLst>
              <a:gd name="adj" fmla="val 535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7" name="Shape 45"/>
          <p:cNvSpPr/>
          <p:nvPr/>
        </p:nvSpPr>
        <p:spPr>
          <a:xfrm>
            <a:off x="731520" y="3621024"/>
            <a:ext cx="310896" cy="310896"/>
          </a:xfrm>
          <a:prstGeom prst="roundRect">
            <a:avLst>
              <a:gd name="adj" fmla="val 50000"/>
            </a:avLst>
          </a:prstGeom>
          <a:solidFill>
            <a:srgbClr val="CADCFC"/>
          </a:solidFill>
          <a:ln w="12700">
            <a:solidFill>
              <a:srgbClr val="CADCFC"/>
            </a:solidFill>
            <a:prstDash val="solid"/>
          </a:ln>
        </p:spPr>
      </p:sp>
      <p:sp>
        <p:nvSpPr>
          <p:cNvPr id="48" name="Text 46"/>
          <p:cNvSpPr/>
          <p:nvPr/>
        </p:nvSpPr>
        <p:spPr>
          <a:xfrm>
            <a:off x="731520" y="3621024"/>
            <a:ext cx="310896"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Meiryo" pitchFamily="34" charset="0"/>
                <a:ea typeface="Meiryo" pitchFamily="34" charset="-122"/>
                <a:cs typeface="Meiryo" pitchFamily="34" charset="-120"/>
              </a:rPr>
              <a:t>✓</a:t>
            </a:r>
            <a:endParaRPr lang="en-US" sz="1100" dirty="0"/>
          </a:p>
        </p:txBody>
      </p:sp>
      <p:sp>
        <p:nvSpPr>
          <p:cNvPr id="49" name="Text 47"/>
          <p:cNvSpPr/>
          <p:nvPr/>
        </p:nvSpPr>
        <p:spPr>
          <a:xfrm>
            <a:off x="1124712" y="3621024"/>
            <a:ext cx="1868348" cy="310896"/>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ISO/IEC 27018</a:t>
            </a:r>
            <a:endParaRPr lang="en-US" sz="1200" dirty="0"/>
          </a:p>
        </p:txBody>
      </p:sp>
      <p:sp>
        <p:nvSpPr>
          <p:cNvPr id="50" name="Text 48"/>
          <p:cNvSpPr/>
          <p:nvPr/>
        </p:nvSpPr>
        <p:spPr>
          <a:xfrm>
            <a:off x="731520" y="3986784"/>
            <a:ext cx="2261540" cy="402336"/>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パブリッククラウドにおける個人データ保護</a:t>
            </a:r>
            <a:endParaRPr lang="en-US" sz="900" dirty="0"/>
          </a:p>
        </p:txBody>
      </p:sp>
      <p:sp>
        <p:nvSpPr>
          <p:cNvPr id="51" name="Shape 49"/>
          <p:cNvSpPr/>
          <p:nvPr/>
        </p:nvSpPr>
        <p:spPr>
          <a:xfrm>
            <a:off x="3370707" y="3456432"/>
            <a:ext cx="2627300" cy="1024128"/>
          </a:xfrm>
          <a:prstGeom prst="roundRect">
            <a:avLst>
              <a:gd name="adj" fmla="val 535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52" name="Shape 50"/>
          <p:cNvSpPr/>
          <p:nvPr/>
        </p:nvSpPr>
        <p:spPr>
          <a:xfrm>
            <a:off x="3553587" y="3621024"/>
            <a:ext cx="310896" cy="310896"/>
          </a:xfrm>
          <a:prstGeom prst="roundRect">
            <a:avLst>
              <a:gd name="adj" fmla="val 50000"/>
            </a:avLst>
          </a:prstGeom>
          <a:solidFill>
            <a:srgbClr val="CADCFC"/>
          </a:solidFill>
          <a:ln w="12700">
            <a:solidFill>
              <a:srgbClr val="CADCFC"/>
            </a:solidFill>
            <a:prstDash val="solid"/>
          </a:ln>
        </p:spPr>
      </p:sp>
      <p:sp>
        <p:nvSpPr>
          <p:cNvPr id="53" name="Text 51"/>
          <p:cNvSpPr/>
          <p:nvPr/>
        </p:nvSpPr>
        <p:spPr>
          <a:xfrm>
            <a:off x="3553587" y="3621024"/>
            <a:ext cx="310896"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Meiryo" pitchFamily="34" charset="0"/>
                <a:ea typeface="Meiryo" pitchFamily="34" charset="-122"/>
                <a:cs typeface="Meiryo" pitchFamily="34" charset="-120"/>
              </a:rPr>
              <a:t>✓</a:t>
            </a:r>
            <a:endParaRPr lang="en-US" sz="1100" dirty="0"/>
          </a:p>
        </p:txBody>
      </p:sp>
      <p:sp>
        <p:nvSpPr>
          <p:cNvPr id="54" name="Text 52"/>
          <p:cNvSpPr/>
          <p:nvPr/>
        </p:nvSpPr>
        <p:spPr>
          <a:xfrm>
            <a:off x="3946779" y="3621024"/>
            <a:ext cx="1868348" cy="310896"/>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ISO/IEC 27701</a:t>
            </a:r>
            <a:endParaRPr lang="en-US" sz="1200" dirty="0"/>
          </a:p>
        </p:txBody>
      </p:sp>
      <p:sp>
        <p:nvSpPr>
          <p:cNvPr id="55" name="Text 53"/>
          <p:cNvSpPr/>
          <p:nvPr/>
        </p:nvSpPr>
        <p:spPr>
          <a:xfrm>
            <a:off x="3553587" y="3986784"/>
            <a:ext cx="2261540" cy="402336"/>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プライバシー情報マネジメント（PIMS）</a:t>
            </a:r>
            <a:endParaRPr lang="en-US" sz="900" dirty="0"/>
          </a:p>
        </p:txBody>
      </p:sp>
      <p:sp>
        <p:nvSpPr>
          <p:cNvPr id="56" name="Shape 54"/>
          <p:cNvSpPr/>
          <p:nvPr/>
        </p:nvSpPr>
        <p:spPr>
          <a:xfrm>
            <a:off x="6192774" y="3456432"/>
            <a:ext cx="2627300" cy="1024128"/>
          </a:xfrm>
          <a:prstGeom prst="roundRect">
            <a:avLst>
              <a:gd name="adj" fmla="val 535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57" name="Shape 55"/>
          <p:cNvSpPr/>
          <p:nvPr/>
        </p:nvSpPr>
        <p:spPr>
          <a:xfrm>
            <a:off x="6375654" y="3621024"/>
            <a:ext cx="310896" cy="310896"/>
          </a:xfrm>
          <a:prstGeom prst="roundRect">
            <a:avLst>
              <a:gd name="adj" fmla="val 50000"/>
            </a:avLst>
          </a:prstGeom>
          <a:solidFill>
            <a:srgbClr val="CADCFC"/>
          </a:solidFill>
          <a:ln w="12700">
            <a:solidFill>
              <a:srgbClr val="CADCFC"/>
            </a:solidFill>
            <a:prstDash val="solid"/>
          </a:ln>
        </p:spPr>
      </p:sp>
      <p:sp>
        <p:nvSpPr>
          <p:cNvPr id="58" name="Text 56"/>
          <p:cNvSpPr/>
          <p:nvPr/>
        </p:nvSpPr>
        <p:spPr>
          <a:xfrm>
            <a:off x="6375654" y="3621024"/>
            <a:ext cx="310896"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Meiryo" pitchFamily="34" charset="0"/>
                <a:ea typeface="Meiryo" pitchFamily="34" charset="-122"/>
                <a:cs typeface="Meiryo" pitchFamily="34" charset="-120"/>
              </a:rPr>
              <a:t>✓</a:t>
            </a:r>
            <a:endParaRPr lang="en-US" sz="1100" dirty="0"/>
          </a:p>
        </p:txBody>
      </p:sp>
      <p:sp>
        <p:nvSpPr>
          <p:cNvPr id="59" name="Text 57"/>
          <p:cNvSpPr/>
          <p:nvPr/>
        </p:nvSpPr>
        <p:spPr>
          <a:xfrm>
            <a:off x="6768846" y="3621024"/>
            <a:ext cx="1868348" cy="310896"/>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BSI C5</a:t>
            </a:r>
            <a:endParaRPr lang="en-US" sz="1200" dirty="0"/>
          </a:p>
        </p:txBody>
      </p:sp>
      <p:sp>
        <p:nvSpPr>
          <p:cNvPr id="60" name="Text 58"/>
          <p:cNvSpPr/>
          <p:nvPr/>
        </p:nvSpPr>
        <p:spPr>
          <a:xfrm>
            <a:off x="6375654" y="3986784"/>
            <a:ext cx="2261540" cy="402336"/>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ドイツ連邦情報セキュリティ庁のクラウド基準</a:t>
            </a:r>
            <a:endParaRPr lang="en-US" sz="900" dirty="0"/>
          </a:p>
        </p:txBody>
      </p:sp>
      <p:sp>
        <p:nvSpPr>
          <p:cNvPr id="61" name="Shape 59"/>
          <p:cNvSpPr/>
          <p:nvPr/>
        </p:nvSpPr>
        <p:spPr>
          <a:xfrm>
            <a:off x="9014841" y="3456432"/>
            <a:ext cx="2627300" cy="1024128"/>
          </a:xfrm>
          <a:prstGeom prst="roundRect">
            <a:avLst>
              <a:gd name="adj" fmla="val 535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62" name="Shape 60"/>
          <p:cNvSpPr/>
          <p:nvPr/>
        </p:nvSpPr>
        <p:spPr>
          <a:xfrm>
            <a:off x="9197721" y="3621024"/>
            <a:ext cx="310896" cy="310896"/>
          </a:xfrm>
          <a:prstGeom prst="roundRect">
            <a:avLst>
              <a:gd name="adj" fmla="val 50000"/>
            </a:avLst>
          </a:prstGeom>
          <a:solidFill>
            <a:srgbClr val="CADCFC"/>
          </a:solidFill>
          <a:ln w="12700">
            <a:solidFill>
              <a:srgbClr val="CADCFC"/>
            </a:solidFill>
            <a:prstDash val="solid"/>
          </a:ln>
        </p:spPr>
      </p:sp>
      <p:sp>
        <p:nvSpPr>
          <p:cNvPr id="63" name="Text 61"/>
          <p:cNvSpPr/>
          <p:nvPr/>
        </p:nvSpPr>
        <p:spPr>
          <a:xfrm>
            <a:off x="9197721" y="3621024"/>
            <a:ext cx="310896"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Meiryo" pitchFamily="34" charset="0"/>
                <a:ea typeface="Meiryo" pitchFamily="34" charset="-122"/>
                <a:cs typeface="Meiryo" pitchFamily="34" charset="-120"/>
              </a:rPr>
              <a:t>✓</a:t>
            </a:r>
            <a:endParaRPr lang="en-US" sz="1100" dirty="0"/>
          </a:p>
        </p:txBody>
      </p:sp>
      <p:sp>
        <p:nvSpPr>
          <p:cNvPr id="64" name="Text 62"/>
          <p:cNvSpPr/>
          <p:nvPr/>
        </p:nvSpPr>
        <p:spPr>
          <a:xfrm>
            <a:off x="9590913" y="3621024"/>
            <a:ext cx="1868348" cy="310896"/>
          </a:xfrm>
          <a:prstGeom prst="rect">
            <a:avLst/>
          </a:prstGeom>
          <a:noFill/>
          <a:ln/>
        </p:spPr>
        <p:txBody>
          <a:bodyPr wrap="square" lIns="0" tIns="0" rIns="0" bIns="0" rtlCol="0" anchor="ctr"/>
          <a:lstStyle/>
          <a:p>
            <a:pPr indent="0" marL="0">
              <a:buNone/>
            </a:pPr>
            <a:r>
              <a:rPr lang="en-US" sz="1200" b="1" dirty="0">
                <a:solidFill>
                  <a:srgbClr val="1E2761"/>
                </a:solidFill>
                <a:latin typeface="Meiryo" pitchFamily="34" charset="0"/>
                <a:ea typeface="Meiryo" pitchFamily="34" charset="-122"/>
                <a:cs typeface="Meiryo" pitchFamily="34" charset="-120"/>
              </a:rPr>
              <a:t>GDPR / HIPAA</a:t>
            </a:r>
            <a:endParaRPr lang="en-US" sz="1200" dirty="0"/>
          </a:p>
        </p:txBody>
      </p:sp>
      <p:sp>
        <p:nvSpPr>
          <p:cNvPr id="65" name="Text 63"/>
          <p:cNvSpPr/>
          <p:nvPr/>
        </p:nvSpPr>
        <p:spPr>
          <a:xfrm>
            <a:off x="9197721" y="3986784"/>
            <a:ext cx="2261540" cy="402336"/>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GDPR準拠。HIPAA BAA は Enterprise 契約時に対応</a:t>
            </a:r>
            <a:endParaRPr lang="en-US" sz="900" dirty="0"/>
          </a:p>
        </p:txBody>
      </p:sp>
      <p:sp>
        <p:nvSpPr>
          <p:cNvPr id="66" name="Shape 64"/>
          <p:cNvSpPr/>
          <p:nvPr/>
        </p:nvSpPr>
        <p:spPr>
          <a:xfrm>
            <a:off x="548640" y="4754880"/>
            <a:ext cx="11094415" cy="1188720"/>
          </a:xfrm>
          <a:prstGeom prst="roundRect">
            <a:avLst>
              <a:gd name="adj" fmla="val 4615"/>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67" name="Text 65"/>
          <p:cNvSpPr/>
          <p:nvPr/>
        </p:nvSpPr>
        <p:spPr>
          <a:xfrm>
            <a:off x="822960" y="4892040"/>
            <a:ext cx="4572000" cy="256032"/>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一次資料のご確認先</a:t>
            </a:r>
            <a:endParaRPr lang="en-US" sz="1150" dirty="0"/>
          </a:p>
        </p:txBody>
      </p:sp>
      <p:sp>
        <p:nvSpPr>
          <p:cNvPr id="68" name="Text 66"/>
          <p:cNvSpPr/>
          <p:nvPr/>
        </p:nvSpPr>
        <p:spPr>
          <a:xfrm>
            <a:off x="822960" y="5175504"/>
            <a:ext cx="10545775" cy="640080"/>
          </a:xfrm>
          <a:prstGeom prst="rect">
            <a:avLst/>
          </a:prstGeom>
          <a:noFill/>
          <a:ln/>
        </p:spPr>
        <p:txBody>
          <a:bodyPr wrap="square" lIns="0" tIns="0" rIns="0" bIns="0" rtlCol="0" anchor="ctr"/>
          <a:lstStyle/>
          <a:p>
            <a:pPr indent="0" marL="0">
              <a:lnSpc>
                <a:spcPts val="2000"/>
              </a:lnSpc>
              <a:buNone/>
            </a:pPr>
            <a:r>
              <a:rPr lang="en-US" sz="1150" dirty="0">
                <a:solidFill>
                  <a:srgbClr val="1A1A2E"/>
                </a:solidFill>
                <a:latin typeface="Meiryo" pitchFamily="34" charset="0"/>
                <a:ea typeface="Meiryo" pitchFamily="34" charset="-122"/>
                <a:cs typeface="Meiryo" pitchFamily="34" charset="-120"/>
              </a:rPr>
              <a:t>監査報告書・認証書は Notion Trust Center（trust.notion.com）にて公開されています。</a:t>
            </a:r>
            <a:endParaRPr lang="en-US" sz="1150" dirty="0"/>
          </a:p>
          <a:p>
            <a:pPr indent="0" marL="0">
              <a:lnSpc>
                <a:spcPts val="2000"/>
              </a:lnSpc>
              <a:buNone/>
            </a:pPr>
            <a:r>
              <a:rPr lang="en-US" sz="1150" dirty="0">
                <a:solidFill>
                  <a:srgbClr val="1A1A2E"/>
                </a:solidFill>
                <a:latin typeface="Meiryo" pitchFamily="34" charset="0"/>
                <a:ea typeface="Meiryo" pitchFamily="34" charset="-122"/>
                <a:cs typeface="Meiryo" pitchFamily="34" charset="-120"/>
              </a:rPr>
              <a:t>直接ご確認いただけます。必要であれば、当社より取得のうえご提出します。</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第6章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1E2761"/>
          </a:solidFill>
          <a:ln w="12700">
            <a:solidFill>
              <a:srgbClr val="1E2761"/>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セキュリティ — プラン別の機能対応</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統制機能に加え、実務で効く機能もプランによって差があります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14</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94415" cy="914400"/>
        </p:xfrm>
        <a:graphic>
          <a:graphicData uri="http://schemas.openxmlformats.org/drawingml/2006/table">
            <a:tbl>
              <a:tblPr/>
              <a:tblGrid>
                <a:gridCol w="5056632"/>
                <a:gridCol w="2011680"/>
                <a:gridCol w="2011680"/>
                <a:gridCol w="2011680"/>
              </a:tblGrid>
              <a:tr h="301752">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機能</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Plus</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Business</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7A5A"/>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Enterprise</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r>
              <a:tr h="301752">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SAML SSO（シングルサインオン）</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B3261E"/>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1E7A5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1E7A5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01752">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監査ログ（Audit Log）</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B3261E"/>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B3261E"/>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1E7A5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01752">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SCIM（自動IDプロビジョニング）</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B3261E"/>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B3261E"/>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1E7A5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01752">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外部共有・公開の組織一括禁止</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B3261E"/>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B3261E"/>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1E7A5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01752">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プライベートチームスペース</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B3261E"/>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1E7A5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1E7A5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01752">
                <a:tc>
                  <a:txBody>
                    <a:bodyPr/>
                    <a:lstStyle/>
                    <a:p>
                      <a:pPr algn="l" indent="0" marL="0">
                        <a:buNone/>
                      </a:pPr>
                      <a:r>
                        <a:rPr lang="en-US" sz="1000" b="1" dirty="0">
                          <a:solidFill>
                            <a:srgbClr val="1E2761"/>
                          </a:solidFill>
                          <a:latin typeface="Meiryo" pitchFamily="34" charset="0"/>
                          <a:ea typeface="Meiryo" pitchFamily="34" charset="-122"/>
                          <a:cs typeface="Meiryo" pitchFamily="34" charset="-120"/>
                        </a:rPr>
                        <a:t>Notion AI（追加費用なしで利用）</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B3261E"/>
                          </a:solidFill>
                          <a:latin typeface="Meiryo" pitchFamily="34" charset="0"/>
                          <a:ea typeface="Meiryo" pitchFamily="34" charset="-122"/>
                          <a:cs typeface="Meiryo" pitchFamily="34" charset="-120"/>
                        </a:rPr>
                        <a:t>×  試用のみ</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b="1" dirty="0">
                          <a:solidFill>
                            <a:srgbClr val="1E7A5A"/>
                          </a:solidFill>
                          <a:latin typeface="Meiryo" pitchFamily="34" charset="0"/>
                          <a:ea typeface="Meiryo" pitchFamily="34" charset="-122"/>
                          <a:cs typeface="Meiryo" pitchFamily="34" charset="-120"/>
                        </a:rPr>
                        <a:t>○  全員が利用可</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E7A5A"/>
                          </a:solidFill>
                          <a:latin typeface="Meiryo" pitchFamily="34" charset="0"/>
                          <a:ea typeface="Meiryo" pitchFamily="34" charset="-122"/>
                          <a:cs typeface="Meiryo" pitchFamily="34" charset="-120"/>
                        </a:rPr>
                        <a:t>○</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01752">
                <a:tc>
                  <a:txBody>
                    <a:bodyPr/>
                    <a:lstStyle/>
                    <a:p>
                      <a:pPr algn="l" indent="0" marL="0">
                        <a:buNone/>
                      </a:pPr>
                      <a:r>
                        <a:rPr lang="en-US" sz="1000" b="1" dirty="0">
                          <a:solidFill>
                            <a:srgbClr val="1E2761"/>
                          </a:solidFill>
                          <a:latin typeface="Meiryo" pitchFamily="34" charset="0"/>
                          <a:ea typeface="Meiryo" pitchFamily="34" charset="-122"/>
                          <a:cs typeface="Meiryo" pitchFamily="34" charset="-120"/>
                        </a:rPr>
                        <a:t>ゲスト上限（外部講師・委託先）</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100名</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b="1" dirty="0">
                          <a:solidFill>
                            <a:srgbClr val="1E7A5A"/>
                          </a:solidFill>
                          <a:latin typeface="Meiryo" pitchFamily="34" charset="0"/>
                          <a:ea typeface="Meiryo" pitchFamily="34" charset="-122"/>
                          <a:cs typeface="Meiryo" pitchFamily="34" charset="-120"/>
                        </a:rPr>
                        <a:t>250名</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拡張可</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01752">
                <a:tc>
                  <a:txBody>
                    <a:bodyPr/>
                    <a:lstStyle/>
                    <a:p>
                      <a:pPr algn="l" indent="0" marL="0">
                        <a:buNone/>
                      </a:pPr>
                      <a:r>
                        <a:rPr lang="en-US" sz="1000" b="1" dirty="0">
                          <a:solidFill>
                            <a:srgbClr val="1E2761"/>
                          </a:solidFill>
                          <a:latin typeface="Meiryo" pitchFamily="34" charset="0"/>
                          <a:ea typeface="Meiryo" pitchFamily="34" charset="-122"/>
                          <a:cs typeface="Meiryo" pitchFamily="34" charset="-120"/>
                        </a:rPr>
                        <a:t>高度なページ分析（誰が編集したか）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B3261E"/>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1E7A5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1E7A5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01752">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データ履歴保持（バージョン復元）</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30日</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b="1" dirty="0">
                          <a:solidFill>
                            <a:srgbClr val="1A1A2E"/>
                          </a:solidFill>
                          <a:latin typeface="Meiryo" pitchFamily="34" charset="0"/>
                          <a:ea typeface="Meiryo" pitchFamily="34" charset="-122"/>
                          <a:cs typeface="Meiryo" pitchFamily="34" charset="-120"/>
                        </a:rPr>
                        <a:t>90日</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無制限</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bl>
          </a:graphicData>
        </a:graphic>
      </p:graphicFrame>
      <p:sp>
        <p:nvSpPr>
          <p:cNvPr id="27" name="Shape 24"/>
          <p:cNvSpPr/>
          <p:nvPr/>
        </p:nvSpPr>
        <p:spPr>
          <a:xfrm>
            <a:off x="548640" y="5486400"/>
            <a:ext cx="5437480" cy="731520"/>
          </a:xfrm>
          <a:prstGeom prst="roundRect">
            <a:avLst>
              <a:gd name="adj" fmla="val 7500"/>
            </a:avLst>
          </a:prstGeom>
          <a:solidFill>
            <a:srgbClr val="E9F5F0"/>
          </a:solidFill>
          <a:ln w="12700">
            <a:solidFill>
              <a:srgbClr val="1E7A5A"/>
            </a:solidFill>
            <a:prstDash val="solid"/>
          </a:ln>
          <a:effectLst>
            <a:outerShdw sx="100000" sy="100000" kx="0" ky="0" algn="bl" rotWithShape="0" blurRad="101600" dist="12700" dir="5400000">
              <a:srgbClr val="1E2761">
                <a:alpha val="10000"/>
              </a:srgbClr>
            </a:outerShdw>
          </a:effectLst>
        </p:spPr>
      </p:sp>
      <p:sp>
        <p:nvSpPr>
          <p:cNvPr id="28" name="Text 25"/>
          <p:cNvSpPr/>
          <p:nvPr/>
        </p:nvSpPr>
        <p:spPr>
          <a:xfrm>
            <a:off x="777240" y="5559552"/>
            <a:ext cx="4980280" cy="237744"/>
          </a:xfrm>
          <a:prstGeom prst="rect">
            <a:avLst/>
          </a:prstGeom>
          <a:noFill/>
          <a:ln/>
        </p:spPr>
        <p:txBody>
          <a:bodyPr wrap="square" lIns="0" tIns="0" rIns="0" bIns="0" rtlCol="0" anchor="ctr"/>
          <a:lstStyle/>
          <a:p>
            <a:pPr indent="0" marL="0">
              <a:buNone/>
            </a:pPr>
            <a:r>
              <a:rPr lang="en-US" sz="1000" dirty="0">
                <a:solidFill>
                  <a:srgbClr val="1A1A2E"/>
                </a:solidFill>
                <a:latin typeface="Meiryo" pitchFamily="34" charset="0"/>
                <a:ea typeface="Meiryo" pitchFamily="34" charset="-122"/>
                <a:cs typeface="Meiryo" pitchFamily="34" charset="-120"/>
              </a:rPr>
              <a:t>SSO が必須要件の場合</a:t>
            </a:r>
            <a:endParaRPr lang="en-US" sz="1000" dirty="0"/>
          </a:p>
        </p:txBody>
      </p:sp>
      <p:sp>
        <p:nvSpPr>
          <p:cNvPr id="29" name="Text 26"/>
          <p:cNvSpPr/>
          <p:nvPr/>
        </p:nvSpPr>
        <p:spPr>
          <a:xfrm>
            <a:off x="777240" y="5779008"/>
            <a:ext cx="4980280" cy="347472"/>
          </a:xfrm>
          <a:prstGeom prst="rect">
            <a:avLst/>
          </a:prstGeom>
          <a:noFill/>
          <a:ln/>
        </p:spPr>
        <p:txBody>
          <a:bodyPr wrap="square" lIns="0" tIns="0" rIns="0" bIns="0" rtlCol="0" anchor="ctr"/>
          <a:lstStyle/>
          <a:p>
            <a:pPr indent="0" marL="0">
              <a:buNone/>
            </a:pPr>
            <a:r>
              <a:rPr lang="en-US" sz="1500" b="1" dirty="0">
                <a:solidFill>
                  <a:srgbClr val="1E7A5A"/>
                </a:solidFill>
                <a:latin typeface="Meiryo" pitchFamily="34" charset="0"/>
                <a:ea typeface="Meiryo" pitchFamily="34" charset="-122"/>
                <a:cs typeface="Meiryo" pitchFamily="34" charset="-120"/>
              </a:rPr>
              <a:t>Business プラン以上</a:t>
            </a:r>
            <a:endParaRPr lang="en-US" sz="1500" dirty="0"/>
          </a:p>
        </p:txBody>
      </p:sp>
      <p:sp>
        <p:nvSpPr>
          <p:cNvPr id="30" name="Shape 27"/>
          <p:cNvSpPr/>
          <p:nvPr/>
        </p:nvSpPr>
        <p:spPr>
          <a:xfrm>
            <a:off x="6205576" y="5486400"/>
            <a:ext cx="5437480" cy="731520"/>
          </a:xfrm>
          <a:prstGeom prst="roundRect">
            <a:avLst>
              <a:gd name="adj" fmla="val 7500"/>
            </a:avLst>
          </a:prstGeom>
          <a:solidFill>
            <a:srgbClr val="FDF6E7"/>
          </a:solidFill>
          <a:ln w="12700">
            <a:solidFill>
              <a:srgbClr val="9A6700"/>
            </a:solidFill>
            <a:prstDash val="solid"/>
          </a:ln>
          <a:effectLst>
            <a:outerShdw sx="100000" sy="100000" kx="0" ky="0" algn="bl" rotWithShape="0" blurRad="101600" dist="12700" dir="5400000">
              <a:srgbClr val="1E2761">
                <a:alpha val="10000"/>
              </a:srgbClr>
            </a:outerShdw>
          </a:effectLst>
        </p:spPr>
      </p:sp>
      <p:sp>
        <p:nvSpPr>
          <p:cNvPr id="31" name="Text 28"/>
          <p:cNvSpPr/>
          <p:nvPr/>
        </p:nvSpPr>
        <p:spPr>
          <a:xfrm>
            <a:off x="6434176" y="5559552"/>
            <a:ext cx="4980280" cy="237744"/>
          </a:xfrm>
          <a:prstGeom prst="rect">
            <a:avLst/>
          </a:prstGeom>
          <a:noFill/>
          <a:ln/>
        </p:spPr>
        <p:txBody>
          <a:bodyPr wrap="square" lIns="0" tIns="0" rIns="0" bIns="0" rtlCol="0" anchor="ctr"/>
          <a:lstStyle/>
          <a:p>
            <a:pPr indent="0" marL="0">
              <a:buNone/>
            </a:pPr>
            <a:r>
              <a:rPr lang="en-US" sz="1000" dirty="0">
                <a:solidFill>
                  <a:srgbClr val="1A1A2E"/>
                </a:solidFill>
                <a:latin typeface="Meiryo" pitchFamily="34" charset="0"/>
                <a:ea typeface="Meiryo" pitchFamily="34" charset="-122"/>
                <a:cs typeface="Meiryo" pitchFamily="34" charset="-120"/>
              </a:rPr>
              <a:t>監査ログ・SCIM も必須の場合</a:t>
            </a:r>
            <a:endParaRPr lang="en-US" sz="1000" dirty="0"/>
          </a:p>
        </p:txBody>
      </p:sp>
      <p:sp>
        <p:nvSpPr>
          <p:cNvPr id="32" name="Text 29"/>
          <p:cNvSpPr/>
          <p:nvPr/>
        </p:nvSpPr>
        <p:spPr>
          <a:xfrm>
            <a:off x="6434176" y="5779008"/>
            <a:ext cx="4980280" cy="347472"/>
          </a:xfrm>
          <a:prstGeom prst="rect">
            <a:avLst/>
          </a:prstGeom>
          <a:noFill/>
          <a:ln/>
        </p:spPr>
        <p:txBody>
          <a:bodyPr wrap="square" lIns="0" tIns="0" rIns="0" bIns="0" rtlCol="0" anchor="ctr"/>
          <a:lstStyle/>
          <a:p>
            <a:pPr indent="0" marL="0">
              <a:buNone/>
            </a:pPr>
            <a:r>
              <a:rPr lang="en-US" sz="1500" b="1" dirty="0">
                <a:solidFill>
                  <a:srgbClr val="9A6700"/>
                </a:solidFill>
                <a:latin typeface="Meiryo" pitchFamily="34" charset="0"/>
                <a:ea typeface="Meiryo" pitchFamily="34" charset="-122"/>
                <a:cs typeface="Meiryo" pitchFamily="34" charset="-120"/>
              </a:rPr>
              <a:t>Enterprise プラン一択</a:t>
            </a:r>
            <a:endParaRPr lang="en-US" sz="1500" dirty="0"/>
          </a:p>
        </p:txBody>
      </p:sp>
      <p:sp>
        <p:nvSpPr>
          <p:cNvPr id="33" name="Text 30"/>
          <p:cNvSpPr/>
          <p:nvPr/>
        </p:nvSpPr>
        <p:spPr>
          <a:xfrm>
            <a:off x="548640" y="6309360"/>
            <a:ext cx="11094415" cy="237744"/>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 Notion AI のバンドル有無とゲスト上限は、契約時に正規代理店へ確認のうえ確定します。</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第6章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1E2761"/>
          </a:solidFill>
          <a:ln w="12700">
            <a:solidFill>
              <a:srgbClr val="1E2761"/>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セキュリティ — SAML SSO とは何が違うのか</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Plus の「Microsoftでサインイン」は個人の利便性であり、会社の統制ではありません</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15</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94415" cy="914400"/>
        </p:xfrm>
        <a:graphic>
          <a:graphicData uri="http://schemas.openxmlformats.org/drawingml/2006/table">
            <a:tbl>
              <a:tblPr/>
              <a:tblGrid>
                <a:gridCol w="2651760"/>
                <a:gridCol w="4224528"/>
                <a:gridCol w="4215384"/>
              </a:tblGrid>
              <a:tr h="292608">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論点</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① 通常ログイン / OAuth（Plus）</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② SAML SSO（Business以上）</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7A5A"/>
                    </a:solidFill>
                  </a:tcPr>
                </a:tc>
              </a:tr>
              <a:tr h="329184">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ログイン方法</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各自がID/PWを入力、またはMicrosoftボタンを押す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社内 Microsoft 365（Entra ID）の認証画面へ自動転送</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84048">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SSOの強制</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9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社員がNotion専用のパスワードを作れてしまう</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9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SSO以外のログインを遮断できる</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20624">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Microsoft 365 のポリシー適用</a:t>
                      </a:r>
                      <a:endParaRPr lang="en-US" sz="1000" dirty="0">
                        <a:latin typeface="Meiryo" charset="0"/>
                        <a:ea typeface="Meiryo" charset="0"/>
                        <a:cs typeface="Meiryo" charset="0"/>
                      </a:endParaRPr>
                    </a:p>
                    <a:p>
                      <a:pPr algn="l" indent="0" marL="0">
                        <a:buNone/>
                      </a:pPr>
                      <a:r>
                        <a:rPr lang="en-US" sz="1000" b="1" dirty="0">
                          <a:solidFill>
                            <a:srgbClr val="1A1A2E"/>
                          </a:solidFill>
                          <a:latin typeface="Meiryo" pitchFamily="34" charset="0"/>
                          <a:ea typeface="Meiryo" pitchFamily="34" charset="-122"/>
                          <a:cs typeface="Meiryo" pitchFamily="34" charset="-120"/>
                        </a:rPr>
                        <a:t>（MFA・端末制限・IP制限）</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9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パスワードで抜け穴ができ、適用が不完全</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9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条件付きアクセスが100%適用される</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84048">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退職時のアクセス遮断</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9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Notion側の手動削除を忘れると入れ続ける</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9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Microsoft 365 の停止と同時に即時遮断</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84048">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管理部による一元管理</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9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社員個人のアカウント管理に依存</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9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Microsoft 365 の管理画面から一元統制</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bl>
          </a:graphicData>
        </a:graphic>
      </p:graphicFrame>
      <p:sp>
        <p:nvSpPr>
          <p:cNvPr id="27" name="Shape 24"/>
          <p:cNvSpPr/>
          <p:nvPr/>
        </p:nvSpPr>
        <p:spPr>
          <a:xfrm>
            <a:off x="548640" y="4892040"/>
            <a:ext cx="5437480" cy="1417320"/>
          </a:xfrm>
          <a:prstGeom prst="roundRect">
            <a:avLst>
              <a:gd name="adj" fmla="val 3871"/>
            </a:avLst>
          </a:prstGeom>
          <a:solidFill>
            <a:srgbClr val="FBEDEC"/>
          </a:solidFill>
          <a:ln w="12700">
            <a:solidFill>
              <a:srgbClr val="B3261E"/>
            </a:solidFill>
            <a:prstDash val="solid"/>
          </a:ln>
          <a:effectLst>
            <a:outerShdw sx="100000" sy="100000" kx="0" ky="0" algn="bl" rotWithShape="0" blurRad="101600" dist="12700" dir="5400000">
              <a:srgbClr val="1E2761">
                <a:alpha val="10000"/>
              </a:srgbClr>
            </a:outerShdw>
          </a:effectLst>
        </p:spPr>
      </p:sp>
      <p:sp>
        <p:nvSpPr>
          <p:cNvPr id="28" name="Text 25"/>
          <p:cNvSpPr/>
          <p:nvPr/>
        </p:nvSpPr>
        <p:spPr>
          <a:xfrm>
            <a:off x="749808" y="5001768"/>
            <a:ext cx="5035144" cy="256032"/>
          </a:xfrm>
          <a:prstGeom prst="rect">
            <a:avLst/>
          </a:prstGeom>
          <a:noFill/>
          <a:ln/>
        </p:spPr>
        <p:txBody>
          <a:bodyPr wrap="square" lIns="0" tIns="0" rIns="0" bIns="0" rtlCol="0" anchor="ctr"/>
          <a:lstStyle/>
          <a:p>
            <a:pPr indent="0" marL="0">
              <a:buNone/>
            </a:pPr>
            <a:r>
              <a:rPr lang="en-US" sz="1150" b="1" dirty="0">
                <a:solidFill>
                  <a:srgbClr val="B3261E"/>
                </a:solidFill>
                <a:latin typeface="Meiryo" pitchFamily="34" charset="0"/>
                <a:ea typeface="Meiryo" pitchFamily="34" charset="-122"/>
                <a:cs typeface="Meiryo" pitchFamily="34" charset="-120"/>
              </a:rPr>
              <a:t>SSO なし（Plus プラン）</a:t>
            </a:r>
            <a:endParaRPr lang="en-US" sz="1150" dirty="0"/>
          </a:p>
        </p:txBody>
      </p:sp>
      <p:sp>
        <p:nvSpPr>
          <p:cNvPr id="29" name="Text 26"/>
          <p:cNvSpPr/>
          <p:nvPr/>
        </p:nvSpPr>
        <p:spPr>
          <a:xfrm>
            <a:off x="749808" y="5276088"/>
            <a:ext cx="5035144" cy="594360"/>
          </a:xfrm>
          <a:prstGeom prst="rect">
            <a:avLst/>
          </a:prstGeom>
          <a:noFill/>
          <a:ln/>
        </p:spPr>
        <p:txBody>
          <a:bodyPr wrap="square" lIns="0" tIns="0" rIns="0" bIns="0" rtlCol="0" anchor="ctr"/>
          <a:lstStyle/>
          <a:p>
            <a:pPr indent="0" marL="0">
              <a:lnSpc>
                <a:spcPts val="1600"/>
              </a:lnSpc>
              <a:buNone/>
            </a:pPr>
            <a:r>
              <a:rPr lang="en-US" sz="950" dirty="0">
                <a:solidFill>
                  <a:srgbClr val="1A1A2E"/>
                </a:solidFill>
                <a:latin typeface="Meiryo" pitchFamily="34" charset="0"/>
                <a:ea typeface="Meiryo" pitchFamily="34" charset="-122"/>
                <a:cs typeface="Meiryo" pitchFamily="34" charset="-120"/>
              </a:rPr>
              <a:t>退職  →  管理部が Microsoft 365 を停止  →  Notion側の削除を失念</a:t>
            </a:r>
            <a:endParaRPr lang="en-US" sz="950" dirty="0"/>
          </a:p>
          <a:p>
            <a:pPr indent="0" marL="0">
              <a:lnSpc>
                <a:spcPts val="1600"/>
              </a:lnSpc>
              <a:buNone/>
            </a:pPr>
            <a:r>
              <a:rPr lang="en-US" sz="950" dirty="0">
                <a:solidFill>
                  <a:srgbClr val="1A1A2E"/>
                </a:solidFill>
                <a:latin typeface="Meiryo" pitchFamily="34" charset="0"/>
                <a:ea typeface="Meiryo" pitchFamily="34" charset="-122"/>
                <a:cs typeface="Meiryo" pitchFamily="34" charset="-120"/>
              </a:rPr>
              <a:t>→  元社員が自宅PCから社内Notionを閲覧・コピーできてしまう</a:t>
            </a:r>
            <a:endParaRPr lang="en-US" sz="950" dirty="0"/>
          </a:p>
        </p:txBody>
      </p:sp>
      <p:sp>
        <p:nvSpPr>
          <p:cNvPr id="30" name="Text 27"/>
          <p:cNvSpPr/>
          <p:nvPr/>
        </p:nvSpPr>
        <p:spPr>
          <a:xfrm>
            <a:off x="749808" y="5907024"/>
            <a:ext cx="5035144" cy="292608"/>
          </a:xfrm>
          <a:prstGeom prst="rect">
            <a:avLst/>
          </a:prstGeom>
          <a:noFill/>
          <a:ln/>
        </p:spPr>
        <p:txBody>
          <a:bodyPr wrap="square" lIns="0" tIns="0" rIns="0" bIns="0" rtlCol="0" anchor="ctr"/>
          <a:lstStyle/>
          <a:p>
            <a:pPr indent="0" marL="0">
              <a:buNone/>
            </a:pPr>
            <a:r>
              <a:rPr lang="en-US" sz="1200" b="1" dirty="0">
                <a:solidFill>
                  <a:srgbClr val="B3261E"/>
                </a:solidFill>
                <a:latin typeface="Meiryo" pitchFamily="34" charset="0"/>
                <a:ea typeface="Meiryo" pitchFamily="34" charset="-122"/>
                <a:cs typeface="Meiryo" pitchFamily="34" charset="-120"/>
              </a:rPr>
              <a:t>機密情報・ノウハウの流出</a:t>
            </a:r>
            <a:endParaRPr lang="en-US" sz="1200" dirty="0"/>
          </a:p>
        </p:txBody>
      </p:sp>
      <p:sp>
        <p:nvSpPr>
          <p:cNvPr id="31" name="Shape 28"/>
          <p:cNvSpPr/>
          <p:nvPr/>
        </p:nvSpPr>
        <p:spPr>
          <a:xfrm>
            <a:off x="6205576" y="4892040"/>
            <a:ext cx="5437480" cy="1417320"/>
          </a:xfrm>
          <a:prstGeom prst="roundRect">
            <a:avLst>
              <a:gd name="adj" fmla="val 3871"/>
            </a:avLst>
          </a:prstGeom>
          <a:solidFill>
            <a:srgbClr val="E9F5F0"/>
          </a:solidFill>
          <a:ln w="12700">
            <a:solidFill>
              <a:srgbClr val="1E7A5A"/>
            </a:solidFill>
            <a:prstDash val="solid"/>
          </a:ln>
          <a:effectLst>
            <a:outerShdw sx="100000" sy="100000" kx="0" ky="0" algn="bl" rotWithShape="0" blurRad="101600" dist="12700" dir="5400000">
              <a:srgbClr val="1E2761">
                <a:alpha val="10000"/>
              </a:srgbClr>
            </a:outerShdw>
          </a:effectLst>
        </p:spPr>
      </p:sp>
      <p:sp>
        <p:nvSpPr>
          <p:cNvPr id="32" name="Text 29"/>
          <p:cNvSpPr/>
          <p:nvPr/>
        </p:nvSpPr>
        <p:spPr>
          <a:xfrm>
            <a:off x="6406744" y="5001768"/>
            <a:ext cx="5035144" cy="256032"/>
          </a:xfrm>
          <a:prstGeom prst="rect">
            <a:avLst/>
          </a:prstGeom>
          <a:noFill/>
          <a:ln/>
        </p:spPr>
        <p:txBody>
          <a:bodyPr wrap="square" lIns="0" tIns="0" rIns="0" bIns="0" rtlCol="0" anchor="ctr"/>
          <a:lstStyle/>
          <a:p>
            <a:pPr indent="0" marL="0">
              <a:buNone/>
            </a:pPr>
            <a:r>
              <a:rPr lang="en-US" sz="1150" b="1" dirty="0">
                <a:solidFill>
                  <a:srgbClr val="1E7A5A"/>
                </a:solidFill>
                <a:latin typeface="Meiryo" pitchFamily="34" charset="0"/>
                <a:ea typeface="Meiryo" pitchFamily="34" charset="-122"/>
                <a:cs typeface="Meiryo" pitchFamily="34" charset="-120"/>
              </a:rPr>
              <a:t>SSO あり（Business プラン以上）</a:t>
            </a:r>
            <a:endParaRPr lang="en-US" sz="1150" dirty="0"/>
          </a:p>
        </p:txBody>
      </p:sp>
      <p:sp>
        <p:nvSpPr>
          <p:cNvPr id="33" name="Text 30"/>
          <p:cNvSpPr/>
          <p:nvPr/>
        </p:nvSpPr>
        <p:spPr>
          <a:xfrm>
            <a:off x="6406744" y="5276088"/>
            <a:ext cx="5035144" cy="594360"/>
          </a:xfrm>
          <a:prstGeom prst="rect">
            <a:avLst/>
          </a:prstGeom>
          <a:noFill/>
          <a:ln/>
        </p:spPr>
        <p:txBody>
          <a:bodyPr wrap="square" lIns="0" tIns="0" rIns="0" bIns="0" rtlCol="0" anchor="ctr"/>
          <a:lstStyle/>
          <a:p>
            <a:pPr indent="0" marL="0">
              <a:lnSpc>
                <a:spcPts val="1600"/>
              </a:lnSpc>
              <a:buNone/>
            </a:pPr>
            <a:r>
              <a:rPr lang="en-US" sz="950" dirty="0">
                <a:solidFill>
                  <a:srgbClr val="1A1A2E"/>
                </a:solidFill>
                <a:latin typeface="Meiryo" pitchFamily="34" charset="0"/>
                <a:ea typeface="Meiryo" pitchFamily="34" charset="-122"/>
                <a:cs typeface="Meiryo" pitchFamily="34" charset="-120"/>
              </a:rPr>
              <a:t>退職  →  管理部が Microsoft 365 を停止  →  Notionの鍵も同時に自動ロック</a:t>
            </a:r>
            <a:endParaRPr lang="en-US" sz="950" dirty="0"/>
          </a:p>
          <a:p>
            <a:pPr indent="0" marL="0">
              <a:lnSpc>
                <a:spcPts val="1600"/>
              </a:lnSpc>
              <a:buNone/>
            </a:pPr>
            <a:r>
              <a:rPr lang="en-US" sz="950" dirty="0">
                <a:solidFill>
                  <a:srgbClr val="1A1A2E"/>
                </a:solidFill>
                <a:latin typeface="Meiryo" pitchFamily="34" charset="0"/>
                <a:ea typeface="Meiryo" pitchFamily="34" charset="-122"/>
                <a:cs typeface="Meiryo" pitchFamily="34" charset="-120"/>
              </a:rPr>
              <a:t>→  即座にアクセス不能</a:t>
            </a:r>
            <a:endParaRPr lang="en-US" sz="950" dirty="0"/>
          </a:p>
        </p:txBody>
      </p:sp>
      <p:sp>
        <p:nvSpPr>
          <p:cNvPr id="34" name="Text 31"/>
          <p:cNvSpPr/>
          <p:nvPr/>
        </p:nvSpPr>
        <p:spPr>
          <a:xfrm>
            <a:off x="6406744" y="5907024"/>
            <a:ext cx="5035144" cy="292608"/>
          </a:xfrm>
          <a:prstGeom prst="rect">
            <a:avLst/>
          </a:prstGeom>
          <a:noFill/>
          <a:ln/>
        </p:spPr>
        <p:txBody>
          <a:bodyPr wrap="square" lIns="0" tIns="0" rIns="0" bIns="0" rtlCol="0" anchor="ctr"/>
          <a:lstStyle/>
          <a:p>
            <a:pPr indent="0" marL="0">
              <a:buNone/>
            </a:pPr>
            <a:r>
              <a:rPr lang="en-US" sz="1200" b="1" dirty="0">
                <a:solidFill>
                  <a:srgbClr val="1E7A5A"/>
                </a:solidFill>
                <a:latin typeface="Meiryo" pitchFamily="34" charset="0"/>
                <a:ea typeface="Meiryo" pitchFamily="34" charset="-122"/>
                <a:cs typeface="Meiryo" pitchFamily="34" charset="-120"/>
              </a:rPr>
              <a:t>人為的な削除ミスによる流出を防止</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第6章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1E2761"/>
          </a:solidFill>
          <a:ln w="12700">
            <a:solidFill>
              <a:srgbClr val="1E2761"/>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セキュリティ — 当社 Microsoft 365 環境での挙動</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当社はすでに Microsoft 365（Entra ID）をID基盤として運用しています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16</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94415" cy="914400"/>
        </p:xfrm>
        <a:graphic>
          <a:graphicData uri="http://schemas.openxmlformats.org/drawingml/2006/table">
            <a:tbl>
              <a:tblPr/>
              <a:tblGrid>
                <a:gridCol w="1600200"/>
                <a:gridCol w="5669280"/>
                <a:gridCol w="3822192"/>
              </a:tblGrid>
              <a:tr h="310896">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プラン</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Microsoft 365（Entra ID）との連携</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セキュリティ要件の充足状況</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r>
              <a:tr h="658368">
                <a:tc>
                  <a:txBody>
                    <a:bodyPr/>
                    <a:lstStyle/>
                    <a:p>
                      <a:pPr algn="l" indent="0" marL="0">
                        <a:buNone/>
                      </a:pPr>
                      <a:r>
                        <a:rPr lang="en-US" sz="1200" b="1" dirty="0">
                          <a:solidFill>
                            <a:srgbClr val="1A1A2E"/>
                          </a:solidFill>
                          <a:latin typeface="Meiryo" pitchFamily="34" charset="0"/>
                          <a:ea typeface="Meiryo" pitchFamily="34" charset="-122"/>
                          <a:cs typeface="Meiryo" pitchFamily="34" charset="-120"/>
                        </a:rPr>
                        <a:t>Plus</a:t>
                      </a:r>
                      <a:endParaRPr lang="en-US" sz="12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SAML SSO 連携は不可。各自が Microsoft 365 のメールアドレスで個別登録する形となり、退職者の手動削除漏れリスクが残る。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9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SSOによる統制ができない</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658368">
                <a:tc>
                  <a:txBody>
                    <a:bodyPr/>
                    <a:lstStyle/>
                    <a:p>
                      <a:pPr algn="l" indent="0" marL="0">
                        <a:buNone/>
                      </a:pPr>
                      <a:r>
                        <a:rPr lang="en-US" sz="1200" b="1" dirty="0">
                          <a:solidFill>
                            <a:srgbClr val="FFFFFF"/>
                          </a:solidFill>
                          <a:latin typeface="Meiryo" pitchFamily="34" charset="0"/>
                          <a:ea typeface="Meiryo" pitchFamily="34" charset="-122"/>
                          <a:cs typeface="Meiryo" pitchFamily="34" charset="-120"/>
                        </a:rPr>
                        <a:t>Business</a:t>
                      </a:r>
                      <a:endParaRPr lang="en-US" sz="12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7A5A"/>
                    </a:solidFill>
                  </a:tcPr>
                </a:tc>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SAML SSO 連携が可能（プロビジョニングは手動）。認証を Entra ID に統合でき、Microsoft 365 を止めればアクセスを遮断できる。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9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SSOによる統制が可能。監査ログ・SCIM は対象外</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658368">
                <a:tc>
                  <a:txBody>
                    <a:bodyPr/>
                    <a:lstStyle/>
                    <a:p>
                      <a:pPr algn="l" indent="0" marL="0">
                        <a:buNone/>
                      </a:pPr>
                      <a:r>
                        <a:rPr lang="en-US" sz="1200" b="1" dirty="0">
                          <a:solidFill>
                            <a:srgbClr val="1A1A2E"/>
                          </a:solidFill>
                          <a:latin typeface="Meiryo" pitchFamily="34" charset="0"/>
                          <a:ea typeface="Meiryo" pitchFamily="34" charset="-122"/>
                          <a:cs typeface="Meiryo" pitchFamily="34" charset="-120"/>
                        </a:rPr>
                        <a:t>Enterprise</a:t>
                      </a:r>
                      <a:endParaRPr lang="en-US" sz="12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SAML SSO ＋ SCIM（自動同期）連携が可能。Microsoft 365 側で社員を追加・異動・削除すると、Notion側も自動で作成・削除される。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95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統制機能をすべて充足</a:t>
                      </a:r>
                      <a:endParaRPr lang="en-US" sz="9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bl>
          </a:graphicData>
        </a:graphic>
      </p:graphicFrame>
      <p:sp>
        <p:nvSpPr>
          <p:cNvPr id="27" name="Shape 24"/>
          <p:cNvSpPr/>
          <p:nvPr/>
        </p:nvSpPr>
        <p:spPr>
          <a:xfrm>
            <a:off x="548640" y="5230368"/>
            <a:ext cx="6903720" cy="1170432"/>
          </a:xfrm>
          <a:prstGeom prst="roundRect">
            <a:avLst>
              <a:gd name="adj" fmla="val 4688"/>
            </a:avLst>
          </a:prstGeom>
          <a:solidFill>
            <a:srgbClr val="FDF6E7"/>
          </a:solidFill>
          <a:ln w="12700">
            <a:solidFill>
              <a:srgbClr val="9A6700"/>
            </a:solidFill>
            <a:prstDash val="solid"/>
          </a:ln>
          <a:effectLst>
            <a:outerShdw sx="100000" sy="100000" kx="0" ky="0" algn="bl" rotWithShape="0" blurRad="101600" dist="12700" dir="5400000">
              <a:srgbClr val="1E2761">
                <a:alpha val="10000"/>
              </a:srgbClr>
            </a:outerShdw>
          </a:effectLst>
        </p:spPr>
      </p:sp>
      <p:sp>
        <p:nvSpPr>
          <p:cNvPr id="28" name="Text 25"/>
          <p:cNvSpPr/>
          <p:nvPr/>
        </p:nvSpPr>
        <p:spPr>
          <a:xfrm>
            <a:off x="777240" y="5340096"/>
            <a:ext cx="6446520" cy="237744"/>
          </a:xfrm>
          <a:prstGeom prst="rect">
            <a:avLst/>
          </a:prstGeom>
          <a:noFill/>
          <a:ln/>
        </p:spPr>
        <p:txBody>
          <a:bodyPr wrap="square" lIns="0" tIns="0" rIns="0" bIns="0" rtlCol="0" anchor="ctr"/>
          <a:lstStyle/>
          <a:p>
            <a:pPr indent="0" marL="0">
              <a:buNone/>
            </a:pPr>
            <a:r>
              <a:rPr lang="en-US" sz="1100" b="1" dirty="0">
                <a:solidFill>
                  <a:srgbClr val="9A6700"/>
                </a:solidFill>
                <a:latin typeface="Meiryo" pitchFamily="34" charset="0"/>
                <a:ea typeface="Meiryo" pitchFamily="34" charset="-122"/>
                <a:cs typeface="Meiryo" pitchFamily="34" charset="-120"/>
              </a:rPr>
              <a:t>Business プランでできないこと（あらかじめ申し上げます）</a:t>
            </a:r>
            <a:endParaRPr lang="en-US" sz="1100" dirty="0"/>
          </a:p>
        </p:txBody>
      </p:sp>
      <p:sp>
        <p:nvSpPr>
          <p:cNvPr id="29" name="Text 26"/>
          <p:cNvSpPr/>
          <p:nvPr/>
        </p:nvSpPr>
        <p:spPr>
          <a:xfrm>
            <a:off x="777240" y="5596128"/>
            <a:ext cx="6446520" cy="694944"/>
          </a:xfrm>
          <a:prstGeom prst="rect">
            <a:avLst/>
          </a:prstGeom>
          <a:noFill/>
          <a:ln/>
        </p:spPr>
        <p:txBody>
          <a:bodyPr wrap="square" lIns="0" tIns="0" rIns="0" bIns="0" rtlCol="0" anchor="ctr"/>
          <a:lstStyle/>
          <a:p>
            <a:pPr indent="0" marL="0">
              <a:lnSpc>
                <a:spcPts val="1500"/>
              </a:lnSpc>
              <a:buNone/>
            </a:pPr>
            <a:r>
              <a:rPr lang="en-US" sz="950" dirty="0">
                <a:solidFill>
                  <a:srgbClr val="1A1A2E"/>
                </a:solidFill>
                <a:latin typeface="Meiryo" pitchFamily="34" charset="0"/>
                <a:ea typeface="Meiryo" pitchFamily="34" charset="-122"/>
                <a:cs typeface="Meiryo" pitchFamily="34" charset="-120"/>
              </a:rPr>
              <a:t>監査ログと SCIM は Business では利用できません。①②のスコープでは「機微情報を Notion に置かない」運用で担保します。監査ログを必須要件とされる場合は Enterprise への切替となり、年額は約911.4万円（140名）に変動します。</a:t>
            </a:r>
            <a:endParaRPr lang="en-US" sz="950" dirty="0"/>
          </a:p>
        </p:txBody>
      </p:sp>
      <p:sp>
        <p:nvSpPr>
          <p:cNvPr id="30" name="Shape 27"/>
          <p:cNvSpPr/>
          <p:nvPr/>
        </p:nvSpPr>
        <p:spPr>
          <a:xfrm>
            <a:off x="7662672" y="5230368"/>
            <a:ext cx="3977640" cy="1170432"/>
          </a:xfrm>
          <a:prstGeom prst="roundRect">
            <a:avLst>
              <a:gd name="adj" fmla="val 4688"/>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31" name="Text 28"/>
          <p:cNvSpPr/>
          <p:nvPr/>
        </p:nvSpPr>
        <p:spPr>
          <a:xfrm>
            <a:off x="7863840" y="5340096"/>
            <a:ext cx="3566160" cy="237744"/>
          </a:xfrm>
          <a:prstGeom prst="rect">
            <a:avLst/>
          </a:prstGeom>
          <a:noFill/>
          <a:ln/>
        </p:spPr>
        <p:txBody>
          <a:bodyPr wrap="square" lIns="0" tIns="0" rIns="0" bIns="0" rtlCol="0" anchor="ctr"/>
          <a:lstStyle/>
          <a:p>
            <a:pPr indent="0" marL="0">
              <a:buNone/>
            </a:pPr>
            <a:r>
              <a:rPr lang="en-US" sz="1100" b="1" dirty="0">
                <a:solidFill>
                  <a:srgbClr val="1E2761"/>
                </a:solidFill>
                <a:latin typeface="Meiryo" pitchFamily="34" charset="0"/>
                <a:ea typeface="Meiryo" pitchFamily="34" charset="-122"/>
                <a:cs typeface="Meiryo" pitchFamily="34" charset="-120"/>
              </a:rPr>
              <a:t>運用体制</a:t>
            </a:r>
            <a:endParaRPr lang="en-US" sz="1100" dirty="0"/>
          </a:p>
        </p:txBody>
      </p:sp>
      <p:sp>
        <p:nvSpPr>
          <p:cNvPr id="32" name="Text 29"/>
          <p:cNvSpPr/>
          <p:nvPr/>
        </p:nvSpPr>
        <p:spPr>
          <a:xfrm>
            <a:off x="7863840" y="5596128"/>
            <a:ext cx="3566160" cy="694944"/>
          </a:xfrm>
          <a:prstGeom prst="rect">
            <a:avLst/>
          </a:prstGeom>
          <a:noFill/>
          <a:ln/>
        </p:spPr>
        <p:txBody>
          <a:bodyPr wrap="square" lIns="0" tIns="0" rIns="0" bIns="0" rtlCol="0" anchor="ctr"/>
          <a:lstStyle/>
          <a:p>
            <a:pPr indent="0" marL="0">
              <a:lnSpc>
                <a:spcPts val="1500"/>
              </a:lnSpc>
              <a:buNone/>
            </a:pPr>
            <a:r>
              <a:rPr lang="en-US" sz="950" dirty="0">
                <a:solidFill>
                  <a:srgbClr val="1A1A2E"/>
                </a:solidFill>
                <a:latin typeface="Meiryo" pitchFamily="34" charset="0"/>
                <a:ea typeface="Meiryo" pitchFamily="34" charset="-122"/>
                <a:cs typeface="Meiryo" pitchFamily="34" charset="-120"/>
              </a:rPr>
              <a:t>当社の Microsoft 365 は管理部が管理しています。Notion との SAML SSO 連携設定、および退職時のアカウント運用も管理部が担います。</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第6章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1E2761"/>
          </a:solidFill>
          <a:ln w="12700">
            <a:solidFill>
              <a:srgbClr val="1E2761"/>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プラン選定 — Business を選ぶ理由</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Business を選ぶ理由は、セキュリティだけではありません</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17</a:t>
            </a:r>
            <a:endParaRPr lang="en-US" sz="1000" dirty="0"/>
          </a:p>
        </p:txBody>
      </p:sp>
      <p:sp>
        <p:nvSpPr>
          <p:cNvPr id="26" name="Shape 24"/>
          <p:cNvSpPr/>
          <p:nvPr/>
        </p:nvSpPr>
        <p:spPr>
          <a:xfrm>
            <a:off x="548640" y="2231136"/>
            <a:ext cx="3520440" cy="2286000"/>
          </a:xfrm>
          <a:prstGeom prst="roundRect">
            <a:avLst>
              <a:gd name="adj" fmla="val 24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7" name="Shape 25"/>
          <p:cNvSpPr/>
          <p:nvPr/>
        </p:nvSpPr>
        <p:spPr>
          <a:xfrm>
            <a:off x="749808" y="2395728"/>
            <a:ext cx="329184" cy="329184"/>
          </a:xfrm>
          <a:prstGeom prst="roundRect">
            <a:avLst>
              <a:gd name="adj" fmla="val 50000"/>
            </a:avLst>
          </a:prstGeom>
          <a:solidFill>
            <a:srgbClr val="1E7A5A"/>
          </a:solidFill>
          <a:ln w="12700">
            <a:solidFill>
              <a:srgbClr val="1E7A5A"/>
            </a:solidFill>
            <a:prstDash val="solid"/>
          </a:ln>
        </p:spPr>
      </p:sp>
      <p:sp>
        <p:nvSpPr>
          <p:cNvPr id="28" name="Text 26"/>
          <p:cNvSpPr/>
          <p:nvPr/>
        </p:nvSpPr>
        <p:spPr>
          <a:xfrm>
            <a:off x="749808" y="23957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a:t>
            </a:r>
            <a:endParaRPr lang="en-US" sz="1100" dirty="0"/>
          </a:p>
        </p:txBody>
      </p:sp>
      <p:sp>
        <p:nvSpPr>
          <p:cNvPr id="29" name="Text 27"/>
          <p:cNvSpPr/>
          <p:nvPr/>
        </p:nvSpPr>
        <p:spPr>
          <a:xfrm>
            <a:off x="749808" y="2816352"/>
            <a:ext cx="3118104" cy="548640"/>
          </a:xfrm>
          <a:prstGeom prst="rect">
            <a:avLst/>
          </a:prstGeom>
          <a:noFill/>
          <a:ln/>
        </p:spPr>
        <p:txBody>
          <a:bodyPr wrap="square" lIns="0" tIns="0" rIns="0" bIns="0" rtlCol="0" anchor="ctr"/>
          <a:lstStyle/>
          <a:p>
            <a:pPr indent="0" marL="0">
              <a:buNone/>
            </a:pPr>
            <a:r>
              <a:rPr lang="en-US" sz="1250" b="1" dirty="0">
                <a:solidFill>
                  <a:srgbClr val="1E2761"/>
                </a:solidFill>
                <a:latin typeface="Meiryo" pitchFamily="34" charset="0"/>
                <a:ea typeface="Meiryo" pitchFamily="34" charset="-122"/>
                <a:cs typeface="Meiryo" pitchFamily="34" charset="-120"/>
              </a:rPr>
              <a:t>退職時のアクセスを確実に断つ</a:t>
            </a:r>
            <a:endParaRPr lang="en-US" sz="1250" dirty="0"/>
          </a:p>
        </p:txBody>
      </p:sp>
      <p:sp>
        <p:nvSpPr>
          <p:cNvPr id="30" name="Text 28"/>
          <p:cNvSpPr/>
          <p:nvPr/>
        </p:nvSpPr>
        <p:spPr>
          <a:xfrm>
            <a:off x="749808" y="3383280"/>
            <a:ext cx="3118104" cy="658368"/>
          </a:xfrm>
          <a:prstGeom prst="rect">
            <a:avLst/>
          </a:prstGeom>
          <a:noFill/>
          <a:ln/>
        </p:spPr>
        <p:txBody>
          <a:bodyPr wrap="square" lIns="0" tIns="0" rIns="0" bIns="0" rtlCol="0" anchor="ctr"/>
          <a:lstStyle/>
          <a:p>
            <a:pPr indent="0" marL="0">
              <a:lnSpc>
                <a:spcPts val="1500"/>
              </a:lnSpc>
              <a:buNone/>
            </a:pPr>
            <a:r>
              <a:rPr lang="en-US" sz="950" dirty="0">
                <a:solidFill>
                  <a:srgbClr val="1A1A2E"/>
                </a:solidFill>
                <a:latin typeface="Meiryo" pitchFamily="34" charset="0"/>
                <a:ea typeface="Meiryo" pitchFamily="34" charset="-122"/>
                <a:cs typeface="Meiryo" pitchFamily="34" charset="-120"/>
              </a:rPr>
              <a:t>SAML SSO により、Microsoft 365 のアカウントを停止すれば Notion にも同時に入れなくなります。</a:t>
            </a:r>
            <a:endParaRPr lang="en-US" sz="950" dirty="0"/>
          </a:p>
        </p:txBody>
      </p:sp>
      <p:sp>
        <p:nvSpPr>
          <p:cNvPr id="31" name="Shape 29"/>
          <p:cNvSpPr/>
          <p:nvPr/>
        </p:nvSpPr>
        <p:spPr>
          <a:xfrm>
            <a:off x="713232" y="4041648"/>
            <a:ext cx="3191256" cy="384048"/>
          </a:xfrm>
          <a:prstGeom prst="roundRect">
            <a:avLst>
              <a:gd name="adj" fmla="val 14286"/>
            </a:avLst>
          </a:prstGeom>
          <a:solidFill>
            <a:srgbClr val="F7F9FC"/>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2" name="Text 30"/>
          <p:cNvSpPr/>
          <p:nvPr/>
        </p:nvSpPr>
        <p:spPr>
          <a:xfrm>
            <a:off x="822960" y="4041648"/>
            <a:ext cx="2971800" cy="384048"/>
          </a:xfrm>
          <a:prstGeom prst="rect">
            <a:avLst/>
          </a:prstGeom>
          <a:noFill/>
          <a:ln/>
        </p:spPr>
        <p:txBody>
          <a:bodyPr wrap="square" lIns="0" tIns="0" rIns="0" bIns="0" rtlCol="0" anchor="ctr"/>
          <a:lstStyle/>
          <a:p>
            <a:pPr indent="0" marL="0">
              <a:buNone/>
            </a:pPr>
            <a:r>
              <a:rPr lang="en-US" sz="850" dirty="0">
                <a:solidFill>
                  <a:srgbClr val="6B7280"/>
                </a:solidFill>
                <a:latin typeface="Meiryo" pitchFamily="34" charset="0"/>
                <a:ea typeface="Meiryo" pitchFamily="34" charset="-122"/>
                <a:cs typeface="Meiryo" pitchFamily="34" charset="-120"/>
              </a:rPr>
              <a:t>Plus では、社員が個別に設定したパスワードで退職後もログインできてしまいます。</a:t>
            </a:r>
            <a:endParaRPr lang="en-US" sz="850" dirty="0"/>
          </a:p>
        </p:txBody>
      </p:sp>
      <p:sp>
        <p:nvSpPr>
          <p:cNvPr id="33" name="Shape 31"/>
          <p:cNvSpPr/>
          <p:nvPr/>
        </p:nvSpPr>
        <p:spPr>
          <a:xfrm>
            <a:off x="4334256" y="2231136"/>
            <a:ext cx="3520440" cy="2286000"/>
          </a:xfrm>
          <a:prstGeom prst="roundRect">
            <a:avLst>
              <a:gd name="adj" fmla="val 24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4" name="Shape 32"/>
          <p:cNvSpPr/>
          <p:nvPr/>
        </p:nvSpPr>
        <p:spPr>
          <a:xfrm>
            <a:off x="4535424" y="2395728"/>
            <a:ext cx="329184" cy="329184"/>
          </a:xfrm>
          <a:prstGeom prst="roundRect">
            <a:avLst>
              <a:gd name="adj" fmla="val 50000"/>
            </a:avLst>
          </a:prstGeom>
          <a:solidFill>
            <a:srgbClr val="1E2761"/>
          </a:solidFill>
          <a:ln w="12700">
            <a:solidFill>
              <a:srgbClr val="1E2761"/>
            </a:solidFill>
            <a:prstDash val="solid"/>
          </a:ln>
        </p:spPr>
      </p:sp>
      <p:sp>
        <p:nvSpPr>
          <p:cNvPr id="35" name="Text 33"/>
          <p:cNvSpPr/>
          <p:nvPr/>
        </p:nvSpPr>
        <p:spPr>
          <a:xfrm>
            <a:off x="4535424" y="23957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a:t>
            </a:r>
            <a:endParaRPr lang="en-US" sz="1100" dirty="0"/>
          </a:p>
        </p:txBody>
      </p:sp>
      <p:sp>
        <p:nvSpPr>
          <p:cNvPr id="36" name="Text 34"/>
          <p:cNvSpPr/>
          <p:nvPr/>
        </p:nvSpPr>
        <p:spPr>
          <a:xfrm>
            <a:off x="4535424" y="2816352"/>
            <a:ext cx="3118104" cy="548640"/>
          </a:xfrm>
          <a:prstGeom prst="rect">
            <a:avLst/>
          </a:prstGeom>
          <a:noFill/>
          <a:ln/>
        </p:spPr>
        <p:txBody>
          <a:bodyPr wrap="square" lIns="0" tIns="0" rIns="0" bIns="0" rtlCol="0" anchor="ctr"/>
          <a:lstStyle/>
          <a:p>
            <a:pPr indent="0" marL="0">
              <a:buNone/>
            </a:pPr>
            <a:r>
              <a:rPr lang="en-US" sz="1250" b="1" dirty="0">
                <a:solidFill>
                  <a:srgbClr val="1E2761"/>
                </a:solidFill>
                <a:latin typeface="Meiryo" pitchFamily="34" charset="0"/>
                <a:ea typeface="Meiryo" pitchFamily="34" charset="-122"/>
                <a:cs typeface="Meiryo" pitchFamily="34" charset="-120"/>
              </a:rPr>
              <a:t>Notion AI を追加費用なしで使える</a:t>
            </a:r>
            <a:endParaRPr lang="en-US" sz="1250" dirty="0"/>
          </a:p>
        </p:txBody>
      </p:sp>
      <p:sp>
        <p:nvSpPr>
          <p:cNvPr id="37" name="Text 35"/>
          <p:cNvSpPr/>
          <p:nvPr/>
        </p:nvSpPr>
        <p:spPr>
          <a:xfrm>
            <a:off x="4535424" y="3383280"/>
            <a:ext cx="3118104" cy="658368"/>
          </a:xfrm>
          <a:prstGeom prst="rect">
            <a:avLst/>
          </a:prstGeom>
          <a:noFill/>
          <a:ln/>
        </p:spPr>
        <p:txBody>
          <a:bodyPr wrap="square" lIns="0" tIns="0" rIns="0" bIns="0" rtlCol="0" anchor="ctr"/>
          <a:lstStyle/>
          <a:p>
            <a:pPr indent="0" marL="0">
              <a:lnSpc>
                <a:spcPts val="1500"/>
              </a:lnSpc>
              <a:buNone/>
            </a:pPr>
            <a:r>
              <a:rPr lang="en-US" sz="950" dirty="0">
                <a:solidFill>
                  <a:srgbClr val="1A1A2E"/>
                </a:solidFill>
                <a:latin typeface="Meiryo" pitchFamily="34" charset="0"/>
                <a:ea typeface="Meiryo" pitchFamily="34" charset="-122"/>
                <a:cs typeface="Meiryo" pitchFamily="34" charset="-120"/>
              </a:rPr>
              <a:t>議事録の要約、横断検索、文章作成を全社員が使えます。Business には追加費用なしで含まれます。</a:t>
            </a:r>
            <a:endParaRPr lang="en-US" sz="950" dirty="0"/>
          </a:p>
        </p:txBody>
      </p:sp>
      <p:sp>
        <p:nvSpPr>
          <p:cNvPr id="38" name="Shape 36"/>
          <p:cNvSpPr/>
          <p:nvPr/>
        </p:nvSpPr>
        <p:spPr>
          <a:xfrm>
            <a:off x="4498848" y="4041648"/>
            <a:ext cx="3191256" cy="384048"/>
          </a:xfrm>
          <a:prstGeom prst="roundRect">
            <a:avLst>
              <a:gd name="adj" fmla="val 14286"/>
            </a:avLst>
          </a:prstGeom>
          <a:solidFill>
            <a:srgbClr val="F7F9FC"/>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9" name="Text 37"/>
          <p:cNvSpPr/>
          <p:nvPr/>
        </p:nvSpPr>
        <p:spPr>
          <a:xfrm>
            <a:off x="4608576" y="4041648"/>
            <a:ext cx="2971800" cy="384048"/>
          </a:xfrm>
          <a:prstGeom prst="rect">
            <a:avLst/>
          </a:prstGeom>
          <a:noFill/>
          <a:ln/>
        </p:spPr>
        <p:txBody>
          <a:bodyPr wrap="square" lIns="0" tIns="0" rIns="0" bIns="0" rtlCol="0" anchor="ctr"/>
          <a:lstStyle/>
          <a:p>
            <a:pPr indent="0" marL="0">
              <a:buNone/>
            </a:pPr>
            <a:r>
              <a:rPr lang="en-US" sz="850" dirty="0">
                <a:solidFill>
                  <a:srgbClr val="6B7280"/>
                </a:solidFill>
                <a:latin typeface="Meiryo" pitchFamily="34" charset="0"/>
                <a:ea typeface="Meiryo" pitchFamily="34" charset="-122"/>
                <a:cs typeface="Meiryo" pitchFamily="34" charset="-120"/>
              </a:rPr>
              <a:t>Plus は試用のみです。別途契約する場合、1人あたりの月額がさらに上乗せになります。</a:t>
            </a:r>
            <a:endParaRPr lang="en-US" sz="850" dirty="0"/>
          </a:p>
        </p:txBody>
      </p:sp>
      <p:sp>
        <p:nvSpPr>
          <p:cNvPr id="40" name="Shape 38"/>
          <p:cNvSpPr/>
          <p:nvPr/>
        </p:nvSpPr>
        <p:spPr>
          <a:xfrm>
            <a:off x="8119872" y="2231136"/>
            <a:ext cx="3520440" cy="2286000"/>
          </a:xfrm>
          <a:prstGeom prst="roundRect">
            <a:avLst>
              <a:gd name="adj" fmla="val 24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1" name="Shape 39"/>
          <p:cNvSpPr/>
          <p:nvPr/>
        </p:nvSpPr>
        <p:spPr>
          <a:xfrm>
            <a:off x="8321040" y="2395728"/>
            <a:ext cx="329184" cy="329184"/>
          </a:xfrm>
          <a:prstGeom prst="roundRect">
            <a:avLst>
              <a:gd name="adj" fmla="val 50000"/>
            </a:avLst>
          </a:prstGeom>
          <a:solidFill>
            <a:srgbClr val="1E2761"/>
          </a:solidFill>
          <a:ln w="12700">
            <a:solidFill>
              <a:srgbClr val="1E2761"/>
            </a:solidFill>
            <a:prstDash val="solid"/>
          </a:ln>
        </p:spPr>
      </p:sp>
      <p:sp>
        <p:nvSpPr>
          <p:cNvPr id="42" name="Text 40"/>
          <p:cNvSpPr/>
          <p:nvPr/>
        </p:nvSpPr>
        <p:spPr>
          <a:xfrm>
            <a:off x="8321040" y="23957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3</a:t>
            </a:r>
            <a:endParaRPr lang="en-US" sz="1100" dirty="0"/>
          </a:p>
        </p:txBody>
      </p:sp>
      <p:sp>
        <p:nvSpPr>
          <p:cNvPr id="43" name="Text 41"/>
          <p:cNvSpPr/>
          <p:nvPr/>
        </p:nvSpPr>
        <p:spPr>
          <a:xfrm>
            <a:off x="8321040" y="2816352"/>
            <a:ext cx="3118104" cy="548640"/>
          </a:xfrm>
          <a:prstGeom prst="rect">
            <a:avLst/>
          </a:prstGeom>
          <a:noFill/>
          <a:ln/>
        </p:spPr>
        <p:txBody>
          <a:bodyPr wrap="square" lIns="0" tIns="0" rIns="0" bIns="0" rtlCol="0" anchor="ctr"/>
          <a:lstStyle/>
          <a:p>
            <a:pPr indent="0" marL="0">
              <a:buNone/>
            </a:pPr>
            <a:r>
              <a:rPr lang="en-US" sz="1250" b="1" dirty="0">
                <a:solidFill>
                  <a:srgbClr val="1E2761"/>
                </a:solidFill>
                <a:latin typeface="Meiryo" pitchFamily="34" charset="0"/>
                <a:ea typeface="Meiryo" pitchFamily="34" charset="-122"/>
                <a:cs typeface="Meiryo" pitchFamily="34" charset="-120"/>
              </a:rPr>
              <a:t>外部の講師・委託先を250名まで招ける</a:t>
            </a:r>
            <a:endParaRPr lang="en-US" sz="1250" dirty="0"/>
          </a:p>
        </p:txBody>
      </p:sp>
      <p:sp>
        <p:nvSpPr>
          <p:cNvPr id="44" name="Text 42"/>
          <p:cNvSpPr/>
          <p:nvPr/>
        </p:nvSpPr>
        <p:spPr>
          <a:xfrm>
            <a:off x="8321040" y="3383280"/>
            <a:ext cx="3118104" cy="658368"/>
          </a:xfrm>
          <a:prstGeom prst="rect">
            <a:avLst/>
          </a:prstGeom>
          <a:noFill/>
          <a:ln/>
        </p:spPr>
        <p:txBody>
          <a:bodyPr wrap="square" lIns="0" tIns="0" rIns="0" bIns="0" rtlCol="0" anchor="ctr"/>
          <a:lstStyle/>
          <a:p>
            <a:pPr indent="0" marL="0">
              <a:lnSpc>
                <a:spcPts val="1500"/>
              </a:lnSpc>
              <a:buNone/>
            </a:pPr>
            <a:r>
              <a:rPr lang="en-US" sz="950" dirty="0">
                <a:solidFill>
                  <a:srgbClr val="1A1A2E"/>
                </a:solidFill>
                <a:latin typeface="Meiryo" pitchFamily="34" charset="0"/>
                <a:ea typeface="Meiryo" pitchFamily="34" charset="-122"/>
                <a:cs typeface="Meiryo" pitchFamily="34" charset="-120"/>
              </a:rPr>
              <a:t>ゲストは無料で招待でき、必要なページだけを共有できます。研修事業では社外の講師・パートナーとの協働が多く、この枠が実務上の制約になります。</a:t>
            </a:r>
            <a:endParaRPr lang="en-US" sz="950" dirty="0"/>
          </a:p>
        </p:txBody>
      </p:sp>
      <p:sp>
        <p:nvSpPr>
          <p:cNvPr id="45" name="Shape 43"/>
          <p:cNvSpPr/>
          <p:nvPr/>
        </p:nvSpPr>
        <p:spPr>
          <a:xfrm>
            <a:off x="8284464" y="4041648"/>
            <a:ext cx="3191256" cy="384048"/>
          </a:xfrm>
          <a:prstGeom prst="roundRect">
            <a:avLst>
              <a:gd name="adj" fmla="val 14286"/>
            </a:avLst>
          </a:prstGeom>
          <a:solidFill>
            <a:srgbClr val="F7F9FC"/>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6" name="Text 44"/>
          <p:cNvSpPr/>
          <p:nvPr/>
        </p:nvSpPr>
        <p:spPr>
          <a:xfrm>
            <a:off x="8394192" y="4041648"/>
            <a:ext cx="2971800" cy="384048"/>
          </a:xfrm>
          <a:prstGeom prst="rect">
            <a:avLst/>
          </a:prstGeom>
          <a:noFill/>
          <a:ln/>
        </p:spPr>
        <p:txBody>
          <a:bodyPr wrap="square" lIns="0" tIns="0" rIns="0" bIns="0" rtlCol="0" anchor="ctr"/>
          <a:lstStyle/>
          <a:p>
            <a:pPr indent="0" marL="0">
              <a:buNone/>
            </a:pPr>
            <a:r>
              <a:rPr lang="en-US" sz="850" dirty="0">
                <a:solidFill>
                  <a:srgbClr val="6B7280"/>
                </a:solidFill>
                <a:latin typeface="Meiryo" pitchFamily="34" charset="0"/>
                <a:ea typeface="Meiryo" pitchFamily="34" charset="-122"/>
                <a:cs typeface="Meiryo" pitchFamily="34" charset="-120"/>
              </a:rPr>
              <a:t>Plus の上限は100名です。</a:t>
            </a:r>
            <a:endParaRPr lang="en-US" sz="850" dirty="0"/>
          </a:p>
        </p:txBody>
      </p:sp>
      <p:sp>
        <p:nvSpPr>
          <p:cNvPr id="47" name="Shape 45"/>
          <p:cNvSpPr/>
          <p:nvPr/>
        </p:nvSpPr>
        <p:spPr>
          <a:xfrm>
            <a:off x="548640" y="4663440"/>
            <a:ext cx="6903720" cy="960120"/>
          </a:xfrm>
          <a:prstGeom prst="roundRect">
            <a:avLst>
              <a:gd name="adj" fmla="val 5714"/>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8" name="Text 46"/>
          <p:cNvSpPr/>
          <p:nvPr/>
        </p:nvSpPr>
        <p:spPr>
          <a:xfrm>
            <a:off x="777240" y="4754880"/>
            <a:ext cx="3657600" cy="237744"/>
          </a:xfrm>
          <a:prstGeom prst="rect">
            <a:avLst/>
          </a:prstGeom>
          <a:noFill/>
          <a:ln/>
        </p:spPr>
        <p:txBody>
          <a:bodyPr wrap="square" lIns="0" tIns="0" rIns="0" bIns="0" rtlCol="0" anchor="ctr"/>
          <a:lstStyle/>
          <a:p>
            <a:pPr indent="0" marL="0">
              <a:buNone/>
            </a:pPr>
            <a:r>
              <a:rPr lang="en-US" sz="1050" b="1" dirty="0">
                <a:solidFill>
                  <a:srgbClr val="6B7280"/>
                </a:solidFill>
                <a:latin typeface="Meiryo" pitchFamily="34" charset="0"/>
                <a:ea typeface="Meiryo" pitchFamily="34" charset="-122"/>
                <a:cs typeface="Meiryo" pitchFamily="34" charset="-120"/>
              </a:rPr>
              <a:t>このほかの差</a:t>
            </a:r>
            <a:endParaRPr lang="en-US" sz="1050" dirty="0"/>
          </a:p>
        </p:txBody>
      </p:sp>
      <p:sp>
        <p:nvSpPr>
          <p:cNvPr id="49" name="Text 47"/>
          <p:cNvSpPr/>
          <p:nvPr/>
        </p:nvSpPr>
        <p:spPr>
          <a:xfrm>
            <a:off x="777240" y="5010912"/>
            <a:ext cx="6446520" cy="54864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1A1A2E"/>
                </a:solidFill>
                <a:latin typeface="Meiryo" pitchFamily="34" charset="0"/>
                <a:ea typeface="Meiryo" pitchFamily="34" charset="-122"/>
                <a:cs typeface="Meiryo" pitchFamily="34" charset="-120"/>
              </a:rPr>
              <a:t>部署別のプライベートチームスペースを作れる（人事・役員情報の分離）</a:t>
            </a:r>
            <a:endParaRPr lang="en-US" sz="950" dirty="0"/>
          </a:p>
          <a:p>
            <a:pPr marL="342900" indent="-342900">
              <a:spcAft>
                <a:spcPts val="400"/>
              </a:spcAft>
              <a:buSzPct val="100000"/>
              <a:buChar char="•"/>
            </a:pPr>
            <a:r>
              <a:rPr lang="en-US" sz="950" dirty="0">
                <a:solidFill>
                  <a:srgbClr val="1A1A2E"/>
                </a:solidFill>
                <a:latin typeface="Meiryo" pitchFamily="34" charset="0"/>
                <a:ea typeface="Meiryo" pitchFamily="34" charset="-122"/>
                <a:cs typeface="Meiryo" pitchFamily="34" charset="-120"/>
              </a:rPr>
              <a:t>誤削除・改ざん時に遡れる履歴が 30日 → 90日 に延びる</a:t>
            </a:r>
            <a:endParaRPr lang="en-US" sz="950" dirty="0"/>
          </a:p>
        </p:txBody>
      </p:sp>
      <p:sp>
        <p:nvSpPr>
          <p:cNvPr id="50" name="Shape 48"/>
          <p:cNvSpPr/>
          <p:nvPr/>
        </p:nvSpPr>
        <p:spPr>
          <a:xfrm>
            <a:off x="7662672" y="4663440"/>
            <a:ext cx="3977640" cy="960120"/>
          </a:xfrm>
          <a:prstGeom prst="roundRect">
            <a:avLst>
              <a:gd name="adj" fmla="val 5714"/>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51" name="Text 49"/>
          <p:cNvSpPr/>
          <p:nvPr/>
        </p:nvSpPr>
        <p:spPr>
          <a:xfrm>
            <a:off x="7863840" y="4663440"/>
            <a:ext cx="3611880" cy="960120"/>
          </a:xfrm>
          <a:prstGeom prst="rect">
            <a:avLst/>
          </a:prstGeom>
          <a:noFill/>
          <a:ln/>
        </p:spPr>
        <p:txBody>
          <a:bodyPr wrap="square" lIns="0" tIns="0" rIns="0" bIns="0" rtlCol="0" anchor="ctr"/>
          <a:lstStyle/>
          <a:p>
            <a:pPr indent="0" marL="0">
              <a:lnSpc>
                <a:spcPts val="2200"/>
              </a:lnSpc>
              <a:buNone/>
            </a:pPr>
            <a:r>
              <a:rPr lang="en-US" sz="1400" b="1" dirty="0">
                <a:solidFill>
                  <a:srgbClr val="FFFFFF"/>
                </a:solidFill>
                <a:latin typeface="Meiryo" pitchFamily="34" charset="0"/>
                <a:ea typeface="Meiryo" pitchFamily="34" charset="-122"/>
                <a:cs typeface="Meiryo" pitchFamily="34" charset="-120"/>
              </a:rPr>
              <a:t>SSO を除いても、</a:t>
            </a:r>
            <a:endParaRPr lang="en-US" sz="1400" dirty="0"/>
          </a:p>
          <a:p>
            <a:pPr indent="0" marL="0">
              <a:lnSpc>
                <a:spcPts val="2200"/>
              </a:lnSpc>
              <a:buNone/>
            </a:pPr>
            <a:r>
              <a:rPr lang="en-US" sz="1400" b="1" dirty="0">
                <a:solidFill>
                  <a:srgbClr val="FFFFFF"/>
                </a:solidFill>
                <a:latin typeface="Meiryo" pitchFamily="34" charset="0"/>
                <a:ea typeface="Meiryo" pitchFamily="34" charset="-122"/>
                <a:cs typeface="Meiryo" pitchFamily="34" charset="-120"/>
              </a:rPr>
              <a:t>Plus では実務に足りません</a:t>
            </a:r>
            <a:endParaRPr lang="en-US" sz="1400" dirty="0"/>
          </a:p>
        </p:txBody>
      </p:sp>
      <p:sp>
        <p:nvSpPr>
          <p:cNvPr id="52" name="Text 50"/>
          <p:cNvSpPr/>
          <p:nvPr/>
        </p:nvSpPr>
        <p:spPr>
          <a:xfrm>
            <a:off x="548640" y="5760720"/>
            <a:ext cx="11094415" cy="237744"/>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 Notion AI のバンドル有無とゲスト上限は、契約時に正規代理店へ確認のうえ確定します。</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第7章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1E2761"/>
          </a:solidFill>
          <a:ln w="12700">
            <a:solidFill>
              <a:srgbClr val="1E2761"/>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導入計画とコスト</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スコープとコストの上限を先に決め、失敗したときにやめられる状態を保ちます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18</a:t>
            </a:r>
            <a:endParaRPr lang="en-US" sz="1000" dirty="0"/>
          </a:p>
        </p:txBody>
      </p:sp>
      <p:sp>
        <p:nvSpPr>
          <p:cNvPr id="26" name="Shape 24"/>
          <p:cNvSpPr/>
          <p:nvPr/>
        </p:nvSpPr>
        <p:spPr>
          <a:xfrm>
            <a:off x="548640" y="2231136"/>
            <a:ext cx="11094415" cy="713232"/>
          </a:xfrm>
          <a:prstGeom prst="roundRect">
            <a:avLst>
              <a:gd name="adj" fmla="val 7692"/>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27" name="Text 25"/>
          <p:cNvSpPr/>
          <p:nvPr/>
        </p:nvSpPr>
        <p:spPr>
          <a:xfrm>
            <a:off x="868680" y="2231136"/>
            <a:ext cx="10454335" cy="713232"/>
          </a:xfrm>
          <a:prstGeom prst="rect">
            <a:avLst/>
          </a:prstGeom>
          <a:noFill/>
          <a:ln/>
        </p:spPr>
        <p:txBody>
          <a:bodyPr wrap="square" lIns="0" tIns="0" rIns="0" bIns="0" rtlCol="0" anchor="ctr"/>
          <a:lstStyle/>
          <a:p>
            <a:pPr indent="0" marL="0">
              <a:buNone/>
            </a:pPr>
            <a:r>
              <a:rPr lang="en-US" sz="1350" b="1" dirty="0">
                <a:solidFill>
                  <a:srgbClr val="FFFFFF"/>
                </a:solidFill>
                <a:latin typeface="Meiryo" pitchFamily="34" charset="0"/>
                <a:ea typeface="Meiryo" pitchFamily="34" charset="-122"/>
                <a:cs typeface="Meiryo" pitchFamily="34" charset="-120"/>
              </a:rPr>
              <a:t>経営層で3か月試した結果を踏まえ、対象140名・Businessプランで導入します。対象範囲は ①案件管理 ②議事録 に限定します。</a:t>
            </a:r>
            <a:endParaRPr lang="en-US" sz="1350" dirty="0"/>
          </a:p>
        </p:txBody>
      </p:sp>
      <p:sp>
        <p:nvSpPr>
          <p:cNvPr id="28" name="Shape 26"/>
          <p:cNvSpPr/>
          <p:nvPr/>
        </p:nvSpPr>
        <p:spPr>
          <a:xfrm>
            <a:off x="548640" y="3108960"/>
            <a:ext cx="3931920" cy="2286000"/>
          </a:xfrm>
          <a:prstGeom prst="roundRect">
            <a:avLst>
              <a:gd name="adj" fmla="val 24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9" name="Text 27"/>
          <p:cNvSpPr/>
          <p:nvPr/>
        </p:nvSpPr>
        <p:spPr>
          <a:xfrm>
            <a:off x="777240" y="3236976"/>
            <a:ext cx="3474720" cy="274320"/>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絞るのは「人数」ではなく「範囲」</a:t>
            </a:r>
            <a:endParaRPr lang="en-US" sz="1150" dirty="0"/>
          </a:p>
        </p:txBody>
      </p:sp>
      <p:sp>
        <p:nvSpPr>
          <p:cNvPr id="30" name="Text 28"/>
          <p:cNvSpPr/>
          <p:nvPr/>
        </p:nvSpPr>
        <p:spPr>
          <a:xfrm>
            <a:off x="777240" y="3566160"/>
            <a:ext cx="3474720" cy="1691640"/>
          </a:xfrm>
          <a:prstGeom prst="rect">
            <a:avLst/>
          </a:prstGeom>
          <a:noFill/>
          <a:ln/>
        </p:spPr>
        <p:txBody>
          <a:bodyPr wrap="square" lIns="0" tIns="0" rIns="0" bIns="0" rtlCol="0" anchor="ctr"/>
          <a:lstStyle/>
          <a:p>
            <a:pPr marL="342900" indent="-342900">
              <a:spcAft>
                <a:spcPts val="800"/>
              </a:spcAft>
              <a:buSzPct val="100000"/>
              <a:buChar char="•"/>
            </a:pPr>
            <a:r>
              <a:rPr lang="en-US" sz="950" dirty="0">
                <a:solidFill>
                  <a:srgbClr val="1A1A2E"/>
                </a:solidFill>
                <a:latin typeface="Meiryo" pitchFamily="34" charset="0"/>
                <a:ea typeface="Meiryo" pitchFamily="34" charset="-122"/>
                <a:cs typeface="Meiryo" pitchFamily="34" charset="-120"/>
              </a:rPr>
              <a:t>③案件関連ファイル・④社内規定は SharePoint を継続し、Notion に持ち込まない</a:t>
            </a:r>
            <a:endParaRPr lang="en-US" sz="950" dirty="0"/>
          </a:p>
          <a:p>
            <a:pPr marL="342900" indent="-342900">
              <a:spcAft>
                <a:spcPts val="800"/>
              </a:spcAft>
              <a:buSzPct val="100000"/>
              <a:buChar char="•"/>
            </a:pPr>
            <a:r>
              <a:rPr lang="en-US" sz="950" dirty="0">
                <a:solidFill>
                  <a:srgbClr val="1A1A2E"/>
                </a:solidFill>
                <a:latin typeface="Meiryo" pitchFamily="34" charset="0"/>
                <a:ea typeface="Meiryo" pitchFamily="34" charset="-122"/>
                <a:cs typeface="Meiryo" pitchFamily="34" charset="-120"/>
              </a:rPr>
              <a:t>機微情報は Notion に置かない</a:t>
            </a:r>
            <a:endParaRPr lang="en-US" sz="950" dirty="0"/>
          </a:p>
          <a:p>
            <a:pPr marL="342900" indent="-342900">
              <a:spcAft>
                <a:spcPts val="800"/>
              </a:spcAft>
              <a:buSzPct val="100000"/>
              <a:buChar char="•"/>
            </a:pPr>
            <a:r>
              <a:rPr lang="en-US" sz="950" dirty="0">
                <a:solidFill>
                  <a:srgbClr val="1A1A2E"/>
                </a:solidFill>
                <a:latin typeface="Meiryo" pitchFamily="34" charset="0"/>
                <a:ea typeface="Meiryo" pitchFamily="34" charset="-122"/>
                <a:cs typeface="Meiryo" pitchFamily="34" charset="-120"/>
              </a:rPr>
              <a:t>対象業務を①②に絞ることで、合わなければやめられる状態を保つ</a:t>
            </a:r>
            <a:endParaRPr lang="en-US" sz="950" dirty="0"/>
          </a:p>
        </p:txBody>
      </p:sp>
      <p:sp>
        <p:nvSpPr>
          <p:cNvPr id="31" name="Shape 29"/>
          <p:cNvSpPr/>
          <p:nvPr/>
        </p:nvSpPr>
        <p:spPr>
          <a:xfrm>
            <a:off x="4663440" y="3108960"/>
            <a:ext cx="3931920" cy="2286000"/>
          </a:xfrm>
          <a:prstGeom prst="roundRect">
            <a:avLst>
              <a:gd name="adj" fmla="val 2400"/>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32" name="Text 30"/>
          <p:cNvSpPr/>
          <p:nvPr/>
        </p:nvSpPr>
        <p:spPr>
          <a:xfrm>
            <a:off x="4892040" y="3236976"/>
            <a:ext cx="3474720" cy="256032"/>
          </a:xfrm>
          <a:prstGeom prst="rect">
            <a:avLst/>
          </a:prstGeom>
          <a:noFill/>
          <a:ln/>
        </p:spPr>
        <p:txBody>
          <a:bodyPr wrap="square" lIns="0" tIns="0" rIns="0" bIns="0" rtlCol="0" anchor="ctr"/>
          <a:lstStyle/>
          <a:p>
            <a:pPr indent="0" marL="0">
              <a:buNone/>
            </a:pPr>
            <a:r>
              <a:rPr lang="en-US" sz="1150" b="1" dirty="0">
                <a:solidFill>
                  <a:srgbClr val="CADCFC"/>
                </a:solidFill>
                <a:latin typeface="Meiryo" pitchFamily="34" charset="0"/>
                <a:ea typeface="Meiryo" pitchFamily="34" charset="-122"/>
                <a:cs typeface="Meiryo" pitchFamily="34" charset="-120"/>
              </a:rPr>
              <a:t>コスト上限</a:t>
            </a:r>
            <a:endParaRPr lang="en-US" sz="1150" dirty="0"/>
          </a:p>
        </p:txBody>
      </p:sp>
      <p:sp>
        <p:nvSpPr>
          <p:cNvPr id="33" name="Text 31"/>
          <p:cNvSpPr/>
          <p:nvPr/>
        </p:nvSpPr>
        <p:spPr>
          <a:xfrm>
            <a:off x="4892040" y="3511296"/>
            <a:ext cx="3474720" cy="658368"/>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約520.8万円</a:t>
            </a:r>
            <a:endParaRPr lang="en-US" sz="3400" dirty="0"/>
          </a:p>
        </p:txBody>
      </p:sp>
      <p:sp>
        <p:nvSpPr>
          <p:cNvPr id="34" name="Text 32"/>
          <p:cNvSpPr/>
          <p:nvPr/>
        </p:nvSpPr>
        <p:spPr>
          <a:xfrm>
            <a:off x="4892040" y="4169664"/>
            <a:ext cx="3474720" cy="256032"/>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 年（140名・Business・年払）</a:t>
            </a:r>
            <a:endParaRPr lang="en-US" sz="1100" dirty="0"/>
          </a:p>
        </p:txBody>
      </p:sp>
      <p:sp>
        <p:nvSpPr>
          <p:cNvPr id="35" name="Text 33"/>
          <p:cNvSpPr/>
          <p:nvPr/>
        </p:nvSpPr>
        <p:spPr>
          <a:xfrm>
            <a:off x="4892040" y="4498848"/>
            <a:ext cx="3474720" cy="777240"/>
          </a:xfrm>
          <a:prstGeom prst="rect">
            <a:avLst/>
          </a:prstGeom>
          <a:noFill/>
          <a:ln/>
        </p:spPr>
        <p:txBody>
          <a:bodyPr wrap="square" lIns="0" tIns="0" rIns="0" bIns="0" rtlCol="0" anchor="ctr"/>
          <a:lstStyle/>
          <a:p>
            <a:pPr indent="0" marL="0">
              <a:lnSpc>
                <a:spcPts val="1700"/>
              </a:lnSpc>
              <a:buNone/>
            </a:pPr>
            <a:r>
              <a:rPr lang="en-US" sz="1000" dirty="0">
                <a:solidFill>
                  <a:srgbClr val="CADCFC"/>
                </a:solidFill>
                <a:latin typeface="Meiryo" pitchFamily="34" charset="0"/>
                <a:ea typeface="Meiryo" pitchFamily="34" charset="-122"/>
                <a:cs typeface="Meiryo" pitchFamily="34" charset="-120"/>
              </a:rPr>
              <a:t>月額換算　約43.4万円</a:t>
            </a:r>
            <a:endParaRPr lang="en-US" sz="1000" dirty="0"/>
          </a:p>
          <a:p>
            <a:pPr indent="0" marL="0">
              <a:lnSpc>
                <a:spcPts val="1700"/>
              </a:lnSpc>
              <a:buNone/>
            </a:pPr>
            <a:r>
              <a:rPr lang="en-US" sz="1000" dirty="0">
                <a:solidFill>
                  <a:srgbClr val="CADCFC"/>
                </a:solidFill>
                <a:latin typeface="Meiryo" pitchFamily="34" charset="0"/>
                <a:ea typeface="Meiryo" pitchFamily="34" charset="-122"/>
                <a:cs typeface="Meiryo" pitchFamily="34" charset="-120"/>
              </a:rPr>
              <a:t>1人あたり　年 37,200円</a:t>
            </a:r>
            <a:endParaRPr lang="en-US" sz="1000" dirty="0"/>
          </a:p>
          <a:p>
            <a:pPr indent="0" marL="0">
              <a:lnSpc>
                <a:spcPts val="1700"/>
              </a:lnSpc>
              <a:buNone/>
            </a:pPr>
            <a:r>
              <a:rPr lang="en-US" sz="1000" dirty="0">
                <a:solidFill>
                  <a:srgbClr val="CADCFC"/>
                </a:solidFill>
                <a:latin typeface="Meiryo" pitchFamily="34" charset="0"/>
                <a:ea typeface="Meiryo" pitchFamily="34" charset="-122"/>
                <a:cs typeface="Meiryo" pitchFamily="34" charset="-120"/>
              </a:rPr>
              <a:t>＝ 1営業日あたり 約169円</a:t>
            </a:r>
            <a:endParaRPr lang="en-US" sz="1000" dirty="0"/>
          </a:p>
        </p:txBody>
      </p:sp>
      <p:sp>
        <p:nvSpPr>
          <p:cNvPr id="36" name="Shape 34"/>
          <p:cNvSpPr/>
          <p:nvPr/>
        </p:nvSpPr>
        <p:spPr>
          <a:xfrm>
            <a:off x="8778240" y="3108960"/>
            <a:ext cx="2862072" cy="2286000"/>
          </a:xfrm>
          <a:prstGeom prst="roundRect">
            <a:avLst>
              <a:gd name="adj" fmla="val 2400"/>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7" name="Text 35"/>
          <p:cNvSpPr/>
          <p:nvPr/>
        </p:nvSpPr>
        <p:spPr>
          <a:xfrm>
            <a:off x="8979408" y="3236976"/>
            <a:ext cx="2468880" cy="274320"/>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続けるかどうかの判断</a:t>
            </a:r>
            <a:endParaRPr lang="en-US" sz="1150" dirty="0"/>
          </a:p>
        </p:txBody>
      </p:sp>
      <p:sp>
        <p:nvSpPr>
          <p:cNvPr id="38" name="Text 36"/>
          <p:cNvSpPr/>
          <p:nvPr/>
        </p:nvSpPr>
        <p:spPr>
          <a:xfrm>
            <a:off x="8979408" y="3566160"/>
            <a:ext cx="2468880" cy="1691640"/>
          </a:xfrm>
          <a:prstGeom prst="rect">
            <a:avLst/>
          </a:prstGeom>
          <a:noFill/>
          <a:ln/>
        </p:spPr>
        <p:txBody>
          <a:bodyPr wrap="square" lIns="0" tIns="0" rIns="0" bIns="0" rtlCol="0" anchor="ctr"/>
          <a:lstStyle/>
          <a:p>
            <a:pPr marL="342900" indent="-342900">
              <a:spcAft>
                <a:spcPts val="700"/>
              </a:spcAft>
              <a:buSzPct val="100000"/>
              <a:buChar char="•"/>
            </a:pPr>
            <a:r>
              <a:rPr lang="en-US" sz="900" dirty="0">
                <a:solidFill>
                  <a:srgbClr val="1A1A2E"/>
                </a:solidFill>
                <a:latin typeface="Meiryo" pitchFamily="34" charset="0"/>
                <a:ea typeface="Meiryo" pitchFamily="34" charset="-122"/>
                <a:cs typeface="Meiryo" pitchFamily="34" charset="-120"/>
              </a:rPr>
              <a:t>効果KPI（案件進捗の可視化率・議事録への到達時間）を測る</a:t>
            </a:r>
            <a:endParaRPr lang="en-US" sz="900" dirty="0"/>
          </a:p>
          <a:p>
            <a:pPr marL="342900" indent="-342900">
              <a:spcAft>
                <a:spcPts val="700"/>
              </a:spcAft>
              <a:buSzPct val="100000"/>
              <a:buChar char="•"/>
            </a:pPr>
            <a:r>
              <a:rPr lang="en-US" sz="900" dirty="0">
                <a:solidFill>
                  <a:srgbClr val="1A1A2E"/>
                </a:solidFill>
                <a:latin typeface="Meiryo" pitchFamily="34" charset="0"/>
                <a:ea typeface="Meiryo" pitchFamily="34" charset="-122"/>
                <a:cs typeface="Meiryo" pitchFamily="34" charset="-120"/>
              </a:rPr>
              <a:t>未達であれば、翌年度の更新を見送る</a:t>
            </a:r>
            <a:endParaRPr lang="en-US" sz="900" dirty="0"/>
          </a:p>
          <a:p>
            <a:pPr marL="342900" indent="-342900">
              <a:spcAft>
                <a:spcPts val="700"/>
              </a:spcAft>
              <a:buSzPct val="100000"/>
              <a:buChar char="•"/>
            </a:pPr>
            <a:r>
              <a:rPr lang="en-US" sz="900" dirty="0">
                <a:solidFill>
                  <a:srgbClr val="1A1A2E"/>
                </a:solidFill>
                <a:latin typeface="Meiryo" pitchFamily="34" charset="0"/>
                <a:ea typeface="Meiryo" pitchFamily="34" charset="-122"/>
                <a:cs typeface="Meiryo" pitchFamily="34" charset="-120"/>
              </a:rPr>
              <a:t>外部委託・社外パートナーはゲスト（無料）とし、課金対象は正規社員に限定する</a:t>
            </a:r>
            <a:endParaRPr lang="en-US" sz="900" dirty="0"/>
          </a:p>
        </p:txBody>
      </p:sp>
      <p:sp>
        <p:nvSpPr>
          <p:cNvPr id="39" name="Text 37"/>
          <p:cNvSpPr/>
          <p:nvPr/>
        </p:nvSpPr>
        <p:spPr>
          <a:xfrm>
            <a:off x="548640" y="5577840"/>
            <a:ext cx="11094415" cy="256032"/>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 $20/月は年払時の想定単価（$1=155円換算）。正規代理店の見積により変動しますが、上限額は上振れしない前提でご提示しています。</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1E2761"/>
          </a:solidFill>
          <a:ln w="12700">
            <a:solidFill>
              <a:srgbClr val="1E2761"/>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第8章</a:t>
            </a:r>
            <a:endParaRPr lang="en-US" sz="1050" dirty="0"/>
          </a:p>
        </p:txBody>
      </p:sp>
      <p:sp>
        <p:nvSpPr>
          <p:cNvPr id="4" name="Shape 2"/>
          <p:cNvSpPr/>
          <p:nvPr/>
        </p:nvSpPr>
        <p:spPr>
          <a:xfrm>
            <a:off x="9101023"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10102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序</a:t>
            </a:r>
            <a:endParaRPr lang="en-US" sz="750" dirty="0"/>
          </a:p>
        </p:txBody>
      </p:sp>
      <p:sp>
        <p:nvSpPr>
          <p:cNvPr id="6" name="Shape 4"/>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1</a:t>
            </a:r>
            <a:endParaRPr lang="en-US" sz="750" dirty="0"/>
          </a:p>
        </p:txBody>
      </p:sp>
      <p:sp>
        <p:nvSpPr>
          <p:cNvPr id="8" name="Shape 6"/>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2</a:t>
            </a:r>
            <a:endParaRPr lang="en-US" sz="750" dirty="0"/>
          </a:p>
        </p:txBody>
      </p:sp>
      <p:sp>
        <p:nvSpPr>
          <p:cNvPr id="10" name="Shape 8"/>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3</a:t>
            </a:r>
            <a:endParaRPr lang="en-US" sz="750" dirty="0"/>
          </a:p>
        </p:txBody>
      </p:sp>
      <p:sp>
        <p:nvSpPr>
          <p:cNvPr id="12" name="Shape 10"/>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4</a:t>
            </a:r>
            <a:endParaRPr lang="en-US" sz="750" dirty="0"/>
          </a:p>
        </p:txBody>
      </p:sp>
      <p:sp>
        <p:nvSpPr>
          <p:cNvPr id="14" name="Shape 12"/>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5</a:t>
            </a:r>
            <a:endParaRPr lang="en-US" sz="750" dirty="0"/>
          </a:p>
        </p:txBody>
      </p:sp>
      <p:sp>
        <p:nvSpPr>
          <p:cNvPr id="16" name="Shape 14"/>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6</a:t>
            </a:r>
            <a:endParaRPr lang="en-US" sz="750" dirty="0"/>
          </a:p>
        </p:txBody>
      </p:sp>
      <p:sp>
        <p:nvSpPr>
          <p:cNvPr id="18" name="Shape 16"/>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7</a:t>
            </a:r>
            <a:endParaRPr lang="en-US" sz="750" dirty="0"/>
          </a:p>
        </p:txBody>
      </p:sp>
      <p:sp>
        <p:nvSpPr>
          <p:cNvPr id="20" name="Shape 18"/>
          <p:cNvSpPr/>
          <p:nvPr/>
        </p:nvSpPr>
        <p:spPr>
          <a:xfrm>
            <a:off x="11405311" y="402336"/>
            <a:ext cx="237744" cy="237744"/>
          </a:xfrm>
          <a:prstGeom prst="roundRect">
            <a:avLst>
              <a:gd name="adj" fmla="val 15385"/>
            </a:avLst>
          </a:prstGeom>
          <a:solidFill>
            <a:srgbClr val="1E2761"/>
          </a:solidFill>
          <a:ln w="12700">
            <a:solidFill>
              <a:srgbClr val="1E2761"/>
            </a:solidFill>
            <a:prstDash val="solid"/>
          </a:ln>
        </p:spPr>
      </p:sp>
      <p:sp>
        <p:nvSpPr>
          <p:cNvPr id="21" name="Text 19"/>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8</a:t>
            </a:r>
            <a:endParaRPr lang="en-US" sz="750" dirty="0"/>
          </a:p>
        </p:txBody>
      </p:sp>
      <p:sp>
        <p:nvSpPr>
          <p:cNvPr id="22" name="Text 20"/>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お願い事項</a:t>
            </a:r>
            <a:endParaRPr lang="en-US" sz="2600" dirty="0"/>
          </a:p>
        </p:txBody>
      </p:sp>
      <p:sp>
        <p:nvSpPr>
          <p:cNvPr id="23" name="Shape 21"/>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4" name="Text 22"/>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①案件管理 ＋ ②議事録 に限定した正式導入と、コスト上限のご承認をいただきたく存じます</a:t>
            </a:r>
            <a:endParaRPr lang="en-US" sz="1350" dirty="0"/>
          </a:p>
        </p:txBody>
      </p:sp>
      <p:sp>
        <p:nvSpPr>
          <p:cNvPr id="25" name="Text 23"/>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19</a:t>
            </a:r>
            <a:endParaRPr lang="en-US" sz="1000" dirty="0"/>
          </a:p>
        </p:txBody>
      </p:sp>
      <p:sp>
        <p:nvSpPr>
          <p:cNvPr id="26" name="Text 24"/>
          <p:cNvSpPr/>
          <p:nvPr/>
        </p:nvSpPr>
        <p:spPr>
          <a:xfrm>
            <a:off x="548640" y="2212848"/>
            <a:ext cx="4572000" cy="274320"/>
          </a:xfrm>
          <a:prstGeom prst="rect">
            <a:avLst/>
          </a:prstGeom>
          <a:noFill/>
          <a:ln/>
        </p:spPr>
        <p:txBody>
          <a:bodyPr wrap="square" lIns="0" tIns="0" rIns="0" bIns="0" rtlCol="0" anchor="ctr"/>
          <a:lstStyle/>
          <a:p>
            <a:pPr indent="0" marL="0">
              <a:buNone/>
            </a:pPr>
            <a:r>
              <a:rPr lang="en-US" sz="1200" b="1" dirty="0">
                <a:solidFill>
                  <a:srgbClr val="6B7280"/>
                </a:solidFill>
                <a:latin typeface="Meiryo" pitchFamily="34" charset="0"/>
                <a:ea typeface="Meiryo" pitchFamily="34" charset="-122"/>
                <a:cs typeface="Meiryo" pitchFamily="34" charset="-120"/>
              </a:rPr>
              <a:t>ご承認いただきたいこと</a:t>
            </a:r>
            <a:endParaRPr lang="en-US" sz="1200" dirty="0"/>
          </a:p>
        </p:txBody>
      </p:sp>
      <p:sp>
        <p:nvSpPr>
          <p:cNvPr id="27" name="Shape 25"/>
          <p:cNvSpPr/>
          <p:nvPr/>
        </p:nvSpPr>
        <p:spPr>
          <a:xfrm>
            <a:off x="548640" y="2542032"/>
            <a:ext cx="6903720" cy="493776"/>
          </a:xfrm>
          <a:prstGeom prst="roundRect">
            <a:avLst>
              <a:gd name="adj" fmla="val 11111"/>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28" name="Shape 26"/>
          <p:cNvSpPr/>
          <p:nvPr/>
        </p:nvSpPr>
        <p:spPr>
          <a:xfrm>
            <a:off x="694944" y="2642616"/>
            <a:ext cx="292608" cy="292608"/>
          </a:xfrm>
          <a:prstGeom prst="roundRect">
            <a:avLst>
              <a:gd name="adj" fmla="val 50000"/>
            </a:avLst>
          </a:prstGeom>
          <a:solidFill>
            <a:srgbClr val="1E2761"/>
          </a:solidFill>
          <a:ln w="12700">
            <a:solidFill>
              <a:srgbClr val="1E2761"/>
            </a:solidFill>
            <a:prstDash val="solid"/>
          </a:ln>
        </p:spPr>
      </p:sp>
      <p:sp>
        <p:nvSpPr>
          <p:cNvPr id="29" name="Text 27"/>
          <p:cNvSpPr/>
          <p:nvPr/>
        </p:nvSpPr>
        <p:spPr>
          <a:xfrm>
            <a:off x="694944" y="264261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1</a:t>
            </a:r>
            <a:endParaRPr lang="en-US" sz="1000" dirty="0"/>
          </a:p>
        </p:txBody>
      </p:sp>
      <p:sp>
        <p:nvSpPr>
          <p:cNvPr id="30" name="Text 28"/>
          <p:cNvSpPr/>
          <p:nvPr/>
        </p:nvSpPr>
        <p:spPr>
          <a:xfrm>
            <a:off x="1097280" y="2542032"/>
            <a:ext cx="6263640" cy="493776"/>
          </a:xfrm>
          <a:prstGeom prst="rect">
            <a:avLst/>
          </a:prstGeom>
          <a:noFill/>
          <a:ln/>
        </p:spPr>
        <p:txBody>
          <a:bodyPr wrap="square" lIns="0" tIns="0" rIns="0" bIns="0" rtlCol="0" anchor="ctr"/>
          <a:lstStyle/>
          <a:p>
            <a:pPr indent="0" marL="0">
              <a:buNone/>
            </a:pPr>
            <a:r>
              <a:rPr lang="en-US" sz="1250" b="1" dirty="0">
                <a:solidFill>
                  <a:srgbClr val="1E2761"/>
                </a:solidFill>
                <a:latin typeface="Meiryo" pitchFamily="34" charset="0"/>
                <a:ea typeface="Meiryo" pitchFamily="34" charset="-122"/>
                <a:cs typeface="Meiryo" pitchFamily="34" charset="-120"/>
              </a:rPr>
              <a:t>①案件管理 ＋ ②議事録 に限定した正式導入</a:t>
            </a:r>
            <a:endParaRPr lang="en-US" sz="1250" dirty="0"/>
          </a:p>
        </p:txBody>
      </p:sp>
      <p:sp>
        <p:nvSpPr>
          <p:cNvPr id="31" name="Shape 29"/>
          <p:cNvSpPr/>
          <p:nvPr/>
        </p:nvSpPr>
        <p:spPr>
          <a:xfrm>
            <a:off x="548640" y="3108960"/>
            <a:ext cx="6903720" cy="493776"/>
          </a:xfrm>
          <a:prstGeom prst="roundRect">
            <a:avLst>
              <a:gd name="adj" fmla="val 11111"/>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32" name="Shape 30"/>
          <p:cNvSpPr/>
          <p:nvPr/>
        </p:nvSpPr>
        <p:spPr>
          <a:xfrm>
            <a:off x="694944" y="3209544"/>
            <a:ext cx="292608" cy="292608"/>
          </a:xfrm>
          <a:prstGeom prst="roundRect">
            <a:avLst>
              <a:gd name="adj" fmla="val 50000"/>
            </a:avLst>
          </a:prstGeom>
          <a:solidFill>
            <a:srgbClr val="1E2761"/>
          </a:solidFill>
          <a:ln w="12700">
            <a:solidFill>
              <a:srgbClr val="1E2761"/>
            </a:solidFill>
            <a:prstDash val="solid"/>
          </a:ln>
        </p:spPr>
      </p:sp>
      <p:sp>
        <p:nvSpPr>
          <p:cNvPr id="33" name="Text 31"/>
          <p:cNvSpPr/>
          <p:nvPr/>
        </p:nvSpPr>
        <p:spPr>
          <a:xfrm>
            <a:off x="694944" y="320954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2</a:t>
            </a:r>
            <a:endParaRPr lang="en-US" sz="1000" dirty="0"/>
          </a:p>
        </p:txBody>
      </p:sp>
      <p:sp>
        <p:nvSpPr>
          <p:cNvPr id="34" name="Text 32"/>
          <p:cNvSpPr/>
          <p:nvPr/>
        </p:nvSpPr>
        <p:spPr>
          <a:xfrm>
            <a:off x="1097280" y="3108960"/>
            <a:ext cx="6263640" cy="493776"/>
          </a:xfrm>
          <a:prstGeom prst="rect">
            <a:avLst/>
          </a:prstGeom>
          <a:noFill/>
          <a:ln/>
        </p:spPr>
        <p:txBody>
          <a:bodyPr wrap="square" lIns="0" tIns="0" rIns="0" bIns="0" rtlCol="0" anchor="ctr"/>
          <a:lstStyle/>
          <a:p>
            <a:pPr indent="0" marL="0">
              <a:buNone/>
            </a:pPr>
            <a:r>
              <a:rPr lang="en-US" sz="1250" b="1" dirty="0">
                <a:solidFill>
                  <a:srgbClr val="1E2761"/>
                </a:solidFill>
                <a:latin typeface="Meiryo" pitchFamily="34" charset="0"/>
                <a:ea typeface="Meiryo" pitchFamily="34" charset="-122"/>
                <a:cs typeface="Meiryo" pitchFamily="34" charset="-120"/>
              </a:rPr>
              <a:t>Business プランでの契約（SAML SSO 要件を満たすため）</a:t>
            </a:r>
            <a:endParaRPr lang="en-US" sz="1250" dirty="0"/>
          </a:p>
        </p:txBody>
      </p:sp>
      <p:sp>
        <p:nvSpPr>
          <p:cNvPr id="35" name="Shape 33"/>
          <p:cNvSpPr/>
          <p:nvPr/>
        </p:nvSpPr>
        <p:spPr>
          <a:xfrm>
            <a:off x="548640" y="3675888"/>
            <a:ext cx="6903720" cy="493776"/>
          </a:xfrm>
          <a:prstGeom prst="roundRect">
            <a:avLst>
              <a:gd name="adj" fmla="val 11111"/>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36" name="Shape 34"/>
          <p:cNvSpPr/>
          <p:nvPr/>
        </p:nvSpPr>
        <p:spPr>
          <a:xfrm>
            <a:off x="694944" y="3776472"/>
            <a:ext cx="292608" cy="292608"/>
          </a:xfrm>
          <a:prstGeom prst="roundRect">
            <a:avLst>
              <a:gd name="adj" fmla="val 50000"/>
            </a:avLst>
          </a:prstGeom>
          <a:solidFill>
            <a:srgbClr val="1E2761"/>
          </a:solidFill>
          <a:ln w="12700">
            <a:solidFill>
              <a:srgbClr val="1E2761"/>
            </a:solidFill>
            <a:prstDash val="solid"/>
          </a:ln>
        </p:spPr>
      </p:sp>
      <p:sp>
        <p:nvSpPr>
          <p:cNvPr id="37" name="Text 35"/>
          <p:cNvSpPr/>
          <p:nvPr/>
        </p:nvSpPr>
        <p:spPr>
          <a:xfrm>
            <a:off x="694944" y="377647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3</a:t>
            </a:r>
            <a:endParaRPr lang="en-US" sz="1000" dirty="0"/>
          </a:p>
        </p:txBody>
      </p:sp>
      <p:sp>
        <p:nvSpPr>
          <p:cNvPr id="38" name="Text 36"/>
          <p:cNvSpPr/>
          <p:nvPr/>
        </p:nvSpPr>
        <p:spPr>
          <a:xfrm>
            <a:off x="1097280" y="3675888"/>
            <a:ext cx="6263640" cy="493776"/>
          </a:xfrm>
          <a:prstGeom prst="rect">
            <a:avLst/>
          </a:prstGeom>
          <a:noFill/>
          <a:ln/>
        </p:spPr>
        <p:txBody>
          <a:bodyPr wrap="square" lIns="0" tIns="0" rIns="0" bIns="0" rtlCol="0" anchor="ctr"/>
          <a:lstStyle/>
          <a:p>
            <a:pPr indent="0" marL="0">
              <a:buNone/>
            </a:pPr>
            <a:r>
              <a:rPr lang="en-US" sz="1250" b="1" dirty="0">
                <a:solidFill>
                  <a:srgbClr val="1E2761"/>
                </a:solidFill>
                <a:latin typeface="Meiryo" pitchFamily="34" charset="0"/>
                <a:ea typeface="Meiryo" pitchFamily="34" charset="-122"/>
                <a:cs typeface="Meiryo" pitchFamily="34" charset="-120"/>
              </a:rPr>
              <a:t>コスト上限：140名 ／ 年額 約520.8万円</a:t>
            </a:r>
            <a:endParaRPr lang="en-US" sz="1250" dirty="0"/>
          </a:p>
        </p:txBody>
      </p:sp>
      <p:sp>
        <p:nvSpPr>
          <p:cNvPr id="39" name="Shape 37"/>
          <p:cNvSpPr/>
          <p:nvPr/>
        </p:nvSpPr>
        <p:spPr>
          <a:xfrm>
            <a:off x="548640" y="4279392"/>
            <a:ext cx="6903720" cy="566928"/>
          </a:xfrm>
          <a:prstGeom prst="roundRect">
            <a:avLst>
              <a:gd name="adj" fmla="val 967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0" name="Text 38"/>
          <p:cNvSpPr/>
          <p:nvPr/>
        </p:nvSpPr>
        <p:spPr>
          <a:xfrm>
            <a:off x="804672" y="4279392"/>
            <a:ext cx="6400800" cy="566928"/>
          </a:xfrm>
          <a:prstGeom prst="rect">
            <a:avLst/>
          </a:prstGeom>
          <a:noFill/>
          <a:ln/>
        </p:spPr>
        <p:txBody>
          <a:bodyPr wrap="square" lIns="0" tIns="0" rIns="0" bIns="0" rtlCol="0" anchor="ctr"/>
          <a:lstStyle/>
          <a:p>
            <a:pPr indent="0" marL="0">
              <a:buNone/>
            </a:pPr>
            <a:r>
              <a:rPr lang="en-US" sz="1050" dirty="0">
                <a:solidFill>
                  <a:srgbClr val="1A1A2E"/>
                </a:solidFill>
                <a:latin typeface="Meiryo" pitchFamily="34" charset="0"/>
                <a:ea typeface="Meiryo" pitchFamily="34" charset="-122"/>
                <a:cs typeface="Meiryo" pitchFamily="34" charset="-120"/>
              </a:rPr>
              <a:t>11月の組織変更で PMO が発足します。PMO が部署を越えて案件を束ねるための基盤として、本件をお願いするものです。</a:t>
            </a:r>
            <a:endParaRPr lang="en-US" sz="1050" dirty="0"/>
          </a:p>
        </p:txBody>
      </p:sp>
      <p:sp>
        <p:nvSpPr>
          <p:cNvPr id="41" name="Text 39"/>
          <p:cNvSpPr/>
          <p:nvPr/>
        </p:nvSpPr>
        <p:spPr>
          <a:xfrm>
            <a:off x="548640" y="4974336"/>
            <a:ext cx="4572000" cy="274320"/>
          </a:xfrm>
          <a:prstGeom prst="rect">
            <a:avLst/>
          </a:prstGeom>
          <a:noFill/>
          <a:ln/>
        </p:spPr>
        <p:txBody>
          <a:bodyPr wrap="square" lIns="0" tIns="0" rIns="0" bIns="0" rtlCol="0" anchor="ctr"/>
          <a:lstStyle/>
          <a:p>
            <a:pPr indent="0" marL="0">
              <a:buNone/>
            </a:pPr>
            <a:r>
              <a:rPr lang="en-US" sz="1200" b="1" dirty="0">
                <a:solidFill>
                  <a:srgbClr val="6B7280"/>
                </a:solidFill>
                <a:latin typeface="Meiryo" pitchFamily="34" charset="0"/>
                <a:ea typeface="Meiryo" pitchFamily="34" charset="-122"/>
                <a:cs typeface="Meiryo" pitchFamily="34" charset="-120"/>
              </a:rPr>
              <a:t>PCA側のお約束</a:t>
            </a:r>
            <a:endParaRPr lang="en-US" sz="1200" dirty="0"/>
          </a:p>
        </p:txBody>
      </p:sp>
      <p:sp>
        <p:nvSpPr>
          <p:cNvPr id="42" name="Shape 40"/>
          <p:cNvSpPr/>
          <p:nvPr/>
        </p:nvSpPr>
        <p:spPr>
          <a:xfrm>
            <a:off x="548640" y="5285232"/>
            <a:ext cx="6903720" cy="1005840"/>
          </a:xfrm>
          <a:prstGeom prst="roundRect">
            <a:avLst>
              <a:gd name="adj" fmla="val 5455"/>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3" name="Text 41"/>
          <p:cNvSpPr/>
          <p:nvPr/>
        </p:nvSpPr>
        <p:spPr>
          <a:xfrm>
            <a:off x="804672" y="5413248"/>
            <a:ext cx="6400800" cy="77724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1A1A2E"/>
                </a:solidFill>
                <a:latin typeface="Meiryo" pitchFamily="34" charset="0"/>
                <a:ea typeface="Meiryo" pitchFamily="34" charset="-122"/>
                <a:cs typeface="Meiryo" pitchFamily="34" charset="-120"/>
              </a:rPr>
              <a:t>③案件関連ファイル・④社内規定は SharePoint を継続（Microsoft 365 は置き換えません）</a:t>
            </a:r>
            <a:endParaRPr lang="en-US" sz="1000" dirty="0"/>
          </a:p>
          <a:p>
            <a:pPr marL="342900" indent="-342900">
              <a:spcAft>
                <a:spcPts val="500"/>
              </a:spcAft>
              <a:buSzPct val="100000"/>
              <a:buChar char="•"/>
            </a:pPr>
            <a:r>
              <a:rPr lang="en-US" sz="1000" dirty="0">
                <a:solidFill>
                  <a:srgbClr val="1A1A2E"/>
                </a:solidFill>
                <a:latin typeface="Meiryo" pitchFamily="34" charset="0"/>
                <a:ea typeface="Meiryo" pitchFamily="34" charset="-122"/>
                <a:cs typeface="Meiryo" pitchFamily="34" charset="-120"/>
              </a:rPr>
              <a:t>機微情報は Notion に置かない運用とします</a:t>
            </a:r>
            <a:endParaRPr lang="en-US" sz="1000" dirty="0"/>
          </a:p>
          <a:p>
            <a:pPr marL="342900" indent="-342900">
              <a:spcAft>
                <a:spcPts val="500"/>
              </a:spcAft>
              <a:buSzPct val="100000"/>
              <a:buChar char="•"/>
            </a:pPr>
            <a:r>
              <a:rPr lang="en-US" sz="1000" dirty="0">
                <a:solidFill>
                  <a:srgbClr val="1A1A2E"/>
                </a:solidFill>
                <a:latin typeface="Meiryo" pitchFamily="34" charset="0"/>
                <a:ea typeface="Meiryo" pitchFamily="34" charset="-122"/>
                <a:cs typeface="Meiryo" pitchFamily="34" charset="-120"/>
              </a:rPr>
              <a:t>効果測定の結果と、継続の要否をご報告します</a:t>
            </a:r>
            <a:endParaRPr lang="en-US" sz="1000" dirty="0"/>
          </a:p>
        </p:txBody>
      </p:sp>
      <p:sp>
        <p:nvSpPr>
          <p:cNvPr id="44" name="Shape 42"/>
          <p:cNvSpPr/>
          <p:nvPr/>
        </p:nvSpPr>
        <p:spPr>
          <a:xfrm>
            <a:off x="7662672" y="2542032"/>
            <a:ext cx="3977640" cy="3749040"/>
          </a:xfrm>
          <a:prstGeom prst="roundRect">
            <a:avLst>
              <a:gd name="adj" fmla="val 1463"/>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45" name="Text 43"/>
          <p:cNvSpPr/>
          <p:nvPr/>
        </p:nvSpPr>
        <p:spPr>
          <a:xfrm>
            <a:off x="7863840" y="2697480"/>
            <a:ext cx="3566160" cy="292608"/>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ご確認事項</a:t>
            </a:r>
            <a:endParaRPr lang="en-US" sz="1300" dirty="0"/>
          </a:p>
        </p:txBody>
      </p:sp>
      <p:sp>
        <p:nvSpPr>
          <p:cNvPr id="46" name="Shape 44"/>
          <p:cNvSpPr/>
          <p:nvPr/>
        </p:nvSpPr>
        <p:spPr>
          <a:xfrm>
            <a:off x="7863840" y="3154680"/>
            <a:ext cx="274320" cy="274320"/>
          </a:xfrm>
          <a:prstGeom prst="roundRect">
            <a:avLst>
              <a:gd name="adj" fmla="val 50000"/>
            </a:avLst>
          </a:prstGeom>
          <a:solidFill>
            <a:srgbClr val="CADCFC"/>
          </a:solidFill>
          <a:ln w="12700">
            <a:solidFill>
              <a:srgbClr val="CADCFC"/>
            </a:solidFill>
            <a:prstDash val="solid"/>
          </a:ln>
        </p:spPr>
      </p:sp>
      <p:sp>
        <p:nvSpPr>
          <p:cNvPr id="47" name="Text 45"/>
          <p:cNvSpPr/>
          <p:nvPr/>
        </p:nvSpPr>
        <p:spPr>
          <a:xfrm>
            <a:off x="7863840" y="3154680"/>
            <a:ext cx="274320" cy="274320"/>
          </a:xfrm>
          <a:prstGeom prst="rect">
            <a:avLst/>
          </a:prstGeom>
          <a:noFill/>
          <a:ln/>
        </p:spPr>
        <p:txBody>
          <a:bodyPr wrap="square" lIns="0" tIns="0" rIns="0" bIns="0" rtlCol="0" anchor="ctr"/>
          <a:lstStyle/>
          <a:p>
            <a:pPr algn="ctr" indent="0" marL="0">
              <a:buNone/>
            </a:pPr>
            <a:r>
              <a:rPr lang="en-US" sz="900" b="1" dirty="0">
                <a:solidFill>
                  <a:srgbClr val="1E2761"/>
                </a:solidFill>
                <a:latin typeface="Meiryo" pitchFamily="34" charset="0"/>
                <a:ea typeface="Meiryo" pitchFamily="34" charset="-122"/>
                <a:cs typeface="Meiryo" pitchFamily="34" charset="-120"/>
              </a:rPr>
              <a:t>1</a:t>
            </a:r>
            <a:endParaRPr lang="en-US" sz="900" dirty="0"/>
          </a:p>
        </p:txBody>
      </p:sp>
      <p:sp>
        <p:nvSpPr>
          <p:cNvPr id="48" name="Text 46"/>
          <p:cNvSpPr/>
          <p:nvPr/>
        </p:nvSpPr>
        <p:spPr>
          <a:xfrm>
            <a:off x="8229600" y="3136392"/>
            <a:ext cx="3200400" cy="274320"/>
          </a:xfrm>
          <a:prstGeom prst="rect">
            <a:avLst/>
          </a:prstGeom>
          <a:noFill/>
          <a:ln/>
        </p:spPr>
        <p:txBody>
          <a:bodyPr wrap="square" lIns="0" tIns="0" rIns="0" bIns="0" rtlCol="0" anchor="ctr"/>
          <a:lstStyle/>
          <a:p>
            <a:pPr indent="0" marL="0">
              <a:buNone/>
            </a:pPr>
            <a:r>
              <a:rPr lang="en-US" sz="1100" b="1" dirty="0">
                <a:solidFill>
                  <a:srgbClr val="FFFFFF"/>
                </a:solidFill>
                <a:latin typeface="Meiryo" pitchFamily="34" charset="0"/>
                <a:ea typeface="Meiryo" pitchFamily="34" charset="-122"/>
                <a:cs typeface="Meiryo" pitchFamily="34" charset="-120"/>
              </a:rPr>
              <a:t>SaaS導入手続きの様式</a:t>
            </a:r>
            <a:endParaRPr lang="en-US" sz="1100" dirty="0"/>
          </a:p>
        </p:txBody>
      </p:sp>
      <p:sp>
        <p:nvSpPr>
          <p:cNvPr id="49" name="Text 47"/>
          <p:cNvSpPr/>
          <p:nvPr/>
        </p:nvSpPr>
        <p:spPr>
          <a:xfrm>
            <a:off x="8229600" y="3429000"/>
            <a:ext cx="3200400" cy="640080"/>
          </a:xfrm>
          <a:prstGeom prst="rect">
            <a:avLst/>
          </a:prstGeom>
          <a:noFill/>
          <a:ln/>
        </p:spPr>
        <p:txBody>
          <a:bodyPr wrap="square" lIns="0" tIns="0" rIns="0" bIns="0" rtlCol="0" anchor="ctr"/>
          <a:lstStyle/>
          <a:p>
            <a:pPr indent="0" marL="0">
              <a:lnSpc>
                <a:spcPts val="1400"/>
              </a:lnSpc>
              <a:buNone/>
            </a:pPr>
            <a:r>
              <a:rPr lang="en-US" sz="900" dirty="0">
                <a:solidFill>
                  <a:srgbClr val="CADCFC"/>
                </a:solidFill>
                <a:latin typeface="Meiryo" pitchFamily="34" charset="0"/>
                <a:ea typeface="Meiryo" pitchFamily="34" charset="-122"/>
                <a:cs typeface="Meiryo" pitchFamily="34" charset="-120"/>
              </a:rPr>
              <a:t>グループ所定のセキュリティチェックシート等がございましたら、受領のうえ別途ご回答を作成します。</a:t>
            </a:r>
            <a:endParaRPr lang="en-US" sz="900" dirty="0"/>
          </a:p>
        </p:txBody>
      </p:sp>
      <p:sp>
        <p:nvSpPr>
          <p:cNvPr id="50" name="Shape 48"/>
          <p:cNvSpPr/>
          <p:nvPr/>
        </p:nvSpPr>
        <p:spPr>
          <a:xfrm>
            <a:off x="7863840" y="4206240"/>
            <a:ext cx="274320" cy="274320"/>
          </a:xfrm>
          <a:prstGeom prst="roundRect">
            <a:avLst>
              <a:gd name="adj" fmla="val 50000"/>
            </a:avLst>
          </a:prstGeom>
          <a:solidFill>
            <a:srgbClr val="CADCFC"/>
          </a:solidFill>
          <a:ln w="12700">
            <a:solidFill>
              <a:srgbClr val="CADCFC"/>
            </a:solidFill>
            <a:prstDash val="solid"/>
          </a:ln>
        </p:spPr>
      </p:sp>
      <p:sp>
        <p:nvSpPr>
          <p:cNvPr id="51" name="Text 49"/>
          <p:cNvSpPr/>
          <p:nvPr/>
        </p:nvSpPr>
        <p:spPr>
          <a:xfrm>
            <a:off x="7863840" y="4206240"/>
            <a:ext cx="274320" cy="274320"/>
          </a:xfrm>
          <a:prstGeom prst="rect">
            <a:avLst/>
          </a:prstGeom>
          <a:noFill/>
          <a:ln/>
        </p:spPr>
        <p:txBody>
          <a:bodyPr wrap="square" lIns="0" tIns="0" rIns="0" bIns="0" rtlCol="0" anchor="ctr"/>
          <a:lstStyle/>
          <a:p>
            <a:pPr algn="ctr" indent="0" marL="0">
              <a:buNone/>
            </a:pPr>
            <a:r>
              <a:rPr lang="en-US" sz="900" b="1" dirty="0">
                <a:solidFill>
                  <a:srgbClr val="1E2761"/>
                </a:solidFill>
                <a:latin typeface="Meiryo" pitchFamily="34" charset="0"/>
                <a:ea typeface="Meiryo" pitchFamily="34" charset="-122"/>
                <a:cs typeface="Meiryo" pitchFamily="34" charset="-120"/>
              </a:rPr>
              <a:t>2</a:t>
            </a:r>
            <a:endParaRPr lang="en-US" sz="900" dirty="0"/>
          </a:p>
        </p:txBody>
      </p:sp>
      <p:sp>
        <p:nvSpPr>
          <p:cNvPr id="52" name="Text 50"/>
          <p:cNvSpPr/>
          <p:nvPr/>
        </p:nvSpPr>
        <p:spPr>
          <a:xfrm>
            <a:off x="8229600" y="4187952"/>
            <a:ext cx="3200400" cy="274320"/>
          </a:xfrm>
          <a:prstGeom prst="rect">
            <a:avLst/>
          </a:prstGeom>
          <a:noFill/>
          <a:ln/>
        </p:spPr>
        <p:txBody>
          <a:bodyPr wrap="square" lIns="0" tIns="0" rIns="0" bIns="0" rtlCol="0" anchor="ctr"/>
          <a:lstStyle/>
          <a:p>
            <a:pPr indent="0" marL="0">
              <a:buNone/>
            </a:pPr>
            <a:r>
              <a:rPr lang="en-US" sz="1100" b="1" dirty="0">
                <a:solidFill>
                  <a:srgbClr val="FFFFFF"/>
                </a:solidFill>
                <a:latin typeface="Meiryo" pitchFamily="34" charset="0"/>
                <a:ea typeface="Meiryo" pitchFamily="34" charset="-122"/>
                <a:cs typeface="Meiryo" pitchFamily="34" charset="-120"/>
              </a:rPr>
              <a:t>監査ログを必須とされるか</a:t>
            </a:r>
            <a:endParaRPr lang="en-US" sz="1100" dirty="0"/>
          </a:p>
        </p:txBody>
      </p:sp>
      <p:sp>
        <p:nvSpPr>
          <p:cNvPr id="53" name="Text 51"/>
          <p:cNvSpPr/>
          <p:nvPr/>
        </p:nvSpPr>
        <p:spPr>
          <a:xfrm>
            <a:off x="8229600" y="4480560"/>
            <a:ext cx="3200400" cy="640080"/>
          </a:xfrm>
          <a:prstGeom prst="rect">
            <a:avLst/>
          </a:prstGeom>
          <a:noFill/>
          <a:ln/>
        </p:spPr>
        <p:txBody>
          <a:bodyPr wrap="square" lIns="0" tIns="0" rIns="0" bIns="0" rtlCol="0" anchor="ctr"/>
          <a:lstStyle/>
          <a:p>
            <a:pPr indent="0" marL="0">
              <a:lnSpc>
                <a:spcPts val="1400"/>
              </a:lnSpc>
              <a:buNone/>
            </a:pPr>
            <a:r>
              <a:rPr lang="en-US" sz="900" dirty="0">
                <a:solidFill>
                  <a:srgbClr val="CADCFC"/>
                </a:solidFill>
                <a:latin typeface="Meiryo" pitchFamily="34" charset="0"/>
                <a:ea typeface="Meiryo" pitchFamily="34" charset="-122"/>
                <a:cs typeface="Meiryo" pitchFamily="34" charset="-120"/>
              </a:rPr>
              <a:t>必須の場合は Enterprise が対象となり、年額は約911.4万円（140名）に変動します。</a:t>
            </a:r>
            <a:endParaRPr lang="en-US" sz="900" dirty="0"/>
          </a:p>
        </p:txBody>
      </p:sp>
      <p:sp>
        <p:nvSpPr>
          <p:cNvPr id="54" name="Shape 52"/>
          <p:cNvSpPr/>
          <p:nvPr/>
        </p:nvSpPr>
        <p:spPr>
          <a:xfrm>
            <a:off x="7863840" y="5257800"/>
            <a:ext cx="274320" cy="274320"/>
          </a:xfrm>
          <a:prstGeom prst="roundRect">
            <a:avLst>
              <a:gd name="adj" fmla="val 50000"/>
            </a:avLst>
          </a:prstGeom>
          <a:solidFill>
            <a:srgbClr val="CADCFC"/>
          </a:solidFill>
          <a:ln w="12700">
            <a:solidFill>
              <a:srgbClr val="CADCFC"/>
            </a:solidFill>
            <a:prstDash val="solid"/>
          </a:ln>
        </p:spPr>
      </p:sp>
      <p:sp>
        <p:nvSpPr>
          <p:cNvPr id="55" name="Text 53"/>
          <p:cNvSpPr/>
          <p:nvPr/>
        </p:nvSpPr>
        <p:spPr>
          <a:xfrm>
            <a:off x="7863840" y="5257800"/>
            <a:ext cx="274320" cy="274320"/>
          </a:xfrm>
          <a:prstGeom prst="rect">
            <a:avLst/>
          </a:prstGeom>
          <a:noFill/>
          <a:ln/>
        </p:spPr>
        <p:txBody>
          <a:bodyPr wrap="square" lIns="0" tIns="0" rIns="0" bIns="0" rtlCol="0" anchor="ctr"/>
          <a:lstStyle/>
          <a:p>
            <a:pPr algn="ctr" indent="0" marL="0">
              <a:buNone/>
            </a:pPr>
            <a:r>
              <a:rPr lang="en-US" sz="900" b="1" dirty="0">
                <a:solidFill>
                  <a:srgbClr val="1E2761"/>
                </a:solidFill>
                <a:latin typeface="Meiryo" pitchFamily="34" charset="0"/>
                <a:ea typeface="Meiryo" pitchFamily="34" charset="-122"/>
                <a:cs typeface="Meiryo" pitchFamily="34" charset="-120"/>
              </a:rPr>
              <a:t>3</a:t>
            </a:r>
            <a:endParaRPr lang="en-US" sz="900" dirty="0"/>
          </a:p>
        </p:txBody>
      </p:sp>
      <p:sp>
        <p:nvSpPr>
          <p:cNvPr id="56" name="Text 54"/>
          <p:cNvSpPr/>
          <p:nvPr/>
        </p:nvSpPr>
        <p:spPr>
          <a:xfrm>
            <a:off x="8229600" y="5239512"/>
            <a:ext cx="3200400" cy="274320"/>
          </a:xfrm>
          <a:prstGeom prst="rect">
            <a:avLst/>
          </a:prstGeom>
          <a:noFill/>
          <a:ln/>
        </p:spPr>
        <p:txBody>
          <a:bodyPr wrap="square" lIns="0" tIns="0" rIns="0" bIns="0" rtlCol="0" anchor="ctr"/>
          <a:lstStyle/>
          <a:p>
            <a:pPr indent="0" marL="0">
              <a:buNone/>
            </a:pPr>
            <a:r>
              <a:rPr lang="en-US" sz="1100" b="1" dirty="0">
                <a:solidFill>
                  <a:srgbClr val="FFFFFF"/>
                </a:solidFill>
                <a:latin typeface="Meiryo" pitchFamily="34" charset="0"/>
                <a:ea typeface="Meiryo" pitchFamily="34" charset="-122"/>
                <a:cs typeface="Meiryo" pitchFamily="34" charset="-120"/>
              </a:rPr>
              <a:t>認証資料のご提出要否</a:t>
            </a:r>
            <a:endParaRPr lang="en-US" sz="1100" dirty="0"/>
          </a:p>
        </p:txBody>
      </p:sp>
      <p:sp>
        <p:nvSpPr>
          <p:cNvPr id="57" name="Text 55"/>
          <p:cNvSpPr/>
          <p:nvPr/>
        </p:nvSpPr>
        <p:spPr>
          <a:xfrm>
            <a:off x="8229600" y="5532120"/>
            <a:ext cx="3200400" cy="640080"/>
          </a:xfrm>
          <a:prstGeom prst="rect">
            <a:avLst/>
          </a:prstGeom>
          <a:noFill/>
          <a:ln/>
        </p:spPr>
        <p:txBody>
          <a:bodyPr wrap="square" lIns="0" tIns="0" rIns="0" bIns="0" rtlCol="0" anchor="ctr"/>
          <a:lstStyle/>
          <a:p>
            <a:pPr indent="0" marL="0">
              <a:lnSpc>
                <a:spcPts val="1400"/>
              </a:lnSpc>
              <a:buNone/>
            </a:pPr>
            <a:r>
              <a:rPr lang="en-US" sz="900" dirty="0">
                <a:solidFill>
                  <a:srgbClr val="CADCFC"/>
                </a:solidFill>
                <a:latin typeface="Meiryo" pitchFamily="34" charset="0"/>
                <a:ea typeface="Meiryo" pitchFamily="34" charset="-122"/>
                <a:cs typeface="Meiryo" pitchFamily="34" charset="-120"/>
              </a:rPr>
              <a:t>必要な場合、提出先と形式をご指定ください。</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B47"/>
        </a:solidFill>
      </p:bgPr>
    </p:bg>
    <p:spTree>
      <p:nvGrpSpPr>
        <p:cNvPr id="1" name=""/>
        <p:cNvGrpSpPr/>
        <p:nvPr/>
      </p:nvGrpSpPr>
      <p:grpSpPr>
        <a:xfrm>
          <a:off x="0" y="0"/>
          <a:ext cx="0" cy="0"/>
          <a:chOff x="0" y="0"/>
          <a:chExt cx="0" cy="0"/>
        </a:xfrm>
      </p:grpSpPr>
      <p:sp>
        <p:nvSpPr>
          <p:cNvPr id="2" name="Text 0"/>
          <p:cNvSpPr/>
          <p:nvPr/>
        </p:nvSpPr>
        <p:spPr>
          <a:xfrm>
            <a:off x="822960" y="2286000"/>
            <a:ext cx="5486400" cy="822960"/>
          </a:xfrm>
          <a:prstGeom prst="rect">
            <a:avLst/>
          </a:prstGeom>
          <a:noFill/>
          <a:ln/>
        </p:spPr>
        <p:txBody>
          <a:bodyPr wrap="square" lIns="0" tIns="0" rIns="0" bIns="0" rtlCol="0" anchor="ctr"/>
          <a:lstStyle/>
          <a:p>
            <a:pPr indent="0" marL="0">
              <a:buNone/>
            </a:pPr>
            <a:r>
              <a:rPr lang="en-US" sz="4400" b="1" dirty="0">
                <a:solidFill>
                  <a:srgbClr val="FFFFFF"/>
                </a:solidFill>
                <a:latin typeface="Meiryo" pitchFamily="34" charset="0"/>
                <a:ea typeface="Meiryo" pitchFamily="34" charset="-122"/>
                <a:cs typeface="Meiryo" pitchFamily="34" charset="-120"/>
              </a:rPr>
              <a:t>Appendix</a:t>
            </a:r>
            <a:endParaRPr lang="en-US" sz="4400" dirty="0"/>
          </a:p>
        </p:txBody>
      </p:sp>
      <p:sp>
        <p:nvSpPr>
          <p:cNvPr id="3" name="Text 1"/>
          <p:cNvSpPr/>
          <p:nvPr/>
        </p:nvSpPr>
        <p:spPr>
          <a:xfrm>
            <a:off x="822960" y="3108960"/>
            <a:ext cx="7315200" cy="365760"/>
          </a:xfrm>
          <a:prstGeom prst="rect">
            <a:avLst/>
          </a:prstGeom>
          <a:noFill/>
          <a:ln/>
        </p:spPr>
        <p:txBody>
          <a:bodyPr wrap="square" lIns="0" tIns="0" rIns="0" bIns="0" rtlCol="0" anchor="ctr"/>
          <a:lstStyle/>
          <a:p>
            <a:pPr indent="0" marL="0">
              <a:buNone/>
            </a:pPr>
            <a:r>
              <a:rPr lang="en-US" sz="1500" dirty="0">
                <a:solidFill>
                  <a:srgbClr val="CADCFC"/>
                </a:solidFill>
                <a:latin typeface="Meiryo" pitchFamily="34" charset="0"/>
                <a:ea typeface="Meiryo" pitchFamily="34" charset="-122"/>
                <a:cs typeface="Meiryo" pitchFamily="34" charset="-120"/>
              </a:rPr>
              <a:t>補強材料 — ご質問に応じてご参照ください</a:t>
            </a:r>
            <a:endParaRPr lang="en-US" sz="1500" dirty="0"/>
          </a:p>
        </p:txBody>
      </p:sp>
      <p:sp>
        <p:nvSpPr>
          <p:cNvPr id="4" name="Shape 2"/>
          <p:cNvSpPr/>
          <p:nvPr/>
        </p:nvSpPr>
        <p:spPr>
          <a:xfrm>
            <a:off x="822960" y="3931920"/>
            <a:ext cx="329184" cy="329184"/>
          </a:xfrm>
          <a:prstGeom prst="roundRect">
            <a:avLst>
              <a:gd name="adj" fmla="val 16667"/>
            </a:avLst>
          </a:prstGeom>
          <a:solidFill>
            <a:srgbClr val="3A4A8F"/>
          </a:solidFill>
          <a:ln w="12700">
            <a:solidFill>
              <a:srgbClr val="3A4A8F"/>
            </a:solidFill>
            <a:prstDash val="solid"/>
          </a:ln>
        </p:spPr>
      </p:sp>
      <p:sp>
        <p:nvSpPr>
          <p:cNvPr id="5" name="Text 3"/>
          <p:cNvSpPr/>
          <p:nvPr/>
        </p:nvSpPr>
        <p:spPr>
          <a:xfrm>
            <a:off x="822960" y="3931920"/>
            <a:ext cx="329184" cy="329184"/>
          </a:xfrm>
          <a:prstGeom prst="rect">
            <a:avLst/>
          </a:prstGeom>
          <a:noFill/>
          <a:ln/>
        </p:spPr>
        <p:txBody>
          <a:bodyPr wrap="square" lIns="0" tIns="0" rIns="0" bIns="0" rtlCol="0" anchor="ctr"/>
          <a:lstStyle/>
          <a:p>
            <a:pPr algn="ctr" indent="0" marL="0">
              <a:buNone/>
            </a:pPr>
            <a:r>
              <a:rPr lang="en-US" sz="1100" b="1" dirty="0">
                <a:solidFill>
                  <a:srgbClr val="CADCFC"/>
                </a:solidFill>
                <a:latin typeface="Meiryo" pitchFamily="34" charset="0"/>
                <a:ea typeface="Meiryo" pitchFamily="34" charset="-122"/>
                <a:cs typeface="Meiryo" pitchFamily="34" charset="-120"/>
              </a:rPr>
              <a:t>A</a:t>
            </a:r>
            <a:endParaRPr lang="en-US" sz="1100" dirty="0"/>
          </a:p>
        </p:txBody>
      </p:sp>
      <p:sp>
        <p:nvSpPr>
          <p:cNvPr id="6" name="Text 4"/>
          <p:cNvSpPr/>
          <p:nvPr/>
        </p:nvSpPr>
        <p:spPr>
          <a:xfrm>
            <a:off x="1261872" y="3931920"/>
            <a:ext cx="3017520" cy="3291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4案比較表（詳細版）</a:t>
            </a:r>
            <a:endParaRPr lang="en-US" sz="1200" dirty="0"/>
          </a:p>
        </p:txBody>
      </p:sp>
      <p:sp>
        <p:nvSpPr>
          <p:cNvPr id="7" name="Shape 5"/>
          <p:cNvSpPr/>
          <p:nvPr/>
        </p:nvSpPr>
        <p:spPr>
          <a:xfrm>
            <a:off x="4434840" y="3931920"/>
            <a:ext cx="329184" cy="329184"/>
          </a:xfrm>
          <a:prstGeom prst="roundRect">
            <a:avLst>
              <a:gd name="adj" fmla="val 16667"/>
            </a:avLst>
          </a:prstGeom>
          <a:solidFill>
            <a:srgbClr val="3A4A8F"/>
          </a:solidFill>
          <a:ln w="12700">
            <a:solidFill>
              <a:srgbClr val="3A4A8F"/>
            </a:solidFill>
            <a:prstDash val="solid"/>
          </a:ln>
        </p:spPr>
      </p:sp>
      <p:sp>
        <p:nvSpPr>
          <p:cNvPr id="8" name="Text 6"/>
          <p:cNvSpPr/>
          <p:nvPr/>
        </p:nvSpPr>
        <p:spPr>
          <a:xfrm>
            <a:off x="4434840" y="3931920"/>
            <a:ext cx="329184" cy="329184"/>
          </a:xfrm>
          <a:prstGeom prst="rect">
            <a:avLst/>
          </a:prstGeom>
          <a:noFill/>
          <a:ln/>
        </p:spPr>
        <p:txBody>
          <a:bodyPr wrap="square" lIns="0" tIns="0" rIns="0" bIns="0" rtlCol="0" anchor="ctr"/>
          <a:lstStyle/>
          <a:p>
            <a:pPr algn="ctr" indent="0" marL="0">
              <a:buNone/>
            </a:pPr>
            <a:r>
              <a:rPr lang="en-US" sz="1100" b="1" dirty="0">
                <a:solidFill>
                  <a:srgbClr val="CADCFC"/>
                </a:solidFill>
                <a:latin typeface="Meiryo" pitchFamily="34" charset="0"/>
                <a:ea typeface="Meiryo" pitchFamily="34" charset="-122"/>
                <a:cs typeface="Meiryo" pitchFamily="34" charset="-120"/>
              </a:rPr>
              <a:t>B</a:t>
            </a:r>
            <a:endParaRPr lang="en-US" sz="1100" dirty="0"/>
          </a:p>
        </p:txBody>
      </p:sp>
      <p:sp>
        <p:nvSpPr>
          <p:cNvPr id="9" name="Text 7"/>
          <p:cNvSpPr/>
          <p:nvPr/>
        </p:nvSpPr>
        <p:spPr>
          <a:xfrm>
            <a:off x="4873752" y="3931920"/>
            <a:ext cx="3017520" cy="3291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想定問答</a:t>
            </a:r>
            <a:endParaRPr lang="en-US" sz="1200" dirty="0"/>
          </a:p>
        </p:txBody>
      </p:sp>
      <p:sp>
        <p:nvSpPr>
          <p:cNvPr id="10" name="Shape 8"/>
          <p:cNvSpPr/>
          <p:nvPr/>
        </p:nvSpPr>
        <p:spPr>
          <a:xfrm>
            <a:off x="8046720" y="3931920"/>
            <a:ext cx="329184" cy="329184"/>
          </a:xfrm>
          <a:prstGeom prst="roundRect">
            <a:avLst>
              <a:gd name="adj" fmla="val 16667"/>
            </a:avLst>
          </a:prstGeom>
          <a:solidFill>
            <a:srgbClr val="3A4A8F"/>
          </a:solidFill>
          <a:ln w="12700">
            <a:solidFill>
              <a:srgbClr val="3A4A8F"/>
            </a:solidFill>
            <a:prstDash val="solid"/>
          </a:ln>
        </p:spPr>
      </p:sp>
      <p:sp>
        <p:nvSpPr>
          <p:cNvPr id="11" name="Text 9"/>
          <p:cNvSpPr/>
          <p:nvPr/>
        </p:nvSpPr>
        <p:spPr>
          <a:xfrm>
            <a:off x="8046720" y="3931920"/>
            <a:ext cx="329184" cy="329184"/>
          </a:xfrm>
          <a:prstGeom prst="rect">
            <a:avLst/>
          </a:prstGeom>
          <a:noFill/>
          <a:ln/>
        </p:spPr>
        <p:txBody>
          <a:bodyPr wrap="square" lIns="0" tIns="0" rIns="0" bIns="0" rtlCol="0" anchor="ctr"/>
          <a:lstStyle/>
          <a:p>
            <a:pPr algn="ctr" indent="0" marL="0">
              <a:buNone/>
            </a:pPr>
            <a:r>
              <a:rPr lang="en-US" sz="1100" b="1" dirty="0">
                <a:solidFill>
                  <a:srgbClr val="CADCFC"/>
                </a:solidFill>
                <a:latin typeface="Meiryo" pitchFamily="34" charset="0"/>
                <a:ea typeface="Meiryo" pitchFamily="34" charset="-122"/>
                <a:cs typeface="Meiryo" pitchFamily="34" charset="-120"/>
              </a:rPr>
              <a:t>C</a:t>
            </a:r>
            <a:endParaRPr lang="en-US" sz="1100" dirty="0"/>
          </a:p>
        </p:txBody>
      </p:sp>
      <p:sp>
        <p:nvSpPr>
          <p:cNvPr id="12" name="Text 10"/>
          <p:cNvSpPr/>
          <p:nvPr/>
        </p:nvSpPr>
        <p:spPr>
          <a:xfrm>
            <a:off x="8485632" y="3931920"/>
            <a:ext cx="3017520" cy="3291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プラン別導入パターンの比較</a:t>
            </a:r>
            <a:endParaRPr lang="en-US" sz="1200" dirty="0"/>
          </a:p>
        </p:txBody>
      </p:sp>
      <p:sp>
        <p:nvSpPr>
          <p:cNvPr id="13" name="Shape 11"/>
          <p:cNvSpPr/>
          <p:nvPr/>
        </p:nvSpPr>
        <p:spPr>
          <a:xfrm>
            <a:off x="822960" y="4498848"/>
            <a:ext cx="329184" cy="329184"/>
          </a:xfrm>
          <a:prstGeom prst="roundRect">
            <a:avLst>
              <a:gd name="adj" fmla="val 16667"/>
            </a:avLst>
          </a:prstGeom>
          <a:solidFill>
            <a:srgbClr val="3A4A8F"/>
          </a:solidFill>
          <a:ln w="12700">
            <a:solidFill>
              <a:srgbClr val="3A4A8F"/>
            </a:solidFill>
            <a:prstDash val="solid"/>
          </a:ln>
        </p:spPr>
      </p:sp>
      <p:sp>
        <p:nvSpPr>
          <p:cNvPr id="14" name="Text 12"/>
          <p:cNvSpPr/>
          <p:nvPr/>
        </p:nvSpPr>
        <p:spPr>
          <a:xfrm>
            <a:off x="822960" y="4498848"/>
            <a:ext cx="329184" cy="329184"/>
          </a:xfrm>
          <a:prstGeom prst="rect">
            <a:avLst/>
          </a:prstGeom>
          <a:noFill/>
          <a:ln/>
        </p:spPr>
        <p:txBody>
          <a:bodyPr wrap="square" lIns="0" tIns="0" rIns="0" bIns="0" rtlCol="0" anchor="ctr"/>
          <a:lstStyle/>
          <a:p>
            <a:pPr algn="ctr" indent="0" marL="0">
              <a:buNone/>
            </a:pPr>
            <a:r>
              <a:rPr lang="en-US" sz="1100" b="1" dirty="0">
                <a:solidFill>
                  <a:srgbClr val="CADCFC"/>
                </a:solidFill>
                <a:latin typeface="Meiryo" pitchFamily="34" charset="0"/>
                <a:ea typeface="Meiryo" pitchFamily="34" charset="-122"/>
                <a:cs typeface="Meiryo" pitchFamily="34" charset="-120"/>
              </a:rPr>
              <a:t>D</a:t>
            </a:r>
            <a:endParaRPr lang="en-US" sz="1100" dirty="0"/>
          </a:p>
        </p:txBody>
      </p:sp>
      <p:sp>
        <p:nvSpPr>
          <p:cNvPr id="15" name="Text 13"/>
          <p:cNvSpPr/>
          <p:nvPr/>
        </p:nvSpPr>
        <p:spPr>
          <a:xfrm>
            <a:off x="1261872" y="4498848"/>
            <a:ext cx="3017520" cy="3291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SSOのメリット・デメリット</a:t>
            </a:r>
            <a:endParaRPr lang="en-US" sz="1200" dirty="0"/>
          </a:p>
        </p:txBody>
      </p:sp>
      <p:sp>
        <p:nvSpPr>
          <p:cNvPr id="16" name="Shape 14"/>
          <p:cNvSpPr/>
          <p:nvPr/>
        </p:nvSpPr>
        <p:spPr>
          <a:xfrm>
            <a:off x="4434840" y="4498848"/>
            <a:ext cx="329184" cy="329184"/>
          </a:xfrm>
          <a:prstGeom prst="roundRect">
            <a:avLst>
              <a:gd name="adj" fmla="val 16667"/>
            </a:avLst>
          </a:prstGeom>
          <a:solidFill>
            <a:srgbClr val="3A4A8F"/>
          </a:solidFill>
          <a:ln w="12700">
            <a:solidFill>
              <a:srgbClr val="3A4A8F"/>
            </a:solidFill>
            <a:prstDash val="solid"/>
          </a:ln>
        </p:spPr>
      </p:sp>
      <p:sp>
        <p:nvSpPr>
          <p:cNvPr id="17" name="Text 15"/>
          <p:cNvSpPr/>
          <p:nvPr/>
        </p:nvSpPr>
        <p:spPr>
          <a:xfrm>
            <a:off x="4434840" y="4498848"/>
            <a:ext cx="329184" cy="329184"/>
          </a:xfrm>
          <a:prstGeom prst="rect">
            <a:avLst/>
          </a:prstGeom>
          <a:noFill/>
          <a:ln/>
        </p:spPr>
        <p:txBody>
          <a:bodyPr wrap="square" lIns="0" tIns="0" rIns="0" bIns="0" rtlCol="0" anchor="ctr"/>
          <a:lstStyle/>
          <a:p>
            <a:pPr algn="ctr" indent="0" marL="0">
              <a:buNone/>
            </a:pPr>
            <a:r>
              <a:rPr lang="en-US" sz="1100" b="1" dirty="0">
                <a:solidFill>
                  <a:srgbClr val="CADCFC"/>
                </a:solidFill>
                <a:latin typeface="Meiryo" pitchFamily="34" charset="0"/>
                <a:ea typeface="Meiryo" pitchFamily="34" charset="-122"/>
                <a:cs typeface="Meiryo" pitchFamily="34" charset="-120"/>
              </a:rPr>
              <a:t>E</a:t>
            </a:r>
            <a:endParaRPr lang="en-US" sz="1100" dirty="0"/>
          </a:p>
        </p:txBody>
      </p:sp>
      <p:sp>
        <p:nvSpPr>
          <p:cNvPr id="18" name="Text 16"/>
          <p:cNvSpPr/>
          <p:nvPr/>
        </p:nvSpPr>
        <p:spPr>
          <a:xfrm>
            <a:off x="4873752" y="4498848"/>
            <a:ext cx="3017520" cy="3291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コスト感度分析</a:t>
            </a:r>
            <a:endParaRPr lang="en-US" sz="1200" dirty="0"/>
          </a:p>
        </p:txBody>
      </p:sp>
      <p:sp>
        <p:nvSpPr>
          <p:cNvPr id="19" name="Shape 17"/>
          <p:cNvSpPr/>
          <p:nvPr/>
        </p:nvSpPr>
        <p:spPr>
          <a:xfrm>
            <a:off x="8046720" y="4498848"/>
            <a:ext cx="329184" cy="329184"/>
          </a:xfrm>
          <a:prstGeom prst="roundRect">
            <a:avLst>
              <a:gd name="adj" fmla="val 16667"/>
            </a:avLst>
          </a:prstGeom>
          <a:solidFill>
            <a:srgbClr val="3A4A8F"/>
          </a:solidFill>
          <a:ln w="12700">
            <a:solidFill>
              <a:srgbClr val="3A4A8F"/>
            </a:solidFill>
            <a:prstDash val="solid"/>
          </a:ln>
        </p:spPr>
      </p:sp>
      <p:sp>
        <p:nvSpPr>
          <p:cNvPr id="20" name="Text 18"/>
          <p:cNvSpPr/>
          <p:nvPr/>
        </p:nvSpPr>
        <p:spPr>
          <a:xfrm>
            <a:off x="8046720" y="4498848"/>
            <a:ext cx="329184" cy="329184"/>
          </a:xfrm>
          <a:prstGeom prst="rect">
            <a:avLst/>
          </a:prstGeom>
          <a:noFill/>
          <a:ln/>
        </p:spPr>
        <p:txBody>
          <a:bodyPr wrap="square" lIns="0" tIns="0" rIns="0" bIns="0" rtlCol="0" anchor="ctr"/>
          <a:lstStyle/>
          <a:p>
            <a:pPr algn="ctr" indent="0" marL="0">
              <a:buNone/>
            </a:pPr>
            <a:r>
              <a:rPr lang="en-US" sz="1100" b="1" dirty="0">
                <a:solidFill>
                  <a:srgbClr val="CADCFC"/>
                </a:solidFill>
                <a:latin typeface="Meiryo" pitchFamily="34" charset="0"/>
                <a:ea typeface="Meiryo" pitchFamily="34" charset="-122"/>
                <a:cs typeface="Meiryo" pitchFamily="34" charset="-120"/>
              </a:rPr>
              <a:t>F</a:t>
            </a:r>
            <a:endParaRPr lang="en-US" sz="1100" dirty="0"/>
          </a:p>
        </p:txBody>
      </p:sp>
      <p:sp>
        <p:nvSpPr>
          <p:cNvPr id="21" name="Text 19"/>
          <p:cNvSpPr/>
          <p:nvPr/>
        </p:nvSpPr>
        <p:spPr>
          <a:xfrm>
            <a:off x="8485632" y="4498848"/>
            <a:ext cx="3017520" cy="3291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ファイルアップロード仕様</a:t>
            </a:r>
            <a:endParaRPr lang="en-US" sz="1200" dirty="0"/>
          </a:p>
        </p:txBody>
      </p:sp>
      <p:sp>
        <p:nvSpPr>
          <p:cNvPr id="22" name="Shape 20"/>
          <p:cNvSpPr/>
          <p:nvPr/>
        </p:nvSpPr>
        <p:spPr>
          <a:xfrm>
            <a:off x="822960" y="5065776"/>
            <a:ext cx="329184" cy="329184"/>
          </a:xfrm>
          <a:prstGeom prst="roundRect">
            <a:avLst>
              <a:gd name="adj" fmla="val 16667"/>
            </a:avLst>
          </a:prstGeom>
          <a:solidFill>
            <a:srgbClr val="3A4A8F"/>
          </a:solidFill>
          <a:ln w="12700">
            <a:solidFill>
              <a:srgbClr val="3A4A8F"/>
            </a:solidFill>
            <a:prstDash val="solid"/>
          </a:ln>
        </p:spPr>
      </p:sp>
      <p:sp>
        <p:nvSpPr>
          <p:cNvPr id="23" name="Text 21"/>
          <p:cNvSpPr/>
          <p:nvPr/>
        </p:nvSpPr>
        <p:spPr>
          <a:xfrm>
            <a:off x="822960" y="5065776"/>
            <a:ext cx="329184" cy="329184"/>
          </a:xfrm>
          <a:prstGeom prst="rect">
            <a:avLst/>
          </a:prstGeom>
          <a:noFill/>
          <a:ln/>
        </p:spPr>
        <p:txBody>
          <a:bodyPr wrap="square" lIns="0" tIns="0" rIns="0" bIns="0" rtlCol="0" anchor="ctr"/>
          <a:lstStyle/>
          <a:p>
            <a:pPr algn="ctr" indent="0" marL="0">
              <a:buNone/>
            </a:pPr>
            <a:r>
              <a:rPr lang="en-US" sz="1100" b="1" dirty="0">
                <a:solidFill>
                  <a:srgbClr val="CADCFC"/>
                </a:solidFill>
                <a:latin typeface="Meiryo" pitchFamily="34" charset="0"/>
                <a:ea typeface="Meiryo" pitchFamily="34" charset="-122"/>
                <a:cs typeface="Meiryo" pitchFamily="34" charset="-120"/>
              </a:rPr>
              <a:t>G</a:t>
            </a:r>
            <a:endParaRPr lang="en-US" sz="1100" dirty="0"/>
          </a:p>
        </p:txBody>
      </p:sp>
      <p:sp>
        <p:nvSpPr>
          <p:cNvPr id="24" name="Text 22"/>
          <p:cNvSpPr/>
          <p:nvPr/>
        </p:nvSpPr>
        <p:spPr>
          <a:xfrm>
            <a:off x="1261872" y="5065776"/>
            <a:ext cx="3017520" cy="3291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出典一覧</a:t>
            </a:r>
            <a:endParaRPr lang="en-US" sz="1200" dirty="0"/>
          </a:p>
        </p:txBody>
      </p:sp>
      <p:sp>
        <p:nvSpPr>
          <p:cNvPr id="25" name="Shape 23"/>
          <p:cNvSpPr/>
          <p:nvPr/>
        </p:nvSpPr>
        <p:spPr>
          <a:xfrm>
            <a:off x="4434840" y="5065776"/>
            <a:ext cx="329184" cy="329184"/>
          </a:xfrm>
          <a:prstGeom prst="roundRect">
            <a:avLst>
              <a:gd name="adj" fmla="val 16667"/>
            </a:avLst>
          </a:prstGeom>
          <a:solidFill>
            <a:srgbClr val="3A4A8F"/>
          </a:solidFill>
          <a:ln w="12700">
            <a:solidFill>
              <a:srgbClr val="3A4A8F"/>
            </a:solidFill>
            <a:prstDash val="solid"/>
          </a:ln>
        </p:spPr>
      </p:sp>
      <p:sp>
        <p:nvSpPr>
          <p:cNvPr id="26" name="Text 24"/>
          <p:cNvSpPr/>
          <p:nvPr/>
        </p:nvSpPr>
        <p:spPr>
          <a:xfrm>
            <a:off x="4434840" y="5065776"/>
            <a:ext cx="329184" cy="329184"/>
          </a:xfrm>
          <a:prstGeom prst="rect">
            <a:avLst/>
          </a:prstGeom>
          <a:noFill/>
          <a:ln/>
        </p:spPr>
        <p:txBody>
          <a:bodyPr wrap="square" lIns="0" tIns="0" rIns="0" bIns="0" rtlCol="0" anchor="ctr"/>
          <a:lstStyle/>
          <a:p>
            <a:pPr algn="ctr" indent="0" marL="0">
              <a:buNone/>
            </a:pPr>
            <a:r>
              <a:rPr lang="en-US" sz="1100" b="1" dirty="0">
                <a:solidFill>
                  <a:srgbClr val="CADCFC"/>
                </a:solidFill>
                <a:latin typeface="Meiryo" pitchFamily="34" charset="0"/>
                <a:ea typeface="Meiryo" pitchFamily="34" charset="-122"/>
                <a:cs typeface="Meiryo" pitchFamily="34" charset="-120"/>
              </a:rPr>
              <a:t>H</a:t>
            </a:r>
            <a:endParaRPr lang="en-US" sz="1100" dirty="0"/>
          </a:p>
        </p:txBody>
      </p:sp>
      <p:sp>
        <p:nvSpPr>
          <p:cNvPr id="27" name="Text 25"/>
          <p:cNvSpPr/>
          <p:nvPr/>
        </p:nvSpPr>
        <p:spPr>
          <a:xfrm>
            <a:off x="4873752" y="5065776"/>
            <a:ext cx="3017520" cy="329184"/>
          </a:xfrm>
          <a:prstGeom prst="rect">
            <a:avLst/>
          </a:prstGeom>
          <a:noFill/>
          <a:ln/>
        </p:spPr>
        <p:txBody>
          <a:bodyPr wrap="square" lIns="0" tIns="0" rIns="0" bIns="0" rtlCol="0" anchor="ctr"/>
          <a:lstStyle/>
          <a:p>
            <a:pPr indent="0" marL="0">
              <a:buNone/>
            </a:pPr>
            <a:r>
              <a:rPr lang="en-US" sz="1200" dirty="0">
                <a:solidFill>
                  <a:srgbClr val="FFFFFF"/>
                </a:solidFill>
                <a:latin typeface="Meiryo" pitchFamily="34" charset="0"/>
                <a:ea typeface="Meiryo" pitchFamily="34" charset="-122"/>
                <a:cs typeface="Meiryo" pitchFamily="34" charset="-120"/>
              </a:rPr>
              <a:t>会議設計と全社展開の設計</a:t>
            </a:r>
            <a:endParaRPr lang="en-US" sz="1200" dirty="0"/>
          </a:p>
        </p:txBody>
      </p:sp>
      <p:sp>
        <p:nvSpPr>
          <p:cNvPr id="28" name="Text 26"/>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20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Appendix A</a:t>
            </a:r>
            <a:endParaRPr lang="en-US" sz="1050" dirty="0"/>
          </a:p>
        </p:txBody>
      </p:sp>
      <p:sp>
        <p:nvSpPr>
          <p:cNvPr id="4" name="Shape 2"/>
          <p:cNvSpPr/>
          <p:nvPr/>
        </p:nvSpPr>
        <p:spPr>
          <a:xfrm>
            <a:off x="9389059" y="402336"/>
            <a:ext cx="237744" cy="237744"/>
          </a:xfrm>
          <a:prstGeom prst="roundRect">
            <a:avLst>
              <a:gd name="adj" fmla="val 15385"/>
            </a:avLst>
          </a:prstGeom>
          <a:solidFill>
            <a:srgbClr val="1E2761"/>
          </a:solidFill>
          <a:ln w="12700">
            <a:solidFill>
              <a:srgbClr val="1E2761"/>
            </a:solidFill>
            <a:prstDash val="solid"/>
          </a:ln>
        </p:spPr>
      </p:sp>
      <p:sp>
        <p:nvSpPr>
          <p:cNvPr id="5" name="Text 3"/>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A</a:t>
            </a:r>
            <a:endParaRPr lang="en-US" sz="750" dirty="0"/>
          </a:p>
        </p:txBody>
      </p:sp>
      <p:sp>
        <p:nvSpPr>
          <p:cNvPr id="6" name="Shape 4"/>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B</a:t>
            </a:r>
            <a:endParaRPr lang="en-US" sz="750" dirty="0"/>
          </a:p>
        </p:txBody>
      </p:sp>
      <p:sp>
        <p:nvSpPr>
          <p:cNvPr id="8" name="Shape 6"/>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C</a:t>
            </a:r>
            <a:endParaRPr lang="en-US" sz="750" dirty="0"/>
          </a:p>
        </p:txBody>
      </p:sp>
      <p:sp>
        <p:nvSpPr>
          <p:cNvPr id="10" name="Shape 8"/>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D</a:t>
            </a:r>
            <a:endParaRPr lang="en-US" sz="750" dirty="0"/>
          </a:p>
        </p:txBody>
      </p:sp>
      <p:sp>
        <p:nvSpPr>
          <p:cNvPr id="12" name="Shape 10"/>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E</a:t>
            </a:r>
            <a:endParaRPr lang="en-US" sz="750" dirty="0"/>
          </a:p>
        </p:txBody>
      </p:sp>
      <p:sp>
        <p:nvSpPr>
          <p:cNvPr id="14" name="Shape 12"/>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F</a:t>
            </a:r>
            <a:endParaRPr lang="en-US" sz="750" dirty="0"/>
          </a:p>
        </p:txBody>
      </p:sp>
      <p:sp>
        <p:nvSpPr>
          <p:cNvPr id="16" name="Shape 14"/>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G</a:t>
            </a:r>
            <a:endParaRPr lang="en-US" sz="750" dirty="0"/>
          </a:p>
        </p:txBody>
      </p:sp>
      <p:sp>
        <p:nvSpPr>
          <p:cNvPr id="18" name="Shape 16"/>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H</a:t>
            </a:r>
            <a:endParaRPr lang="en-US" sz="750" dirty="0"/>
          </a:p>
        </p:txBody>
      </p:sp>
      <p:sp>
        <p:nvSpPr>
          <p:cNvPr id="20" name="Text 18"/>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4案比較表（詳細版）</a:t>
            </a:r>
            <a:endParaRPr lang="en-US" sz="2600" dirty="0"/>
          </a:p>
        </p:txBody>
      </p:sp>
      <p:sp>
        <p:nvSpPr>
          <p:cNvPr id="21" name="Shape 19"/>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2" name="Text 20"/>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判定の理由を各欄に注記しています。消去の論拠は本編 第4章をご参照ください</a:t>
            </a:r>
            <a:endParaRPr lang="en-US" sz="1350" dirty="0"/>
          </a:p>
        </p:txBody>
      </p:sp>
      <p:sp>
        <p:nvSpPr>
          <p:cNvPr id="23" name="Text 21"/>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21</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2176272"/>
          <a:ext cx="11094415" cy="914400"/>
        </p:xfrm>
        <a:graphic>
          <a:graphicData uri="http://schemas.openxmlformats.org/drawingml/2006/table">
            <a:tbl>
              <a:tblPr/>
              <a:tblGrid>
                <a:gridCol w="2148840"/>
                <a:gridCol w="2286000"/>
                <a:gridCol w="2148840"/>
                <a:gridCol w="2148840"/>
                <a:gridCol w="2359152"/>
              </a:tblGrid>
              <a:tr h="256032">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要件</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A. Microsoft 365 の組合せ</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B. 無料ツール</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C. 専用ツール</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D. Notion</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7A5A"/>
                    </a:solidFill>
                  </a:tcPr>
                </a:tc>
              </a:tr>
              <a:tr h="45720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1. タスクに担当者・期限が必ず付く</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Planner等で設定は可能だが、ツールごとに運用がばらつく</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入力必須にできず空欄が残る</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タスク管理は本来の得意分野</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必須プロパティとして担保できる</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5720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2. 遅れを部署横断で一覧できる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Planner/Lists/Loopをまたいだ抽出ができない</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ツール単位に留まる</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当該ツールに登録された範囲のみ</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全案件のタスクを横断ビューで抽出できる</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5720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3. 何のためのタスクか辿れる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案件・議事録が別管理で結びつかない</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リレーション機能を持たない</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Backlogは親子課題まで。目的まで遡れない（当社試用）</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タスク→案件→決定事項→議事録まで遡れる</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5720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4. 立場別のビューを切り替えられる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同一データを別形式で見る仕組みが無い</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ビューの種類が限られる</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ガント・ボード等に対応</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同一DBをガント/ボード/カレンダー/テーブルで切替</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5720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5. ガバナンス（SSO・権限）</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Microsoft 365 の統制下にある</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SSOが有料機能。無料利用はシャドーIT化する</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多くが対応</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SAML SSO は Business 以上で対応（第6章）</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6576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6. 1製品で完結</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3製品以上の併用が前提</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用途ごとに別ツール</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議事録・wikiで別ツール併用</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案件・タスク・議事録・wikiを1製品で完結</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84048">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（参考）当社での試用</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Backlogを試用。ガントは有効だが、目的との結びつきは管理できず</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7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経営層で3か月試用。管理台帳として使えることを確認</a:t>
                      </a:r>
                      <a:endParaRPr lang="en-US" sz="7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Appendix B</a:t>
            </a:r>
            <a:endParaRPr lang="en-US" sz="1050" dirty="0"/>
          </a:p>
        </p:txBody>
      </p:sp>
      <p:sp>
        <p:nvSpPr>
          <p:cNvPr id="4" name="Shape 2"/>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A</a:t>
            </a:r>
            <a:endParaRPr lang="en-US" sz="750" dirty="0"/>
          </a:p>
        </p:txBody>
      </p:sp>
      <p:sp>
        <p:nvSpPr>
          <p:cNvPr id="6" name="Shape 4"/>
          <p:cNvSpPr/>
          <p:nvPr/>
        </p:nvSpPr>
        <p:spPr>
          <a:xfrm>
            <a:off x="9677095" y="402336"/>
            <a:ext cx="237744" cy="237744"/>
          </a:xfrm>
          <a:prstGeom prst="roundRect">
            <a:avLst>
              <a:gd name="adj" fmla="val 15385"/>
            </a:avLst>
          </a:prstGeom>
          <a:solidFill>
            <a:srgbClr val="1E2761"/>
          </a:solidFill>
          <a:ln w="12700">
            <a:solidFill>
              <a:srgbClr val="1E2761"/>
            </a:solidFill>
            <a:prstDash val="solid"/>
          </a:ln>
        </p:spPr>
      </p:sp>
      <p:sp>
        <p:nvSpPr>
          <p:cNvPr id="7" name="Text 5"/>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B</a:t>
            </a:r>
            <a:endParaRPr lang="en-US" sz="750" dirty="0"/>
          </a:p>
        </p:txBody>
      </p:sp>
      <p:sp>
        <p:nvSpPr>
          <p:cNvPr id="8" name="Shape 6"/>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C</a:t>
            </a:r>
            <a:endParaRPr lang="en-US" sz="750" dirty="0"/>
          </a:p>
        </p:txBody>
      </p:sp>
      <p:sp>
        <p:nvSpPr>
          <p:cNvPr id="10" name="Shape 8"/>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D</a:t>
            </a:r>
            <a:endParaRPr lang="en-US" sz="750" dirty="0"/>
          </a:p>
        </p:txBody>
      </p:sp>
      <p:sp>
        <p:nvSpPr>
          <p:cNvPr id="12" name="Shape 10"/>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E</a:t>
            </a:r>
            <a:endParaRPr lang="en-US" sz="750" dirty="0"/>
          </a:p>
        </p:txBody>
      </p:sp>
      <p:sp>
        <p:nvSpPr>
          <p:cNvPr id="14" name="Shape 12"/>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F</a:t>
            </a:r>
            <a:endParaRPr lang="en-US" sz="750" dirty="0"/>
          </a:p>
        </p:txBody>
      </p:sp>
      <p:sp>
        <p:nvSpPr>
          <p:cNvPr id="16" name="Shape 14"/>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G</a:t>
            </a:r>
            <a:endParaRPr lang="en-US" sz="750" dirty="0"/>
          </a:p>
        </p:txBody>
      </p:sp>
      <p:sp>
        <p:nvSpPr>
          <p:cNvPr id="18" name="Shape 16"/>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H</a:t>
            </a:r>
            <a:endParaRPr lang="en-US" sz="750" dirty="0"/>
          </a:p>
        </p:txBody>
      </p:sp>
      <p:sp>
        <p:nvSpPr>
          <p:cNvPr id="20" name="Text 18"/>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想定問答</a:t>
            </a:r>
            <a:endParaRPr lang="en-US" sz="2600" dirty="0"/>
          </a:p>
        </p:txBody>
      </p:sp>
      <p:sp>
        <p:nvSpPr>
          <p:cNvPr id="21" name="Shape 19"/>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2" name="Text 20"/>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ご質問が想定される点について、あらかじめ回答を整理しています</a:t>
            </a:r>
            <a:endParaRPr lang="en-US" sz="1350" dirty="0"/>
          </a:p>
        </p:txBody>
      </p:sp>
      <p:sp>
        <p:nvSpPr>
          <p:cNvPr id="23" name="Text 21"/>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22</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94415" cy="914400"/>
        </p:xfrm>
        <a:graphic>
          <a:graphicData uri="http://schemas.openxmlformats.org/drawingml/2006/table">
            <a:tbl>
              <a:tblPr/>
              <a:tblGrid>
                <a:gridCol w="3657600"/>
                <a:gridCol w="7434072"/>
              </a:tblGrid>
              <a:tr h="402336">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ご質問</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回答</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r>
              <a:tr h="402336">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Microsoft 365 があるのに二重投資では？</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役割が異なります（Microsoft 365 ＝保管・伝達／Notion ＝構造化された実行管理）。Microsoft 365 は継続し、置き換えません。</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02336">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Microsoft 365 Copilot で良いのでは？</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Copilot は検索・要約の道具であり、案件管理の仕組み自体は提供しません。AI は基盤の代替ではなく基盤の上に乗るもので、構造化されたデータベースがある方が AI 活用の精度は上がります。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02336">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Planner や Lists で良いのでは？</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案件⇔議事録⇔タスクのリレーションと立場別ビューが実務水準に達しません。複数アプリの組合せは、いま解決したい「分散」を作り直すことになります。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02336">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セキュリティは大丈夫か？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SOC 2 Type II・ISO 27001 他を取得済みです。SAML SSO で Microsoft 365 と統合し、機微情報は置かない運用とします（第6章）。</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02336">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定着するのか？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経営層で3か月試した結果に加え、テンプレート・ミニマニュアルを整備したうえで展開します。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02336">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うまくいかなかった場合は？</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対象範囲を①②に限定しているため、合わなければやめられます。効果KPIが未達であれば翌年度の更新を見送ります。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02336">
                <a:tc>
                  <a:txBody>
                    <a:bodyPr/>
                    <a:lstStyle/>
                    <a:p>
                      <a:pPr algn="l" indent="0" marL="0">
                        <a:buNone/>
                      </a:pPr>
                      <a:r>
                        <a:rPr lang="en-US" sz="1000" b="1" dirty="0">
                          <a:solidFill>
                            <a:srgbClr val="1E2761"/>
                          </a:solidFill>
                          <a:latin typeface="Meiryo" pitchFamily="34" charset="0"/>
                          <a:ea typeface="Meiryo" pitchFamily="34" charset="-122"/>
                          <a:cs typeface="Meiryo" pitchFamily="34" charset="-120"/>
                        </a:rPr>
                        <a:t>監査ログが無い Business で、情報持ち出しをどう追跡するのか？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Business では追跡できません。①②のスコープでは機微情報を置かない運用で担保します。監査ログを必須要件とされる場合は Enterprise への切替となり、年額約911.4万円（140名）に変動します。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02336">
                <a:tc>
                  <a:txBody>
                    <a:bodyPr/>
                    <a:lstStyle/>
                    <a:p>
                      <a:pPr algn="l" indent="0" marL="0">
                        <a:buNone/>
                      </a:pPr>
                      <a:r>
                        <a:rPr lang="en-US" sz="1000" b="1" dirty="0">
                          <a:solidFill>
                            <a:srgbClr val="1E2761"/>
                          </a:solidFill>
                          <a:latin typeface="Meiryo" pitchFamily="34" charset="0"/>
                          <a:ea typeface="Meiryo" pitchFamily="34" charset="-122"/>
                          <a:cs typeface="Meiryo" pitchFamily="34" charset="-120"/>
                        </a:rPr>
                        <a:t>退職者のアカウントはどう消すのか？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SAML SSO により Microsoft 365 のアカウント停止と同時にログイン不能となります。Business は SCIM 非対応のため、課金停止のためのメンバー削除は管理部による手動運用とし、対象者リストを月次で突合します。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02336">
                <a:tc>
                  <a:txBody>
                    <a:bodyPr/>
                    <a:lstStyle/>
                    <a:p>
                      <a:pPr algn="l" indent="0" marL="0">
                        <a:buNone/>
                      </a:pPr>
                      <a:r>
                        <a:rPr lang="en-US" sz="1000" b="1" dirty="0">
                          <a:solidFill>
                            <a:srgbClr val="1E2761"/>
                          </a:solidFill>
                          <a:latin typeface="Meiryo" pitchFamily="34" charset="0"/>
                          <a:ea typeface="Meiryo" pitchFamily="34" charset="-122"/>
                          <a:cs typeface="Meiryo" pitchFamily="34" charset="-120"/>
                        </a:rPr>
                        <a:t>業務委託・社外パートナーはどうするのか？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ゲスト（無料）として必要ページのみに招待します。ライセンス課金対象は正規社員に限定し、ゲスト運用ルールは導入前に策定します。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Appendix C-1</a:t>
            </a:r>
            <a:endParaRPr lang="en-US" sz="1050" dirty="0"/>
          </a:p>
        </p:txBody>
      </p:sp>
      <p:sp>
        <p:nvSpPr>
          <p:cNvPr id="4" name="Shape 2"/>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A</a:t>
            </a:r>
            <a:endParaRPr lang="en-US" sz="750" dirty="0"/>
          </a:p>
        </p:txBody>
      </p:sp>
      <p:sp>
        <p:nvSpPr>
          <p:cNvPr id="6" name="Shape 4"/>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B</a:t>
            </a:r>
            <a:endParaRPr lang="en-US" sz="750" dirty="0"/>
          </a:p>
        </p:txBody>
      </p:sp>
      <p:sp>
        <p:nvSpPr>
          <p:cNvPr id="8" name="Shape 6"/>
          <p:cNvSpPr/>
          <p:nvPr/>
        </p:nvSpPr>
        <p:spPr>
          <a:xfrm>
            <a:off x="9965131" y="402336"/>
            <a:ext cx="237744" cy="237744"/>
          </a:xfrm>
          <a:prstGeom prst="roundRect">
            <a:avLst>
              <a:gd name="adj" fmla="val 15385"/>
            </a:avLst>
          </a:prstGeom>
          <a:solidFill>
            <a:srgbClr val="1E2761"/>
          </a:solidFill>
          <a:ln w="12700">
            <a:solidFill>
              <a:srgbClr val="1E2761"/>
            </a:solidFill>
            <a:prstDash val="solid"/>
          </a:ln>
        </p:spPr>
      </p:sp>
      <p:sp>
        <p:nvSpPr>
          <p:cNvPr id="9" name="Text 7"/>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C</a:t>
            </a:r>
            <a:endParaRPr lang="en-US" sz="750" dirty="0"/>
          </a:p>
        </p:txBody>
      </p:sp>
      <p:sp>
        <p:nvSpPr>
          <p:cNvPr id="10" name="Shape 8"/>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D</a:t>
            </a:r>
            <a:endParaRPr lang="en-US" sz="750" dirty="0"/>
          </a:p>
        </p:txBody>
      </p:sp>
      <p:sp>
        <p:nvSpPr>
          <p:cNvPr id="12" name="Shape 10"/>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E</a:t>
            </a:r>
            <a:endParaRPr lang="en-US" sz="750" dirty="0"/>
          </a:p>
        </p:txBody>
      </p:sp>
      <p:sp>
        <p:nvSpPr>
          <p:cNvPr id="14" name="Shape 12"/>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F</a:t>
            </a:r>
            <a:endParaRPr lang="en-US" sz="750" dirty="0"/>
          </a:p>
        </p:txBody>
      </p:sp>
      <p:sp>
        <p:nvSpPr>
          <p:cNvPr id="16" name="Shape 14"/>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G</a:t>
            </a:r>
            <a:endParaRPr lang="en-US" sz="750" dirty="0"/>
          </a:p>
        </p:txBody>
      </p:sp>
      <p:sp>
        <p:nvSpPr>
          <p:cNvPr id="18" name="Shape 16"/>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H</a:t>
            </a:r>
            <a:endParaRPr lang="en-US" sz="750" dirty="0"/>
          </a:p>
        </p:txBody>
      </p:sp>
      <p:sp>
        <p:nvSpPr>
          <p:cNvPr id="20" name="Text 18"/>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プラン別 導入パターンの比較</a:t>
            </a:r>
            <a:endParaRPr lang="en-US" sz="2600" dirty="0"/>
          </a:p>
        </p:txBody>
      </p:sp>
      <p:sp>
        <p:nvSpPr>
          <p:cNvPr id="21" name="Shape 19"/>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2" name="Text 20"/>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検討した3案と、参考としての Enterprise を、費用の低い順に並べています</a:t>
            </a:r>
            <a:endParaRPr lang="en-US" sz="1350" dirty="0"/>
          </a:p>
        </p:txBody>
      </p:sp>
      <p:sp>
        <p:nvSpPr>
          <p:cNvPr id="23" name="Text 21"/>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23</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94415" cy="914400"/>
        </p:xfrm>
        <a:graphic>
          <a:graphicData uri="http://schemas.openxmlformats.org/drawingml/2006/table">
            <a:tbl>
              <a:tblPr/>
              <a:tblGrid>
                <a:gridCol w="2148840"/>
                <a:gridCol w="2286000"/>
                <a:gridCol w="2148840"/>
                <a:gridCol w="2240280"/>
                <a:gridCol w="2267712"/>
              </a:tblGrid>
              <a:tr h="384048">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比較項目</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案B：幹部のみBusiness</a:t>
                      </a:r>
                      <a:endParaRPr lang="en-US" sz="1050" dirty="0">
                        <a:latin typeface="Meiryo" charset="0"/>
                        <a:ea typeface="Meiryo" charset="0"/>
                        <a:cs typeface="Meiryo" charset="0"/>
                      </a:endParaRPr>
                    </a:p>
                    <a:p>
                      <a:pPr algn="ctr" indent="0" marL="0">
                        <a:buNone/>
                      </a:pPr>
                      <a:r>
                        <a:rPr lang="en-US" sz="1050" b="1" dirty="0">
                          <a:solidFill>
                            <a:srgbClr val="FFFFFF"/>
                          </a:solidFill>
                          <a:latin typeface="Meiryo" pitchFamily="34" charset="0"/>
                          <a:ea typeface="Meiryo" pitchFamily="34" charset="-122"/>
                          <a:cs typeface="Meiryo" pitchFamily="34" charset="-120"/>
                        </a:rPr>
                        <a:t>＋他はFree</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案C：Plus 全員</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案A：Business 全員</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7A5A"/>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（参考）Enterprise 全員</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r>
              <a:tr h="36576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月額単価（年払・1人）</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幹部30名のみ $20</a:t>
                      </a:r>
                      <a:endParaRPr lang="en-US" sz="1000" dirty="0">
                        <a:latin typeface="Meiryo" charset="0"/>
                        <a:ea typeface="Meiryo" charset="0"/>
                        <a:cs typeface="Meiryo" charset="0"/>
                      </a:endParaRPr>
                    </a:p>
                    <a:p>
                      <a:pPr algn="ctr" indent="0" marL="0">
                        <a:buNone/>
                      </a:pPr>
                      <a:r>
                        <a:rPr lang="en-US" sz="1000" dirty="0">
                          <a:solidFill>
                            <a:srgbClr val="1A1A2E"/>
                          </a:solidFill>
                          <a:latin typeface="Meiryo" pitchFamily="34" charset="0"/>
                          <a:ea typeface="Meiryo" pitchFamily="34" charset="-122"/>
                          <a:cs typeface="Meiryo" pitchFamily="34" charset="-120"/>
                        </a:rPr>
                        <a:t>他110名 $0</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$10</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b="1" dirty="0">
                          <a:solidFill>
                            <a:srgbClr val="1A1A2E"/>
                          </a:solidFill>
                          <a:latin typeface="Meiryo" pitchFamily="34" charset="0"/>
                          <a:ea typeface="Meiryo" pitchFamily="34" charset="-122"/>
                          <a:cs typeface="Meiryo" pitchFamily="34" charset="-120"/>
                        </a:rPr>
                        <a:t>$20</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個別見積（$30〜40目安）</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292608">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年額（140名）</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111.6 万円</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260.4 万円</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100" b="1" dirty="0">
                          <a:solidFill>
                            <a:srgbClr val="1E2761"/>
                          </a:solidFill>
                          <a:latin typeface="Meiryo" pitchFamily="34" charset="0"/>
                          <a:ea typeface="Meiryo" pitchFamily="34" charset="-122"/>
                          <a:cs typeface="Meiryo" pitchFamily="34" charset="-120"/>
                        </a:rPr>
                        <a:t>約 520.8 万円</a:t>
                      </a:r>
                      <a:endParaRPr lang="en-US" sz="11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911.4 万円</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6576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SAML SSO</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一般社員は対象外</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利用不可</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全員が対象</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全員が対象</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10896">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監査ログ・SCIM</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利用不可</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利用不可</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利用不可</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完全対応</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6576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アクセス・権限統制</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ページごとの手動共有</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9A6700"/>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閲覧制限が限定的</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部署別チームスペース</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組織単位で制御</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6576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全社ナレッジ共有</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B3261E"/>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部分的にしか見られない</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基本的な共有は可能</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検索・共同編集が快適</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200" b="1" dirty="0">
                          <a:solidFill>
                            <a:srgbClr val="1E7A5A"/>
                          </a:solidFill>
                          <a:latin typeface="Meiryo" pitchFamily="34" charset="0"/>
                          <a:ea typeface="Meiryo" pitchFamily="34" charset="-122"/>
                          <a:cs typeface="Meiryo" pitchFamily="34" charset="-120"/>
                        </a:rPr>
                        <a:t>○</a:t>
                      </a:r>
                      <a:pPr algn="l" indent="0" marL="0">
                        <a:buNone/>
                      </a:pPr>
                      <a:endParaRPr lang="en-US" sz="800" dirty="0">
                        <a:latin typeface="Meiryo" charset="0"/>
                        <a:ea typeface="Meiryo" charset="0"/>
                        <a:cs typeface="Meiryo" charset="0"/>
                      </a:endParaRPr>
                    </a:p>
                    <a:p>
                      <a:pPr algn="l" indent="0" marL="0">
                        <a:buNone/>
                      </a:pPr>
                      <a:r>
                        <a:rPr lang="en-US" sz="900" dirty="0">
                          <a:solidFill>
                            <a:srgbClr val="1A1A2E"/>
                          </a:solidFill>
                          <a:latin typeface="Meiryo" pitchFamily="34" charset="0"/>
                          <a:ea typeface="Meiryo" pitchFamily="34" charset="-122"/>
                          <a:cs typeface="Meiryo" pitchFamily="34" charset="-120"/>
                        </a:rPr>
                        <a:t>検索・共同編集が快適</a:t>
                      </a:r>
                      <a:endParaRPr lang="en-US" sz="8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27432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Notion AI</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幹部30名のみ</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B3261E"/>
                          </a:solidFill>
                          <a:latin typeface="Meiryo" pitchFamily="34" charset="0"/>
                          <a:ea typeface="Meiryo" pitchFamily="34" charset="-122"/>
                          <a:cs typeface="Meiryo" pitchFamily="34" charset="-120"/>
                        </a:rPr>
                        <a:t>×  試用のみ</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b="1" dirty="0">
                          <a:solidFill>
                            <a:srgbClr val="1E7A5A"/>
                          </a:solidFill>
                          <a:latin typeface="Meiryo" pitchFamily="34" charset="0"/>
                          <a:ea typeface="Meiryo" pitchFamily="34" charset="-122"/>
                          <a:cs typeface="Meiryo" pitchFamily="34" charset="-120"/>
                        </a:rPr>
                        <a:t>○  全員</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E7A5A"/>
                          </a:solidFill>
                          <a:latin typeface="Meiryo" pitchFamily="34" charset="0"/>
                          <a:ea typeface="Meiryo" pitchFamily="34" charset="-122"/>
                          <a:cs typeface="Meiryo" pitchFamily="34" charset="-120"/>
                        </a:rPr>
                        <a:t>○  全員</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27432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セキュリティ要件の充足</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B3261E"/>
                          </a:solidFill>
                          <a:latin typeface="Meiryo" pitchFamily="34" charset="0"/>
                          <a:ea typeface="Meiryo" pitchFamily="34" charset="-122"/>
                          <a:cs typeface="Meiryo" pitchFamily="34" charset="-120"/>
                        </a:rPr>
                        <a:t>満たさない</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B3261E"/>
                          </a:solidFill>
                          <a:latin typeface="Meiryo" pitchFamily="34" charset="0"/>
                          <a:ea typeface="Meiryo" pitchFamily="34" charset="-122"/>
                          <a:cs typeface="Meiryo" pitchFamily="34" charset="-120"/>
                        </a:rPr>
                        <a:t>満たさない（SSO非対応）</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b="1" dirty="0">
                          <a:solidFill>
                            <a:srgbClr val="1E7A5A"/>
                          </a:solidFill>
                          <a:latin typeface="Meiryo" pitchFamily="34" charset="0"/>
                          <a:ea typeface="Meiryo" pitchFamily="34" charset="-122"/>
                          <a:cs typeface="Meiryo" pitchFamily="34" charset="-120"/>
                        </a:rPr>
                        <a:t>満たす（監査ログを除く）</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E7A5A"/>
                          </a:solidFill>
                          <a:latin typeface="Meiryo" pitchFamily="34" charset="0"/>
                          <a:ea typeface="Meiryo" pitchFamily="34" charset="-122"/>
                          <a:cs typeface="Meiryo" pitchFamily="34" charset="-120"/>
                        </a:rPr>
                        <a:t>すべて満たす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bl>
          </a:graphicData>
        </a:graphic>
      </p:graphicFrame>
      <p:sp>
        <p:nvSpPr>
          <p:cNvPr id="25" name="Shape 22"/>
          <p:cNvSpPr/>
          <p:nvPr/>
        </p:nvSpPr>
        <p:spPr>
          <a:xfrm>
            <a:off x="548640" y="5742432"/>
            <a:ext cx="11094415" cy="566928"/>
          </a:xfrm>
          <a:prstGeom prst="roundRect">
            <a:avLst>
              <a:gd name="adj" fmla="val 9677"/>
            </a:avLst>
          </a:prstGeom>
          <a:solidFill>
            <a:srgbClr val="1E2761"/>
          </a:solidFill>
          <a:ln w="12700">
            <a:solidFill>
              <a:srgbClr val="1E2761"/>
            </a:solidFill>
            <a:prstDash val="solid"/>
          </a:ln>
          <a:effectLst>
            <a:outerShdw sx="100000" sy="100000" kx="0" ky="0" algn="bl" rotWithShape="0" blurRad="101600" dist="12700" dir="5400000">
              <a:srgbClr val="1E2761">
                <a:alpha val="10000"/>
              </a:srgbClr>
            </a:outerShdw>
          </a:effectLst>
        </p:spPr>
      </p:sp>
      <p:sp>
        <p:nvSpPr>
          <p:cNvPr id="26" name="Text 23"/>
          <p:cNvSpPr/>
          <p:nvPr/>
        </p:nvSpPr>
        <p:spPr>
          <a:xfrm>
            <a:off x="868680" y="5742432"/>
            <a:ext cx="10454335" cy="566928"/>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SSO を必須要件とする限り、実務的に成立するのは案A（Business 全員）のみです</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Appendix C-2</a:t>
            </a:r>
            <a:endParaRPr lang="en-US" sz="1050" dirty="0"/>
          </a:p>
        </p:txBody>
      </p:sp>
      <p:sp>
        <p:nvSpPr>
          <p:cNvPr id="4" name="Shape 2"/>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A</a:t>
            </a:r>
            <a:endParaRPr lang="en-US" sz="750" dirty="0"/>
          </a:p>
        </p:txBody>
      </p:sp>
      <p:sp>
        <p:nvSpPr>
          <p:cNvPr id="6" name="Shape 4"/>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B</a:t>
            </a:r>
            <a:endParaRPr lang="en-US" sz="750" dirty="0"/>
          </a:p>
        </p:txBody>
      </p:sp>
      <p:sp>
        <p:nvSpPr>
          <p:cNvPr id="8" name="Shape 6"/>
          <p:cNvSpPr/>
          <p:nvPr/>
        </p:nvSpPr>
        <p:spPr>
          <a:xfrm>
            <a:off x="9965131" y="402336"/>
            <a:ext cx="237744" cy="237744"/>
          </a:xfrm>
          <a:prstGeom prst="roundRect">
            <a:avLst>
              <a:gd name="adj" fmla="val 15385"/>
            </a:avLst>
          </a:prstGeom>
          <a:solidFill>
            <a:srgbClr val="1E2761"/>
          </a:solidFill>
          <a:ln w="12700">
            <a:solidFill>
              <a:srgbClr val="1E2761"/>
            </a:solidFill>
            <a:prstDash val="solid"/>
          </a:ln>
        </p:spPr>
      </p:sp>
      <p:sp>
        <p:nvSpPr>
          <p:cNvPr id="9" name="Text 7"/>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C</a:t>
            </a:r>
            <a:endParaRPr lang="en-US" sz="750" dirty="0"/>
          </a:p>
        </p:txBody>
      </p:sp>
      <p:sp>
        <p:nvSpPr>
          <p:cNvPr id="10" name="Shape 8"/>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D</a:t>
            </a:r>
            <a:endParaRPr lang="en-US" sz="750" dirty="0"/>
          </a:p>
        </p:txBody>
      </p:sp>
      <p:sp>
        <p:nvSpPr>
          <p:cNvPr id="12" name="Shape 10"/>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E</a:t>
            </a:r>
            <a:endParaRPr lang="en-US" sz="750" dirty="0"/>
          </a:p>
        </p:txBody>
      </p:sp>
      <p:sp>
        <p:nvSpPr>
          <p:cNvPr id="14" name="Shape 12"/>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F</a:t>
            </a:r>
            <a:endParaRPr lang="en-US" sz="750" dirty="0"/>
          </a:p>
        </p:txBody>
      </p:sp>
      <p:sp>
        <p:nvSpPr>
          <p:cNvPr id="16" name="Shape 14"/>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G</a:t>
            </a:r>
            <a:endParaRPr lang="en-US" sz="750" dirty="0"/>
          </a:p>
        </p:txBody>
      </p:sp>
      <p:sp>
        <p:nvSpPr>
          <p:cNvPr id="18" name="Shape 16"/>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H</a:t>
            </a:r>
            <a:endParaRPr lang="en-US" sz="750" dirty="0"/>
          </a:p>
        </p:txBody>
      </p:sp>
      <p:sp>
        <p:nvSpPr>
          <p:cNvPr id="20" name="Text 18"/>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各案の詳細分析</a:t>
            </a:r>
            <a:endParaRPr lang="en-US" sz="2600" dirty="0"/>
          </a:p>
        </p:txBody>
      </p:sp>
      <p:sp>
        <p:nvSpPr>
          <p:cNvPr id="21" name="Shape 19"/>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2" name="Text 20"/>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C-1 の判定に至った理由の裏付けです</a:t>
            </a:r>
            <a:endParaRPr lang="en-US" sz="1350" dirty="0"/>
          </a:p>
        </p:txBody>
      </p:sp>
      <p:sp>
        <p:nvSpPr>
          <p:cNvPr id="23" name="Text 21"/>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24</a:t>
            </a:r>
            <a:endParaRPr lang="en-US" sz="1000" dirty="0"/>
          </a:p>
        </p:txBody>
      </p:sp>
      <p:sp>
        <p:nvSpPr>
          <p:cNvPr id="24" name="Shape 22"/>
          <p:cNvSpPr/>
          <p:nvPr/>
        </p:nvSpPr>
        <p:spPr>
          <a:xfrm>
            <a:off x="548640" y="2194560"/>
            <a:ext cx="11094415" cy="1170432"/>
          </a:xfrm>
          <a:prstGeom prst="roundRect">
            <a:avLst>
              <a:gd name="adj" fmla="val 4688"/>
            </a:avLst>
          </a:prstGeom>
          <a:solidFill>
            <a:srgbClr val="FBEDEC"/>
          </a:solidFill>
          <a:ln w="12700">
            <a:solidFill>
              <a:srgbClr val="B3261E"/>
            </a:solidFill>
            <a:prstDash val="solid"/>
          </a:ln>
          <a:effectLst>
            <a:outerShdw sx="100000" sy="100000" kx="0" ky="0" algn="bl" rotWithShape="0" blurRad="101600" dist="12700" dir="5400000">
              <a:srgbClr val="1E2761">
                <a:alpha val="10000"/>
              </a:srgbClr>
            </a:outerShdw>
          </a:effectLst>
        </p:spPr>
      </p:sp>
      <p:sp>
        <p:nvSpPr>
          <p:cNvPr id="25" name="Text 23"/>
          <p:cNvSpPr/>
          <p:nvPr/>
        </p:nvSpPr>
        <p:spPr>
          <a:xfrm>
            <a:off x="777240" y="2286000"/>
            <a:ext cx="4114800" cy="274320"/>
          </a:xfrm>
          <a:prstGeom prst="rect">
            <a:avLst/>
          </a:prstGeom>
          <a:noFill/>
          <a:ln/>
        </p:spPr>
        <p:txBody>
          <a:bodyPr wrap="square" lIns="0" tIns="0" rIns="0" bIns="0" rtlCol="0" anchor="ctr"/>
          <a:lstStyle/>
          <a:p>
            <a:pPr indent="0" marL="0">
              <a:buNone/>
            </a:pPr>
            <a:r>
              <a:rPr lang="en-US" sz="1300" b="1" dirty="0">
                <a:solidFill>
                  <a:srgbClr val="B3261E"/>
                </a:solidFill>
                <a:latin typeface="Meiryo" pitchFamily="34" charset="0"/>
                <a:ea typeface="Meiryo" pitchFamily="34" charset="-122"/>
                <a:cs typeface="Meiryo" pitchFamily="34" charset="-120"/>
              </a:rPr>
              <a:t>案B：幹部のみBusiness＋他社員Free</a:t>
            </a:r>
            <a:endParaRPr lang="en-US" sz="1300" dirty="0"/>
          </a:p>
        </p:txBody>
      </p:sp>
      <p:sp>
        <p:nvSpPr>
          <p:cNvPr id="26" name="Shape 24"/>
          <p:cNvSpPr/>
          <p:nvPr/>
        </p:nvSpPr>
        <p:spPr>
          <a:xfrm>
            <a:off x="4983480" y="2322576"/>
            <a:ext cx="2103120" cy="219456"/>
          </a:xfrm>
          <a:prstGeom prst="roundRect">
            <a:avLst>
              <a:gd name="adj" fmla="val 16667"/>
            </a:avLst>
          </a:prstGeom>
          <a:solidFill>
            <a:srgbClr val="B3261E"/>
          </a:solidFill>
          <a:ln w="12700">
            <a:solidFill>
              <a:srgbClr val="B3261E"/>
            </a:solidFill>
            <a:prstDash val="solid"/>
          </a:ln>
        </p:spPr>
      </p:sp>
      <p:sp>
        <p:nvSpPr>
          <p:cNvPr id="27" name="Text 25"/>
          <p:cNvSpPr/>
          <p:nvPr/>
        </p:nvSpPr>
        <p:spPr>
          <a:xfrm>
            <a:off x="4983480" y="2322576"/>
            <a:ext cx="210312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Meiryo" pitchFamily="34" charset="0"/>
                <a:ea typeface="Meiryo" pitchFamily="34" charset="-122"/>
                <a:cs typeface="Meiryo" pitchFamily="34" charset="-120"/>
              </a:rPr>
              <a:t>推奨度 不可・非推奨</a:t>
            </a:r>
            <a:endParaRPr lang="en-US" sz="850" dirty="0"/>
          </a:p>
        </p:txBody>
      </p:sp>
      <p:sp>
        <p:nvSpPr>
          <p:cNvPr id="28" name="Text 26"/>
          <p:cNvSpPr/>
          <p:nvPr/>
        </p:nvSpPr>
        <p:spPr>
          <a:xfrm>
            <a:off x="777240" y="2596896"/>
            <a:ext cx="10637215" cy="237744"/>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できること：費用を最小限に抑えられる（幹部30名分・約111.6万円/年）。</a:t>
            </a:r>
            <a:endParaRPr lang="en-US" sz="900" dirty="0"/>
          </a:p>
        </p:txBody>
      </p:sp>
      <p:sp>
        <p:nvSpPr>
          <p:cNvPr id="29" name="Text 27"/>
          <p:cNvSpPr/>
          <p:nvPr/>
        </p:nvSpPr>
        <p:spPr>
          <a:xfrm>
            <a:off x="777240" y="2834640"/>
            <a:ext cx="10637215" cy="310896"/>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重大な欠陥：①一般社員はゲスト扱いとなり SAML SSO が適用されず、個人のフリーアカウントでログインする。②ゲストはチームスペース全体を閲覧できず、ページごとに個別招待が必要で全社Wikiとして成立しない。③退職時に Microsoft 365 を停止しても個人アカウントに権限が残る。</a:t>
            </a:r>
            <a:endParaRPr lang="en-US" sz="900" dirty="0"/>
          </a:p>
        </p:txBody>
      </p:sp>
      <p:sp>
        <p:nvSpPr>
          <p:cNvPr id="30" name="Text 28"/>
          <p:cNvSpPr/>
          <p:nvPr/>
        </p:nvSpPr>
        <p:spPr>
          <a:xfrm>
            <a:off x="777240" y="3127248"/>
            <a:ext cx="10637215" cy="219456"/>
          </a:xfrm>
          <a:prstGeom prst="rect">
            <a:avLst/>
          </a:prstGeom>
          <a:noFill/>
          <a:ln/>
        </p:spPr>
        <p:txBody>
          <a:bodyPr wrap="square" lIns="0" tIns="0" rIns="0" bIns="0" rtlCol="0" anchor="ctr"/>
          <a:lstStyle/>
          <a:p>
            <a:pPr indent="0" marL="0">
              <a:buNone/>
            </a:pPr>
            <a:r>
              <a:rPr lang="en-US" sz="950" b="1" dirty="0">
                <a:solidFill>
                  <a:srgbClr val="B3261E"/>
                </a:solidFill>
                <a:latin typeface="Meiryo" pitchFamily="34" charset="0"/>
                <a:ea typeface="Meiryo" pitchFamily="34" charset="-122"/>
                <a:cs typeface="Meiryo" pitchFamily="34" charset="-120"/>
              </a:rPr>
              <a:t>判定：セキュリティガバナンスが成立せず、全社の情報基盤としての運用が困難です。</a:t>
            </a:r>
            <a:endParaRPr lang="en-US" sz="950" dirty="0"/>
          </a:p>
        </p:txBody>
      </p:sp>
      <p:sp>
        <p:nvSpPr>
          <p:cNvPr id="31" name="Shape 29"/>
          <p:cNvSpPr/>
          <p:nvPr/>
        </p:nvSpPr>
        <p:spPr>
          <a:xfrm>
            <a:off x="548640" y="3438144"/>
            <a:ext cx="11094415" cy="1170432"/>
          </a:xfrm>
          <a:prstGeom prst="roundRect">
            <a:avLst>
              <a:gd name="adj" fmla="val 4688"/>
            </a:avLst>
          </a:prstGeom>
          <a:solidFill>
            <a:srgbClr val="FDF6E7"/>
          </a:solidFill>
          <a:ln w="12700">
            <a:solidFill>
              <a:srgbClr val="9A6700"/>
            </a:solidFill>
            <a:prstDash val="solid"/>
          </a:ln>
          <a:effectLst>
            <a:outerShdw sx="100000" sy="100000" kx="0" ky="0" algn="bl" rotWithShape="0" blurRad="101600" dist="12700" dir="5400000">
              <a:srgbClr val="1E2761">
                <a:alpha val="10000"/>
              </a:srgbClr>
            </a:outerShdw>
          </a:effectLst>
        </p:spPr>
      </p:sp>
      <p:sp>
        <p:nvSpPr>
          <p:cNvPr id="32" name="Text 30"/>
          <p:cNvSpPr/>
          <p:nvPr/>
        </p:nvSpPr>
        <p:spPr>
          <a:xfrm>
            <a:off x="777240" y="3529584"/>
            <a:ext cx="4114800" cy="274320"/>
          </a:xfrm>
          <a:prstGeom prst="rect">
            <a:avLst/>
          </a:prstGeom>
          <a:noFill/>
          <a:ln/>
        </p:spPr>
        <p:txBody>
          <a:bodyPr wrap="square" lIns="0" tIns="0" rIns="0" bIns="0" rtlCol="0" anchor="ctr"/>
          <a:lstStyle/>
          <a:p>
            <a:pPr indent="0" marL="0">
              <a:buNone/>
            </a:pPr>
            <a:r>
              <a:rPr lang="en-US" sz="1300" b="1" dirty="0">
                <a:solidFill>
                  <a:srgbClr val="9A6700"/>
                </a:solidFill>
                <a:latin typeface="Meiryo" pitchFamily="34" charset="0"/>
                <a:ea typeface="Meiryo" pitchFamily="34" charset="-122"/>
                <a:cs typeface="Meiryo" pitchFamily="34" charset="-120"/>
              </a:rPr>
              <a:t>案C：Plus 全員</a:t>
            </a:r>
            <a:endParaRPr lang="en-US" sz="1300" dirty="0"/>
          </a:p>
        </p:txBody>
      </p:sp>
      <p:sp>
        <p:nvSpPr>
          <p:cNvPr id="33" name="Shape 31"/>
          <p:cNvSpPr/>
          <p:nvPr/>
        </p:nvSpPr>
        <p:spPr>
          <a:xfrm>
            <a:off x="4983480" y="3566160"/>
            <a:ext cx="2103120" cy="219456"/>
          </a:xfrm>
          <a:prstGeom prst="roundRect">
            <a:avLst>
              <a:gd name="adj" fmla="val 16667"/>
            </a:avLst>
          </a:prstGeom>
          <a:solidFill>
            <a:srgbClr val="9A6700"/>
          </a:solidFill>
          <a:ln w="12700">
            <a:solidFill>
              <a:srgbClr val="9A6700"/>
            </a:solidFill>
            <a:prstDash val="solid"/>
          </a:ln>
        </p:spPr>
      </p:sp>
      <p:sp>
        <p:nvSpPr>
          <p:cNvPr id="34" name="Text 32"/>
          <p:cNvSpPr/>
          <p:nvPr/>
        </p:nvSpPr>
        <p:spPr>
          <a:xfrm>
            <a:off x="4983480" y="3566160"/>
            <a:ext cx="210312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Meiryo" pitchFamily="34" charset="0"/>
                <a:ea typeface="Meiryo" pitchFamily="34" charset="-122"/>
                <a:cs typeface="Meiryo" pitchFamily="34" charset="-120"/>
              </a:rPr>
              <a:t>推奨度 低〜中</a:t>
            </a:r>
            <a:endParaRPr lang="en-US" sz="850" dirty="0"/>
          </a:p>
        </p:txBody>
      </p:sp>
      <p:sp>
        <p:nvSpPr>
          <p:cNvPr id="35" name="Text 33"/>
          <p:cNvSpPr/>
          <p:nvPr/>
        </p:nvSpPr>
        <p:spPr>
          <a:xfrm>
            <a:off x="777240" y="3840480"/>
            <a:ext cx="10637215" cy="237744"/>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できること：ページ作成・ブロック数無制限、共同編集、外部ゲスト招待。案Aの半額（約260.4万円/年）。</a:t>
            </a:r>
            <a:endParaRPr lang="en-US" sz="900" dirty="0"/>
          </a:p>
        </p:txBody>
      </p:sp>
      <p:sp>
        <p:nvSpPr>
          <p:cNvPr id="36" name="Text 34"/>
          <p:cNvSpPr/>
          <p:nvPr/>
        </p:nvSpPr>
        <p:spPr>
          <a:xfrm>
            <a:off x="777240" y="4078224"/>
            <a:ext cx="10637215" cy="310896"/>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できないこと：SAML SSO が利用不可（個別のパスワードや二要素認証に依存）。プライベートチームスペースが作成できない。Notion AI は試用のみ。ゲスト上限は100名。</a:t>
            </a:r>
            <a:endParaRPr lang="en-US" sz="900" dirty="0"/>
          </a:p>
        </p:txBody>
      </p:sp>
      <p:sp>
        <p:nvSpPr>
          <p:cNvPr id="37" name="Text 35"/>
          <p:cNvSpPr/>
          <p:nvPr/>
        </p:nvSpPr>
        <p:spPr>
          <a:xfrm>
            <a:off x="777240" y="4370832"/>
            <a:ext cx="10637215" cy="219456"/>
          </a:xfrm>
          <a:prstGeom prst="rect">
            <a:avLst/>
          </a:prstGeom>
          <a:noFill/>
          <a:ln/>
        </p:spPr>
        <p:txBody>
          <a:bodyPr wrap="square" lIns="0" tIns="0" rIns="0" bIns="0" rtlCol="0" anchor="ctr"/>
          <a:lstStyle/>
          <a:p>
            <a:pPr indent="0" marL="0">
              <a:buNone/>
            </a:pPr>
            <a:r>
              <a:rPr lang="en-US" sz="950" b="1" dirty="0">
                <a:solidFill>
                  <a:srgbClr val="9A6700"/>
                </a:solidFill>
                <a:latin typeface="Meiryo" pitchFamily="34" charset="0"/>
                <a:ea typeface="Meiryo" pitchFamily="34" charset="-122"/>
                <a:cs typeface="Meiryo" pitchFamily="34" charset="-120"/>
              </a:rPr>
              <a:t>判定：SAML SSO による一括認証を必須条件とされる場合、要件を満たしません。</a:t>
            </a:r>
            <a:endParaRPr lang="en-US" sz="950" dirty="0"/>
          </a:p>
        </p:txBody>
      </p:sp>
      <p:sp>
        <p:nvSpPr>
          <p:cNvPr id="38" name="Shape 36"/>
          <p:cNvSpPr/>
          <p:nvPr/>
        </p:nvSpPr>
        <p:spPr>
          <a:xfrm>
            <a:off x="548640" y="4681728"/>
            <a:ext cx="11094415" cy="1170432"/>
          </a:xfrm>
          <a:prstGeom prst="roundRect">
            <a:avLst>
              <a:gd name="adj" fmla="val 4688"/>
            </a:avLst>
          </a:prstGeom>
          <a:solidFill>
            <a:srgbClr val="E9F5F0"/>
          </a:solidFill>
          <a:ln w="12700">
            <a:solidFill>
              <a:srgbClr val="1E7A5A"/>
            </a:solidFill>
            <a:prstDash val="solid"/>
          </a:ln>
          <a:effectLst>
            <a:outerShdw sx="100000" sy="100000" kx="0" ky="0" algn="bl" rotWithShape="0" blurRad="101600" dist="12700" dir="5400000">
              <a:srgbClr val="1E2761">
                <a:alpha val="10000"/>
              </a:srgbClr>
            </a:outerShdw>
          </a:effectLst>
        </p:spPr>
      </p:sp>
      <p:sp>
        <p:nvSpPr>
          <p:cNvPr id="39" name="Text 37"/>
          <p:cNvSpPr/>
          <p:nvPr/>
        </p:nvSpPr>
        <p:spPr>
          <a:xfrm>
            <a:off x="777240" y="4773168"/>
            <a:ext cx="4114800" cy="274320"/>
          </a:xfrm>
          <a:prstGeom prst="rect">
            <a:avLst/>
          </a:prstGeom>
          <a:noFill/>
          <a:ln/>
        </p:spPr>
        <p:txBody>
          <a:bodyPr wrap="square" lIns="0" tIns="0" rIns="0" bIns="0" rtlCol="0" anchor="ctr"/>
          <a:lstStyle/>
          <a:p>
            <a:pPr indent="0" marL="0">
              <a:buNone/>
            </a:pPr>
            <a:r>
              <a:rPr lang="en-US" sz="1300" b="1" dirty="0">
                <a:solidFill>
                  <a:srgbClr val="1E7A5A"/>
                </a:solidFill>
                <a:latin typeface="Meiryo" pitchFamily="34" charset="0"/>
                <a:ea typeface="Meiryo" pitchFamily="34" charset="-122"/>
                <a:cs typeface="Meiryo" pitchFamily="34" charset="-120"/>
              </a:rPr>
              <a:t>案A：Business 全員</a:t>
            </a:r>
            <a:endParaRPr lang="en-US" sz="1300" dirty="0"/>
          </a:p>
        </p:txBody>
      </p:sp>
      <p:sp>
        <p:nvSpPr>
          <p:cNvPr id="40" name="Shape 38"/>
          <p:cNvSpPr/>
          <p:nvPr/>
        </p:nvSpPr>
        <p:spPr>
          <a:xfrm>
            <a:off x="4983480" y="4809744"/>
            <a:ext cx="2103120" cy="219456"/>
          </a:xfrm>
          <a:prstGeom prst="roundRect">
            <a:avLst>
              <a:gd name="adj" fmla="val 16667"/>
            </a:avLst>
          </a:prstGeom>
          <a:solidFill>
            <a:srgbClr val="1E7A5A"/>
          </a:solidFill>
          <a:ln w="12700">
            <a:solidFill>
              <a:srgbClr val="1E7A5A"/>
            </a:solidFill>
            <a:prstDash val="solid"/>
          </a:ln>
        </p:spPr>
      </p:sp>
      <p:sp>
        <p:nvSpPr>
          <p:cNvPr id="41" name="Text 39"/>
          <p:cNvSpPr/>
          <p:nvPr/>
        </p:nvSpPr>
        <p:spPr>
          <a:xfrm>
            <a:off x="4983480" y="4809744"/>
            <a:ext cx="210312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Meiryo" pitchFamily="34" charset="0"/>
                <a:ea typeface="Meiryo" pitchFamily="34" charset="-122"/>
                <a:cs typeface="Meiryo" pitchFamily="34" charset="-120"/>
              </a:rPr>
              <a:t>本資料のご提案</a:t>
            </a:r>
            <a:endParaRPr lang="en-US" sz="850" dirty="0"/>
          </a:p>
        </p:txBody>
      </p:sp>
      <p:sp>
        <p:nvSpPr>
          <p:cNvPr id="42" name="Text 40"/>
          <p:cNvSpPr/>
          <p:nvPr/>
        </p:nvSpPr>
        <p:spPr>
          <a:xfrm>
            <a:off x="777240" y="5084064"/>
            <a:ext cx="10637215" cy="237744"/>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できること：全員が Entra ID 経由で SAML SSO ログイン。部署ごとのプライベートチームスペース。Notion AI を全員が利用可能。ゲストは250名まで。</a:t>
            </a:r>
            <a:endParaRPr lang="en-US" sz="900" dirty="0"/>
          </a:p>
        </p:txBody>
      </p:sp>
      <p:sp>
        <p:nvSpPr>
          <p:cNvPr id="43" name="Text 41"/>
          <p:cNvSpPr/>
          <p:nvPr/>
        </p:nvSpPr>
        <p:spPr>
          <a:xfrm>
            <a:off x="777240" y="5321808"/>
            <a:ext cx="10637215" cy="310896"/>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できないこと：監査ログの閲覧・出力（事後追跡が不可）。SCIM による入退社時の自動同期（管理部による手動削除が必要）。</a:t>
            </a:r>
            <a:endParaRPr lang="en-US" sz="900" dirty="0"/>
          </a:p>
        </p:txBody>
      </p:sp>
      <p:sp>
        <p:nvSpPr>
          <p:cNvPr id="44" name="Text 42"/>
          <p:cNvSpPr/>
          <p:nvPr/>
        </p:nvSpPr>
        <p:spPr>
          <a:xfrm>
            <a:off x="777240" y="5614416"/>
            <a:ext cx="10637215" cy="219456"/>
          </a:xfrm>
          <a:prstGeom prst="rect">
            <a:avLst/>
          </a:prstGeom>
          <a:noFill/>
          <a:ln/>
        </p:spPr>
        <p:txBody>
          <a:bodyPr wrap="square" lIns="0" tIns="0" rIns="0" bIns="0" rtlCol="0" anchor="ctr"/>
          <a:lstStyle/>
          <a:p>
            <a:pPr indent="0" marL="0">
              <a:buNone/>
            </a:pPr>
            <a:r>
              <a:rPr lang="en-US" sz="950" b="1" dirty="0">
                <a:solidFill>
                  <a:srgbClr val="1E7A5A"/>
                </a:solidFill>
                <a:latin typeface="Meiryo" pitchFamily="34" charset="0"/>
                <a:ea typeface="Meiryo" pitchFamily="34" charset="-122"/>
                <a:cs typeface="Meiryo" pitchFamily="34" charset="-120"/>
              </a:rPr>
              <a:t>判定：SSO を必須とし監査ログを必須としない場合、コストと機能のバランスが最も良い構成です。</a:t>
            </a:r>
            <a:endParaRPr lang="en-US" sz="950" dirty="0"/>
          </a:p>
        </p:txBody>
      </p:sp>
      <p:sp>
        <p:nvSpPr>
          <p:cNvPr id="45" name="Shape 43"/>
          <p:cNvSpPr/>
          <p:nvPr/>
        </p:nvSpPr>
        <p:spPr>
          <a:xfrm>
            <a:off x="548640" y="5961888"/>
            <a:ext cx="11094415" cy="420624"/>
          </a:xfrm>
          <a:prstGeom prst="roundRect">
            <a:avLst>
              <a:gd name="adj" fmla="val 13043"/>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6" name="Text 44"/>
          <p:cNvSpPr/>
          <p:nvPr/>
        </p:nvSpPr>
        <p:spPr>
          <a:xfrm>
            <a:off x="777240" y="5961888"/>
            <a:ext cx="10637215" cy="420624"/>
          </a:xfrm>
          <a:prstGeom prst="rect">
            <a:avLst/>
          </a:prstGeom>
          <a:noFill/>
          <a:ln/>
        </p:spPr>
        <p:txBody>
          <a:bodyPr wrap="square" lIns="0" tIns="0" rIns="0" bIns="0" rtlCol="0" anchor="ctr"/>
          <a:lstStyle/>
          <a:p>
            <a:pPr indent="0" marL="0">
              <a:buNone/>
            </a:pPr>
            <a:r>
              <a:rPr lang="en-US" sz="950" dirty="0">
                <a:solidFill>
                  <a:srgbClr val="1A1A2E"/>
                </a:solidFill>
                <a:latin typeface="Meiryo" pitchFamily="34" charset="0"/>
                <a:ea typeface="Meiryo" pitchFamily="34" charset="-122"/>
                <a:cs typeface="Meiryo" pitchFamily="34" charset="-120"/>
              </a:rPr>
              <a:t>（参考）Enterprise 全員：セキュリティ要件をすべて充足（SSO＋監査ログ＋SCIM＋組織統制）。140名で約911.4万円/年。個別見積が必要です。</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Appendix D</a:t>
            </a:r>
            <a:endParaRPr lang="en-US" sz="1050" dirty="0"/>
          </a:p>
        </p:txBody>
      </p:sp>
      <p:sp>
        <p:nvSpPr>
          <p:cNvPr id="4" name="Shape 2"/>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A</a:t>
            </a:r>
            <a:endParaRPr lang="en-US" sz="750" dirty="0"/>
          </a:p>
        </p:txBody>
      </p:sp>
      <p:sp>
        <p:nvSpPr>
          <p:cNvPr id="6" name="Shape 4"/>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B</a:t>
            </a:r>
            <a:endParaRPr lang="en-US" sz="750" dirty="0"/>
          </a:p>
        </p:txBody>
      </p:sp>
      <p:sp>
        <p:nvSpPr>
          <p:cNvPr id="8" name="Shape 6"/>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C</a:t>
            </a:r>
            <a:endParaRPr lang="en-US" sz="750" dirty="0"/>
          </a:p>
        </p:txBody>
      </p:sp>
      <p:sp>
        <p:nvSpPr>
          <p:cNvPr id="10" name="Shape 8"/>
          <p:cNvSpPr/>
          <p:nvPr/>
        </p:nvSpPr>
        <p:spPr>
          <a:xfrm>
            <a:off x="10253167" y="402336"/>
            <a:ext cx="237744" cy="237744"/>
          </a:xfrm>
          <a:prstGeom prst="roundRect">
            <a:avLst>
              <a:gd name="adj" fmla="val 15385"/>
            </a:avLst>
          </a:prstGeom>
          <a:solidFill>
            <a:srgbClr val="1E2761"/>
          </a:solidFill>
          <a:ln w="12700">
            <a:solidFill>
              <a:srgbClr val="1E2761"/>
            </a:solidFill>
            <a:prstDash val="solid"/>
          </a:ln>
        </p:spPr>
      </p:sp>
      <p:sp>
        <p:nvSpPr>
          <p:cNvPr id="11" name="Text 9"/>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D</a:t>
            </a:r>
            <a:endParaRPr lang="en-US" sz="750" dirty="0"/>
          </a:p>
        </p:txBody>
      </p:sp>
      <p:sp>
        <p:nvSpPr>
          <p:cNvPr id="12" name="Shape 10"/>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E</a:t>
            </a:r>
            <a:endParaRPr lang="en-US" sz="750" dirty="0"/>
          </a:p>
        </p:txBody>
      </p:sp>
      <p:sp>
        <p:nvSpPr>
          <p:cNvPr id="14" name="Shape 12"/>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F</a:t>
            </a:r>
            <a:endParaRPr lang="en-US" sz="750" dirty="0"/>
          </a:p>
        </p:txBody>
      </p:sp>
      <p:sp>
        <p:nvSpPr>
          <p:cNvPr id="16" name="Shape 14"/>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G</a:t>
            </a:r>
            <a:endParaRPr lang="en-US" sz="750" dirty="0"/>
          </a:p>
        </p:txBody>
      </p:sp>
      <p:sp>
        <p:nvSpPr>
          <p:cNvPr id="18" name="Shape 16"/>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H</a:t>
            </a:r>
            <a:endParaRPr lang="en-US" sz="750" dirty="0"/>
          </a:p>
        </p:txBody>
      </p:sp>
      <p:sp>
        <p:nvSpPr>
          <p:cNvPr id="20" name="Text 18"/>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SSO のメリット・デメリット（4つの視点）</a:t>
            </a:r>
            <a:endParaRPr lang="en-US" sz="2600" dirty="0"/>
          </a:p>
        </p:txBody>
      </p:sp>
      <p:sp>
        <p:nvSpPr>
          <p:cNvPr id="21" name="Shape 19"/>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2" name="Text 20"/>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導入する側・使う側・管理する側それぞれの観点を整理しています</a:t>
            </a:r>
            <a:endParaRPr lang="en-US" sz="1350" dirty="0"/>
          </a:p>
        </p:txBody>
      </p:sp>
      <p:sp>
        <p:nvSpPr>
          <p:cNvPr id="23" name="Text 21"/>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25</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94415" cy="914400"/>
        </p:xfrm>
        <a:graphic>
          <a:graphicData uri="http://schemas.openxmlformats.org/drawingml/2006/table">
            <a:tbl>
              <a:tblPr/>
              <a:tblGrid>
                <a:gridCol w="1600200"/>
                <a:gridCol w="5669280"/>
                <a:gridCol w="3822192"/>
              </a:tblGrid>
              <a:tr h="292608">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視点</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メリット</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デメリット・注意点</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r>
              <a:tr h="777240">
                <a:tc>
                  <a:txBody>
                    <a:bodyPr/>
                    <a:lstStyle/>
                    <a:p>
                      <a:pPr algn="l" indent="0" marL="0">
                        <a:buNone/>
                      </a:pPr>
                      <a:r>
                        <a:rPr lang="en-US" sz="1100" b="1" dirty="0">
                          <a:solidFill>
                            <a:srgbClr val="1E2761"/>
                          </a:solidFill>
                          <a:latin typeface="Meiryo" pitchFamily="34" charset="0"/>
                          <a:ea typeface="Meiryo" pitchFamily="34" charset="-122"/>
                          <a:cs typeface="Meiryo" pitchFamily="34" charset="-120"/>
                        </a:rPr>
                        <a:t>① 社員</a:t>
                      </a:r>
                      <a:endParaRPr lang="en-US" sz="1100" dirty="0">
                        <a:latin typeface="Meiryo" charset="0"/>
                        <a:ea typeface="Meiryo" charset="0"/>
                        <a:cs typeface="Meiryo" charset="0"/>
                      </a:endParaRPr>
                    </a:p>
                    <a:p>
                      <a:pPr algn="l" indent="0" marL="0">
                        <a:buNone/>
                      </a:pPr>
                      <a:r>
                        <a:rPr lang="en-US" sz="1100" b="1" dirty="0">
                          <a:solidFill>
                            <a:srgbClr val="1E2761"/>
                          </a:solidFill>
                          <a:latin typeface="Meiryo" pitchFamily="34" charset="0"/>
                          <a:ea typeface="Meiryo" pitchFamily="34" charset="-122"/>
                          <a:cs typeface="Meiryo" pitchFamily="34" charset="-120"/>
                        </a:rPr>
                        <a:t>（使う側）</a:t>
                      </a:r>
                      <a:endParaRPr lang="en-US" sz="11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・パスワードを覚える必要がありません。Notion 専用の ID/PW が不要で、忘れ・再設定の手間がなくなります。</a:t>
                      </a:r>
                      <a:endParaRPr lang="en-US" sz="1000" dirty="0">
                        <a:latin typeface="Meiryo" charset="0"/>
                        <a:ea typeface="Meiryo" charset="0"/>
                        <a:cs typeface="Meiryo" charset="0"/>
                      </a:endParaRPr>
                    </a:p>
                    <a:p>
                      <a:pPr algn="l" indent="0" marL="0">
                        <a:buNone/>
                      </a:pPr>
                      <a:r>
                        <a:rPr lang="en-US" sz="1000" dirty="0">
                          <a:solidFill>
                            <a:srgbClr val="1A1A2E"/>
                          </a:solidFill>
                          <a:latin typeface="Meiryo" pitchFamily="34" charset="0"/>
                          <a:ea typeface="Meiryo" pitchFamily="34" charset="-122"/>
                          <a:cs typeface="Meiryo" pitchFamily="34" charset="-120"/>
                        </a:rPr>
                        <a:t>・毎朝 PC（Microsoft 365）にログインしていれば、ボタン1つで Notion が開きます。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・Microsoft 側で大規模なシステム障害が起きた場合、Notion にも一時的にログインできなくなります。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960120">
                <a:tc>
                  <a:txBody>
                    <a:bodyPr/>
                    <a:lstStyle/>
                    <a:p>
                      <a:pPr algn="l" indent="0" marL="0">
                        <a:buNone/>
                      </a:pPr>
                      <a:r>
                        <a:rPr lang="en-US" sz="1100" b="1" dirty="0">
                          <a:solidFill>
                            <a:srgbClr val="1E2761"/>
                          </a:solidFill>
                          <a:latin typeface="Meiryo" pitchFamily="34" charset="0"/>
                          <a:ea typeface="Meiryo" pitchFamily="34" charset="-122"/>
                          <a:cs typeface="Meiryo" pitchFamily="34" charset="-120"/>
                        </a:rPr>
                        <a:t>② 会社</a:t>
                      </a:r>
                      <a:endParaRPr lang="en-US" sz="1100" dirty="0">
                        <a:latin typeface="Meiryo" charset="0"/>
                        <a:ea typeface="Meiryo" charset="0"/>
                        <a:cs typeface="Meiryo" charset="0"/>
                      </a:endParaRPr>
                    </a:p>
                    <a:p>
                      <a:pPr algn="l" indent="0" marL="0">
                        <a:buNone/>
                      </a:pPr>
                      <a:r>
                        <a:rPr lang="en-US" sz="1100" b="1" dirty="0">
                          <a:solidFill>
                            <a:srgbClr val="1E2761"/>
                          </a:solidFill>
                          <a:latin typeface="Meiryo" pitchFamily="34" charset="0"/>
                          <a:ea typeface="Meiryo" pitchFamily="34" charset="-122"/>
                          <a:cs typeface="Meiryo" pitchFamily="34" charset="-120"/>
                        </a:rPr>
                        <a:t>（セキュリティ）</a:t>
                      </a:r>
                      <a:endParaRPr lang="en-US" sz="11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・退職時に Microsoft 365 のアカウントを停止すれば、Notion のアクセス権も同時に自動遮断されます。</a:t>
                      </a:r>
                      <a:endParaRPr lang="en-US" sz="1000" dirty="0">
                        <a:latin typeface="Meiryo" charset="0"/>
                        <a:ea typeface="Meiryo" charset="0"/>
                        <a:cs typeface="Meiryo" charset="0"/>
                      </a:endParaRPr>
                    </a:p>
                    <a:p>
                      <a:pPr algn="l" indent="0" marL="0">
                        <a:buNone/>
                      </a:pPr>
                      <a:r>
                        <a:rPr lang="en-US" sz="1000" dirty="0">
                          <a:solidFill>
                            <a:srgbClr val="1A1A2E"/>
                          </a:solidFill>
                          <a:latin typeface="Meiryo" pitchFamily="34" charset="0"/>
                          <a:ea typeface="Meiryo" pitchFamily="34" charset="-122"/>
                          <a:cs typeface="Meiryo" pitchFamily="34" charset="-120"/>
                        </a:rPr>
                        <a:t>・「会社の指定PC以外はアクセス禁止」「多要素認証必須」などの制限がそのまま Notion にも効きます。</a:t>
                      </a:r>
                      <a:endParaRPr lang="en-US" sz="1000" dirty="0">
                        <a:latin typeface="Meiryo" charset="0"/>
                        <a:ea typeface="Meiryo" charset="0"/>
                        <a:cs typeface="Meiryo" charset="0"/>
                      </a:endParaRPr>
                    </a:p>
                    <a:p>
                      <a:pPr algn="l" indent="0" marL="0">
                        <a:buNone/>
                      </a:pPr>
                      <a:r>
                        <a:rPr lang="en-US" sz="1000" dirty="0">
                          <a:solidFill>
                            <a:srgbClr val="1A1A2E"/>
                          </a:solidFill>
                          <a:latin typeface="Meiryo" pitchFamily="34" charset="0"/>
                          <a:ea typeface="Meiryo" pitchFamily="34" charset="-122"/>
                          <a:cs typeface="Meiryo" pitchFamily="34" charset="-120"/>
                        </a:rPr>
                        <a:t>・簡単なパスワードや私生活のパスワードの使い回しによる乗っ取りを防げます。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・自社の Microsoft 365 アカウントを持たない外部パートナーを招待する場合、「ゲスト」としての運用ルールを事前に定める必要があります。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731520">
                <a:tc>
                  <a:txBody>
                    <a:bodyPr/>
                    <a:lstStyle/>
                    <a:p>
                      <a:pPr algn="l" indent="0" marL="0">
                        <a:buNone/>
                      </a:pPr>
                      <a:r>
                        <a:rPr lang="en-US" sz="1100" b="1" dirty="0">
                          <a:solidFill>
                            <a:srgbClr val="1E2761"/>
                          </a:solidFill>
                          <a:latin typeface="Meiryo" pitchFamily="34" charset="0"/>
                          <a:ea typeface="Meiryo" pitchFamily="34" charset="-122"/>
                          <a:cs typeface="Meiryo" pitchFamily="34" charset="-120"/>
                        </a:rPr>
                        <a:t>③ 管理部</a:t>
                      </a:r>
                      <a:endParaRPr lang="en-US" sz="1100" dirty="0">
                        <a:latin typeface="Meiryo" charset="0"/>
                        <a:ea typeface="Meiryo" charset="0"/>
                        <a:cs typeface="Meiryo" charset="0"/>
                      </a:endParaRPr>
                    </a:p>
                    <a:p>
                      <a:pPr algn="l" indent="0" marL="0">
                        <a:buNone/>
                      </a:pPr>
                      <a:r>
                        <a:rPr lang="en-US" sz="1100" b="1" dirty="0">
                          <a:solidFill>
                            <a:srgbClr val="1E2761"/>
                          </a:solidFill>
                          <a:latin typeface="Meiryo" pitchFamily="34" charset="0"/>
                          <a:ea typeface="Meiryo" pitchFamily="34" charset="-122"/>
                          <a:cs typeface="Meiryo" pitchFamily="34" charset="-120"/>
                        </a:rPr>
                        <a:t>（管理・運用）</a:t>
                      </a:r>
                      <a:endParaRPr lang="en-US" sz="11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・「パスワードを忘れたのでリセットしてほしい」という社内問い合わせがなくなります。</a:t>
                      </a:r>
                      <a:endParaRPr lang="en-US" sz="1000" dirty="0">
                        <a:latin typeface="Meiryo" charset="0"/>
                        <a:ea typeface="Meiryo" charset="0"/>
                        <a:cs typeface="Meiryo" charset="0"/>
                      </a:endParaRPr>
                    </a:p>
                    <a:p>
                      <a:pPr algn="l" indent="0" marL="0">
                        <a:buNone/>
                      </a:pPr>
                      <a:r>
                        <a:rPr lang="en-US" sz="1000" dirty="0">
                          <a:solidFill>
                            <a:srgbClr val="1A1A2E"/>
                          </a:solidFill>
                          <a:latin typeface="Meiryo" pitchFamily="34" charset="0"/>
                          <a:ea typeface="Meiryo" pitchFamily="34" charset="-122"/>
                          <a:cs typeface="Meiryo" pitchFamily="34" charset="-120"/>
                        </a:rPr>
                        <a:t>・入退社時のアカウント削除漏れを防げます。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・導入時に、管理部が Microsoft 365（Entra ID）と Notion を紐付ける初期設定が必要です（約1〜2時間程度の作業）。</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777240">
                <a:tc>
                  <a:txBody>
                    <a:bodyPr/>
                    <a:lstStyle/>
                    <a:p>
                      <a:pPr algn="l" indent="0" marL="0">
                        <a:buNone/>
                      </a:pPr>
                      <a:r>
                        <a:rPr lang="en-US" sz="1100" b="1" dirty="0">
                          <a:solidFill>
                            <a:srgbClr val="1E2761"/>
                          </a:solidFill>
                          <a:latin typeface="Meiryo" pitchFamily="34" charset="0"/>
                          <a:ea typeface="Meiryo" pitchFamily="34" charset="-122"/>
                          <a:cs typeface="Meiryo" pitchFamily="34" charset="-120"/>
                        </a:rPr>
                        <a:t>④ コスト</a:t>
                      </a:r>
                      <a:endParaRPr lang="en-US" sz="1100" dirty="0">
                        <a:latin typeface="Meiryo" charset="0"/>
                        <a:ea typeface="Meiryo" charset="0"/>
                        <a:cs typeface="Meiryo" charset="0"/>
                      </a:endParaRPr>
                    </a:p>
                    <a:p>
                      <a:pPr algn="l" indent="0" marL="0">
                        <a:buNone/>
                      </a:pPr>
                      <a:r>
                        <a:rPr lang="en-US" sz="1100" b="1" dirty="0">
                          <a:solidFill>
                            <a:srgbClr val="1E2761"/>
                          </a:solidFill>
                          <a:latin typeface="Meiryo" pitchFamily="34" charset="0"/>
                          <a:ea typeface="Meiryo" pitchFamily="34" charset="-122"/>
                          <a:cs typeface="Meiryo" pitchFamily="34" charset="-120"/>
                        </a:rPr>
                        <a:t>（費用面）</a:t>
                      </a:r>
                      <a:endParaRPr lang="en-US" sz="11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・アカウント管理ミスによる情報漏洩の損害と、事後対応コストを未然に防止できます。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・SSO を使うには Business プラン以上が必要です（月額 $20/人〜）。Plus（$10）では利用できず、140名で年間約260.4万円の差額が生じます。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Appendix E</a:t>
            </a:r>
            <a:endParaRPr lang="en-US" sz="1050" dirty="0"/>
          </a:p>
        </p:txBody>
      </p:sp>
      <p:sp>
        <p:nvSpPr>
          <p:cNvPr id="4" name="Shape 2"/>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A</a:t>
            </a:r>
            <a:endParaRPr lang="en-US" sz="750" dirty="0"/>
          </a:p>
        </p:txBody>
      </p:sp>
      <p:sp>
        <p:nvSpPr>
          <p:cNvPr id="6" name="Shape 4"/>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B</a:t>
            </a:r>
            <a:endParaRPr lang="en-US" sz="750" dirty="0"/>
          </a:p>
        </p:txBody>
      </p:sp>
      <p:sp>
        <p:nvSpPr>
          <p:cNvPr id="8" name="Shape 6"/>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C</a:t>
            </a:r>
            <a:endParaRPr lang="en-US" sz="750" dirty="0"/>
          </a:p>
        </p:txBody>
      </p:sp>
      <p:sp>
        <p:nvSpPr>
          <p:cNvPr id="10" name="Shape 8"/>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D</a:t>
            </a:r>
            <a:endParaRPr lang="en-US" sz="750" dirty="0"/>
          </a:p>
        </p:txBody>
      </p:sp>
      <p:sp>
        <p:nvSpPr>
          <p:cNvPr id="12" name="Shape 10"/>
          <p:cNvSpPr/>
          <p:nvPr/>
        </p:nvSpPr>
        <p:spPr>
          <a:xfrm>
            <a:off x="10541203" y="402336"/>
            <a:ext cx="237744" cy="237744"/>
          </a:xfrm>
          <a:prstGeom prst="roundRect">
            <a:avLst>
              <a:gd name="adj" fmla="val 15385"/>
            </a:avLst>
          </a:prstGeom>
          <a:solidFill>
            <a:srgbClr val="1E2761"/>
          </a:solidFill>
          <a:ln w="12700">
            <a:solidFill>
              <a:srgbClr val="1E2761"/>
            </a:solidFill>
            <a:prstDash val="solid"/>
          </a:ln>
        </p:spPr>
      </p:sp>
      <p:sp>
        <p:nvSpPr>
          <p:cNvPr id="13" name="Text 11"/>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E</a:t>
            </a:r>
            <a:endParaRPr lang="en-US" sz="750" dirty="0"/>
          </a:p>
        </p:txBody>
      </p:sp>
      <p:sp>
        <p:nvSpPr>
          <p:cNvPr id="14" name="Shape 12"/>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F</a:t>
            </a:r>
            <a:endParaRPr lang="en-US" sz="750" dirty="0"/>
          </a:p>
        </p:txBody>
      </p:sp>
      <p:sp>
        <p:nvSpPr>
          <p:cNvPr id="16" name="Shape 14"/>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G</a:t>
            </a:r>
            <a:endParaRPr lang="en-US" sz="750" dirty="0"/>
          </a:p>
        </p:txBody>
      </p:sp>
      <p:sp>
        <p:nvSpPr>
          <p:cNvPr id="18" name="Shape 16"/>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H</a:t>
            </a:r>
            <a:endParaRPr lang="en-US" sz="750" dirty="0"/>
          </a:p>
        </p:txBody>
      </p:sp>
      <p:sp>
        <p:nvSpPr>
          <p:cNvPr id="20" name="Text 18"/>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コスト感度分析</a:t>
            </a:r>
            <a:endParaRPr lang="en-US" sz="2600" dirty="0"/>
          </a:p>
        </p:txBody>
      </p:sp>
      <p:sp>
        <p:nvSpPr>
          <p:cNvPr id="21" name="Shape 19"/>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2" name="Text 20"/>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対象人数とプランの組み合わせによる年間コストの試算です（$1=155円・年払）</a:t>
            </a:r>
            <a:endParaRPr lang="en-US" sz="1350" dirty="0"/>
          </a:p>
        </p:txBody>
      </p:sp>
      <p:sp>
        <p:nvSpPr>
          <p:cNvPr id="23" name="Text 21"/>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26</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94415" cy="914400"/>
        </p:xfrm>
        <a:graphic>
          <a:graphicData uri="http://schemas.openxmlformats.org/drawingml/2006/table">
            <a:tbl>
              <a:tblPr/>
              <a:tblGrid>
                <a:gridCol w="2743200"/>
                <a:gridCol w="2779776"/>
                <a:gridCol w="2779776"/>
                <a:gridCol w="2788920"/>
              </a:tblGrid>
              <a:tr h="402336">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想定対象人数</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Plus（$10/月）</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Business（$20/月）</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7A5A"/>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Enterprise（仮 $35/月）</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r>
              <a:tr h="402336">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50名</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93.0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186.0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325.5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02336">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100名</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186.0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372.0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651.0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02336">
                <a:tc>
                  <a:txBody>
                    <a:bodyPr/>
                    <a:lstStyle/>
                    <a:p>
                      <a:pPr algn="l" indent="0" marL="0">
                        <a:buNone/>
                      </a:pPr>
                      <a:r>
                        <a:rPr lang="en-US" sz="1100" b="1" dirty="0">
                          <a:solidFill>
                            <a:srgbClr val="FFFFFF"/>
                          </a:solidFill>
                          <a:latin typeface="Meiryo" pitchFamily="34" charset="0"/>
                          <a:ea typeface="Meiryo" pitchFamily="34" charset="-122"/>
                          <a:cs typeface="Meiryo" pitchFamily="34" charset="-120"/>
                        </a:rPr>
                        <a:t>140名（本計画）</a:t>
                      </a:r>
                      <a:endParaRPr lang="en-US" sz="11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260.4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EDF3FD"/>
                    </a:solidFill>
                  </a:tcPr>
                </a:tc>
                <a:tc>
                  <a:txBody>
                    <a:bodyPr/>
                    <a:lstStyle/>
                    <a:p>
                      <a:pPr algn="ctr" indent="0" marL="0">
                        <a:buNone/>
                      </a:pPr>
                      <a:r>
                        <a:rPr lang="en-US" sz="1300" b="1" dirty="0">
                          <a:solidFill>
                            <a:srgbClr val="1E2761"/>
                          </a:solidFill>
                          <a:latin typeface="Meiryo" pitchFamily="34" charset="0"/>
                          <a:ea typeface="Meiryo" pitchFamily="34" charset="-122"/>
                          <a:cs typeface="Meiryo" pitchFamily="34" charset="-120"/>
                        </a:rPr>
                        <a:t>約 520.8 万円 / 年</a:t>
                      </a:r>
                      <a:endParaRPr lang="en-US" sz="13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EDF3FD"/>
                    </a:solidFill>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911.4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EDF3FD"/>
                    </a:solidFill>
                  </a:tcPr>
                </a:tc>
              </a:tr>
              <a:tr h="402336">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300名</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558.0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1,116.0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1,953.0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02336">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500名</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930.0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1,860.0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約 3,255.0 万円 / 年</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bl>
          </a:graphicData>
        </a:graphic>
      </p:graphicFrame>
      <p:sp>
        <p:nvSpPr>
          <p:cNvPr id="25" name="Text 22"/>
          <p:cNvSpPr/>
          <p:nvPr/>
        </p:nvSpPr>
        <p:spPr>
          <a:xfrm>
            <a:off x="548640" y="4937760"/>
            <a:ext cx="2194560" cy="384048"/>
          </a:xfrm>
          <a:prstGeom prst="rect">
            <a:avLst/>
          </a:prstGeom>
          <a:noFill/>
          <a:ln/>
        </p:spPr>
        <p:txBody>
          <a:bodyPr wrap="square" lIns="0" tIns="0" rIns="0" bIns="0" rtlCol="0" anchor="ctr"/>
          <a:lstStyle/>
          <a:p>
            <a:pPr indent="0" marL="0">
              <a:buNone/>
            </a:pPr>
            <a:r>
              <a:rPr lang="en-US" sz="1000" b="1" dirty="0">
                <a:solidFill>
                  <a:srgbClr val="1E2761"/>
                </a:solidFill>
                <a:latin typeface="Meiryo" pitchFamily="34" charset="0"/>
                <a:ea typeface="Meiryo" pitchFamily="34" charset="-122"/>
                <a:cs typeface="Meiryo" pitchFamily="34" charset="-120"/>
              </a:rPr>
              <a:t>前提条件</a:t>
            </a:r>
            <a:endParaRPr lang="en-US" sz="1000" dirty="0"/>
          </a:p>
        </p:txBody>
      </p:sp>
      <p:sp>
        <p:nvSpPr>
          <p:cNvPr id="26" name="Text 23"/>
          <p:cNvSpPr/>
          <p:nvPr/>
        </p:nvSpPr>
        <p:spPr>
          <a:xfrm>
            <a:off x="2834640" y="4937760"/>
            <a:ext cx="8808415" cy="384048"/>
          </a:xfrm>
          <a:prstGeom prst="rect">
            <a:avLst/>
          </a:prstGeom>
          <a:noFill/>
          <a:ln/>
        </p:spPr>
        <p:txBody>
          <a:bodyPr wrap="square" lIns="0" tIns="0" rIns="0" bIns="0" rtlCol="0" anchor="ctr"/>
          <a:lstStyle/>
          <a:p>
            <a:pPr indent="0" marL="0">
              <a:buNone/>
            </a:pPr>
            <a:r>
              <a:rPr lang="en-US" sz="950" dirty="0">
                <a:solidFill>
                  <a:srgbClr val="1A1A2E"/>
                </a:solidFill>
                <a:latin typeface="Meiryo" pitchFamily="34" charset="0"/>
                <a:ea typeface="Meiryo" pitchFamily="34" charset="-122"/>
                <a:cs typeface="Meiryo" pitchFamily="34" charset="-120"/>
              </a:rPr>
              <a:t>年払契約時の金額です。月払契約の場合は約20%割高になります。為替は $1=155円 で換算しています。</a:t>
            </a:r>
            <a:endParaRPr lang="en-US" sz="950" dirty="0"/>
          </a:p>
        </p:txBody>
      </p:sp>
      <p:sp>
        <p:nvSpPr>
          <p:cNvPr id="27" name="Text 24"/>
          <p:cNvSpPr/>
          <p:nvPr/>
        </p:nvSpPr>
        <p:spPr>
          <a:xfrm>
            <a:off x="548640" y="5394960"/>
            <a:ext cx="2194560" cy="384048"/>
          </a:xfrm>
          <a:prstGeom prst="rect">
            <a:avLst/>
          </a:prstGeom>
          <a:noFill/>
          <a:ln/>
        </p:spPr>
        <p:txBody>
          <a:bodyPr wrap="square" lIns="0" tIns="0" rIns="0" bIns="0" rtlCol="0" anchor="ctr"/>
          <a:lstStyle/>
          <a:p>
            <a:pPr indent="0" marL="0">
              <a:buNone/>
            </a:pPr>
            <a:r>
              <a:rPr lang="en-US" sz="1000" b="1" dirty="0">
                <a:solidFill>
                  <a:srgbClr val="1E2761"/>
                </a:solidFill>
                <a:latin typeface="Meiryo" pitchFamily="34" charset="0"/>
                <a:ea typeface="Meiryo" pitchFamily="34" charset="-122"/>
                <a:cs typeface="Meiryo" pitchFamily="34" charset="-120"/>
              </a:rPr>
              <a:t>Enterprise 単価について</a:t>
            </a:r>
            <a:endParaRPr lang="en-US" sz="1000" dirty="0"/>
          </a:p>
        </p:txBody>
      </p:sp>
      <p:sp>
        <p:nvSpPr>
          <p:cNvPr id="28" name="Text 25"/>
          <p:cNvSpPr/>
          <p:nvPr/>
        </p:nvSpPr>
        <p:spPr>
          <a:xfrm>
            <a:off x="2834640" y="5394960"/>
            <a:ext cx="8808415" cy="384048"/>
          </a:xfrm>
          <a:prstGeom prst="rect">
            <a:avLst/>
          </a:prstGeom>
          <a:noFill/>
          <a:ln/>
        </p:spPr>
        <p:txBody>
          <a:bodyPr wrap="square" lIns="0" tIns="0" rIns="0" bIns="0" rtlCol="0" anchor="ctr"/>
          <a:lstStyle/>
          <a:p>
            <a:pPr indent="0" marL="0">
              <a:buNone/>
            </a:pPr>
            <a:r>
              <a:rPr lang="en-US" sz="950" dirty="0">
                <a:solidFill>
                  <a:srgbClr val="1A1A2E"/>
                </a:solidFill>
                <a:latin typeface="Meiryo" pitchFamily="34" charset="0"/>
                <a:ea typeface="Meiryo" pitchFamily="34" charset="-122"/>
                <a:cs typeface="Meiryo" pitchFamily="34" charset="-120"/>
              </a:rPr>
              <a:t>ボリュームディスカウントにより変動するため、Notion 社または正規代理店への相見積もりが必要です。表中の $35 は仮置きの値です。</a:t>
            </a:r>
            <a:endParaRPr lang="en-US" sz="950" dirty="0"/>
          </a:p>
        </p:txBody>
      </p:sp>
      <p:sp>
        <p:nvSpPr>
          <p:cNvPr id="29" name="Text 26"/>
          <p:cNvSpPr/>
          <p:nvPr/>
        </p:nvSpPr>
        <p:spPr>
          <a:xfrm>
            <a:off x="548640" y="5852160"/>
            <a:ext cx="2194560" cy="384048"/>
          </a:xfrm>
          <a:prstGeom prst="rect">
            <a:avLst/>
          </a:prstGeom>
          <a:noFill/>
          <a:ln/>
        </p:spPr>
        <p:txBody>
          <a:bodyPr wrap="square" lIns="0" tIns="0" rIns="0" bIns="0" rtlCol="0" anchor="ctr"/>
          <a:lstStyle/>
          <a:p>
            <a:pPr indent="0" marL="0">
              <a:buNone/>
            </a:pPr>
            <a:r>
              <a:rPr lang="en-US" sz="1000" b="1" dirty="0">
                <a:solidFill>
                  <a:srgbClr val="1E2761"/>
                </a:solidFill>
                <a:latin typeface="Meiryo" pitchFamily="34" charset="0"/>
                <a:ea typeface="Meiryo" pitchFamily="34" charset="-122"/>
                <a:cs typeface="Meiryo" pitchFamily="34" charset="-120"/>
              </a:rPr>
              <a:t>Business 単価について</a:t>
            </a:r>
            <a:endParaRPr lang="en-US" sz="1000" dirty="0"/>
          </a:p>
        </p:txBody>
      </p:sp>
      <p:sp>
        <p:nvSpPr>
          <p:cNvPr id="30" name="Text 27"/>
          <p:cNvSpPr/>
          <p:nvPr/>
        </p:nvSpPr>
        <p:spPr>
          <a:xfrm>
            <a:off x="2834640" y="5852160"/>
            <a:ext cx="8808415" cy="384048"/>
          </a:xfrm>
          <a:prstGeom prst="rect">
            <a:avLst/>
          </a:prstGeom>
          <a:noFill/>
          <a:ln/>
        </p:spPr>
        <p:txBody>
          <a:bodyPr wrap="square" lIns="0" tIns="0" rIns="0" bIns="0" rtlCol="0" anchor="ctr"/>
          <a:lstStyle/>
          <a:p>
            <a:pPr indent="0" marL="0">
              <a:buNone/>
            </a:pPr>
            <a:r>
              <a:rPr lang="en-US" sz="950" dirty="0">
                <a:solidFill>
                  <a:srgbClr val="1A1A2E"/>
                </a:solidFill>
                <a:latin typeface="Meiryo" pitchFamily="34" charset="0"/>
                <a:ea typeface="Meiryo" pitchFamily="34" charset="-122"/>
                <a:cs typeface="Meiryo" pitchFamily="34" charset="-120"/>
              </a:rPr>
              <a:t>$20/月（年払）で試算しています。$18/月とする情報もあり、見積により下振れする可能性があります。上限額は上振れしない前提です。</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Appendix F</a:t>
            </a:r>
            <a:endParaRPr lang="en-US" sz="1050" dirty="0"/>
          </a:p>
        </p:txBody>
      </p:sp>
      <p:sp>
        <p:nvSpPr>
          <p:cNvPr id="4" name="Shape 2"/>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A</a:t>
            </a:r>
            <a:endParaRPr lang="en-US" sz="750" dirty="0"/>
          </a:p>
        </p:txBody>
      </p:sp>
      <p:sp>
        <p:nvSpPr>
          <p:cNvPr id="6" name="Shape 4"/>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B</a:t>
            </a:r>
            <a:endParaRPr lang="en-US" sz="750" dirty="0"/>
          </a:p>
        </p:txBody>
      </p:sp>
      <p:sp>
        <p:nvSpPr>
          <p:cNvPr id="8" name="Shape 6"/>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C</a:t>
            </a:r>
            <a:endParaRPr lang="en-US" sz="750" dirty="0"/>
          </a:p>
        </p:txBody>
      </p:sp>
      <p:sp>
        <p:nvSpPr>
          <p:cNvPr id="10" name="Shape 8"/>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D</a:t>
            </a:r>
            <a:endParaRPr lang="en-US" sz="750" dirty="0"/>
          </a:p>
        </p:txBody>
      </p:sp>
      <p:sp>
        <p:nvSpPr>
          <p:cNvPr id="12" name="Shape 10"/>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E</a:t>
            </a:r>
            <a:endParaRPr lang="en-US" sz="750" dirty="0"/>
          </a:p>
        </p:txBody>
      </p:sp>
      <p:sp>
        <p:nvSpPr>
          <p:cNvPr id="14" name="Shape 12"/>
          <p:cNvSpPr/>
          <p:nvPr/>
        </p:nvSpPr>
        <p:spPr>
          <a:xfrm>
            <a:off x="10829239" y="402336"/>
            <a:ext cx="237744" cy="237744"/>
          </a:xfrm>
          <a:prstGeom prst="roundRect">
            <a:avLst>
              <a:gd name="adj" fmla="val 15385"/>
            </a:avLst>
          </a:prstGeom>
          <a:solidFill>
            <a:srgbClr val="1E2761"/>
          </a:solidFill>
          <a:ln w="12700">
            <a:solidFill>
              <a:srgbClr val="1E2761"/>
            </a:solidFill>
            <a:prstDash val="solid"/>
          </a:ln>
        </p:spPr>
      </p:sp>
      <p:sp>
        <p:nvSpPr>
          <p:cNvPr id="15" name="Text 13"/>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F</a:t>
            </a:r>
            <a:endParaRPr lang="en-US" sz="750" dirty="0"/>
          </a:p>
        </p:txBody>
      </p:sp>
      <p:sp>
        <p:nvSpPr>
          <p:cNvPr id="16" name="Shape 14"/>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G</a:t>
            </a:r>
            <a:endParaRPr lang="en-US" sz="750" dirty="0"/>
          </a:p>
        </p:txBody>
      </p:sp>
      <p:sp>
        <p:nvSpPr>
          <p:cNvPr id="18" name="Shape 16"/>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H</a:t>
            </a:r>
            <a:endParaRPr lang="en-US" sz="750" dirty="0"/>
          </a:p>
        </p:txBody>
      </p:sp>
      <p:sp>
        <p:nvSpPr>
          <p:cNvPr id="20" name="Text 18"/>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ファイルアップロード仕様</a:t>
            </a:r>
            <a:endParaRPr lang="en-US" sz="2600" dirty="0"/>
          </a:p>
        </p:txBody>
      </p:sp>
      <p:sp>
        <p:nvSpPr>
          <p:cNvPr id="21" name="Shape 19"/>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2" name="Text 20"/>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Notion 公式ヘルプで確認した、1ファイルあたりの上限です</a:t>
            </a:r>
            <a:endParaRPr lang="en-US" sz="1350" dirty="0"/>
          </a:p>
        </p:txBody>
      </p:sp>
      <p:sp>
        <p:nvSpPr>
          <p:cNvPr id="23" name="Text 21"/>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27</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2212848"/>
          <a:ext cx="11094415" cy="914400"/>
        </p:xfrm>
        <a:graphic>
          <a:graphicData uri="http://schemas.openxmlformats.org/drawingml/2006/table">
            <a:tbl>
              <a:tblPr/>
              <a:tblGrid>
                <a:gridCol w="3657600"/>
                <a:gridCol w="2377440"/>
                <a:gridCol w="5056632"/>
              </a:tblGrid>
              <a:tr h="457200">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対象</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1ファイルあたりの上限</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補足</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r>
              <a:tr h="45720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Free プラン</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B3261E"/>
                          </a:solidFill>
                          <a:latin typeface="Meiryo" pitchFamily="34" charset="0"/>
                          <a:ea typeface="Meiryo" pitchFamily="34" charset="-122"/>
                          <a:cs typeface="Meiryo" pitchFamily="34" charset="-120"/>
                        </a:rPr>
                        <a:t>5 MB</a:t>
                      </a:r>
                      <a:endParaRPr lang="en-US" sz="12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無料プランのみに適用される上限です。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5720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有料プラン（Plus / Business / Enterprise）</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200" b="1" dirty="0">
                          <a:solidFill>
                            <a:srgbClr val="1E7A5A"/>
                          </a:solidFill>
                          <a:latin typeface="Meiryo" pitchFamily="34" charset="0"/>
                          <a:ea typeface="Meiryo" pitchFamily="34" charset="-122"/>
                          <a:cs typeface="Meiryo" pitchFamily="34" charset="-120"/>
                        </a:rPr>
                        <a:t>5 GB</a:t>
                      </a:r>
                      <a:endParaRPr lang="en-US" sz="12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一般的なファイル（動画・zip 等）の上限です。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57200">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　└ PDF ファイル</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20 MB 未満</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有料プランでも、PDF にはこの個別上限が適用されます。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57200">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　└ 画像（PNG / JPG）</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5 MB 未満</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有料プランでも、画像にはこの個別上限が適用されます。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457200">
                <a:tc>
                  <a:txBody>
                    <a:bodyPr/>
                    <a:lstStyle/>
                    <a:p>
                      <a:pPr algn="l" indent="0" marL="0">
                        <a:buNone/>
                      </a:pPr>
                      <a:r>
                        <a:rPr lang="en-US" sz="1000" b="1" dirty="0">
                          <a:solidFill>
                            <a:srgbClr val="1A1A2E"/>
                          </a:solidFill>
                          <a:latin typeface="Meiryo" pitchFamily="34" charset="0"/>
                          <a:ea typeface="Meiryo" pitchFamily="34" charset="-122"/>
                          <a:cs typeface="Meiryo" pitchFamily="34" charset="-120"/>
                        </a:rPr>
                        <a:t>ワークスペース全体の総容量</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b="1" dirty="0">
                          <a:solidFill>
                            <a:srgbClr val="1E7A5A"/>
                          </a:solidFill>
                          <a:latin typeface="Meiryo" pitchFamily="34" charset="0"/>
                          <a:ea typeface="Meiryo" pitchFamily="34" charset="-122"/>
                          <a:cs typeface="Meiryo" pitchFamily="34" charset="-120"/>
                        </a:rPr>
                        <a:t>制限なし</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l" indent="0" marL="0">
                        <a:buNone/>
                      </a:pPr>
                      <a:r>
                        <a:rPr lang="en-US" sz="1000" dirty="0">
                          <a:solidFill>
                            <a:srgbClr val="1A1A2E"/>
                          </a:solidFill>
                          <a:latin typeface="Meiryo" pitchFamily="34" charset="0"/>
                          <a:ea typeface="Meiryo" pitchFamily="34" charset="-122"/>
                          <a:cs typeface="Meiryo" pitchFamily="34" charset="-120"/>
                        </a:rPr>
                        <a:t>個々のファイルが上限内であれば、保存総量に制限はありません。</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bl>
          </a:graphicData>
        </a:graphic>
      </p:graphicFrame>
      <p:sp>
        <p:nvSpPr>
          <p:cNvPr id="25" name="Shape 22"/>
          <p:cNvSpPr/>
          <p:nvPr/>
        </p:nvSpPr>
        <p:spPr>
          <a:xfrm>
            <a:off x="548640" y="5120640"/>
            <a:ext cx="11094415" cy="914400"/>
          </a:xfrm>
          <a:prstGeom prst="roundRect">
            <a:avLst>
              <a:gd name="adj" fmla="val 6000"/>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26" name="Text 23"/>
          <p:cNvSpPr/>
          <p:nvPr/>
        </p:nvSpPr>
        <p:spPr>
          <a:xfrm>
            <a:off x="777240" y="5230368"/>
            <a:ext cx="5486400" cy="256032"/>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本件のスコープについて</a:t>
            </a:r>
            <a:endParaRPr lang="en-US" sz="1150" dirty="0"/>
          </a:p>
        </p:txBody>
      </p:sp>
      <p:sp>
        <p:nvSpPr>
          <p:cNvPr id="27" name="Text 24"/>
          <p:cNvSpPr/>
          <p:nvPr/>
        </p:nvSpPr>
        <p:spPr>
          <a:xfrm>
            <a:off x="777240" y="5504688"/>
            <a:ext cx="10637215" cy="457200"/>
          </a:xfrm>
          <a:prstGeom prst="rect">
            <a:avLst/>
          </a:prstGeom>
          <a:noFill/>
          <a:ln/>
        </p:spPr>
        <p:txBody>
          <a:bodyPr wrap="square" lIns="0" tIns="0" rIns="0" bIns="0" rtlCol="0" anchor="ctr"/>
          <a:lstStyle/>
          <a:p>
            <a:pPr indent="0" marL="0">
              <a:lnSpc>
                <a:spcPts val="1600"/>
              </a:lnSpc>
              <a:buNone/>
            </a:pPr>
            <a:r>
              <a:rPr lang="en-US" sz="1000" dirty="0">
                <a:solidFill>
                  <a:srgbClr val="1A1A2E"/>
                </a:solidFill>
                <a:latin typeface="Meiryo" pitchFamily="34" charset="0"/>
                <a:ea typeface="Meiryo" pitchFamily="34" charset="-122"/>
                <a:cs typeface="Meiryo" pitchFamily="34" charset="-120"/>
              </a:rPr>
              <a:t>今回のスコープは ①案件管理 ②議事録 に限定しており、③案件関連ファイルの保管は SharePoint を継続します。本表は、議事録や案件ページに添付する資料の上限をご確認いただくためのものです。</a:t>
            </a:r>
            <a:endParaRPr lang="en-US" sz="1000" dirty="0"/>
          </a:p>
        </p:txBody>
      </p:sp>
      <p:sp>
        <p:nvSpPr>
          <p:cNvPr id="28" name="Text 25"/>
          <p:cNvSpPr/>
          <p:nvPr/>
        </p:nvSpPr>
        <p:spPr>
          <a:xfrm>
            <a:off x="548640" y="6172200"/>
            <a:ext cx="11094415" cy="237744"/>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出典：Notion Help Center — Images, files &amp; media（www.notion.com/help/images-files-and-media）</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Appendix G</a:t>
            </a:r>
            <a:endParaRPr lang="en-US" sz="1050" dirty="0"/>
          </a:p>
        </p:txBody>
      </p:sp>
      <p:sp>
        <p:nvSpPr>
          <p:cNvPr id="4" name="Shape 2"/>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A</a:t>
            </a:r>
            <a:endParaRPr lang="en-US" sz="750" dirty="0"/>
          </a:p>
        </p:txBody>
      </p:sp>
      <p:sp>
        <p:nvSpPr>
          <p:cNvPr id="6" name="Shape 4"/>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B</a:t>
            </a:r>
            <a:endParaRPr lang="en-US" sz="750" dirty="0"/>
          </a:p>
        </p:txBody>
      </p:sp>
      <p:sp>
        <p:nvSpPr>
          <p:cNvPr id="8" name="Shape 6"/>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C</a:t>
            </a:r>
            <a:endParaRPr lang="en-US" sz="750" dirty="0"/>
          </a:p>
        </p:txBody>
      </p:sp>
      <p:sp>
        <p:nvSpPr>
          <p:cNvPr id="10" name="Shape 8"/>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D</a:t>
            </a:r>
            <a:endParaRPr lang="en-US" sz="750" dirty="0"/>
          </a:p>
        </p:txBody>
      </p:sp>
      <p:sp>
        <p:nvSpPr>
          <p:cNvPr id="12" name="Shape 10"/>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E</a:t>
            </a:r>
            <a:endParaRPr lang="en-US" sz="750" dirty="0"/>
          </a:p>
        </p:txBody>
      </p:sp>
      <p:sp>
        <p:nvSpPr>
          <p:cNvPr id="14" name="Shape 12"/>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F</a:t>
            </a:r>
            <a:endParaRPr lang="en-US" sz="750" dirty="0"/>
          </a:p>
        </p:txBody>
      </p:sp>
      <p:sp>
        <p:nvSpPr>
          <p:cNvPr id="16" name="Shape 14"/>
          <p:cNvSpPr/>
          <p:nvPr/>
        </p:nvSpPr>
        <p:spPr>
          <a:xfrm>
            <a:off x="11117275" y="402336"/>
            <a:ext cx="237744" cy="237744"/>
          </a:xfrm>
          <a:prstGeom prst="roundRect">
            <a:avLst>
              <a:gd name="adj" fmla="val 15385"/>
            </a:avLst>
          </a:prstGeom>
          <a:solidFill>
            <a:srgbClr val="1E2761"/>
          </a:solidFill>
          <a:ln w="12700">
            <a:solidFill>
              <a:srgbClr val="1E2761"/>
            </a:solidFill>
            <a:prstDash val="solid"/>
          </a:ln>
        </p:spPr>
      </p:sp>
      <p:sp>
        <p:nvSpPr>
          <p:cNvPr id="17" name="Text 15"/>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G</a:t>
            </a:r>
            <a:endParaRPr lang="en-US" sz="750" dirty="0"/>
          </a:p>
        </p:txBody>
      </p:sp>
      <p:sp>
        <p:nvSpPr>
          <p:cNvPr id="18" name="Shape 16"/>
          <p:cNvSpPr/>
          <p:nvPr/>
        </p:nvSpPr>
        <p:spPr>
          <a:xfrm>
            <a:off x="11405311" y="402336"/>
            <a:ext cx="237744" cy="237744"/>
          </a:xfrm>
          <a:prstGeom prst="roundRect">
            <a:avLst>
              <a:gd name="adj" fmla="val 15385"/>
            </a:avLst>
          </a:prstGeom>
          <a:solidFill>
            <a:srgbClr val="E8ECF3"/>
          </a:solidFill>
          <a:ln w="12700">
            <a:solidFill>
              <a:srgbClr val="E8ECF3"/>
            </a:solidFill>
            <a:prstDash val="solid"/>
          </a:ln>
        </p:spPr>
      </p:sp>
      <p:sp>
        <p:nvSpPr>
          <p:cNvPr id="19" name="Text 17"/>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H</a:t>
            </a:r>
            <a:endParaRPr lang="en-US" sz="750" dirty="0"/>
          </a:p>
        </p:txBody>
      </p:sp>
      <p:sp>
        <p:nvSpPr>
          <p:cNvPr id="20" name="Text 18"/>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出典一覧</a:t>
            </a:r>
            <a:endParaRPr lang="en-US" sz="2600" dirty="0"/>
          </a:p>
        </p:txBody>
      </p:sp>
      <p:sp>
        <p:nvSpPr>
          <p:cNvPr id="21" name="Shape 19"/>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2" name="Text 20"/>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本資料に記載した仕様・プラン要件は、以下の公式情報で確認しています</a:t>
            </a:r>
            <a:endParaRPr lang="en-US" sz="1350" dirty="0"/>
          </a:p>
        </p:txBody>
      </p:sp>
      <p:sp>
        <p:nvSpPr>
          <p:cNvPr id="23" name="Text 21"/>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28</a:t>
            </a:r>
            <a:endParaRPr lang="en-US" sz="1000" dirty="0"/>
          </a:p>
        </p:txBody>
      </p:sp>
      <p:sp>
        <p:nvSpPr>
          <p:cNvPr id="24" name="Shape 22"/>
          <p:cNvSpPr/>
          <p:nvPr/>
        </p:nvSpPr>
        <p:spPr>
          <a:xfrm>
            <a:off x="548640" y="2286000"/>
            <a:ext cx="11094415" cy="566928"/>
          </a:xfrm>
          <a:prstGeom prst="roundRect">
            <a:avLst>
              <a:gd name="adj" fmla="val 967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25" name="Text 23"/>
          <p:cNvSpPr/>
          <p:nvPr/>
        </p:nvSpPr>
        <p:spPr>
          <a:xfrm>
            <a:off x="777240" y="2286000"/>
            <a:ext cx="3017520" cy="566928"/>
          </a:xfrm>
          <a:prstGeom prst="rect">
            <a:avLst/>
          </a:prstGeom>
          <a:noFill/>
          <a:ln/>
        </p:spPr>
        <p:txBody>
          <a:bodyPr wrap="square" lIns="0" tIns="0" rIns="0" bIns="0" rtlCol="0" anchor="ctr"/>
          <a:lstStyle/>
          <a:p>
            <a:pPr indent="0" marL="0">
              <a:buNone/>
            </a:pPr>
            <a:r>
              <a:rPr lang="en-US" sz="1100" b="1" dirty="0">
                <a:solidFill>
                  <a:srgbClr val="1E2761"/>
                </a:solidFill>
                <a:latin typeface="Meiryo" pitchFamily="34" charset="0"/>
                <a:ea typeface="Meiryo" pitchFamily="34" charset="-122"/>
                <a:cs typeface="Meiryo" pitchFamily="34" charset="-120"/>
              </a:rPr>
              <a:t>ファイルアップロード上限</a:t>
            </a:r>
            <a:endParaRPr lang="en-US" sz="1100" dirty="0"/>
          </a:p>
        </p:txBody>
      </p:sp>
      <p:sp>
        <p:nvSpPr>
          <p:cNvPr id="26" name="Text 24"/>
          <p:cNvSpPr/>
          <p:nvPr/>
        </p:nvSpPr>
        <p:spPr>
          <a:xfrm>
            <a:off x="3931920" y="2322576"/>
            <a:ext cx="4617720" cy="256032"/>
          </a:xfrm>
          <a:prstGeom prst="rect">
            <a:avLst/>
          </a:prstGeom>
          <a:noFill/>
          <a:ln/>
        </p:spPr>
        <p:txBody>
          <a:bodyPr wrap="square" lIns="0" tIns="0" rIns="0" bIns="0" rtlCol="0" anchor="ctr"/>
          <a:lstStyle/>
          <a:p>
            <a:pPr indent="0" marL="0">
              <a:buNone/>
            </a:pPr>
            <a:r>
              <a:rPr lang="en-US" sz="1050" dirty="0">
                <a:solidFill>
                  <a:srgbClr val="1A1A2E"/>
                </a:solidFill>
                <a:latin typeface="Meiryo" pitchFamily="34" charset="0"/>
                <a:ea typeface="Meiryo" pitchFamily="34" charset="-122"/>
                <a:cs typeface="Meiryo" pitchFamily="34" charset="-120"/>
              </a:rPr>
              <a:t>Notion Help Center — Images, files &amp; media</a:t>
            </a:r>
            <a:endParaRPr lang="en-US" sz="1050" dirty="0"/>
          </a:p>
        </p:txBody>
      </p:sp>
      <p:sp>
        <p:nvSpPr>
          <p:cNvPr id="27" name="Text 25"/>
          <p:cNvSpPr/>
          <p:nvPr/>
        </p:nvSpPr>
        <p:spPr>
          <a:xfrm>
            <a:off x="3931920" y="2578608"/>
            <a:ext cx="4617720" cy="237744"/>
          </a:xfrm>
          <a:prstGeom prst="rect">
            <a:avLst/>
          </a:prstGeom>
          <a:noFill/>
          <a:ln/>
        </p:spPr>
        <p:txBody>
          <a:bodyPr wrap="square" lIns="0" tIns="0" rIns="0" bIns="0" rtlCol="0" anchor="ctr"/>
          <a:lstStyle/>
          <a:p>
            <a:pPr indent="0" marL="0">
              <a:buNone/>
            </a:pPr>
            <a:r>
              <a:rPr lang="en-US" sz="900" dirty="0">
                <a:solidFill>
                  <a:srgbClr val="3A4A8F"/>
                </a:solidFill>
                <a:latin typeface="Meiryo" pitchFamily="34" charset="0"/>
                <a:ea typeface="Meiryo" pitchFamily="34" charset="-122"/>
                <a:cs typeface="Meiryo" pitchFamily="34" charset="-120"/>
              </a:rPr>
              <a:t>www.notion.com/help/images-files-and-media</a:t>
            </a:r>
            <a:endParaRPr lang="en-US" sz="900" dirty="0"/>
          </a:p>
        </p:txBody>
      </p:sp>
      <p:sp>
        <p:nvSpPr>
          <p:cNvPr id="28" name="Text 26"/>
          <p:cNvSpPr/>
          <p:nvPr/>
        </p:nvSpPr>
        <p:spPr>
          <a:xfrm>
            <a:off x="8732520" y="2286000"/>
            <a:ext cx="2681935" cy="566928"/>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Free 5MB ／ 有料 5GB、PDF 20MB・画像 5MB の個別上限</a:t>
            </a:r>
            <a:endParaRPr lang="en-US" sz="900" dirty="0"/>
          </a:p>
        </p:txBody>
      </p:sp>
      <p:sp>
        <p:nvSpPr>
          <p:cNvPr id="29" name="Shape 27"/>
          <p:cNvSpPr/>
          <p:nvPr/>
        </p:nvSpPr>
        <p:spPr>
          <a:xfrm>
            <a:off x="548640" y="2944368"/>
            <a:ext cx="11094415" cy="566928"/>
          </a:xfrm>
          <a:prstGeom prst="roundRect">
            <a:avLst>
              <a:gd name="adj" fmla="val 9677"/>
            </a:avLst>
          </a:prstGeom>
          <a:solidFill>
            <a:srgbClr val="FAFC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0" name="Text 28"/>
          <p:cNvSpPr/>
          <p:nvPr/>
        </p:nvSpPr>
        <p:spPr>
          <a:xfrm>
            <a:off x="777240" y="2944368"/>
            <a:ext cx="3017520" cy="566928"/>
          </a:xfrm>
          <a:prstGeom prst="rect">
            <a:avLst/>
          </a:prstGeom>
          <a:noFill/>
          <a:ln/>
        </p:spPr>
        <p:txBody>
          <a:bodyPr wrap="square" lIns="0" tIns="0" rIns="0" bIns="0" rtlCol="0" anchor="ctr"/>
          <a:lstStyle/>
          <a:p>
            <a:pPr indent="0" marL="0">
              <a:buNone/>
            </a:pPr>
            <a:r>
              <a:rPr lang="en-US" sz="1100" b="1" dirty="0">
                <a:solidFill>
                  <a:srgbClr val="1E2761"/>
                </a:solidFill>
                <a:latin typeface="Meiryo" pitchFamily="34" charset="0"/>
                <a:ea typeface="Meiryo" pitchFamily="34" charset="-122"/>
                <a:cs typeface="Meiryo" pitchFamily="34" charset="-120"/>
              </a:rPr>
              <a:t>SAML SSO のプラン要件</a:t>
            </a:r>
            <a:endParaRPr lang="en-US" sz="1100" dirty="0"/>
          </a:p>
        </p:txBody>
      </p:sp>
      <p:sp>
        <p:nvSpPr>
          <p:cNvPr id="31" name="Text 29"/>
          <p:cNvSpPr/>
          <p:nvPr/>
        </p:nvSpPr>
        <p:spPr>
          <a:xfrm>
            <a:off x="3931920" y="2980944"/>
            <a:ext cx="4617720" cy="256032"/>
          </a:xfrm>
          <a:prstGeom prst="rect">
            <a:avLst/>
          </a:prstGeom>
          <a:noFill/>
          <a:ln/>
        </p:spPr>
        <p:txBody>
          <a:bodyPr wrap="square" lIns="0" tIns="0" rIns="0" bIns="0" rtlCol="0" anchor="ctr"/>
          <a:lstStyle/>
          <a:p>
            <a:pPr indent="0" marL="0">
              <a:buNone/>
            </a:pPr>
            <a:r>
              <a:rPr lang="en-US" sz="1050" dirty="0">
                <a:solidFill>
                  <a:srgbClr val="1A1A2E"/>
                </a:solidFill>
                <a:latin typeface="Meiryo" pitchFamily="34" charset="0"/>
                <a:ea typeface="Meiryo" pitchFamily="34" charset="-122"/>
                <a:cs typeface="Meiryo" pitchFamily="34" charset="-120"/>
              </a:rPr>
              <a:t>Notion Help Center — SAML SSO configuration</a:t>
            </a:r>
            <a:endParaRPr lang="en-US" sz="1050" dirty="0"/>
          </a:p>
        </p:txBody>
      </p:sp>
      <p:sp>
        <p:nvSpPr>
          <p:cNvPr id="32" name="Text 30"/>
          <p:cNvSpPr/>
          <p:nvPr/>
        </p:nvSpPr>
        <p:spPr>
          <a:xfrm>
            <a:off x="3931920" y="3236976"/>
            <a:ext cx="4617720" cy="237744"/>
          </a:xfrm>
          <a:prstGeom prst="rect">
            <a:avLst/>
          </a:prstGeom>
          <a:noFill/>
          <a:ln/>
        </p:spPr>
        <p:txBody>
          <a:bodyPr wrap="square" lIns="0" tIns="0" rIns="0" bIns="0" rtlCol="0" anchor="ctr"/>
          <a:lstStyle/>
          <a:p>
            <a:pPr indent="0" marL="0">
              <a:buNone/>
            </a:pPr>
            <a:r>
              <a:rPr lang="en-US" sz="900" dirty="0">
                <a:solidFill>
                  <a:srgbClr val="3A4A8F"/>
                </a:solidFill>
                <a:latin typeface="Meiryo" pitchFamily="34" charset="0"/>
                <a:ea typeface="Meiryo" pitchFamily="34" charset="-122"/>
                <a:cs typeface="Meiryo" pitchFamily="34" charset="-120"/>
              </a:rPr>
              <a:t>www.notion.com/help/saml-sso-configuration</a:t>
            </a:r>
            <a:endParaRPr lang="en-US" sz="900" dirty="0"/>
          </a:p>
        </p:txBody>
      </p:sp>
      <p:sp>
        <p:nvSpPr>
          <p:cNvPr id="33" name="Text 31"/>
          <p:cNvSpPr/>
          <p:nvPr/>
        </p:nvSpPr>
        <p:spPr>
          <a:xfrm>
            <a:off x="8732520" y="2944368"/>
            <a:ext cx="2681935" cy="566928"/>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Business プラン以上で利用可能。IdP は SAML 2.0 対応が必要</a:t>
            </a:r>
            <a:endParaRPr lang="en-US" sz="900" dirty="0"/>
          </a:p>
        </p:txBody>
      </p:sp>
      <p:sp>
        <p:nvSpPr>
          <p:cNvPr id="34" name="Shape 32"/>
          <p:cNvSpPr/>
          <p:nvPr/>
        </p:nvSpPr>
        <p:spPr>
          <a:xfrm>
            <a:off x="548640" y="3602736"/>
            <a:ext cx="11094415" cy="566928"/>
          </a:xfrm>
          <a:prstGeom prst="roundRect">
            <a:avLst>
              <a:gd name="adj" fmla="val 967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35" name="Text 33"/>
          <p:cNvSpPr/>
          <p:nvPr/>
        </p:nvSpPr>
        <p:spPr>
          <a:xfrm>
            <a:off x="777240" y="3602736"/>
            <a:ext cx="3017520" cy="566928"/>
          </a:xfrm>
          <a:prstGeom prst="rect">
            <a:avLst/>
          </a:prstGeom>
          <a:noFill/>
          <a:ln/>
        </p:spPr>
        <p:txBody>
          <a:bodyPr wrap="square" lIns="0" tIns="0" rIns="0" bIns="0" rtlCol="0" anchor="ctr"/>
          <a:lstStyle/>
          <a:p>
            <a:pPr indent="0" marL="0">
              <a:buNone/>
            </a:pPr>
            <a:r>
              <a:rPr lang="en-US" sz="1100" b="1" dirty="0">
                <a:solidFill>
                  <a:srgbClr val="1E2761"/>
                </a:solidFill>
                <a:latin typeface="Meiryo" pitchFamily="34" charset="0"/>
                <a:ea typeface="Meiryo" pitchFamily="34" charset="-122"/>
                <a:cs typeface="Meiryo" pitchFamily="34" charset="-120"/>
              </a:rPr>
              <a:t>監査ログのプラン要件</a:t>
            </a:r>
            <a:endParaRPr lang="en-US" sz="1100" dirty="0"/>
          </a:p>
        </p:txBody>
      </p:sp>
      <p:sp>
        <p:nvSpPr>
          <p:cNvPr id="36" name="Text 34"/>
          <p:cNvSpPr/>
          <p:nvPr/>
        </p:nvSpPr>
        <p:spPr>
          <a:xfrm>
            <a:off x="3931920" y="3639312"/>
            <a:ext cx="4617720" cy="256032"/>
          </a:xfrm>
          <a:prstGeom prst="rect">
            <a:avLst/>
          </a:prstGeom>
          <a:noFill/>
          <a:ln/>
        </p:spPr>
        <p:txBody>
          <a:bodyPr wrap="square" lIns="0" tIns="0" rIns="0" bIns="0" rtlCol="0" anchor="ctr"/>
          <a:lstStyle/>
          <a:p>
            <a:pPr indent="0" marL="0">
              <a:buNone/>
            </a:pPr>
            <a:r>
              <a:rPr lang="en-US" sz="1050" dirty="0">
                <a:solidFill>
                  <a:srgbClr val="1A1A2E"/>
                </a:solidFill>
                <a:latin typeface="Meiryo" pitchFamily="34" charset="0"/>
                <a:ea typeface="Meiryo" pitchFamily="34" charset="-122"/>
                <a:cs typeface="Meiryo" pitchFamily="34" charset="-120"/>
              </a:rPr>
              <a:t>Notion Help Center — Workspace audit log</a:t>
            </a:r>
            <a:endParaRPr lang="en-US" sz="1050" dirty="0"/>
          </a:p>
        </p:txBody>
      </p:sp>
      <p:sp>
        <p:nvSpPr>
          <p:cNvPr id="37" name="Text 35"/>
          <p:cNvSpPr/>
          <p:nvPr/>
        </p:nvSpPr>
        <p:spPr>
          <a:xfrm>
            <a:off x="3931920" y="3895344"/>
            <a:ext cx="4617720" cy="237744"/>
          </a:xfrm>
          <a:prstGeom prst="rect">
            <a:avLst/>
          </a:prstGeom>
          <a:noFill/>
          <a:ln/>
        </p:spPr>
        <p:txBody>
          <a:bodyPr wrap="square" lIns="0" tIns="0" rIns="0" bIns="0" rtlCol="0" anchor="ctr"/>
          <a:lstStyle/>
          <a:p>
            <a:pPr indent="0" marL="0">
              <a:buNone/>
            </a:pPr>
            <a:r>
              <a:rPr lang="en-US" sz="900" dirty="0">
                <a:solidFill>
                  <a:srgbClr val="3A4A8F"/>
                </a:solidFill>
                <a:latin typeface="Meiryo" pitchFamily="34" charset="0"/>
                <a:ea typeface="Meiryo" pitchFamily="34" charset="-122"/>
                <a:cs typeface="Meiryo" pitchFamily="34" charset="-120"/>
              </a:rPr>
              <a:t>www.notion.com/help/audit-log</a:t>
            </a:r>
            <a:endParaRPr lang="en-US" sz="900" dirty="0"/>
          </a:p>
        </p:txBody>
      </p:sp>
      <p:sp>
        <p:nvSpPr>
          <p:cNvPr id="38" name="Text 36"/>
          <p:cNvSpPr/>
          <p:nvPr/>
        </p:nvSpPr>
        <p:spPr>
          <a:xfrm>
            <a:off x="8732520" y="3602736"/>
            <a:ext cx="2681935" cy="566928"/>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Enterprise プランの組織オーナーのみ利用可能</a:t>
            </a:r>
            <a:endParaRPr lang="en-US" sz="900" dirty="0"/>
          </a:p>
        </p:txBody>
      </p:sp>
      <p:sp>
        <p:nvSpPr>
          <p:cNvPr id="39" name="Shape 37"/>
          <p:cNvSpPr/>
          <p:nvPr/>
        </p:nvSpPr>
        <p:spPr>
          <a:xfrm>
            <a:off x="548640" y="4261104"/>
            <a:ext cx="11094415" cy="566928"/>
          </a:xfrm>
          <a:prstGeom prst="roundRect">
            <a:avLst>
              <a:gd name="adj" fmla="val 9677"/>
            </a:avLst>
          </a:prstGeom>
          <a:solidFill>
            <a:srgbClr val="FAFC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0" name="Text 38"/>
          <p:cNvSpPr/>
          <p:nvPr/>
        </p:nvSpPr>
        <p:spPr>
          <a:xfrm>
            <a:off x="777240" y="4261104"/>
            <a:ext cx="3017520" cy="566928"/>
          </a:xfrm>
          <a:prstGeom prst="rect">
            <a:avLst/>
          </a:prstGeom>
          <a:noFill/>
          <a:ln/>
        </p:spPr>
        <p:txBody>
          <a:bodyPr wrap="square" lIns="0" tIns="0" rIns="0" bIns="0" rtlCol="0" anchor="ctr"/>
          <a:lstStyle/>
          <a:p>
            <a:pPr indent="0" marL="0">
              <a:buNone/>
            </a:pPr>
            <a:r>
              <a:rPr lang="en-US" sz="1100" b="1" dirty="0">
                <a:solidFill>
                  <a:srgbClr val="1E2761"/>
                </a:solidFill>
                <a:latin typeface="Meiryo" pitchFamily="34" charset="0"/>
                <a:ea typeface="Meiryo" pitchFamily="34" charset="-122"/>
                <a:cs typeface="Meiryo" pitchFamily="34" charset="-120"/>
              </a:rPr>
              <a:t>SCIM のプラン要件</a:t>
            </a:r>
            <a:endParaRPr lang="en-US" sz="1100" dirty="0"/>
          </a:p>
        </p:txBody>
      </p:sp>
      <p:sp>
        <p:nvSpPr>
          <p:cNvPr id="41" name="Text 39"/>
          <p:cNvSpPr/>
          <p:nvPr/>
        </p:nvSpPr>
        <p:spPr>
          <a:xfrm>
            <a:off x="3931920" y="4297680"/>
            <a:ext cx="4617720" cy="256032"/>
          </a:xfrm>
          <a:prstGeom prst="rect">
            <a:avLst/>
          </a:prstGeom>
          <a:noFill/>
          <a:ln/>
        </p:spPr>
        <p:txBody>
          <a:bodyPr wrap="square" lIns="0" tIns="0" rIns="0" bIns="0" rtlCol="0" anchor="ctr"/>
          <a:lstStyle/>
          <a:p>
            <a:pPr indent="0" marL="0">
              <a:buNone/>
            </a:pPr>
            <a:r>
              <a:rPr lang="en-US" sz="1050" dirty="0">
                <a:solidFill>
                  <a:srgbClr val="1A1A2E"/>
                </a:solidFill>
                <a:latin typeface="Meiryo" pitchFamily="34" charset="0"/>
                <a:ea typeface="Meiryo" pitchFamily="34" charset="-122"/>
                <a:cs typeface="Meiryo" pitchFamily="34" charset="-120"/>
              </a:rPr>
              <a:t>Notion Help Center — Provision users &amp; groups with SCIM</a:t>
            </a:r>
            <a:endParaRPr lang="en-US" sz="1050" dirty="0"/>
          </a:p>
        </p:txBody>
      </p:sp>
      <p:sp>
        <p:nvSpPr>
          <p:cNvPr id="42" name="Text 40"/>
          <p:cNvSpPr/>
          <p:nvPr/>
        </p:nvSpPr>
        <p:spPr>
          <a:xfrm>
            <a:off x="3931920" y="4553712"/>
            <a:ext cx="4617720" cy="237744"/>
          </a:xfrm>
          <a:prstGeom prst="rect">
            <a:avLst/>
          </a:prstGeom>
          <a:noFill/>
          <a:ln/>
        </p:spPr>
        <p:txBody>
          <a:bodyPr wrap="square" lIns="0" tIns="0" rIns="0" bIns="0" rtlCol="0" anchor="ctr"/>
          <a:lstStyle/>
          <a:p>
            <a:pPr indent="0" marL="0">
              <a:buNone/>
            </a:pPr>
            <a:r>
              <a:rPr lang="en-US" sz="900" dirty="0">
                <a:solidFill>
                  <a:srgbClr val="3A4A8F"/>
                </a:solidFill>
                <a:latin typeface="Meiryo" pitchFamily="34" charset="0"/>
                <a:ea typeface="Meiryo" pitchFamily="34" charset="-122"/>
                <a:cs typeface="Meiryo" pitchFamily="34" charset="-120"/>
              </a:rPr>
              <a:t>www.notion.com/help/provision-users-and-groups-with-scim</a:t>
            </a:r>
            <a:endParaRPr lang="en-US" sz="900" dirty="0"/>
          </a:p>
        </p:txBody>
      </p:sp>
      <p:sp>
        <p:nvSpPr>
          <p:cNvPr id="43" name="Text 41"/>
          <p:cNvSpPr/>
          <p:nvPr/>
        </p:nvSpPr>
        <p:spPr>
          <a:xfrm>
            <a:off x="8732520" y="4261104"/>
            <a:ext cx="2681935" cy="566928"/>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Enterprise プランでのみ利用可能</a:t>
            </a:r>
            <a:endParaRPr lang="en-US" sz="900" dirty="0"/>
          </a:p>
        </p:txBody>
      </p:sp>
      <p:sp>
        <p:nvSpPr>
          <p:cNvPr id="44" name="Shape 42"/>
          <p:cNvSpPr/>
          <p:nvPr/>
        </p:nvSpPr>
        <p:spPr>
          <a:xfrm>
            <a:off x="548640" y="4919472"/>
            <a:ext cx="11094415" cy="566928"/>
          </a:xfrm>
          <a:prstGeom prst="roundRect">
            <a:avLst>
              <a:gd name="adj" fmla="val 9677"/>
            </a:avLst>
          </a:prstGeom>
          <a:solidFill>
            <a:srgbClr val="FFFF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45" name="Text 43"/>
          <p:cNvSpPr/>
          <p:nvPr/>
        </p:nvSpPr>
        <p:spPr>
          <a:xfrm>
            <a:off x="777240" y="4919472"/>
            <a:ext cx="3017520" cy="566928"/>
          </a:xfrm>
          <a:prstGeom prst="rect">
            <a:avLst/>
          </a:prstGeom>
          <a:noFill/>
          <a:ln/>
        </p:spPr>
        <p:txBody>
          <a:bodyPr wrap="square" lIns="0" tIns="0" rIns="0" bIns="0" rtlCol="0" anchor="ctr"/>
          <a:lstStyle/>
          <a:p>
            <a:pPr indent="0" marL="0">
              <a:buNone/>
            </a:pPr>
            <a:r>
              <a:rPr lang="en-US" sz="1100" b="1" dirty="0">
                <a:solidFill>
                  <a:srgbClr val="1E2761"/>
                </a:solidFill>
                <a:latin typeface="Meiryo" pitchFamily="34" charset="0"/>
                <a:ea typeface="Meiryo" pitchFamily="34" charset="-122"/>
                <a:cs typeface="Meiryo" pitchFamily="34" charset="-120"/>
              </a:rPr>
              <a:t>セキュリティ認証の取得状況</a:t>
            </a:r>
            <a:endParaRPr lang="en-US" sz="1100" dirty="0"/>
          </a:p>
        </p:txBody>
      </p:sp>
      <p:sp>
        <p:nvSpPr>
          <p:cNvPr id="46" name="Text 44"/>
          <p:cNvSpPr/>
          <p:nvPr/>
        </p:nvSpPr>
        <p:spPr>
          <a:xfrm>
            <a:off x="3931920" y="4956048"/>
            <a:ext cx="4617720" cy="256032"/>
          </a:xfrm>
          <a:prstGeom prst="rect">
            <a:avLst/>
          </a:prstGeom>
          <a:noFill/>
          <a:ln/>
        </p:spPr>
        <p:txBody>
          <a:bodyPr wrap="square" lIns="0" tIns="0" rIns="0" bIns="0" rtlCol="0" anchor="ctr"/>
          <a:lstStyle/>
          <a:p>
            <a:pPr indent="0" marL="0">
              <a:buNone/>
            </a:pPr>
            <a:r>
              <a:rPr lang="en-US" sz="1050" dirty="0">
                <a:solidFill>
                  <a:srgbClr val="1A1A2E"/>
                </a:solidFill>
                <a:latin typeface="Meiryo" pitchFamily="34" charset="0"/>
                <a:ea typeface="Meiryo" pitchFamily="34" charset="-122"/>
                <a:cs typeface="Meiryo" pitchFamily="34" charset="-120"/>
              </a:rPr>
              <a:t>Notion Trust Center</a:t>
            </a:r>
            <a:endParaRPr lang="en-US" sz="1050" dirty="0"/>
          </a:p>
        </p:txBody>
      </p:sp>
      <p:sp>
        <p:nvSpPr>
          <p:cNvPr id="47" name="Text 45"/>
          <p:cNvSpPr/>
          <p:nvPr/>
        </p:nvSpPr>
        <p:spPr>
          <a:xfrm>
            <a:off x="3931920" y="5212080"/>
            <a:ext cx="4617720" cy="237744"/>
          </a:xfrm>
          <a:prstGeom prst="rect">
            <a:avLst/>
          </a:prstGeom>
          <a:noFill/>
          <a:ln/>
        </p:spPr>
        <p:txBody>
          <a:bodyPr wrap="square" lIns="0" tIns="0" rIns="0" bIns="0" rtlCol="0" anchor="ctr"/>
          <a:lstStyle/>
          <a:p>
            <a:pPr indent="0" marL="0">
              <a:buNone/>
            </a:pPr>
            <a:r>
              <a:rPr lang="en-US" sz="900" dirty="0">
                <a:solidFill>
                  <a:srgbClr val="3A4A8F"/>
                </a:solidFill>
                <a:latin typeface="Meiryo" pitchFamily="34" charset="0"/>
                <a:ea typeface="Meiryo" pitchFamily="34" charset="-122"/>
                <a:cs typeface="Meiryo" pitchFamily="34" charset="-120"/>
              </a:rPr>
              <a:t>trust.notion.com</a:t>
            </a:r>
            <a:endParaRPr lang="en-US" sz="900" dirty="0"/>
          </a:p>
        </p:txBody>
      </p:sp>
      <p:sp>
        <p:nvSpPr>
          <p:cNvPr id="48" name="Text 46"/>
          <p:cNvSpPr/>
          <p:nvPr/>
        </p:nvSpPr>
        <p:spPr>
          <a:xfrm>
            <a:off x="8732520" y="4919472"/>
            <a:ext cx="2681935" cy="566928"/>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SOC 2 Type II、ISO 27001/27017/27018/27701、BSI C5 等</a:t>
            </a:r>
            <a:endParaRPr lang="en-US" sz="900" dirty="0"/>
          </a:p>
        </p:txBody>
      </p:sp>
      <p:sp>
        <p:nvSpPr>
          <p:cNvPr id="49" name="Shape 47"/>
          <p:cNvSpPr/>
          <p:nvPr/>
        </p:nvSpPr>
        <p:spPr>
          <a:xfrm>
            <a:off x="548640" y="5577840"/>
            <a:ext cx="11094415" cy="566928"/>
          </a:xfrm>
          <a:prstGeom prst="roundRect">
            <a:avLst>
              <a:gd name="adj" fmla="val 9677"/>
            </a:avLst>
          </a:prstGeom>
          <a:solidFill>
            <a:srgbClr val="FAFCFF"/>
          </a:solidFill>
          <a:ln w="12700">
            <a:solidFill>
              <a:srgbClr val="D6DEEC"/>
            </a:solidFill>
            <a:prstDash val="solid"/>
          </a:ln>
          <a:effectLst>
            <a:outerShdw sx="100000" sy="100000" kx="0" ky="0" algn="bl" rotWithShape="0" blurRad="101600" dist="12700" dir="5400000">
              <a:srgbClr val="1E2761">
                <a:alpha val="10000"/>
              </a:srgbClr>
            </a:outerShdw>
          </a:effectLst>
        </p:spPr>
      </p:sp>
      <p:sp>
        <p:nvSpPr>
          <p:cNvPr id="50" name="Text 48"/>
          <p:cNvSpPr/>
          <p:nvPr/>
        </p:nvSpPr>
        <p:spPr>
          <a:xfrm>
            <a:off x="777240" y="5577840"/>
            <a:ext cx="3017520" cy="566928"/>
          </a:xfrm>
          <a:prstGeom prst="rect">
            <a:avLst/>
          </a:prstGeom>
          <a:noFill/>
          <a:ln/>
        </p:spPr>
        <p:txBody>
          <a:bodyPr wrap="square" lIns="0" tIns="0" rIns="0" bIns="0" rtlCol="0" anchor="ctr"/>
          <a:lstStyle/>
          <a:p>
            <a:pPr indent="0" marL="0">
              <a:buNone/>
            </a:pPr>
            <a:r>
              <a:rPr lang="en-US" sz="1100" b="1" dirty="0">
                <a:solidFill>
                  <a:srgbClr val="1E2761"/>
                </a:solidFill>
                <a:latin typeface="Meiryo" pitchFamily="34" charset="0"/>
                <a:ea typeface="Meiryo" pitchFamily="34" charset="-122"/>
                <a:cs typeface="Meiryo" pitchFamily="34" charset="-120"/>
              </a:rPr>
              <a:t>プラン別の機能・価格</a:t>
            </a:r>
            <a:endParaRPr lang="en-US" sz="1100" dirty="0"/>
          </a:p>
        </p:txBody>
      </p:sp>
      <p:sp>
        <p:nvSpPr>
          <p:cNvPr id="51" name="Text 49"/>
          <p:cNvSpPr/>
          <p:nvPr/>
        </p:nvSpPr>
        <p:spPr>
          <a:xfrm>
            <a:off x="3931920" y="5614416"/>
            <a:ext cx="4617720" cy="256032"/>
          </a:xfrm>
          <a:prstGeom prst="rect">
            <a:avLst/>
          </a:prstGeom>
          <a:noFill/>
          <a:ln/>
        </p:spPr>
        <p:txBody>
          <a:bodyPr wrap="square" lIns="0" tIns="0" rIns="0" bIns="0" rtlCol="0" anchor="ctr"/>
          <a:lstStyle/>
          <a:p>
            <a:pPr indent="0" marL="0">
              <a:buNone/>
            </a:pPr>
            <a:r>
              <a:rPr lang="en-US" sz="1050" dirty="0">
                <a:solidFill>
                  <a:srgbClr val="1A1A2E"/>
                </a:solidFill>
                <a:latin typeface="Meiryo" pitchFamily="34" charset="0"/>
                <a:ea typeface="Meiryo" pitchFamily="34" charset="-122"/>
                <a:cs typeface="Meiryo" pitchFamily="34" charset="-120"/>
              </a:rPr>
              <a:t>Notion Pricing</a:t>
            </a:r>
            <a:endParaRPr lang="en-US" sz="1050" dirty="0"/>
          </a:p>
        </p:txBody>
      </p:sp>
      <p:sp>
        <p:nvSpPr>
          <p:cNvPr id="52" name="Text 50"/>
          <p:cNvSpPr/>
          <p:nvPr/>
        </p:nvSpPr>
        <p:spPr>
          <a:xfrm>
            <a:off x="3931920" y="5870448"/>
            <a:ext cx="4617720" cy="237744"/>
          </a:xfrm>
          <a:prstGeom prst="rect">
            <a:avLst/>
          </a:prstGeom>
          <a:noFill/>
          <a:ln/>
        </p:spPr>
        <p:txBody>
          <a:bodyPr wrap="square" lIns="0" tIns="0" rIns="0" bIns="0" rtlCol="0" anchor="ctr"/>
          <a:lstStyle/>
          <a:p>
            <a:pPr indent="0" marL="0">
              <a:buNone/>
            </a:pPr>
            <a:r>
              <a:rPr lang="en-US" sz="900" dirty="0">
                <a:solidFill>
                  <a:srgbClr val="3A4A8F"/>
                </a:solidFill>
                <a:latin typeface="Meiryo" pitchFamily="34" charset="0"/>
                <a:ea typeface="Meiryo" pitchFamily="34" charset="-122"/>
                <a:cs typeface="Meiryo" pitchFamily="34" charset="-120"/>
              </a:rPr>
              <a:t>www.notion.com/pricing</a:t>
            </a:r>
            <a:endParaRPr lang="en-US" sz="900" dirty="0"/>
          </a:p>
        </p:txBody>
      </p:sp>
      <p:sp>
        <p:nvSpPr>
          <p:cNvPr id="53" name="Text 51"/>
          <p:cNvSpPr/>
          <p:nvPr/>
        </p:nvSpPr>
        <p:spPr>
          <a:xfrm>
            <a:off x="8732520" y="5577840"/>
            <a:ext cx="2681935" cy="566928"/>
          </a:xfrm>
          <a:prstGeom prst="rect">
            <a:avLst/>
          </a:prstGeom>
          <a:noFill/>
          <a:ln/>
        </p:spPr>
        <p:txBody>
          <a:bodyPr wrap="square" lIns="0" tIns="0" rIns="0" bIns="0" rtlCol="0" anchor="ctr"/>
          <a:lstStyle/>
          <a:p>
            <a:pPr indent="0" marL="0">
              <a:buNone/>
            </a:pPr>
            <a:r>
              <a:rPr lang="en-US" sz="900" dirty="0">
                <a:solidFill>
                  <a:srgbClr val="1A1A2E"/>
                </a:solidFill>
                <a:latin typeface="Meiryo" pitchFamily="34" charset="0"/>
                <a:ea typeface="Meiryo" pitchFamily="34" charset="-122"/>
                <a:cs typeface="Meiryo" pitchFamily="34" charset="-120"/>
              </a:rPr>
              <a:t>単価・上限は改定される場合があるため、契約時に見積で確定する</a:t>
            </a:r>
            <a:endParaRPr lang="en-US" sz="900" dirty="0"/>
          </a:p>
        </p:txBody>
      </p:sp>
      <p:sp>
        <p:nvSpPr>
          <p:cNvPr id="54" name="Text 52"/>
          <p:cNvSpPr/>
          <p:nvPr/>
        </p:nvSpPr>
        <p:spPr>
          <a:xfrm>
            <a:off x="548640" y="6309360"/>
            <a:ext cx="11094415" cy="274320"/>
          </a:xfrm>
          <a:prstGeom prst="rect">
            <a:avLst/>
          </a:prstGeom>
          <a:noFill/>
          <a:ln/>
        </p:spPr>
        <p:txBody>
          <a:bodyPr wrap="square" lIns="0" tIns="0" rIns="0" bIns="0" rtlCol="0" anchor="ctr"/>
          <a:lstStyle/>
          <a:p>
            <a:pPr indent="0" marL="0">
              <a:buNone/>
            </a:pPr>
            <a:r>
              <a:rPr lang="en-US" sz="900" dirty="0">
                <a:solidFill>
                  <a:srgbClr val="6B7280"/>
                </a:solidFill>
                <a:latin typeface="Meiryo" pitchFamily="34" charset="0"/>
                <a:ea typeface="Meiryo" pitchFamily="34" charset="-122"/>
                <a:cs typeface="Meiryo" pitchFamily="34" charset="-120"/>
              </a:rPr>
              <a:t>※ 記載内容は2026年8月時点で確認したものです。プラン仕様・価格は改定される場合があるため、契約前に再確認します。</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1600" cy="310896"/>
          </a:xfrm>
          <a:prstGeom prst="roundRect">
            <a:avLst>
              <a:gd name="adj" fmla="val 17647"/>
            </a:avLst>
          </a:prstGeom>
          <a:solidFill>
            <a:srgbClr val="3A4A8F"/>
          </a:solidFill>
          <a:ln w="12700">
            <a:solidFill>
              <a:srgbClr val="3A4A8F"/>
            </a:solidFill>
            <a:prstDash val="solid"/>
          </a:ln>
        </p:spPr>
      </p:sp>
      <p:sp>
        <p:nvSpPr>
          <p:cNvPr id="3" name="Text 1"/>
          <p:cNvSpPr/>
          <p:nvPr/>
        </p:nvSpPr>
        <p:spPr>
          <a:xfrm>
            <a:off x="548640" y="365760"/>
            <a:ext cx="137160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Appendix H</a:t>
            </a:r>
            <a:endParaRPr lang="en-US" sz="1050" dirty="0"/>
          </a:p>
        </p:txBody>
      </p:sp>
      <p:sp>
        <p:nvSpPr>
          <p:cNvPr id="4" name="Shape 2"/>
          <p:cNvSpPr/>
          <p:nvPr/>
        </p:nvSpPr>
        <p:spPr>
          <a:xfrm>
            <a:off x="9389059" y="402336"/>
            <a:ext cx="237744" cy="237744"/>
          </a:xfrm>
          <a:prstGeom prst="roundRect">
            <a:avLst>
              <a:gd name="adj" fmla="val 15385"/>
            </a:avLst>
          </a:prstGeom>
          <a:solidFill>
            <a:srgbClr val="E8ECF3"/>
          </a:solidFill>
          <a:ln w="12700">
            <a:solidFill>
              <a:srgbClr val="E8ECF3"/>
            </a:solidFill>
            <a:prstDash val="solid"/>
          </a:ln>
        </p:spPr>
      </p:sp>
      <p:sp>
        <p:nvSpPr>
          <p:cNvPr id="5" name="Text 3"/>
          <p:cNvSpPr/>
          <p:nvPr/>
        </p:nvSpPr>
        <p:spPr>
          <a:xfrm>
            <a:off x="938905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A</a:t>
            </a:r>
            <a:endParaRPr lang="en-US" sz="750" dirty="0"/>
          </a:p>
        </p:txBody>
      </p:sp>
      <p:sp>
        <p:nvSpPr>
          <p:cNvPr id="6" name="Shape 4"/>
          <p:cNvSpPr/>
          <p:nvPr/>
        </p:nvSpPr>
        <p:spPr>
          <a:xfrm>
            <a:off x="9677095" y="402336"/>
            <a:ext cx="237744" cy="237744"/>
          </a:xfrm>
          <a:prstGeom prst="roundRect">
            <a:avLst>
              <a:gd name="adj" fmla="val 15385"/>
            </a:avLst>
          </a:prstGeom>
          <a:solidFill>
            <a:srgbClr val="E8ECF3"/>
          </a:solidFill>
          <a:ln w="12700">
            <a:solidFill>
              <a:srgbClr val="E8ECF3"/>
            </a:solidFill>
            <a:prstDash val="solid"/>
          </a:ln>
        </p:spPr>
      </p:sp>
      <p:sp>
        <p:nvSpPr>
          <p:cNvPr id="7" name="Text 5"/>
          <p:cNvSpPr/>
          <p:nvPr/>
        </p:nvSpPr>
        <p:spPr>
          <a:xfrm>
            <a:off x="967709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B</a:t>
            </a:r>
            <a:endParaRPr lang="en-US" sz="750" dirty="0"/>
          </a:p>
        </p:txBody>
      </p:sp>
      <p:sp>
        <p:nvSpPr>
          <p:cNvPr id="8" name="Shape 6"/>
          <p:cNvSpPr/>
          <p:nvPr/>
        </p:nvSpPr>
        <p:spPr>
          <a:xfrm>
            <a:off x="9965131" y="402336"/>
            <a:ext cx="237744" cy="237744"/>
          </a:xfrm>
          <a:prstGeom prst="roundRect">
            <a:avLst>
              <a:gd name="adj" fmla="val 15385"/>
            </a:avLst>
          </a:prstGeom>
          <a:solidFill>
            <a:srgbClr val="E8ECF3"/>
          </a:solidFill>
          <a:ln w="12700">
            <a:solidFill>
              <a:srgbClr val="E8ECF3"/>
            </a:solidFill>
            <a:prstDash val="solid"/>
          </a:ln>
        </p:spPr>
      </p:sp>
      <p:sp>
        <p:nvSpPr>
          <p:cNvPr id="9" name="Text 7"/>
          <p:cNvSpPr/>
          <p:nvPr/>
        </p:nvSpPr>
        <p:spPr>
          <a:xfrm>
            <a:off x="9965131"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C</a:t>
            </a:r>
            <a:endParaRPr lang="en-US" sz="750" dirty="0"/>
          </a:p>
        </p:txBody>
      </p:sp>
      <p:sp>
        <p:nvSpPr>
          <p:cNvPr id="10" name="Shape 8"/>
          <p:cNvSpPr/>
          <p:nvPr/>
        </p:nvSpPr>
        <p:spPr>
          <a:xfrm>
            <a:off x="10253167" y="402336"/>
            <a:ext cx="237744" cy="237744"/>
          </a:xfrm>
          <a:prstGeom prst="roundRect">
            <a:avLst>
              <a:gd name="adj" fmla="val 15385"/>
            </a:avLst>
          </a:prstGeom>
          <a:solidFill>
            <a:srgbClr val="E8ECF3"/>
          </a:solidFill>
          <a:ln w="12700">
            <a:solidFill>
              <a:srgbClr val="E8ECF3"/>
            </a:solidFill>
            <a:prstDash val="solid"/>
          </a:ln>
        </p:spPr>
      </p:sp>
      <p:sp>
        <p:nvSpPr>
          <p:cNvPr id="11" name="Text 9"/>
          <p:cNvSpPr/>
          <p:nvPr/>
        </p:nvSpPr>
        <p:spPr>
          <a:xfrm>
            <a:off x="10253167"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D</a:t>
            </a:r>
            <a:endParaRPr lang="en-US" sz="750" dirty="0"/>
          </a:p>
        </p:txBody>
      </p:sp>
      <p:sp>
        <p:nvSpPr>
          <p:cNvPr id="12" name="Shape 10"/>
          <p:cNvSpPr/>
          <p:nvPr/>
        </p:nvSpPr>
        <p:spPr>
          <a:xfrm>
            <a:off x="10541203" y="402336"/>
            <a:ext cx="237744" cy="237744"/>
          </a:xfrm>
          <a:prstGeom prst="roundRect">
            <a:avLst>
              <a:gd name="adj" fmla="val 15385"/>
            </a:avLst>
          </a:prstGeom>
          <a:solidFill>
            <a:srgbClr val="E8ECF3"/>
          </a:solidFill>
          <a:ln w="12700">
            <a:solidFill>
              <a:srgbClr val="E8ECF3"/>
            </a:solidFill>
            <a:prstDash val="solid"/>
          </a:ln>
        </p:spPr>
      </p:sp>
      <p:sp>
        <p:nvSpPr>
          <p:cNvPr id="13" name="Text 11"/>
          <p:cNvSpPr/>
          <p:nvPr/>
        </p:nvSpPr>
        <p:spPr>
          <a:xfrm>
            <a:off x="10541203"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E</a:t>
            </a:r>
            <a:endParaRPr lang="en-US" sz="750" dirty="0"/>
          </a:p>
        </p:txBody>
      </p:sp>
      <p:sp>
        <p:nvSpPr>
          <p:cNvPr id="14" name="Shape 12"/>
          <p:cNvSpPr/>
          <p:nvPr/>
        </p:nvSpPr>
        <p:spPr>
          <a:xfrm>
            <a:off x="10829239" y="402336"/>
            <a:ext cx="237744" cy="237744"/>
          </a:xfrm>
          <a:prstGeom prst="roundRect">
            <a:avLst>
              <a:gd name="adj" fmla="val 15385"/>
            </a:avLst>
          </a:prstGeom>
          <a:solidFill>
            <a:srgbClr val="E8ECF3"/>
          </a:solidFill>
          <a:ln w="12700">
            <a:solidFill>
              <a:srgbClr val="E8ECF3"/>
            </a:solidFill>
            <a:prstDash val="solid"/>
          </a:ln>
        </p:spPr>
      </p:sp>
      <p:sp>
        <p:nvSpPr>
          <p:cNvPr id="15" name="Text 13"/>
          <p:cNvSpPr/>
          <p:nvPr/>
        </p:nvSpPr>
        <p:spPr>
          <a:xfrm>
            <a:off x="10829239"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F</a:t>
            </a:r>
            <a:endParaRPr lang="en-US" sz="750" dirty="0"/>
          </a:p>
        </p:txBody>
      </p:sp>
      <p:sp>
        <p:nvSpPr>
          <p:cNvPr id="16" name="Shape 14"/>
          <p:cNvSpPr/>
          <p:nvPr/>
        </p:nvSpPr>
        <p:spPr>
          <a:xfrm>
            <a:off x="11117275" y="402336"/>
            <a:ext cx="237744" cy="237744"/>
          </a:xfrm>
          <a:prstGeom prst="roundRect">
            <a:avLst>
              <a:gd name="adj" fmla="val 15385"/>
            </a:avLst>
          </a:prstGeom>
          <a:solidFill>
            <a:srgbClr val="E8ECF3"/>
          </a:solidFill>
          <a:ln w="12700">
            <a:solidFill>
              <a:srgbClr val="E8ECF3"/>
            </a:solidFill>
            <a:prstDash val="solid"/>
          </a:ln>
        </p:spPr>
      </p:sp>
      <p:sp>
        <p:nvSpPr>
          <p:cNvPr id="17" name="Text 15"/>
          <p:cNvSpPr/>
          <p:nvPr/>
        </p:nvSpPr>
        <p:spPr>
          <a:xfrm>
            <a:off x="11117275" y="402336"/>
            <a:ext cx="237744" cy="237744"/>
          </a:xfrm>
          <a:prstGeom prst="rect">
            <a:avLst/>
          </a:prstGeom>
          <a:noFill/>
          <a:ln/>
        </p:spPr>
        <p:txBody>
          <a:bodyPr wrap="square" lIns="0" tIns="0" rIns="0" bIns="0" rtlCol="0" anchor="ctr"/>
          <a:lstStyle/>
          <a:p>
            <a:pPr algn="ctr" indent="0" marL="0">
              <a:buNone/>
            </a:pPr>
            <a:r>
              <a:rPr lang="en-US" sz="750" dirty="0">
                <a:solidFill>
                  <a:srgbClr val="6B7280"/>
                </a:solidFill>
                <a:latin typeface="Meiryo" pitchFamily="34" charset="0"/>
                <a:ea typeface="Meiryo" pitchFamily="34" charset="-122"/>
                <a:cs typeface="Meiryo" pitchFamily="34" charset="-120"/>
              </a:rPr>
              <a:t>G</a:t>
            </a:r>
            <a:endParaRPr lang="en-US" sz="750" dirty="0"/>
          </a:p>
        </p:txBody>
      </p:sp>
      <p:sp>
        <p:nvSpPr>
          <p:cNvPr id="18" name="Shape 16"/>
          <p:cNvSpPr/>
          <p:nvPr/>
        </p:nvSpPr>
        <p:spPr>
          <a:xfrm>
            <a:off x="11405311" y="402336"/>
            <a:ext cx="237744" cy="237744"/>
          </a:xfrm>
          <a:prstGeom prst="roundRect">
            <a:avLst>
              <a:gd name="adj" fmla="val 15385"/>
            </a:avLst>
          </a:prstGeom>
          <a:solidFill>
            <a:srgbClr val="1E2761"/>
          </a:solidFill>
          <a:ln w="12700">
            <a:solidFill>
              <a:srgbClr val="1E2761"/>
            </a:solidFill>
            <a:prstDash val="solid"/>
          </a:ln>
        </p:spPr>
      </p:sp>
      <p:sp>
        <p:nvSpPr>
          <p:cNvPr id="19" name="Text 17"/>
          <p:cNvSpPr/>
          <p:nvPr/>
        </p:nvSpPr>
        <p:spPr>
          <a:xfrm>
            <a:off x="11405311" y="4023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Meiryo" pitchFamily="34" charset="0"/>
                <a:ea typeface="Meiryo" pitchFamily="34" charset="-122"/>
                <a:cs typeface="Meiryo" pitchFamily="34" charset="-120"/>
              </a:rPr>
              <a:t>H</a:t>
            </a:r>
            <a:endParaRPr lang="en-US" sz="750" dirty="0"/>
          </a:p>
        </p:txBody>
      </p:sp>
      <p:sp>
        <p:nvSpPr>
          <p:cNvPr id="20" name="Text 18"/>
          <p:cNvSpPr/>
          <p:nvPr/>
        </p:nvSpPr>
        <p:spPr>
          <a:xfrm>
            <a:off x="548640" y="768096"/>
            <a:ext cx="11094415" cy="566928"/>
          </a:xfrm>
          <a:prstGeom prst="rect">
            <a:avLst/>
          </a:prstGeom>
          <a:noFill/>
          <a:ln/>
        </p:spPr>
        <p:txBody>
          <a:bodyPr wrap="square" lIns="0" tIns="0" rIns="0" bIns="0" rtlCol="0" anchor="ctr"/>
          <a:lstStyle/>
          <a:p>
            <a:pPr indent="0" marL="0">
              <a:buNone/>
            </a:pPr>
            <a:r>
              <a:rPr lang="en-US" sz="2600" b="1" dirty="0">
                <a:solidFill>
                  <a:srgbClr val="1E2761"/>
                </a:solidFill>
                <a:latin typeface="Meiryo" pitchFamily="34" charset="0"/>
                <a:ea typeface="Meiryo" pitchFamily="34" charset="-122"/>
                <a:cs typeface="Meiryo" pitchFamily="34" charset="-120"/>
              </a:rPr>
              <a:t>会議設計テンプレートと全社展開の権限設計</a:t>
            </a:r>
            <a:endParaRPr lang="en-US" sz="2600" dirty="0"/>
          </a:p>
        </p:txBody>
      </p:sp>
      <p:sp>
        <p:nvSpPr>
          <p:cNvPr id="21" name="Shape 19"/>
          <p:cNvSpPr/>
          <p:nvPr/>
        </p:nvSpPr>
        <p:spPr>
          <a:xfrm>
            <a:off x="548640" y="1426464"/>
            <a:ext cx="11094415" cy="658368"/>
          </a:xfrm>
          <a:prstGeom prst="roundRect">
            <a:avLst>
              <a:gd name="adj" fmla="val 11111"/>
            </a:avLst>
          </a:prstGeom>
          <a:solidFill>
            <a:srgbClr val="EDF3FD"/>
          </a:solidFill>
          <a:ln w="12700">
            <a:solidFill>
              <a:srgbClr val="CADCFC"/>
            </a:solidFill>
            <a:prstDash val="solid"/>
          </a:ln>
        </p:spPr>
      </p:sp>
      <p:sp>
        <p:nvSpPr>
          <p:cNvPr id="22" name="Text 20"/>
          <p:cNvSpPr/>
          <p:nvPr/>
        </p:nvSpPr>
        <p:spPr>
          <a:xfrm>
            <a:off x="749808" y="1426464"/>
            <a:ext cx="10692079" cy="658368"/>
          </a:xfrm>
          <a:prstGeom prst="rect">
            <a:avLst/>
          </a:prstGeom>
          <a:noFill/>
          <a:ln/>
        </p:spPr>
        <p:txBody>
          <a:bodyPr wrap="square" lIns="0" tIns="0" rIns="0" bIns="0" rtlCol="0" anchor="ctr"/>
          <a:lstStyle/>
          <a:p>
            <a:pPr indent="0" marL="0">
              <a:buNone/>
            </a:pPr>
            <a:r>
              <a:rPr lang="en-US" sz="1350" b="1" dirty="0">
                <a:solidFill>
                  <a:srgbClr val="1E2761"/>
                </a:solidFill>
                <a:latin typeface="Meiryo" pitchFamily="34" charset="0"/>
                <a:ea typeface="Meiryo" pitchFamily="34" charset="-122"/>
                <a:cs typeface="Meiryo" pitchFamily="34" charset="-120"/>
              </a:rPr>
              <a:t>第5章 5-3 でご説明した運用を、実際に成立させるための設計です</a:t>
            </a:r>
            <a:endParaRPr lang="en-US" sz="1350" dirty="0"/>
          </a:p>
        </p:txBody>
      </p:sp>
      <p:sp>
        <p:nvSpPr>
          <p:cNvPr id="23" name="Text 21"/>
          <p:cNvSpPr/>
          <p:nvPr/>
        </p:nvSpPr>
        <p:spPr>
          <a:xfrm>
            <a:off x="11277295" y="6419088"/>
            <a:ext cx="457200" cy="274320"/>
          </a:xfrm>
          <a:prstGeom prst="rect">
            <a:avLst/>
          </a:prstGeom>
          <a:noFill/>
          <a:ln/>
        </p:spPr>
        <p:txBody>
          <a:bodyPr wrap="square" rtlCol="0" anchor="ctr"/>
          <a:lstStyle/>
          <a:p>
            <a:pPr algn="r" indent="0" marL="0">
              <a:buNone/>
            </a:pPr>
            <a:r>
              <a:rPr lang="en-US" sz="1000" dirty="0">
                <a:solidFill>
                  <a:srgbClr val="6B7280"/>
                </a:solidFill>
                <a:latin typeface="Meiryo" pitchFamily="34" charset="0"/>
                <a:ea typeface="Meiryo" pitchFamily="34" charset="-122"/>
                <a:cs typeface="Meiryo" pitchFamily="34" charset="-120"/>
              </a:rPr>
              <a:t>29</a:t>
            </a:r>
            <a:endParaRPr lang="en-US" sz="1000" dirty="0"/>
          </a:p>
        </p:txBody>
      </p:sp>
      <p:sp>
        <p:nvSpPr>
          <p:cNvPr id="24" name="Text 22"/>
          <p:cNvSpPr/>
          <p:nvPr/>
        </p:nvSpPr>
        <p:spPr>
          <a:xfrm>
            <a:off x="548640" y="2212848"/>
            <a:ext cx="5669280" cy="274320"/>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① 会議設計テンプレート（議事録DBのページテンプレート）</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2523744"/>
          <a:ext cx="5669280" cy="914400"/>
        </p:xfrm>
        <a:graphic>
          <a:graphicData uri="http://schemas.openxmlformats.org/drawingml/2006/table">
            <a:tbl>
              <a:tblPr/>
              <a:tblGrid>
                <a:gridCol w="2651760"/>
                <a:gridCol w="822960"/>
                <a:gridCol w="2194560"/>
              </a:tblGrid>
              <a:tr h="329184">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項目</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Meiryo" pitchFamily="34" charset="0"/>
                          <a:ea typeface="Meiryo" pitchFamily="34" charset="-122"/>
                          <a:cs typeface="Meiryo" pitchFamily="34" charset="-120"/>
                        </a:rPr>
                        <a:t>記入時点</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c>
                  <a:txBody>
                    <a:bodyPr/>
                    <a:lstStyle/>
                    <a:p>
                      <a:pPr algn="l" indent="0" marL="0">
                        <a:buNone/>
                      </a:pPr>
                      <a:r>
                        <a:rPr lang="en-US" sz="1050" b="1" dirty="0">
                          <a:solidFill>
                            <a:srgbClr val="FFFFFF"/>
                          </a:solidFill>
                          <a:latin typeface="Meiryo" pitchFamily="34" charset="0"/>
                          <a:ea typeface="Meiryo" pitchFamily="34" charset="-122"/>
                          <a:cs typeface="Meiryo" pitchFamily="34" charset="-120"/>
                        </a:rPr>
                        <a:t>目的</a:t>
                      </a:r>
                      <a:endParaRPr lang="en-US" sz="105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solidFill>
                      <a:srgbClr val="1E2761"/>
                    </a:solidFill>
                  </a:tcPr>
                </a:tc>
              </a:tr>
              <a:tr h="329184">
                <a:tc>
                  <a:txBody>
                    <a:bodyPr/>
                    <a:lstStyle/>
                    <a:p>
                      <a:pPr indent="0" marL="0">
                        <a:buNone/>
                      </a:pPr>
                      <a:r>
                        <a:rPr lang="en-US" sz="1000" b="1" dirty="0">
                          <a:solidFill>
                            <a:srgbClr val="1A1A2E"/>
                          </a:solidFill>
                          <a:latin typeface="Meiryo" pitchFamily="34" charset="0"/>
                          <a:ea typeface="Meiryo" pitchFamily="34" charset="-122"/>
                          <a:cs typeface="Meiryo" pitchFamily="34" charset="-120"/>
                        </a:rPr>
                        <a:t>会議のゴール（この会議で決めること）</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b="1" dirty="0">
                          <a:solidFill>
                            <a:srgbClr val="1E2761"/>
                          </a:solidFill>
                          <a:latin typeface="Meiryo" pitchFamily="34" charset="0"/>
                          <a:ea typeface="Meiryo" pitchFamily="34" charset="-122"/>
                          <a:cs typeface="Meiryo" pitchFamily="34" charset="-120"/>
                        </a:rPr>
                        <a:t>会議前</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indent="0" marL="0">
                        <a:buNone/>
                      </a:pPr>
                      <a:r>
                        <a:rPr lang="en-US" sz="1000" dirty="0">
                          <a:solidFill>
                            <a:srgbClr val="1A1A2E"/>
                          </a:solidFill>
                          <a:latin typeface="Meiryo" pitchFamily="34" charset="0"/>
                          <a:ea typeface="Meiryo" pitchFamily="34" charset="-122"/>
                          <a:cs typeface="Meiryo" pitchFamily="34" charset="-120"/>
                        </a:rPr>
                        <a:t>目的が曖昧な会議をなくす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29184">
                <a:tc>
                  <a:txBody>
                    <a:bodyPr/>
                    <a:lstStyle/>
                    <a:p>
                      <a:pPr indent="0" marL="0">
                        <a:buNone/>
                      </a:pPr>
                      <a:r>
                        <a:rPr lang="en-US" sz="1000" b="1" dirty="0">
                          <a:solidFill>
                            <a:srgbClr val="1A1A2E"/>
                          </a:solidFill>
                          <a:latin typeface="Meiryo" pitchFamily="34" charset="0"/>
                          <a:ea typeface="Meiryo" pitchFamily="34" charset="-122"/>
                          <a:cs typeface="Meiryo" pitchFamily="34" charset="-120"/>
                        </a:rPr>
                        <a:t>アジェンダ（時間配分つき）</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b="1" dirty="0">
                          <a:solidFill>
                            <a:srgbClr val="1E2761"/>
                          </a:solidFill>
                          <a:latin typeface="Meiryo" pitchFamily="34" charset="0"/>
                          <a:ea typeface="Meiryo" pitchFamily="34" charset="-122"/>
                          <a:cs typeface="Meiryo" pitchFamily="34" charset="-120"/>
                        </a:rPr>
                        <a:t>会議前</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indent="0" marL="0">
                        <a:buNone/>
                      </a:pPr>
                      <a:r>
                        <a:rPr lang="en-US" sz="1000" dirty="0">
                          <a:solidFill>
                            <a:srgbClr val="1A1A2E"/>
                          </a:solidFill>
                          <a:latin typeface="Meiryo" pitchFamily="34" charset="0"/>
                          <a:ea typeface="Meiryo" pitchFamily="34" charset="-122"/>
                          <a:cs typeface="Meiryo" pitchFamily="34" charset="-120"/>
                        </a:rPr>
                        <a:t>参加者が準備して臨める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29184">
                <a:tc>
                  <a:txBody>
                    <a:bodyPr/>
                    <a:lstStyle/>
                    <a:p>
                      <a:pPr indent="0" marL="0">
                        <a:buNone/>
                      </a:pPr>
                      <a:r>
                        <a:rPr lang="en-US" sz="1000" b="1" dirty="0">
                          <a:solidFill>
                            <a:srgbClr val="1A1A2E"/>
                          </a:solidFill>
                          <a:latin typeface="Meiryo" pitchFamily="34" charset="0"/>
                          <a:ea typeface="Meiryo" pitchFamily="34" charset="-122"/>
                          <a:cs typeface="Meiryo" pitchFamily="34" charset="-120"/>
                        </a:rPr>
                        <a:t>事前共有資料へのリンク</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b="1" dirty="0">
                          <a:solidFill>
                            <a:srgbClr val="1E2761"/>
                          </a:solidFill>
                          <a:latin typeface="Meiryo" pitchFamily="34" charset="0"/>
                          <a:ea typeface="Meiryo" pitchFamily="34" charset="-122"/>
                          <a:cs typeface="Meiryo" pitchFamily="34" charset="-120"/>
                        </a:rPr>
                        <a:t>会議前</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indent="0" marL="0">
                        <a:buNone/>
                      </a:pPr>
                      <a:r>
                        <a:rPr lang="en-US" sz="1000" dirty="0">
                          <a:solidFill>
                            <a:srgbClr val="1A1A2E"/>
                          </a:solidFill>
                          <a:latin typeface="Meiryo" pitchFamily="34" charset="0"/>
                          <a:ea typeface="Meiryo" pitchFamily="34" charset="-122"/>
                          <a:cs typeface="Meiryo" pitchFamily="34" charset="-120"/>
                        </a:rPr>
                        <a:t>「資料どこ？」をなくす</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29184">
                <a:tc>
                  <a:txBody>
                    <a:bodyPr/>
                    <a:lstStyle/>
                    <a:p>
                      <a:pPr indent="0" marL="0">
                        <a:buNone/>
                      </a:pPr>
                      <a:r>
                        <a:rPr lang="en-US" sz="1000" b="1" dirty="0">
                          <a:solidFill>
                            <a:srgbClr val="1A1A2E"/>
                          </a:solidFill>
                          <a:latin typeface="Meiryo" pitchFamily="34" charset="0"/>
                          <a:ea typeface="Meiryo" pitchFamily="34" charset="-122"/>
                          <a:cs typeface="Meiryo" pitchFamily="34" charset="-120"/>
                        </a:rPr>
                        <a:t>決定事項</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会議中</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indent="0" marL="0">
                        <a:buNone/>
                      </a:pPr>
                      <a:r>
                        <a:rPr lang="en-US" sz="1000" dirty="0">
                          <a:solidFill>
                            <a:srgbClr val="1A1A2E"/>
                          </a:solidFill>
                          <a:latin typeface="Meiryo" pitchFamily="34" charset="0"/>
                          <a:ea typeface="Meiryo" pitchFamily="34" charset="-122"/>
                          <a:cs typeface="Meiryo" pitchFamily="34" charset="-120"/>
                        </a:rPr>
                        <a:t>後から検索・追跡できる形にする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29184">
                <a:tc>
                  <a:txBody>
                    <a:bodyPr/>
                    <a:lstStyle/>
                    <a:p>
                      <a:pPr indent="0" marL="0">
                        <a:buNone/>
                      </a:pPr>
                      <a:r>
                        <a:rPr lang="en-US" sz="1000" b="1" dirty="0">
                          <a:solidFill>
                            <a:srgbClr val="1A1A2E"/>
                          </a:solidFill>
                          <a:latin typeface="Meiryo" pitchFamily="34" charset="0"/>
                          <a:ea typeface="Meiryo" pitchFamily="34" charset="-122"/>
                          <a:cs typeface="Meiryo" pitchFamily="34" charset="-120"/>
                        </a:rPr>
                        <a:t>宿題・ToDo（担当者・期限）</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会議中</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indent="0" marL="0">
                        <a:buNone/>
                      </a:pPr>
                      <a:r>
                        <a:rPr lang="en-US" sz="1000" dirty="0">
                          <a:solidFill>
                            <a:srgbClr val="1A1A2E"/>
                          </a:solidFill>
                          <a:latin typeface="Meiryo" pitchFamily="34" charset="0"/>
                          <a:ea typeface="Meiryo" pitchFamily="34" charset="-122"/>
                          <a:cs typeface="Meiryo" pitchFamily="34" charset="-120"/>
                        </a:rPr>
                        <a:t>タスクDBへ連携する</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r h="329184">
                <a:tc>
                  <a:txBody>
                    <a:bodyPr/>
                    <a:lstStyle/>
                    <a:p>
                      <a:pPr indent="0" marL="0">
                        <a:buNone/>
                      </a:pPr>
                      <a:r>
                        <a:rPr lang="en-US" sz="1000" b="1" dirty="0">
                          <a:solidFill>
                            <a:srgbClr val="1A1A2E"/>
                          </a:solidFill>
                          <a:latin typeface="Meiryo" pitchFamily="34" charset="0"/>
                          <a:ea typeface="Meiryo" pitchFamily="34" charset="-122"/>
                          <a:cs typeface="Meiryo" pitchFamily="34" charset="-120"/>
                        </a:rPr>
                        <a:t>全社展開の要否</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algn="ctr" indent="0" marL="0">
                        <a:buNone/>
                      </a:pPr>
                      <a:r>
                        <a:rPr lang="en-US" sz="1000" dirty="0">
                          <a:solidFill>
                            <a:srgbClr val="1A1A2E"/>
                          </a:solidFill>
                          <a:latin typeface="Meiryo" pitchFamily="34" charset="0"/>
                          <a:ea typeface="Meiryo" pitchFamily="34" charset="-122"/>
                          <a:cs typeface="Meiryo" pitchFamily="34" charset="-120"/>
                        </a:rPr>
                        <a:t>会議後</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c>
                  <a:txBody>
                    <a:bodyPr/>
                    <a:lstStyle/>
                    <a:p>
                      <a:pPr indent="0" marL="0">
                        <a:buNone/>
                      </a:pPr>
                      <a:r>
                        <a:rPr lang="en-US" sz="1000" dirty="0">
                          <a:solidFill>
                            <a:srgbClr val="1A1A2E"/>
                          </a:solidFill>
                          <a:latin typeface="Meiryo" pitchFamily="34" charset="0"/>
                          <a:ea typeface="Meiryo" pitchFamily="34" charset="-122"/>
                          <a:cs typeface="Meiryo" pitchFamily="34" charset="-120"/>
                        </a:rPr>
                        <a:t>展開漏れを防ぐフラグ</a:t>
                      </a:r>
                      <a:endParaRPr lang="en-US" sz="1000" dirty="0">
                        <a:latin typeface="Meiryo" charset="0"/>
                        <a:ea typeface="Meiryo" charset="0"/>
                        <a:cs typeface="Meiryo" charset="0"/>
                      </a:endParaRPr>
                    </a:p>
                  </a:txBody>
                  <a:tcPr marL="91440" marR="91440" marT="45720" marB="45720" anchor="ctr">
                    <a:lnL w="6350" cap="flat" cmpd="sng" algn="ctr">
                      <a:solidFill>
                        <a:srgbClr val="D6DEEC"/>
                      </a:solidFill>
                      <a:prstDash val="solid"/>
                      <a:round/>
                      <a:headEnd type="none" w="med" len="med"/>
                      <a:tailEnd type="none" w="med" len="med"/>
                    </a:lnL>
                    <a:lnR w="6350" cap="flat" cmpd="sng" algn="ctr">
                      <a:solidFill>
                        <a:srgbClr val="D6DEEC"/>
                      </a:solidFill>
                      <a:prstDash val="solid"/>
                      <a:round/>
                      <a:headEnd type="none" w="med" len="med"/>
                      <a:tailEnd type="none" w="med" len="med"/>
                    </a:lnR>
                    <a:lnT w="6350" cap="flat" cmpd="sng" algn="ctr">
                      <a:solidFill>
                        <a:srgbClr val="D6DEEC"/>
                      </a:solidFill>
                      <a:prstDash val="solid"/>
                      <a:round/>
                      <a:headEnd type="none" w="med" len="med"/>
                      <a:tailEnd type="none" w="med" len="med"/>
                    </a:lnT>
                    <a:lnB w="6350" cap="flat" cmpd="sng" algn="ctr">
                      <a:solidFill>
                        <a:srgbClr val="D6DEEC"/>
                      </a:solidFill>
                      <a:prstDash val="solid"/>
                      <a:round/>
                      <a:headEnd type="none" w="med" len="med"/>
                      <a:tailEnd type="none" w="med" len="med"/>
                    </a:lnB>
                  </a:tcPr>
                </a:tc>
              </a:tr>
            </a:tbl>
          </a:graphicData>
        </a:graphic>
      </p:graphicFrame>
      <p:sp>
        <p:nvSpPr>
          <p:cNvPr id="26" name="Text 23"/>
          <p:cNvSpPr/>
          <p:nvPr/>
        </p:nvSpPr>
        <p:spPr>
          <a:xfrm>
            <a:off x="6519672" y="2212848"/>
            <a:ext cx="5120640" cy="274320"/>
          </a:xfrm>
          <a:prstGeom prst="rect">
            <a:avLst/>
          </a:prstGeom>
          <a:noFill/>
          <a:ln/>
        </p:spPr>
        <p:txBody>
          <a:bodyPr wrap="square" lIns="0" tIns="0" rIns="0" bIns="0" rtlCol="0" anchor="ctr"/>
          <a:lstStyle/>
          <a:p>
            <a:pPr indent="0" marL="0">
              <a:buNone/>
            </a:pPr>
            <a:r>
              <a:rPr lang="en-US" sz="1150" b="1" dirty="0">
                <a:solidFill>
                  <a:srgbClr val="1E2761"/>
                </a:solidFill>
                <a:latin typeface="Meiryo" pitchFamily="34" charset="0"/>
                <a:ea typeface="Meiryo" pitchFamily="34" charset="-122"/>
                <a:cs typeface="Meiryo" pitchFamily="34" charset="-120"/>
              </a:rPr>
              <a:t>② 全社展開のページ構成（同期ブロックの権限制約を踏まえた設計）</a:t>
            </a:r>
            <a:endParaRPr lang="en-US" sz="1150" dirty="0"/>
          </a:p>
        </p:txBody>
      </p:sp>
      <p:sp>
        <p:nvSpPr>
          <p:cNvPr id="27" name="Shape 24"/>
          <p:cNvSpPr/>
          <p:nvPr/>
        </p:nvSpPr>
        <p:spPr>
          <a:xfrm>
            <a:off x="6519672" y="2523744"/>
            <a:ext cx="5120640" cy="1783080"/>
          </a:xfrm>
          <a:prstGeom prst="roundRect">
            <a:avLst>
              <a:gd name="adj" fmla="val 3077"/>
            </a:avLst>
          </a:prstGeom>
          <a:solidFill>
            <a:srgbClr val="E9F5F0"/>
          </a:solidFill>
          <a:ln w="12700">
            <a:solidFill>
              <a:srgbClr val="1E7A5A"/>
            </a:solidFill>
            <a:prstDash val="solid"/>
          </a:ln>
          <a:effectLst>
            <a:outerShdw sx="100000" sy="100000" kx="0" ky="0" algn="bl" rotWithShape="0" blurRad="101600" dist="12700" dir="5400000">
              <a:srgbClr val="1E2761">
                <a:alpha val="10000"/>
              </a:srgbClr>
            </a:outerShdw>
          </a:effectLst>
        </p:spPr>
      </p:sp>
      <p:sp>
        <p:nvSpPr>
          <p:cNvPr id="28" name="Text 25"/>
          <p:cNvSpPr/>
          <p:nvPr/>
        </p:nvSpPr>
        <p:spPr>
          <a:xfrm>
            <a:off x="6720840" y="2615184"/>
            <a:ext cx="2743200" cy="237744"/>
          </a:xfrm>
          <a:prstGeom prst="rect">
            <a:avLst/>
          </a:prstGeom>
          <a:noFill/>
          <a:ln/>
        </p:spPr>
        <p:txBody>
          <a:bodyPr wrap="square" lIns="0" tIns="0" rIns="0" bIns="0" rtlCol="0" anchor="ctr"/>
          <a:lstStyle/>
          <a:p>
            <a:pPr indent="0" marL="0">
              <a:buNone/>
            </a:pPr>
            <a:r>
              <a:rPr lang="en-US" sz="1050" b="1" dirty="0">
                <a:solidFill>
                  <a:srgbClr val="1E7A5A"/>
                </a:solidFill>
                <a:latin typeface="Meiryo" pitchFamily="34" charset="0"/>
                <a:ea typeface="Meiryo" pitchFamily="34" charset="-122"/>
                <a:cs typeface="Meiryo" pitchFamily="34" charset="-120"/>
              </a:rPr>
              <a:t>正しい設計</a:t>
            </a:r>
            <a:endParaRPr lang="en-US" sz="1050" dirty="0"/>
          </a:p>
        </p:txBody>
      </p:sp>
      <p:sp>
        <p:nvSpPr>
          <p:cNvPr id="29" name="Text 26"/>
          <p:cNvSpPr/>
          <p:nvPr/>
        </p:nvSpPr>
        <p:spPr>
          <a:xfrm>
            <a:off x="6720840" y="2871216"/>
            <a:ext cx="4754880" cy="1371600"/>
          </a:xfrm>
          <a:prstGeom prst="rect">
            <a:avLst/>
          </a:prstGeom>
          <a:noFill/>
          <a:ln/>
        </p:spPr>
        <p:txBody>
          <a:bodyPr wrap="square" lIns="0" tIns="0" rIns="0" bIns="0" rtlCol="0" anchor="ctr"/>
          <a:lstStyle/>
          <a:p>
            <a:pPr indent="0" marL="0">
              <a:lnSpc>
                <a:spcPts val="1400"/>
              </a:lnSpc>
              <a:buNone/>
            </a:pPr>
            <a:r>
              <a:rPr lang="en-US" sz="900" dirty="0">
                <a:solidFill>
                  <a:srgbClr val="1A1A2E"/>
                </a:solidFill>
                <a:latin typeface="Meiryo" pitchFamily="34" charset="0"/>
                <a:ea typeface="Meiryo" pitchFamily="34" charset="-122"/>
                <a:cs typeface="Meiryo" pitchFamily="34" charset="-120"/>
              </a:rPr>
              <a:t>全社共有ページ（全社員＝閲覧可）　← 原本をここに置く</a:t>
            </a:r>
            <a:endParaRPr lang="en-US" sz="900" dirty="0"/>
          </a:p>
          <a:p>
            <a:pPr indent="0" marL="0">
              <a:lnSpc>
                <a:spcPts val="1400"/>
              </a:lnSpc>
              <a:buNone/>
            </a:pPr>
            <a:r>
              <a:rPr lang="en-US" sz="900" dirty="0">
                <a:solidFill>
                  <a:srgbClr val="1A1A2E"/>
                </a:solidFill>
                <a:latin typeface="Meiryo" pitchFamily="34" charset="0"/>
                <a:ea typeface="Meiryo" pitchFamily="34" charset="-122"/>
                <a:cs typeface="Meiryo" pitchFamily="34" charset="-120"/>
              </a:rPr>
              <a:t>　├─ 同期先 → 営業部ページ</a:t>
            </a:r>
            <a:endParaRPr lang="en-US" sz="900" dirty="0"/>
          </a:p>
          <a:p>
            <a:pPr indent="0" marL="0">
              <a:lnSpc>
                <a:spcPts val="1400"/>
              </a:lnSpc>
              <a:buNone/>
            </a:pPr>
            <a:r>
              <a:rPr lang="en-US" sz="900" dirty="0">
                <a:solidFill>
                  <a:srgbClr val="1A1A2E"/>
                </a:solidFill>
                <a:latin typeface="Meiryo" pitchFamily="34" charset="0"/>
                <a:ea typeface="Meiryo" pitchFamily="34" charset="-122"/>
                <a:cs typeface="Meiryo" pitchFamily="34" charset="-120"/>
              </a:rPr>
              <a:t>　├─ 同期先 → 管理部ページ</a:t>
            </a:r>
            <a:endParaRPr lang="en-US" sz="900" dirty="0"/>
          </a:p>
          <a:p>
            <a:pPr indent="0" marL="0">
              <a:lnSpc>
                <a:spcPts val="1400"/>
              </a:lnSpc>
              <a:buNone/>
            </a:pPr>
            <a:r>
              <a:rPr lang="en-US" sz="900" dirty="0">
                <a:solidFill>
                  <a:srgbClr val="1A1A2E"/>
                </a:solidFill>
                <a:latin typeface="Meiryo" pitchFamily="34" charset="0"/>
                <a:ea typeface="Meiryo" pitchFamily="34" charset="-122"/>
                <a:cs typeface="Meiryo" pitchFamily="34" charset="-120"/>
              </a:rPr>
              <a:t>　└─ 同期先 → 各部門ページ</a:t>
            </a:r>
            <a:endParaRPr lang="en-US" sz="900" dirty="0"/>
          </a:p>
          <a:p>
            <a:pPr indent="0" marL="0">
              <a:lnSpc>
                <a:spcPts val="1400"/>
              </a:lnSpc>
              <a:buNone/>
            </a:pPr>
            <a:r>
              <a:rPr lang="en-US" sz="900" dirty="0">
                <a:solidFill>
                  <a:srgbClr val="1A1A2E"/>
                </a:solidFill>
                <a:latin typeface="Meiryo" pitchFamily="34" charset="0"/>
                <a:ea typeface="Meiryo" pitchFamily="34" charset="-122"/>
                <a:cs typeface="Meiryo" pitchFamily="34" charset="-120"/>
              </a:rPr>
              <a:t>経営会議 議事録（役員＝限定公開）</a:t>
            </a:r>
            <a:endParaRPr lang="en-US" sz="900" dirty="0"/>
          </a:p>
          <a:p>
            <a:pPr indent="0" marL="0">
              <a:lnSpc>
                <a:spcPts val="1400"/>
              </a:lnSpc>
              <a:buNone/>
            </a:pPr>
            <a:r>
              <a:rPr lang="en-US" sz="900" dirty="0">
                <a:solidFill>
                  <a:srgbClr val="1A1A2E"/>
                </a:solidFill>
                <a:latin typeface="Meiryo" pitchFamily="34" charset="0"/>
                <a:ea typeface="Meiryo" pitchFamily="34" charset="-122"/>
                <a:cs typeface="Meiryo" pitchFamily="34" charset="-120"/>
              </a:rPr>
              <a:t>　└─ 全社共有ページへの「リンク」を置く</a:t>
            </a:r>
            <a:endParaRPr lang="en-US" sz="900" dirty="0"/>
          </a:p>
        </p:txBody>
      </p:sp>
      <p:sp>
        <p:nvSpPr>
          <p:cNvPr id="30" name="Shape 27"/>
          <p:cNvSpPr/>
          <p:nvPr/>
        </p:nvSpPr>
        <p:spPr>
          <a:xfrm>
            <a:off x="6519672" y="4434840"/>
            <a:ext cx="5120640" cy="1463040"/>
          </a:xfrm>
          <a:prstGeom prst="roundRect">
            <a:avLst>
              <a:gd name="adj" fmla="val 3750"/>
            </a:avLst>
          </a:prstGeom>
          <a:solidFill>
            <a:srgbClr val="FBEDEC"/>
          </a:solidFill>
          <a:ln w="12700">
            <a:solidFill>
              <a:srgbClr val="B3261E"/>
            </a:solidFill>
            <a:prstDash val="solid"/>
          </a:ln>
          <a:effectLst>
            <a:outerShdw sx="100000" sy="100000" kx="0" ky="0" algn="bl" rotWithShape="0" blurRad="101600" dist="12700" dir="5400000">
              <a:srgbClr val="1E2761">
                <a:alpha val="10000"/>
              </a:srgbClr>
            </a:outerShdw>
          </a:effectLst>
        </p:spPr>
      </p:sp>
      <p:sp>
        <p:nvSpPr>
          <p:cNvPr id="31" name="Text 28"/>
          <p:cNvSpPr/>
          <p:nvPr/>
        </p:nvSpPr>
        <p:spPr>
          <a:xfrm>
            <a:off x="6720840" y="4526280"/>
            <a:ext cx="4754880" cy="237744"/>
          </a:xfrm>
          <a:prstGeom prst="rect">
            <a:avLst/>
          </a:prstGeom>
          <a:noFill/>
          <a:ln/>
        </p:spPr>
        <p:txBody>
          <a:bodyPr wrap="square" lIns="0" tIns="0" rIns="0" bIns="0" rtlCol="0" anchor="ctr"/>
          <a:lstStyle/>
          <a:p>
            <a:pPr indent="0" marL="0">
              <a:buNone/>
            </a:pPr>
            <a:r>
              <a:rPr lang="en-US" sz="1050" b="1" dirty="0">
                <a:solidFill>
                  <a:srgbClr val="B3261E"/>
                </a:solidFill>
                <a:latin typeface="Meiryo" pitchFamily="34" charset="0"/>
                <a:ea typeface="Meiryo" pitchFamily="34" charset="-122"/>
                <a:cs typeface="Meiryo" pitchFamily="34" charset="-120"/>
              </a:rPr>
              <a:t>誤った設計 — 一般社員に表示されません</a:t>
            </a:r>
            <a:endParaRPr lang="en-US" sz="1050" dirty="0"/>
          </a:p>
        </p:txBody>
      </p:sp>
      <p:sp>
        <p:nvSpPr>
          <p:cNvPr id="32" name="Text 29"/>
          <p:cNvSpPr/>
          <p:nvPr/>
        </p:nvSpPr>
        <p:spPr>
          <a:xfrm>
            <a:off x="6720840" y="4782312"/>
            <a:ext cx="4754880" cy="1024128"/>
          </a:xfrm>
          <a:prstGeom prst="rect">
            <a:avLst/>
          </a:prstGeom>
          <a:noFill/>
          <a:ln/>
        </p:spPr>
        <p:txBody>
          <a:bodyPr wrap="square" lIns="0" tIns="0" rIns="0" bIns="0" rtlCol="0" anchor="ctr"/>
          <a:lstStyle/>
          <a:p>
            <a:pPr indent="0" marL="0">
              <a:lnSpc>
                <a:spcPts val="1400"/>
              </a:lnSpc>
              <a:buNone/>
            </a:pPr>
            <a:r>
              <a:rPr lang="en-US" sz="900" dirty="0">
                <a:solidFill>
                  <a:srgbClr val="1A1A2E"/>
                </a:solidFill>
                <a:latin typeface="Meiryo" pitchFamily="34" charset="0"/>
                <a:ea typeface="Meiryo" pitchFamily="34" charset="-122"/>
                <a:cs typeface="Meiryo" pitchFamily="34" charset="-120"/>
              </a:rPr>
              <a:t>経営会議 議事録（役員限定）に原本を置く</a:t>
            </a:r>
            <a:endParaRPr lang="en-US" sz="900" dirty="0"/>
          </a:p>
          <a:p>
            <a:pPr indent="0" marL="0">
              <a:lnSpc>
                <a:spcPts val="1400"/>
              </a:lnSpc>
              <a:buNone/>
            </a:pPr>
            <a:r>
              <a:rPr lang="en-US" sz="900" dirty="0">
                <a:solidFill>
                  <a:srgbClr val="1A1A2E"/>
                </a:solidFill>
                <a:latin typeface="Meiryo" pitchFamily="34" charset="0"/>
                <a:ea typeface="Meiryo" pitchFamily="34" charset="-122"/>
                <a:cs typeface="Meiryo" pitchFamily="34" charset="-120"/>
              </a:rPr>
              <a:t>　└─ 全社ページに同期先を貼る</a:t>
            </a:r>
            <a:endParaRPr lang="en-US" sz="900" dirty="0"/>
          </a:p>
          <a:p>
            <a:pPr indent="0" marL="0">
              <a:lnSpc>
                <a:spcPts val="1400"/>
              </a:lnSpc>
              <a:buNone/>
            </a:pPr>
            <a:endParaRPr lang="en-US" sz="900" dirty="0"/>
          </a:p>
          <a:p>
            <a:pPr indent="0" marL="0">
              <a:lnSpc>
                <a:spcPts val="1400"/>
              </a:lnSpc>
              <a:buNone/>
            </a:pPr>
            <a:r>
              <a:rPr lang="en-US" sz="900" dirty="0">
                <a:solidFill>
                  <a:srgbClr val="1A1A2E"/>
                </a:solidFill>
                <a:latin typeface="Meiryo" pitchFamily="34" charset="0"/>
                <a:ea typeface="Meiryo" pitchFamily="34" charset="-122"/>
                <a:cs typeface="Meiryo" pitchFamily="34" charset="-120"/>
              </a:rPr>
              <a:t>同期元ページの閲覧権限が適用されるため、</a:t>
            </a:r>
            <a:endParaRPr lang="en-US" sz="900" dirty="0"/>
          </a:p>
          <a:p>
            <a:pPr indent="0" marL="0">
              <a:lnSpc>
                <a:spcPts val="1400"/>
              </a:lnSpc>
              <a:buNone/>
            </a:pPr>
            <a:r>
              <a:rPr lang="en-US" sz="900" dirty="0">
                <a:solidFill>
                  <a:srgbClr val="1A1A2E"/>
                </a:solidFill>
                <a:latin typeface="Meiryo" pitchFamily="34" charset="0"/>
                <a:ea typeface="Meiryo" pitchFamily="34" charset="-122"/>
                <a:cs typeface="Meiryo" pitchFamily="34" charset="-120"/>
              </a:rPr>
              <a:t>閲覧権限のない一般社員には中身が見えません。</a:t>
            </a:r>
            <a:endParaRPr lang="en-US" sz="900" dirty="0"/>
          </a:p>
        </p:txBody>
      </p:sp>
      <p:sp>
        <p:nvSpPr>
          <p:cNvPr id="33" name="Shape 30"/>
          <p:cNvSpPr/>
          <p:nvPr/>
        </p:nvSpPr>
        <p:spPr>
          <a:xfrm>
            <a:off x="548640" y="4937760"/>
            <a:ext cx="5669280" cy="1371600"/>
          </a:xfrm>
          <a:prstGeom prst="roundRect">
            <a:avLst>
              <a:gd name="adj" fmla="val 4000"/>
            </a:avLst>
          </a:prstGeom>
          <a:solidFill>
            <a:srgbClr val="EDF3FD"/>
          </a:solidFill>
          <a:ln w="12700">
            <a:solidFill>
              <a:srgbClr val="CADCFC"/>
            </a:solidFill>
            <a:prstDash val="solid"/>
          </a:ln>
          <a:effectLst>
            <a:outerShdw sx="100000" sy="100000" kx="0" ky="0" algn="bl" rotWithShape="0" blurRad="101600" dist="12700" dir="5400000">
              <a:srgbClr val="1E2761">
                <a:alpha val="10000"/>
              </a:srgbClr>
            </a:outerShdw>
          </a:effectLst>
        </p:spPr>
      </p:sp>
      <p:sp>
        <p:nvSpPr>
          <p:cNvPr id="34" name="Text 31"/>
          <p:cNvSpPr/>
          <p:nvPr/>
        </p:nvSpPr>
        <p:spPr>
          <a:xfrm>
            <a:off x="749808" y="5029200"/>
            <a:ext cx="5212080" cy="237744"/>
          </a:xfrm>
          <a:prstGeom prst="rect">
            <a:avLst/>
          </a:prstGeom>
          <a:noFill/>
          <a:ln/>
        </p:spPr>
        <p:txBody>
          <a:bodyPr wrap="square" lIns="0" tIns="0" rIns="0" bIns="0" rtlCol="0" anchor="ctr"/>
          <a:lstStyle/>
          <a:p>
            <a:pPr indent="0" marL="0">
              <a:buNone/>
            </a:pPr>
            <a:r>
              <a:rPr lang="en-US" sz="1050" b="1" dirty="0">
                <a:solidFill>
                  <a:srgbClr val="1E2761"/>
                </a:solidFill>
                <a:latin typeface="Meiryo" pitchFamily="34" charset="0"/>
                <a:ea typeface="Meiryo" pitchFamily="34" charset="-122"/>
                <a:cs typeface="Meiryo" pitchFamily="34" charset="-120"/>
              </a:rPr>
              <a:t>運用ルールとして明文化する2点</a:t>
            </a:r>
            <a:endParaRPr lang="en-US" sz="1050" dirty="0"/>
          </a:p>
        </p:txBody>
      </p:sp>
      <p:sp>
        <p:nvSpPr>
          <p:cNvPr id="35" name="Text 32"/>
          <p:cNvSpPr/>
          <p:nvPr/>
        </p:nvSpPr>
        <p:spPr>
          <a:xfrm>
            <a:off x="749808" y="5303520"/>
            <a:ext cx="5212080" cy="91440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950" dirty="0">
                <a:solidFill>
                  <a:srgbClr val="1A1A2E"/>
                </a:solidFill>
                <a:latin typeface="Meiryo" pitchFamily="34" charset="0"/>
                <a:ea typeface="Meiryo" pitchFamily="34" charset="-122"/>
                <a:cs typeface="Meiryo" pitchFamily="34" charset="-120"/>
              </a:rPr>
              <a:t>経営会議の生議事録と、全社に出す展開用の要約は、必ず別ページに分ける</a:t>
            </a:r>
            <a:endParaRPr lang="en-US" sz="950" dirty="0"/>
          </a:p>
          <a:p>
            <a:pPr marL="342900" indent="-342900">
              <a:spcAft>
                <a:spcPts val="600"/>
              </a:spcAft>
              <a:buSzPct val="100000"/>
              <a:buFont typeface="+mj-lt"/>
              <a:buAutoNum type="arabicPeriod" startAt="1"/>
            </a:pPr>
            <a:r>
              <a:rPr lang="en-US" sz="950" dirty="0">
                <a:solidFill>
                  <a:srgbClr val="1A1A2E"/>
                </a:solidFill>
                <a:latin typeface="Meiryo" pitchFamily="34" charset="0"/>
                <a:ea typeface="Meiryo" pitchFamily="34" charset="-122"/>
                <a:cs typeface="Meiryo" pitchFamily="34" charset="-120"/>
              </a:rPr>
              <a:t>同期ブロックの原本は、常に閲覧範囲が最も広いページ側に置く</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Notion導入のご説明</dc:title>
  <dc:subject>PptxGenJS Presentation</dc:subject>
  <dc:creator>PCA</dc:creator>
  <cp:lastModifiedBy>PCA</cp:lastModifiedBy>
  <cp:revision>1</cp:revision>
  <dcterms:created xsi:type="dcterms:W3CDTF">2026-08-17T07:49:39Z</dcterms:created>
  <dcterms:modified xsi:type="dcterms:W3CDTF">2026-08-17T07:49:39Z</dcterms:modified>
</cp:coreProperties>
</file>